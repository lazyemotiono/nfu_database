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61" r:id="rId10"/>
    <p:sldId id="273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70" r:id="rId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D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5" d="100"/>
          <a:sy n="125" d="100"/>
        </p:scale>
        <p:origin x="57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0F080F-4872-4AE8-B942-73B81574DF63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1A70C3-14D1-4228-BDEE-8FBB7AE947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7169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A70C3-14D1-4228-BDEE-8FBB7AE947A7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865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7086BD-2C82-7DB4-0EE5-DFACE9152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FC3D796-3942-2500-4429-02FF28B31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30E3B5-9299-4BCE-7407-316120ADC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DF548FC-3C2A-4CDD-983C-F449EB021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BC760C-F4C0-D969-09B6-37E8574F1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7686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2C85C9-B1F7-7CDD-A1DB-C751B539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92695E-021A-C4FA-17E6-31CD31301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A9C093-6A2B-3C9D-AD6C-9C211021E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C7762A5-9415-6F69-2C41-7B717F11F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89987F4-A994-BB94-C68C-1C0A064D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0196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D106A1-502B-D97D-2F84-CBB1660D3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83C2A08-B240-6F16-5C12-B95B0AF8A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7D878D-BE87-16D3-67E2-D9EF7E8EA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E53E73-D177-62C8-0CD4-99423A772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B71555A-441A-6177-B998-694EBC9AF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6685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224736-6CE4-70EF-48AD-85975B614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5702AD-136D-5205-248B-9A7D34B5DD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3A0CCFD-EAF1-720F-0F56-CCF63821C3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36C10DA-9B4F-F3FB-7416-D51D8FBFF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4A197F9-DEE6-5D8F-E751-EF3A29D68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2B22A36-DB77-924A-85EB-73398142D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315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44A3CB-BFB6-E406-EC06-CCBBAAA98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A778F31-86E0-2F7E-0F85-58946EA5D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1E356E8-7A85-0A93-3A7C-541AB538F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4ADD9B1-F0B8-190A-BFF7-B548DB127D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08CA89A-BF46-87F0-2123-F8027D3B65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5EC3D97-F04C-DB47-FD3C-1C8808D82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919A1C6-6F16-FB88-1573-E4171EA04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DA7DDF9-81BD-F536-DEA8-ED27D135B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5529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7BFD82-BD46-2AE3-8C10-C754487A4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8C27F69-4C67-ABB9-34E2-0F2C03B15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5B1B846-0866-9CE6-8301-8EDC9F130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CD4E982-C744-FF26-6DB2-FB993B920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910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C2CD7D8-5E36-D9BC-86E5-5A4B110C1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6AC575D-EC38-E388-EDD1-C0B2563CE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BFFF70-5BD4-5115-098E-3FEE7A5C3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200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14A5EF-0209-6C57-8155-80C6A7A11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61D177-BAB3-C3CD-9EE5-782F890DC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51B6382-84FD-DD5C-BFC8-7BC1FB911C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17A3C8F-F02A-8750-84C0-A4997EEEC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2CDB53E-58BD-29AE-56D4-EED51FAB7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2D054DA-BE75-3693-C0FC-0707BF8EF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7356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3E4F57-F78C-4660-81BD-88ED38C83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3B1EA66-6E75-8D5E-CE83-2F3287322C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610C590-5100-8B7E-F2AA-5FA7DF9983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0AA37E9-1B2D-98BF-0EF4-D0CD172E5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309CB46-0231-E690-D273-B5BAD803A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761F7A4-5724-2FF6-17C4-B6B79767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2517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DA7995-4EEC-EC0D-8D67-281A95EDD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BCD0CCF-3D2C-CB2C-BC49-AF2BE37D5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B63DB99-AC20-91CA-675C-9D943F154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524A81-C24F-1FA3-A57D-055342D2B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382021F-F80C-7E39-78F9-D1418680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7321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175FD24-2718-6EE2-453B-5A7A333D30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506E7E2-7BF6-F951-2DDA-683EC41B49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39579A3-3D5F-D1FC-508C-3C9BCE57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F6EDEBC-27F5-9B85-408D-445AD5B0D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101B44-7E2A-A413-231D-D99B0E84C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6492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4D0FAE-CA5C-848C-ED52-3B6DB6AE1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CDA8617-E6A8-9BF8-6787-4078167B4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835818B-1D7F-7C5C-91AF-79951B0D1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2FFC72F-2052-0D1F-60BB-DDFAF36CE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A1D4FE-680F-3FFD-6C2A-77E096297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9281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3D92FF4-3EC5-AE65-7713-00AEA5AF9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D794629-82C0-9A43-623F-E64DF2E69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5E87296-CDDB-19B8-40EA-C506F85EBD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38C760-4BF8-4DF7-8FC8-B9A0432FCF74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59096C9-B0E4-1642-8C14-AC08C7F447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AA76158-3A38-FD22-760F-2501FDB294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0318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13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127CEB5-0767-FF50-6947-855C2BE984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50" r="763"/>
          <a:stretch>
            <a:fillRect/>
          </a:stretch>
        </p:blipFill>
        <p:spPr>
          <a:xfrm>
            <a:off x="6192158" y="-224626"/>
            <a:ext cx="6994740" cy="6857997"/>
          </a:xfrm>
          <a:prstGeom prst="rect">
            <a:avLst/>
          </a:prstGeom>
        </p:spPr>
      </p:pic>
      <p:sp>
        <p:nvSpPr>
          <p:cNvPr id="23" name="Rectangle 15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077AC56-1184-5D87-7F22-59FB6D75088C}"/>
              </a:ext>
            </a:extLst>
          </p:cNvPr>
          <p:cNvSpPr/>
          <p:nvPr/>
        </p:nvSpPr>
        <p:spPr>
          <a:xfrm>
            <a:off x="6223624" y="63500"/>
            <a:ext cx="6931809" cy="6284407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38B89D7-062C-273C-E9AC-7054B53795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6443" y="3020138"/>
            <a:ext cx="7696479" cy="4243630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Database System Final Project</a:t>
            </a:r>
          </a:p>
          <a:p>
            <a:pPr algn="l"/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/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/>
            <a:r>
              <a:rPr lang="en-US" altLang="zh-TW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Group 04</a:t>
            </a:r>
          </a:p>
          <a:p>
            <a:pPr algn="l"/>
            <a:endParaRPr lang="en-US" altLang="zh-TW" sz="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/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41243167 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楊芷寧 </a:t>
            </a:r>
            <a:r>
              <a:rPr lang="en-US" altLang="zh-TW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|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 41243168 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陳有臨</a:t>
            </a:r>
          </a:p>
          <a:p>
            <a:pPr algn="l"/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41243169 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宋沛玲 </a:t>
            </a:r>
            <a:r>
              <a:rPr lang="en-US" altLang="zh-TW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|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 41243260 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蕭文成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CD15DA91-BD6A-DC15-742B-3E03134A2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6443" y="2066501"/>
            <a:ext cx="7213599" cy="794191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/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設備管理與維護系統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91258931-2588-8F8C-C459-89148D740F8A}"/>
              </a:ext>
            </a:extLst>
          </p:cNvPr>
          <p:cNvSpPr/>
          <p:nvPr/>
        </p:nvSpPr>
        <p:spPr>
          <a:xfrm>
            <a:off x="303948" y="4160017"/>
            <a:ext cx="6452452" cy="2024096"/>
          </a:xfrm>
          <a:prstGeom prst="roundRect">
            <a:avLst>
              <a:gd name="adj" fmla="val 25527"/>
            </a:avLst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BF99CF20-3F76-D90D-2E4E-540588FE214A}"/>
              </a:ext>
            </a:extLst>
          </p:cNvPr>
          <p:cNvSpPr/>
          <p:nvPr/>
        </p:nvSpPr>
        <p:spPr>
          <a:xfrm>
            <a:off x="221398" y="4082092"/>
            <a:ext cx="6617552" cy="2179946"/>
          </a:xfrm>
          <a:prstGeom prst="roundRect">
            <a:avLst>
              <a:gd name="adj" fmla="val 25527"/>
            </a:avLst>
          </a:prstGeom>
          <a:noFill/>
          <a:ln>
            <a:solidFill>
              <a:schemeClr val="tx2">
                <a:lumMod val="75000"/>
                <a:lumOff val="2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6452452"/>
                      <a:gd name="csY0" fmla="*/ 516691 h 2024096"/>
                      <a:gd name="csX1" fmla="*/ 516691 w 6452452"/>
                      <a:gd name="csY1" fmla="*/ 0 h 2024096"/>
                      <a:gd name="csX2" fmla="*/ 1166979 w 6452452"/>
                      <a:gd name="csY2" fmla="*/ 0 h 2024096"/>
                      <a:gd name="csX3" fmla="*/ 1654696 w 6452452"/>
                      <a:gd name="csY3" fmla="*/ 0 h 2024096"/>
                      <a:gd name="csX4" fmla="*/ 2088221 w 6452452"/>
                      <a:gd name="csY4" fmla="*/ 0 h 2024096"/>
                      <a:gd name="csX5" fmla="*/ 2684319 w 6452452"/>
                      <a:gd name="csY5" fmla="*/ 0 h 2024096"/>
                      <a:gd name="csX6" fmla="*/ 3172035 w 6452452"/>
                      <a:gd name="csY6" fmla="*/ 0 h 2024096"/>
                      <a:gd name="csX7" fmla="*/ 3822324 w 6452452"/>
                      <a:gd name="csY7" fmla="*/ 0 h 2024096"/>
                      <a:gd name="csX8" fmla="*/ 4255849 w 6452452"/>
                      <a:gd name="csY8" fmla="*/ 0 h 2024096"/>
                      <a:gd name="csX9" fmla="*/ 4906138 w 6452452"/>
                      <a:gd name="csY9" fmla="*/ 0 h 2024096"/>
                      <a:gd name="csX10" fmla="*/ 5285473 w 6452452"/>
                      <a:gd name="csY10" fmla="*/ 0 h 2024096"/>
                      <a:gd name="csX11" fmla="*/ 5935761 w 6452452"/>
                      <a:gd name="csY11" fmla="*/ 0 h 2024096"/>
                      <a:gd name="csX12" fmla="*/ 6452452 w 6452452"/>
                      <a:gd name="csY12" fmla="*/ 516691 h 2024096"/>
                      <a:gd name="csX13" fmla="*/ 6452452 w 6452452"/>
                      <a:gd name="csY13" fmla="*/ 982327 h 2024096"/>
                      <a:gd name="csX14" fmla="*/ 6452452 w 6452452"/>
                      <a:gd name="csY14" fmla="*/ 1507405 h 2024096"/>
                      <a:gd name="csX15" fmla="*/ 5935761 w 6452452"/>
                      <a:gd name="csY15" fmla="*/ 2024096 h 2024096"/>
                      <a:gd name="csX16" fmla="*/ 5339663 w 6452452"/>
                      <a:gd name="csY16" fmla="*/ 2024096 h 2024096"/>
                      <a:gd name="csX17" fmla="*/ 4797756 w 6452452"/>
                      <a:gd name="csY17" fmla="*/ 2024096 h 2024096"/>
                      <a:gd name="csX18" fmla="*/ 4418421 w 6452452"/>
                      <a:gd name="csY18" fmla="*/ 2024096 h 2024096"/>
                      <a:gd name="csX19" fmla="*/ 3984896 w 6452452"/>
                      <a:gd name="csY19" fmla="*/ 2024096 h 2024096"/>
                      <a:gd name="csX20" fmla="*/ 3334607 w 6452452"/>
                      <a:gd name="csY20" fmla="*/ 2024096 h 2024096"/>
                      <a:gd name="csX21" fmla="*/ 2792700 w 6452452"/>
                      <a:gd name="csY21" fmla="*/ 2024096 h 2024096"/>
                      <a:gd name="csX22" fmla="*/ 2359175 w 6452452"/>
                      <a:gd name="csY22" fmla="*/ 2024096 h 2024096"/>
                      <a:gd name="csX23" fmla="*/ 1817268 w 6452452"/>
                      <a:gd name="csY23" fmla="*/ 2024096 h 2024096"/>
                      <a:gd name="csX24" fmla="*/ 1437933 w 6452452"/>
                      <a:gd name="csY24" fmla="*/ 2024096 h 2024096"/>
                      <a:gd name="csX25" fmla="*/ 1058598 w 6452452"/>
                      <a:gd name="csY25" fmla="*/ 2024096 h 2024096"/>
                      <a:gd name="csX26" fmla="*/ 516691 w 6452452"/>
                      <a:gd name="csY26" fmla="*/ 2024096 h 2024096"/>
                      <a:gd name="csX27" fmla="*/ 0 w 6452452"/>
                      <a:gd name="csY27" fmla="*/ 1507405 h 2024096"/>
                      <a:gd name="csX28" fmla="*/ 0 w 6452452"/>
                      <a:gd name="csY28" fmla="*/ 1041769 h 2024096"/>
                      <a:gd name="csX29" fmla="*/ 0 w 6452452"/>
                      <a:gd name="csY29" fmla="*/ 516691 h 202409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</a:cxnLst>
                    <a:rect l="l" t="t" r="r" b="b"/>
                    <a:pathLst>
                      <a:path w="6452452" h="2024096" extrusionOk="0">
                        <a:moveTo>
                          <a:pt x="0" y="516691"/>
                        </a:moveTo>
                        <a:cubicBezTo>
                          <a:pt x="-39183" y="207161"/>
                          <a:pt x="160606" y="26544"/>
                          <a:pt x="516691" y="0"/>
                        </a:cubicBezTo>
                        <a:cubicBezTo>
                          <a:pt x="732804" y="-36074"/>
                          <a:pt x="884974" y="23344"/>
                          <a:pt x="1166979" y="0"/>
                        </a:cubicBezTo>
                        <a:cubicBezTo>
                          <a:pt x="1448984" y="-23344"/>
                          <a:pt x="1545106" y="7235"/>
                          <a:pt x="1654696" y="0"/>
                        </a:cubicBezTo>
                        <a:cubicBezTo>
                          <a:pt x="1764286" y="-7235"/>
                          <a:pt x="1896475" y="11663"/>
                          <a:pt x="2088221" y="0"/>
                        </a:cubicBezTo>
                        <a:cubicBezTo>
                          <a:pt x="2279968" y="-11663"/>
                          <a:pt x="2515565" y="38586"/>
                          <a:pt x="2684319" y="0"/>
                        </a:cubicBezTo>
                        <a:cubicBezTo>
                          <a:pt x="2853073" y="-38586"/>
                          <a:pt x="2996842" y="54825"/>
                          <a:pt x="3172035" y="0"/>
                        </a:cubicBezTo>
                        <a:cubicBezTo>
                          <a:pt x="3347228" y="-54825"/>
                          <a:pt x="3570300" y="53972"/>
                          <a:pt x="3822324" y="0"/>
                        </a:cubicBezTo>
                        <a:cubicBezTo>
                          <a:pt x="4074348" y="-53972"/>
                          <a:pt x="4120587" y="329"/>
                          <a:pt x="4255849" y="0"/>
                        </a:cubicBezTo>
                        <a:cubicBezTo>
                          <a:pt x="4391112" y="-329"/>
                          <a:pt x="4629112" y="48097"/>
                          <a:pt x="4906138" y="0"/>
                        </a:cubicBezTo>
                        <a:cubicBezTo>
                          <a:pt x="5183164" y="-48097"/>
                          <a:pt x="5186188" y="31554"/>
                          <a:pt x="5285473" y="0"/>
                        </a:cubicBezTo>
                        <a:cubicBezTo>
                          <a:pt x="5384758" y="-31554"/>
                          <a:pt x="5632903" y="47323"/>
                          <a:pt x="5935761" y="0"/>
                        </a:cubicBezTo>
                        <a:cubicBezTo>
                          <a:pt x="6230348" y="13734"/>
                          <a:pt x="6453777" y="245052"/>
                          <a:pt x="6452452" y="516691"/>
                        </a:cubicBezTo>
                        <a:cubicBezTo>
                          <a:pt x="6472595" y="635825"/>
                          <a:pt x="6443722" y="847140"/>
                          <a:pt x="6452452" y="982327"/>
                        </a:cubicBezTo>
                        <a:cubicBezTo>
                          <a:pt x="6461182" y="1117514"/>
                          <a:pt x="6417452" y="1244937"/>
                          <a:pt x="6452452" y="1507405"/>
                        </a:cubicBezTo>
                        <a:cubicBezTo>
                          <a:pt x="6397615" y="1801771"/>
                          <a:pt x="6159910" y="1981861"/>
                          <a:pt x="5935761" y="2024096"/>
                        </a:cubicBezTo>
                        <a:cubicBezTo>
                          <a:pt x="5687850" y="2083461"/>
                          <a:pt x="5468916" y="1960712"/>
                          <a:pt x="5339663" y="2024096"/>
                        </a:cubicBezTo>
                        <a:cubicBezTo>
                          <a:pt x="5210410" y="2087480"/>
                          <a:pt x="5036686" y="2012692"/>
                          <a:pt x="4797756" y="2024096"/>
                        </a:cubicBezTo>
                        <a:cubicBezTo>
                          <a:pt x="4558826" y="2035500"/>
                          <a:pt x="4541897" y="1986147"/>
                          <a:pt x="4418421" y="2024096"/>
                        </a:cubicBezTo>
                        <a:cubicBezTo>
                          <a:pt x="4294945" y="2062045"/>
                          <a:pt x="4140554" y="2017033"/>
                          <a:pt x="3984896" y="2024096"/>
                        </a:cubicBezTo>
                        <a:cubicBezTo>
                          <a:pt x="3829238" y="2031159"/>
                          <a:pt x="3579847" y="1948207"/>
                          <a:pt x="3334607" y="2024096"/>
                        </a:cubicBezTo>
                        <a:cubicBezTo>
                          <a:pt x="3089367" y="2099985"/>
                          <a:pt x="3053203" y="2004684"/>
                          <a:pt x="2792700" y="2024096"/>
                        </a:cubicBezTo>
                        <a:cubicBezTo>
                          <a:pt x="2532197" y="2043508"/>
                          <a:pt x="2570285" y="2002676"/>
                          <a:pt x="2359175" y="2024096"/>
                        </a:cubicBezTo>
                        <a:cubicBezTo>
                          <a:pt x="2148066" y="2045516"/>
                          <a:pt x="1932522" y="2012414"/>
                          <a:pt x="1817268" y="2024096"/>
                        </a:cubicBezTo>
                        <a:cubicBezTo>
                          <a:pt x="1702014" y="2035778"/>
                          <a:pt x="1615457" y="1984121"/>
                          <a:pt x="1437933" y="2024096"/>
                        </a:cubicBezTo>
                        <a:cubicBezTo>
                          <a:pt x="1260409" y="2064071"/>
                          <a:pt x="1206530" y="2001491"/>
                          <a:pt x="1058598" y="2024096"/>
                        </a:cubicBezTo>
                        <a:cubicBezTo>
                          <a:pt x="910666" y="2046701"/>
                          <a:pt x="756106" y="1997476"/>
                          <a:pt x="516691" y="2024096"/>
                        </a:cubicBezTo>
                        <a:cubicBezTo>
                          <a:pt x="275574" y="2039581"/>
                          <a:pt x="6093" y="1813289"/>
                          <a:pt x="0" y="1507405"/>
                        </a:cubicBezTo>
                        <a:cubicBezTo>
                          <a:pt x="-7181" y="1366037"/>
                          <a:pt x="44881" y="1200146"/>
                          <a:pt x="0" y="1041769"/>
                        </a:cubicBezTo>
                        <a:cubicBezTo>
                          <a:pt x="-44881" y="883392"/>
                          <a:pt x="43464" y="702451"/>
                          <a:pt x="0" y="516691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9667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圖片 20">
            <a:extLst>
              <a:ext uri="{FF2B5EF4-FFF2-40B4-BE49-F238E27FC236}">
                <a16:creationId xmlns:a16="http://schemas.microsoft.com/office/drawing/2014/main" id="{C096C71F-D6EC-1ACD-BA0B-A6508722663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>
            <a:off x="-3073399" y="-351292"/>
            <a:ext cx="14027154" cy="7657401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A91E2B62-4092-7304-4D9A-62F3C5ED5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168" y="1131568"/>
            <a:ext cx="4912519" cy="1325563"/>
          </a:xfrm>
        </p:spPr>
        <p:txBody>
          <a:bodyPr>
            <a:noAutofit/>
          </a:bodyPr>
          <a:lstStyle/>
          <a:p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系辦日常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1360CE-CE8A-5C73-5F04-C786DF6D4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4147" y="2932556"/>
            <a:ext cx="5200654" cy="31471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情境描述：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資工系系辦剛採購了一批新的桌上型電腦與網路交換器。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過去用紙本登記容易造成</a:t>
            </a:r>
            <a:r>
              <a:rPr lang="zh-TW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資料遺漏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、設備</a:t>
            </a:r>
            <a:r>
              <a:rPr lang="zh-TW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去向不明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管理員需要一個系統來建立這批設備的財產清單，並後續追蹤借用與報修狀況。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BDC2F21-CDAE-8646-F201-4EE24B26A0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7801" y="2943663"/>
            <a:ext cx="6984997" cy="4351338"/>
          </a:xfrm>
        </p:spPr>
        <p:txBody>
          <a:bodyPr>
            <a:normAutofit/>
          </a:bodyPr>
          <a:lstStyle/>
          <a:p>
            <a:pPr marL="0" indent="0">
              <a:buClr>
                <a:schemeClr val="tx2">
                  <a:lumMod val="75000"/>
                  <a:lumOff val="25000"/>
                </a:schemeClr>
              </a:buClr>
              <a:buNone/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系統應用：</a:t>
            </a: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管理員透過學校 SSO 單一登入系統。</a:t>
            </a: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管理員新增設備資料，鍵入財產編號、類別、存放地點與保固期限。</a:t>
            </a: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系統自動產生設備紀錄，狀態預設為</a:t>
            </a:r>
            <a:r>
              <a:rPr lang="zh-TW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可用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日後若遇設備年限到期，管理員可直接在系統提出報廢申請，審核後系統標記為</a:t>
            </a:r>
            <a:r>
              <a:rPr lang="zh-TW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報廢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249E70EC-B31F-0CBF-E4EE-CA507A2230F7}"/>
              </a:ext>
            </a:extLst>
          </p:cNvPr>
          <p:cNvGrpSpPr/>
          <p:nvPr/>
        </p:nvGrpSpPr>
        <p:grpSpPr>
          <a:xfrm>
            <a:off x="-1200150" y="58142"/>
            <a:ext cx="4622800" cy="1200329"/>
            <a:chOff x="368300" y="1419930"/>
            <a:chExt cx="4622800" cy="120032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6856ED7-B041-E72D-25B3-D87BC1D11A51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173FCCA7-006E-13A2-8A4E-C96943DE9763}"/>
                </a:ext>
              </a:extLst>
            </p:cNvPr>
            <p:cNvSpPr txBox="1"/>
            <p:nvPr/>
          </p:nvSpPr>
          <p:spPr>
            <a:xfrm>
              <a:off x="4254500" y="141993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1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3AEBEFC-50C8-46BD-5641-2CEA444E5B7E}"/>
              </a:ext>
            </a:extLst>
          </p:cNvPr>
          <p:cNvSpPr txBox="1"/>
          <p:nvPr/>
        </p:nvSpPr>
        <p:spPr>
          <a:xfrm>
            <a:off x="374650" y="290284"/>
            <a:ext cx="2482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應用情境</a:t>
            </a:r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129E4F8D-86B8-B5EF-7F96-2D9CFD7B425C}"/>
              </a:ext>
            </a:extLst>
          </p:cNvPr>
          <p:cNvCxnSpPr>
            <a:cxnSpLocks/>
          </p:cNvCxnSpPr>
          <p:nvPr/>
        </p:nvCxnSpPr>
        <p:spPr>
          <a:xfrm>
            <a:off x="5257801" y="2848592"/>
            <a:ext cx="0" cy="368050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圖片 13">
            <a:extLst>
              <a:ext uri="{FF2B5EF4-FFF2-40B4-BE49-F238E27FC236}">
                <a16:creationId xmlns:a16="http://schemas.microsoft.com/office/drawing/2014/main" id="{F5BA5029-CF3A-9E83-3002-2D221D8F8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2206" y="196825"/>
            <a:ext cx="3295647" cy="2735731"/>
          </a:xfrm>
          <a:prstGeom prst="rect">
            <a:avLst/>
          </a:prstGeom>
        </p:spPr>
      </p:pic>
      <p:sp>
        <p:nvSpPr>
          <p:cNvPr id="2074" name="標題 1">
            <a:extLst>
              <a:ext uri="{FF2B5EF4-FFF2-40B4-BE49-F238E27FC236}">
                <a16:creationId xmlns:a16="http://schemas.microsoft.com/office/drawing/2014/main" id="{F778BB3F-D999-35DC-43B8-58DACBE9793D}"/>
              </a:ext>
            </a:extLst>
          </p:cNvPr>
          <p:cNvSpPr txBox="1">
            <a:spLocks/>
          </p:cNvSpPr>
          <p:nvPr/>
        </p:nvSpPr>
        <p:spPr>
          <a:xfrm>
            <a:off x="3209923" y="10165558"/>
            <a:ext cx="43243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7200">
                <a:latin typeface="標楷體" panose="03000509000000000000" pitchFamily="65" charset="-120"/>
                <a:ea typeface="標楷體" panose="03000509000000000000" pitchFamily="65" charset="-120"/>
              </a:rPr>
              <a:t>專題急需</a:t>
            </a:r>
            <a:endParaRPr lang="zh-TW" altLang="en-US" sz="7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75" name="內容版面配置區 2">
            <a:extLst>
              <a:ext uri="{FF2B5EF4-FFF2-40B4-BE49-F238E27FC236}">
                <a16:creationId xmlns:a16="http://schemas.microsoft.com/office/drawing/2014/main" id="{94E86047-EBA1-3E57-8629-F23172C25BA2}"/>
              </a:ext>
            </a:extLst>
          </p:cNvPr>
          <p:cNvSpPr txBox="1">
            <a:spLocks/>
          </p:cNvSpPr>
          <p:nvPr/>
        </p:nvSpPr>
        <p:spPr>
          <a:xfrm>
            <a:off x="530223" y="11849610"/>
            <a:ext cx="501014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400" b="1">
                <a:latin typeface="標楷體" panose="03000509000000000000" pitchFamily="65" charset="-120"/>
                <a:ea typeface="標楷體" panose="03000509000000000000" pitchFamily="65" charset="-120"/>
              </a:rPr>
              <a:t>學生器材借用與通報</a:t>
            </a:r>
            <a:r>
              <a:rPr lang="en-US" altLang="zh-TW" sz="2400" b="1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2400" b="1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學生小明最近在趕專題展演，急需</a:t>
            </a:r>
            <a:r>
              <a:rPr lang="zh-TW" altLang="en-US" sz="240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借用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特定的投影機與實驗器材。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同時，他發現實驗室的一台電腦故障了，需要即時向系辦發出</a:t>
            </a:r>
            <a:r>
              <a:rPr lang="zh-TW" altLang="en-US" sz="240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維修通報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76" name="內容版面配置區 3">
            <a:extLst>
              <a:ext uri="{FF2B5EF4-FFF2-40B4-BE49-F238E27FC236}">
                <a16:creationId xmlns:a16="http://schemas.microsoft.com/office/drawing/2014/main" id="{57B980C2-7F38-DAFD-918B-B81E4F3585F2}"/>
              </a:ext>
            </a:extLst>
          </p:cNvPr>
          <p:cNvSpPr txBox="1">
            <a:spLocks/>
          </p:cNvSpPr>
          <p:nvPr/>
        </p:nvSpPr>
        <p:spPr>
          <a:xfrm>
            <a:off x="5645158" y="11630912"/>
            <a:ext cx="6597640" cy="1684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None/>
            </a:pPr>
            <a:r>
              <a:rPr lang="zh-TW" altLang="en-US" sz="2400" b="1">
                <a:latin typeface="標楷體" panose="03000509000000000000" pitchFamily="65" charset="-120"/>
                <a:ea typeface="標楷體" panose="03000509000000000000" pitchFamily="65" charset="-120"/>
              </a:rPr>
              <a:t>操作流程</a:t>
            </a:r>
            <a:r>
              <a:rPr lang="en-US" altLang="zh-TW" sz="2400" b="1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b="1">
                <a:latin typeface="標楷體" panose="03000509000000000000" pitchFamily="65" charset="-120"/>
                <a:ea typeface="標楷體" panose="03000509000000000000" pitchFamily="65" charset="-120"/>
              </a:rPr>
              <a:t>借用</a:t>
            </a:r>
            <a:r>
              <a:rPr lang="en-US" altLang="zh-TW" sz="2400" b="1">
                <a:latin typeface="標楷體" panose="03000509000000000000" pitchFamily="65" charset="-120"/>
                <a:ea typeface="標楷體" panose="03000509000000000000" pitchFamily="65" charset="-120"/>
              </a:rPr>
              <a:t>):</a:t>
            </a: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條件篩選：依「投影機」與「可用」狀態找尋。</a:t>
            </a:r>
          </a:p>
          <a:p>
            <a:pPr marL="514350" indent="-5143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提出申請單：填寫借用起迄日，或填寫損壞描述。</a:t>
            </a:r>
          </a:p>
          <a:p>
            <a:pPr marL="514350" indent="-5143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後台審核聯動：管理員核准後，自動變更為</a:t>
            </a:r>
            <a:r>
              <a:rPr lang="zh-TW" altLang="en-US" sz="200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借出中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2077" name="群組 2076">
            <a:extLst>
              <a:ext uri="{FF2B5EF4-FFF2-40B4-BE49-F238E27FC236}">
                <a16:creationId xmlns:a16="http://schemas.microsoft.com/office/drawing/2014/main" id="{001D9357-88FE-8089-6B9C-876AF17798CB}"/>
              </a:ext>
            </a:extLst>
          </p:cNvPr>
          <p:cNvGrpSpPr/>
          <p:nvPr/>
        </p:nvGrpSpPr>
        <p:grpSpPr>
          <a:xfrm>
            <a:off x="-1044577" y="8874942"/>
            <a:ext cx="4622800" cy="1200329"/>
            <a:chOff x="368300" y="1419930"/>
            <a:chExt cx="4622800" cy="1200329"/>
          </a:xfrm>
        </p:grpSpPr>
        <p:sp>
          <p:nvSpPr>
            <p:cNvPr id="2078" name="矩形 2077">
              <a:extLst>
                <a:ext uri="{FF2B5EF4-FFF2-40B4-BE49-F238E27FC236}">
                  <a16:creationId xmlns:a16="http://schemas.microsoft.com/office/drawing/2014/main" id="{DBA78BCB-AFF1-5A0A-6868-C227F1153D7A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79" name="文字方塊 2078">
              <a:extLst>
                <a:ext uri="{FF2B5EF4-FFF2-40B4-BE49-F238E27FC236}">
                  <a16:creationId xmlns:a16="http://schemas.microsoft.com/office/drawing/2014/main" id="{EA40877F-DAF4-3756-6DC2-15B31E2FA408}"/>
                </a:ext>
              </a:extLst>
            </p:cNvPr>
            <p:cNvSpPr txBox="1"/>
            <p:nvPr/>
          </p:nvSpPr>
          <p:spPr>
            <a:xfrm>
              <a:off x="4254500" y="141993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2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2080" name="文字方塊 2079">
            <a:extLst>
              <a:ext uri="{FF2B5EF4-FFF2-40B4-BE49-F238E27FC236}">
                <a16:creationId xmlns:a16="http://schemas.microsoft.com/office/drawing/2014/main" id="{B9532F5C-49C8-6BD1-8D0F-86C2149CD267}"/>
              </a:ext>
            </a:extLst>
          </p:cNvPr>
          <p:cNvSpPr txBox="1"/>
          <p:nvPr/>
        </p:nvSpPr>
        <p:spPr>
          <a:xfrm>
            <a:off x="530223" y="9107084"/>
            <a:ext cx="2482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應用情境</a:t>
            </a:r>
          </a:p>
        </p:txBody>
      </p:sp>
      <p:cxnSp>
        <p:nvCxnSpPr>
          <p:cNvPr id="2081" name="直線接點 2080">
            <a:extLst>
              <a:ext uri="{FF2B5EF4-FFF2-40B4-BE49-F238E27FC236}">
                <a16:creationId xmlns:a16="http://schemas.microsoft.com/office/drawing/2014/main" id="{334E30E0-DC08-DCC3-513D-20BDEF15A98E}"/>
              </a:ext>
            </a:extLst>
          </p:cNvPr>
          <p:cNvCxnSpPr>
            <a:cxnSpLocks/>
          </p:cNvCxnSpPr>
          <p:nvPr/>
        </p:nvCxnSpPr>
        <p:spPr>
          <a:xfrm>
            <a:off x="5540374" y="11665392"/>
            <a:ext cx="0" cy="368050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82" name="Picture 2">
            <a:extLst>
              <a:ext uri="{FF2B5EF4-FFF2-40B4-BE49-F238E27FC236}">
                <a16:creationId xmlns:a16="http://schemas.microsoft.com/office/drawing/2014/main" id="{1DB379EB-3CF3-8B03-08FE-B87C97C339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523" t="19527" r="16250" b="18428"/>
          <a:stretch>
            <a:fillRect/>
          </a:stretch>
        </p:blipFill>
        <p:spPr>
          <a:xfrm>
            <a:off x="7038979" y="8980194"/>
            <a:ext cx="5073649" cy="2612001"/>
          </a:xfrm>
          <a:prstGeom prst="rect">
            <a:avLst/>
          </a:prstGeom>
        </p:spPr>
      </p:pic>
      <p:sp>
        <p:nvSpPr>
          <p:cNvPr id="2083" name="內容版面配置區 3">
            <a:extLst>
              <a:ext uri="{FF2B5EF4-FFF2-40B4-BE49-F238E27FC236}">
                <a16:creationId xmlns:a16="http://schemas.microsoft.com/office/drawing/2014/main" id="{8B8699F6-3AE0-0C20-3691-B1C16B1B057A}"/>
              </a:ext>
            </a:extLst>
          </p:cNvPr>
          <p:cNvSpPr txBox="1">
            <a:spLocks/>
          </p:cNvSpPr>
          <p:nvPr/>
        </p:nvSpPr>
        <p:spPr>
          <a:xfrm>
            <a:off x="5645158" y="13572144"/>
            <a:ext cx="6597640" cy="1684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None/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操作流程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維修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):</a:t>
            </a: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條件篩選：依「電腦」與「可用」狀態找尋。</a:t>
            </a:r>
          </a:p>
          <a:p>
            <a:pPr marL="514350" indent="-5143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提交設備損壞通報。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後台審核聯動：管理員建立維護紀錄並追蹤處理進度。</a:t>
            </a:r>
          </a:p>
        </p:txBody>
      </p:sp>
    </p:spTree>
    <p:extLst>
      <p:ext uri="{BB962C8B-B14F-4D97-AF65-F5344CB8AC3E}">
        <p14:creationId xmlns:p14="http://schemas.microsoft.com/office/powerpoint/2010/main" val="11445489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F5A67A-8A6A-90F2-C684-4BC4F3F27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4350" y="1348758"/>
            <a:ext cx="4324350" cy="1325563"/>
          </a:xfrm>
        </p:spPr>
        <p:txBody>
          <a:bodyPr>
            <a:noAutofit/>
          </a:bodyPr>
          <a:lstStyle/>
          <a:p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專題急需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409844-6D9C-933F-6D50-768833F74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4650" y="3032810"/>
            <a:ext cx="501014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學生器材借用與通報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pPr marL="0" indent="0">
              <a:buNone/>
            </a:pP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學生小明最近在趕專題展演，急需</a:t>
            </a:r>
            <a:r>
              <a:rPr lang="zh-TW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借用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特定的投影機與實驗器材。</a:t>
            </a:r>
          </a:p>
          <a:p>
            <a:pPr marL="0" indent="0">
              <a:buNone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同時，他發現實驗室的一台電腦故障了，需要即時向系辦發出</a:t>
            </a:r>
            <a:r>
              <a:rPr lang="zh-TW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維修通報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73D05F2-1967-C102-B3AB-43608A413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9585" y="2814112"/>
            <a:ext cx="6597640" cy="1684691"/>
          </a:xfrm>
        </p:spPr>
        <p:txBody>
          <a:bodyPr>
            <a:normAutofit/>
          </a:bodyPr>
          <a:lstStyle/>
          <a:p>
            <a:pPr marL="0" indent="0">
              <a:buClr>
                <a:schemeClr val="tx2">
                  <a:lumMod val="75000"/>
                  <a:lumOff val="25000"/>
                </a:schemeClr>
              </a:buClr>
              <a:buNone/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操作流程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借用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):</a:t>
            </a: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條件篩選：依「投影機」與「可用」狀態找尋。</a:t>
            </a:r>
          </a:p>
          <a:p>
            <a:pPr marL="514350" indent="-5143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提出申請單：填寫借用起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迄日。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後台審核聯動：管理員核准後，自動變更為</a:t>
            </a:r>
            <a:r>
              <a:rPr lang="zh-TW" altLang="en-US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借出中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CA7DF87-10C5-C7E0-7CAC-2D44CA988794}"/>
              </a:ext>
            </a:extLst>
          </p:cNvPr>
          <p:cNvGrpSpPr/>
          <p:nvPr/>
        </p:nvGrpSpPr>
        <p:grpSpPr>
          <a:xfrm>
            <a:off x="-1200150" y="58142"/>
            <a:ext cx="4622800" cy="1200329"/>
            <a:chOff x="368300" y="1419930"/>
            <a:chExt cx="4622800" cy="1200329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6B9BBC8-B0D2-0253-7FC0-4071232AE386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F29A566D-ECCF-DE5C-04B8-86A13F32F687}"/>
                </a:ext>
              </a:extLst>
            </p:cNvPr>
            <p:cNvSpPr txBox="1"/>
            <p:nvPr/>
          </p:nvSpPr>
          <p:spPr>
            <a:xfrm>
              <a:off x="4254500" y="141993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2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3CC25E8-3D1C-77CE-1238-F1964257570F}"/>
              </a:ext>
            </a:extLst>
          </p:cNvPr>
          <p:cNvSpPr txBox="1"/>
          <p:nvPr/>
        </p:nvSpPr>
        <p:spPr>
          <a:xfrm>
            <a:off x="374650" y="290284"/>
            <a:ext cx="2482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應用情境</a:t>
            </a: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9521D9FD-0C19-92F9-7E9F-23071E04F42E}"/>
              </a:ext>
            </a:extLst>
          </p:cNvPr>
          <p:cNvCxnSpPr>
            <a:cxnSpLocks/>
          </p:cNvCxnSpPr>
          <p:nvPr/>
        </p:nvCxnSpPr>
        <p:spPr>
          <a:xfrm>
            <a:off x="5384801" y="2848592"/>
            <a:ext cx="0" cy="368050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2">
            <a:extLst>
              <a:ext uri="{FF2B5EF4-FFF2-40B4-BE49-F238E27FC236}">
                <a16:creationId xmlns:a16="http://schemas.microsoft.com/office/drawing/2014/main" id="{5A1425FA-8DD3-E1B8-BB95-41B6EF425D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23" t="19527" r="16250" b="18428"/>
          <a:stretch>
            <a:fillRect/>
          </a:stretch>
        </p:blipFill>
        <p:spPr>
          <a:xfrm>
            <a:off x="6883406" y="163394"/>
            <a:ext cx="5073649" cy="2612001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531C0E30-DAC6-3320-C170-00A4A9990C9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-3124197" y="-8389666"/>
            <a:ext cx="14027154" cy="7657401"/>
          </a:xfrm>
          <a:prstGeom prst="rect">
            <a:avLst/>
          </a:prstGeom>
        </p:spPr>
      </p:pic>
      <p:sp>
        <p:nvSpPr>
          <p:cNvPr id="30" name="標題 1">
            <a:extLst>
              <a:ext uri="{FF2B5EF4-FFF2-40B4-BE49-F238E27FC236}">
                <a16:creationId xmlns:a16="http://schemas.microsoft.com/office/drawing/2014/main" id="{B2A1980B-8561-63B6-82D2-E065952C7F11}"/>
              </a:ext>
            </a:extLst>
          </p:cNvPr>
          <p:cNvSpPr txBox="1">
            <a:spLocks/>
          </p:cNvSpPr>
          <p:nvPr/>
        </p:nvSpPr>
        <p:spPr>
          <a:xfrm>
            <a:off x="3560370" y="-6906806"/>
            <a:ext cx="491251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7200">
                <a:latin typeface="標楷體" panose="03000509000000000000" pitchFamily="65" charset="-120"/>
                <a:ea typeface="標楷體" panose="03000509000000000000" pitchFamily="65" charset="-120"/>
              </a:rPr>
              <a:t>系辦日常</a:t>
            </a:r>
            <a:endParaRPr lang="zh-TW" altLang="en-US" sz="7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1" name="內容版面配置區 2">
            <a:extLst>
              <a:ext uri="{FF2B5EF4-FFF2-40B4-BE49-F238E27FC236}">
                <a16:creationId xmlns:a16="http://schemas.microsoft.com/office/drawing/2014/main" id="{EB4217BC-BBFE-C78E-8E59-EDBDA52BF9E8}"/>
              </a:ext>
            </a:extLst>
          </p:cNvPr>
          <p:cNvSpPr txBox="1">
            <a:spLocks/>
          </p:cNvSpPr>
          <p:nvPr/>
        </p:nvSpPr>
        <p:spPr>
          <a:xfrm>
            <a:off x="133349" y="-5105818"/>
            <a:ext cx="5200654" cy="31471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400" b="1">
                <a:latin typeface="標楷體" panose="03000509000000000000" pitchFamily="65" charset="-120"/>
                <a:ea typeface="標楷體" panose="03000509000000000000" pitchFamily="65" charset="-120"/>
              </a:rPr>
              <a:t>情境描述：</a:t>
            </a:r>
            <a:endParaRPr lang="en-US" altLang="zh-TW" sz="2400" b="1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資工系系辦剛採購了一批新的桌上型電腦與網路交換器。</a:t>
            </a:r>
            <a:endParaRPr lang="en-US" altLang="zh-TW" sz="240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過去用紙本登記容易造成</a:t>
            </a:r>
            <a:r>
              <a:rPr lang="zh-TW" altLang="en-US" sz="240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資料遺漏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、設備</a:t>
            </a:r>
            <a:r>
              <a:rPr lang="zh-TW" altLang="en-US" sz="240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去向不明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sz="240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管理員需要一個系統來建立這批設備的財產清單，並後續追蹤借用與報修狀況。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2" name="內容版面配置區 3">
            <a:extLst>
              <a:ext uri="{FF2B5EF4-FFF2-40B4-BE49-F238E27FC236}">
                <a16:creationId xmlns:a16="http://schemas.microsoft.com/office/drawing/2014/main" id="{01747611-92F1-2283-3EDE-D0C8ED83B925}"/>
              </a:ext>
            </a:extLst>
          </p:cNvPr>
          <p:cNvSpPr txBox="1">
            <a:spLocks/>
          </p:cNvSpPr>
          <p:nvPr/>
        </p:nvSpPr>
        <p:spPr>
          <a:xfrm>
            <a:off x="5207003" y="-5094711"/>
            <a:ext cx="698499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None/>
            </a:pPr>
            <a:r>
              <a:rPr lang="zh-TW" altLang="en-US" sz="2400" b="1">
                <a:latin typeface="標楷體" panose="03000509000000000000" pitchFamily="65" charset="-120"/>
                <a:ea typeface="標楷體" panose="03000509000000000000" pitchFamily="65" charset="-120"/>
              </a:rPr>
              <a:t>系統應用：</a:t>
            </a: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管理員透過學校 SSO 單一登入系統。</a:t>
            </a: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管理員新增設備資料，鍵入財產編號、類別、存放地點與保固期限。</a:t>
            </a: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系統自動產生設備紀錄，狀態預設為</a:t>
            </a:r>
            <a:r>
              <a:rPr lang="zh-TW" altLang="en-US" sz="240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可用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日後若遇設備年限到期，管理員可直接在系統提出報廢申請，審核後系統標記為</a:t>
            </a:r>
            <a:r>
              <a:rPr lang="zh-TW" altLang="en-US" sz="240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報廢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1BBB3756-6946-4900-750B-9D26A66BE4AF}"/>
              </a:ext>
            </a:extLst>
          </p:cNvPr>
          <p:cNvGrpSpPr/>
          <p:nvPr/>
        </p:nvGrpSpPr>
        <p:grpSpPr>
          <a:xfrm>
            <a:off x="-1250948" y="-7980232"/>
            <a:ext cx="4622800" cy="1200329"/>
            <a:chOff x="368300" y="1419930"/>
            <a:chExt cx="4622800" cy="1200329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B4CA2A10-E1DD-B813-E5EC-FF453FB3499E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D230B999-8BC9-52D1-57B6-A06CD1514314}"/>
                </a:ext>
              </a:extLst>
            </p:cNvPr>
            <p:cNvSpPr txBox="1"/>
            <p:nvPr/>
          </p:nvSpPr>
          <p:spPr>
            <a:xfrm>
              <a:off x="4254500" y="141993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1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90EA3833-F91C-4A91-DF6A-5B4A28048C17}"/>
              </a:ext>
            </a:extLst>
          </p:cNvPr>
          <p:cNvSpPr txBox="1"/>
          <p:nvPr/>
        </p:nvSpPr>
        <p:spPr>
          <a:xfrm>
            <a:off x="323852" y="-7748090"/>
            <a:ext cx="2482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應用情境</a:t>
            </a:r>
          </a:p>
        </p:txBody>
      </p: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AB2EB42A-64E4-8E0B-1D36-8CA71D142A3B}"/>
              </a:ext>
            </a:extLst>
          </p:cNvPr>
          <p:cNvCxnSpPr>
            <a:cxnSpLocks/>
          </p:cNvCxnSpPr>
          <p:nvPr/>
        </p:nvCxnSpPr>
        <p:spPr>
          <a:xfrm>
            <a:off x="5207003" y="-5189782"/>
            <a:ext cx="0" cy="368050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圖片 37">
            <a:extLst>
              <a:ext uri="{FF2B5EF4-FFF2-40B4-BE49-F238E27FC236}">
                <a16:creationId xmlns:a16="http://schemas.microsoft.com/office/drawing/2014/main" id="{4C81F84B-AD62-C2BE-56AD-02BABB467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1408" y="-7841549"/>
            <a:ext cx="3295647" cy="2735731"/>
          </a:xfrm>
          <a:prstGeom prst="rect">
            <a:avLst/>
          </a:prstGeom>
        </p:spPr>
      </p:pic>
      <p:sp>
        <p:nvSpPr>
          <p:cNvPr id="39" name="內容版面配置區 3">
            <a:extLst>
              <a:ext uri="{FF2B5EF4-FFF2-40B4-BE49-F238E27FC236}">
                <a16:creationId xmlns:a16="http://schemas.microsoft.com/office/drawing/2014/main" id="{31D8FCB2-DCF4-76C1-0CA1-CF5BEE75AAD7}"/>
              </a:ext>
            </a:extLst>
          </p:cNvPr>
          <p:cNvSpPr txBox="1">
            <a:spLocks/>
          </p:cNvSpPr>
          <p:nvPr/>
        </p:nvSpPr>
        <p:spPr>
          <a:xfrm>
            <a:off x="5489585" y="4755344"/>
            <a:ext cx="6597640" cy="1684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None/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操作流程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維修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):</a:t>
            </a: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條件篩選：依「電腦」與「可用」狀態找尋。</a:t>
            </a:r>
          </a:p>
          <a:p>
            <a:pPr marL="514350" indent="-5143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提交設備損壞通報。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後台審核聯動：管理員建立維護紀錄並追蹤處理進度。</a:t>
            </a:r>
          </a:p>
        </p:txBody>
      </p:sp>
      <p:sp>
        <p:nvSpPr>
          <p:cNvPr id="40" name="文字版面配置區 2">
            <a:extLst>
              <a:ext uri="{FF2B5EF4-FFF2-40B4-BE49-F238E27FC236}">
                <a16:creationId xmlns:a16="http://schemas.microsoft.com/office/drawing/2014/main" id="{40D1BA38-BDB6-EF91-5F97-932E332CD8E1}"/>
              </a:ext>
            </a:extLst>
          </p:cNvPr>
          <p:cNvSpPr txBox="1">
            <a:spLocks/>
          </p:cNvSpPr>
          <p:nvPr/>
        </p:nvSpPr>
        <p:spPr>
          <a:xfrm>
            <a:off x="1023543" y="9421414"/>
            <a:ext cx="10515600" cy="9247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本系統以「關聯式資料庫」為核心，管理資工系所有具財產編號設備的完整生命週期，提供高安全、高效率的管理方案。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3A2B5FC2-B949-64D1-2B70-361543AEF2B8}"/>
              </a:ext>
            </a:extLst>
          </p:cNvPr>
          <p:cNvGrpSpPr/>
          <p:nvPr/>
        </p:nvGrpSpPr>
        <p:grpSpPr>
          <a:xfrm>
            <a:off x="-1278601" y="8303439"/>
            <a:ext cx="5206093" cy="1200329"/>
            <a:chOff x="368300" y="1419930"/>
            <a:chExt cx="4622800" cy="1200329"/>
          </a:xfrm>
        </p:grpSpPr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63ACD635-3E77-C6E9-E770-C054171EFA90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588D9330-56A9-CBC3-1851-EACD8B68210B}"/>
                </a:ext>
              </a:extLst>
            </p:cNvPr>
            <p:cNvSpPr txBox="1"/>
            <p:nvPr/>
          </p:nvSpPr>
          <p:spPr>
            <a:xfrm>
              <a:off x="4254500" y="141993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3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1BF0E627-4B71-9997-CEAA-129850B14880}"/>
              </a:ext>
            </a:extLst>
          </p:cNvPr>
          <p:cNvSpPr txBox="1"/>
          <p:nvPr/>
        </p:nvSpPr>
        <p:spPr>
          <a:xfrm>
            <a:off x="94361" y="8569268"/>
            <a:ext cx="31718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系統需求概述</a:t>
            </a: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F3BBE1E4-D87A-BF1A-2383-88F40098A98F}"/>
              </a:ext>
            </a:extLst>
          </p:cNvPr>
          <p:cNvSpPr/>
          <p:nvPr/>
        </p:nvSpPr>
        <p:spPr>
          <a:xfrm>
            <a:off x="94361" y="10526245"/>
            <a:ext cx="11952514" cy="1416935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BAB1EEBD-E216-F520-D034-1CC748BBF115}"/>
              </a:ext>
            </a:extLst>
          </p:cNvPr>
          <p:cNvSpPr/>
          <p:nvPr/>
        </p:nvSpPr>
        <p:spPr>
          <a:xfrm>
            <a:off x="308563" y="10603523"/>
            <a:ext cx="11319212" cy="777146"/>
          </a:xfrm>
          <a:prstGeom prst="roundRect">
            <a:avLst>
              <a:gd name="adj" fmla="val 35245"/>
            </a:avLst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全生命週期</a:t>
            </a:r>
          </a:p>
        </p:txBody>
      </p:sp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EDE07547-44C1-3479-D66A-78A967A3A3F7}"/>
              </a:ext>
            </a:extLst>
          </p:cNvPr>
          <p:cNvSpPr/>
          <p:nvPr/>
        </p:nvSpPr>
        <p:spPr>
          <a:xfrm>
            <a:off x="94361" y="12059558"/>
            <a:ext cx="11888467" cy="1367340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矩形: 圓角 47">
            <a:extLst>
              <a:ext uri="{FF2B5EF4-FFF2-40B4-BE49-F238E27FC236}">
                <a16:creationId xmlns:a16="http://schemas.microsoft.com/office/drawing/2014/main" id="{130B0473-2BBF-79DB-07D0-9F0557B8AD72}"/>
              </a:ext>
            </a:extLst>
          </p:cNvPr>
          <p:cNvSpPr/>
          <p:nvPr/>
        </p:nvSpPr>
        <p:spPr>
          <a:xfrm>
            <a:off x="308563" y="12120925"/>
            <a:ext cx="11319212" cy="604410"/>
          </a:xfrm>
          <a:prstGeom prst="roundRect">
            <a:avLst>
              <a:gd name="adj" fmla="val 35245"/>
            </a:avLst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存取控制 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(RBAC)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9" name="矩形: 圓角 48">
            <a:extLst>
              <a:ext uri="{FF2B5EF4-FFF2-40B4-BE49-F238E27FC236}">
                <a16:creationId xmlns:a16="http://schemas.microsoft.com/office/drawing/2014/main" id="{14A370BF-E91E-FC18-3507-AD9AB419E942}"/>
              </a:ext>
            </a:extLst>
          </p:cNvPr>
          <p:cNvSpPr/>
          <p:nvPr/>
        </p:nvSpPr>
        <p:spPr>
          <a:xfrm>
            <a:off x="94361" y="13542889"/>
            <a:ext cx="11888467" cy="1317741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矩形: 圓角 49">
            <a:extLst>
              <a:ext uri="{FF2B5EF4-FFF2-40B4-BE49-F238E27FC236}">
                <a16:creationId xmlns:a16="http://schemas.microsoft.com/office/drawing/2014/main" id="{AFAF01C1-54D9-CB12-76AF-0512E387775C}"/>
              </a:ext>
            </a:extLst>
          </p:cNvPr>
          <p:cNvSpPr/>
          <p:nvPr/>
        </p:nvSpPr>
        <p:spPr>
          <a:xfrm>
            <a:off x="308563" y="13659337"/>
            <a:ext cx="11333217" cy="523220"/>
          </a:xfrm>
          <a:prstGeom prst="roundRect">
            <a:avLst>
              <a:gd name="adj" fmla="val 35245"/>
            </a:avLst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操作稽核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9DC09029-2A55-678B-327A-DB5D8DBBC33F}"/>
              </a:ext>
            </a:extLst>
          </p:cNvPr>
          <p:cNvSpPr txBox="1"/>
          <p:nvPr/>
        </p:nvSpPr>
        <p:spPr>
          <a:xfrm>
            <a:off x="3266186" y="11380669"/>
            <a:ext cx="83755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>
                <a:solidFill>
                  <a:schemeClr val="tx2">
                    <a:lumMod val="90000"/>
                    <a:lumOff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涵蓋登錄、借用、維護及報廢作業。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D2DA1927-844D-ACF2-ADDA-9F580415F472}"/>
              </a:ext>
            </a:extLst>
          </p:cNvPr>
          <p:cNvSpPr txBox="1"/>
          <p:nvPr/>
        </p:nvSpPr>
        <p:spPr>
          <a:xfrm>
            <a:off x="3266186" y="12797604"/>
            <a:ext cx="101505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>
                <a:solidFill>
                  <a:schemeClr val="tx2">
                    <a:lumMod val="90000"/>
                    <a:lumOff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依身份嚴格劃分管理員與師生權限。</a:t>
            </a: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27E46240-E085-81B6-03E8-0C210094899D}"/>
              </a:ext>
            </a:extLst>
          </p:cNvPr>
          <p:cNvSpPr txBox="1"/>
          <p:nvPr/>
        </p:nvSpPr>
        <p:spPr>
          <a:xfrm>
            <a:off x="2407782" y="14175248"/>
            <a:ext cx="103981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>
                <a:solidFill>
                  <a:schemeClr val="tx2">
                    <a:lumMod val="90000"/>
                    <a:lumOff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保留完整操作歷史與審核軌跡，責任清晰可查。</a:t>
            </a:r>
          </a:p>
        </p:txBody>
      </p:sp>
    </p:spTree>
    <p:extLst>
      <p:ext uri="{BB962C8B-B14F-4D97-AF65-F5344CB8AC3E}">
        <p14:creationId xmlns:p14="http://schemas.microsoft.com/office/powerpoint/2010/main" val="3029470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C29B23D-F203-E278-77AC-688135752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1993" y="1176117"/>
            <a:ext cx="10515600" cy="924754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本系統以「關聯式資料庫」為核心，管理資工系所有具財產編號設備的完整生命週期，提供高安全、高效率的管理方案。</a:t>
            </a:r>
          </a:p>
          <a:p>
            <a:pPr marL="0" indent="0">
              <a:buNone/>
            </a:pPr>
            <a:endParaRPr lang="zh-TW" altLang="en-US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9D928E55-49D3-ECA4-8063-CB64AE307E9D}"/>
              </a:ext>
            </a:extLst>
          </p:cNvPr>
          <p:cNvGrpSpPr/>
          <p:nvPr/>
        </p:nvGrpSpPr>
        <p:grpSpPr>
          <a:xfrm>
            <a:off x="-1200151" y="58142"/>
            <a:ext cx="5206093" cy="1200329"/>
            <a:chOff x="368300" y="1419930"/>
            <a:chExt cx="4622800" cy="120032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F6A3C55-BF3E-C35A-5DF6-38A9F5DA18A3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3A716147-FCBA-6BA1-286E-1CE0DB7FF434}"/>
                </a:ext>
              </a:extLst>
            </p:cNvPr>
            <p:cNvSpPr txBox="1"/>
            <p:nvPr/>
          </p:nvSpPr>
          <p:spPr>
            <a:xfrm>
              <a:off x="4254500" y="141993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3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7" name="文字方塊 6">
            <a:extLst>
              <a:ext uri="{FF2B5EF4-FFF2-40B4-BE49-F238E27FC236}">
                <a16:creationId xmlns:a16="http://schemas.microsoft.com/office/drawing/2014/main" id="{FF9CAB57-9C0E-9A45-E50F-B7673338AEE0}"/>
              </a:ext>
            </a:extLst>
          </p:cNvPr>
          <p:cNvSpPr txBox="1"/>
          <p:nvPr/>
        </p:nvSpPr>
        <p:spPr>
          <a:xfrm>
            <a:off x="172811" y="323971"/>
            <a:ext cx="31718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系統需求概述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C87CDA37-0480-D7C3-C154-5D1EA9AACE44}"/>
              </a:ext>
            </a:extLst>
          </p:cNvPr>
          <p:cNvSpPr/>
          <p:nvPr/>
        </p:nvSpPr>
        <p:spPr>
          <a:xfrm>
            <a:off x="172811" y="2280948"/>
            <a:ext cx="11952514" cy="1416935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ABAB0BD7-4651-6737-3EE0-E64BD4630DD1}"/>
              </a:ext>
            </a:extLst>
          </p:cNvPr>
          <p:cNvSpPr/>
          <p:nvPr/>
        </p:nvSpPr>
        <p:spPr>
          <a:xfrm>
            <a:off x="387013" y="2358226"/>
            <a:ext cx="11319212" cy="777146"/>
          </a:xfrm>
          <a:prstGeom prst="roundRect">
            <a:avLst>
              <a:gd name="adj" fmla="val 35245"/>
            </a:avLst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全生命週期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EE32B915-D515-26F6-EFF4-8093343D0E7A}"/>
              </a:ext>
            </a:extLst>
          </p:cNvPr>
          <p:cNvSpPr/>
          <p:nvPr/>
        </p:nvSpPr>
        <p:spPr>
          <a:xfrm>
            <a:off x="172811" y="3814261"/>
            <a:ext cx="11888467" cy="1367340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A96D0BB1-EE0A-3ADB-3086-47EF0F532C74}"/>
              </a:ext>
            </a:extLst>
          </p:cNvPr>
          <p:cNvSpPr/>
          <p:nvPr/>
        </p:nvSpPr>
        <p:spPr>
          <a:xfrm>
            <a:off x="387013" y="3875628"/>
            <a:ext cx="11319212" cy="604410"/>
          </a:xfrm>
          <a:prstGeom prst="roundRect">
            <a:avLst>
              <a:gd name="adj" fmla="val 35245"/>
            </a:avLst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存取控制 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(RBAC)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97CE4C22-B8A4-B7BE-3CFA-28AF787A7B26}"/>
              </a:ext>
            </a:extLst>
          </p:cNvPr>
          <p:cNvSpPr/>
          <p:nvPr/>
        </p:nvSpPr>
        <p:spPr>
          <a:xfrm>
            <a:off x="172811" y="5297592"/>
            <a:ext cx="11888467" cy="1317741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74DE8F76-3611-EA3F-D394-85E691AFD5D2}"/>
              </a:ext>
            </a:extLst>
          </p:cNvPr>
          <p:cNvSpPr/>
          <p:nvPr/>
        </p:nvSpPr>
        <p:spPr>
          <a:xfrm>
            <a:off x="387013" y="5414040"/>
            <a:ext cx="11333217" cy="523220"/>
          </a:xfrm>
          <a:prstGeom prst="roundRect">
            <a:avLst>
              <a:gd name="adj" fmla="val 35245"/>
            </a:avLst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操作稽核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D14023D1-8D4A-6D48-2F34-6BEAFA85F8A5}"/>
              </a:ext>
            </a:extLst>
          </p:cNvPr>
          <p:cNvSpPr txBox="1"/>
          <p:nvPr/>
        </p:nvSpPr>
        <p:spPr>
          <a:xfrm>
            <a:off x="3344636" y="3135372"/>
            <a:ext cx="83755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>
                <a:solidFill>
                  <a:schemeClr val="tx2">
                    <a:lumMod val="90000"/>
                    <a:lumOff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涵蓋登錄、借用、維護及報廢作業。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8B393FA-3A2F-0EAD-09A3-2D83E5724BBD}"/>
              </a:ext>
            </a:extLst>
          </p:cNvPr>
          <p:cNvSpPr txBox="1"/>
          <p:nvPr/>
        </p:nvSpPr>
        <p:spPr>
          <a:xfrm>
            <a:off x="3344636" y="4552307"/>
            <a:ext cx="101505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>
                <a:solidFill>
                  <a:schemeClr val="tx2">
                    <a:lumMod val="90000"/>
                    <a:lumOff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依身份嚴格劃分管理員與師生權限。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AA0ED61D-1E8B-CA36-8D71-0BBE74AAD765}"/>
              </a:ext>
            </a:extLst>
          </p:cNvPr>
          <p:cNvSpPr txBox="1"/>
          <p:nvPr/>
        </p:nvSpPr>
        <p:spPr>
          <a:xfrm>
            <a:off x="2486232" y="5929951"/>
            <a:ext cx="103981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>
                <a:solidFill>
                  <a:schemeClr val="tx2">
                    <a:lumMod val="90000"/>
                    <a:lumOff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保留完整操作歷史與審核軌跡，責任清晰可查。</a:t>
            </a:r>
          </a:p>
        </p:txBody>
      </p:sp>
      <p:sp>
        <p:nvSpPr>
          <p:cNvPr id="22" name="標題 1">
            <a:extLst>
              <a:ext uri="{FF2B5EF4-FFF2-40B4-BE49-F238E27FC236}">
                <a16:creationId xmlns:a16="http://schemas.microsoft.com/office/drawing/2014/main" id="{B196DBF6-810F-4B2C-A93A-2771175CE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125" y="-7170310"/>
            <a:ext cx="4324350" cy="1325563"/>
          </a:xfrm>
        </p:spPr>
        <p:txBody>
          <a:bodyPr>
            <a:noAutofit/>
          </a:bodyPr>
          <a:lstStyle/>
          <a:p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專題急需</a:t>
            </a:r>
          </a:p>
        </p:txBody>
      </p:sp>
      <p:sp>
        <p:nvSpPr>
          <p:cNvPr id="23" name="內容版面配置區 2">
            <a:extLst>
              <a:ext uri="{FF2B5EF4-FFF2-40B4-BE49-F238E27FC236}">
                <a16:creationId xmlns:a16="http://schemas.microsoft.com/office/drawing/2014/main" id="{D4F44EE3-1271-033E-E20D-FC23A6F7D495}"/>
              </a:ext>
            </a:extLst>
          </p:cNvPr>
          <p:cNvSpPr txBox="1">
            <a:spLocks/>
          </p:cNvSpPr>
          <p:nvPr/>
        </p:nvSpPr>
        <p:spPr>
          <a:xfrm>
            <a:off x="479425" y="-5486258"/>
            <a:ext cx="501014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400" b="1">
                <a:latin typeface="標楷體" panose="03000509000000000000" pitchFamily="65" charset="-120"/>
                <a:ea typeface="標楷體" panose="03000509000000000000" pitchFamily="65" charset="-120"/>
              </a:rPr>
              <a:t>學生器材借用與通報</a:t>
            </a:r>
            <a:r>
              <a:rPr lang="en-US" altLang="zh-TW" sz="2400" b="1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2400" b="1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學生小明最近在趕專題展演，急需</a:t>
            </a:r>
            <a:r>
              <a:rPr lang="zh-TW" altLang="en-US" sz="240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借用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特定的投影機與實驗器材。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同時，他發現實驗室的一台電腦故障了，需要即時向系辦發出</a:t>
            </a:r>
            <a:r>
              <a:rPr lang="zh-TW" altLang="en-US" sz="240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維修通報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4" name="內容版面配置區 3">
            <a:extLst>
              <a:ext uri="{FF2B5EF4-FFF2-40B4-BE49-F238E27FC236}">
                <a16:creationId xmlns:a16="http://schemas.microsoft.com/office/drawing/2014/main" id="{901181A8-FB22-15E6-26AA-6C00E8D4D13A}"/>
              </a:ext>
            </a:extLst>
          </p:cNvPr>
          <p:cNvSpPr txBox="1">
            <a:spLocks/>
          </p:cNvSpPr>
          <p:nvPr/>
        </p:nvSpPr>
        <p:spPr>
          <a:xfrm>
            <a:off x="5594360" y="-5704956"/>
            <a:ext cx="6597640" cy="168469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None/>
            </a:pPr>
            <a:r>
              <a:rPr lang="zh-TW" altLang="en-US" sz="2400" b="1">
                <a:latin typeface="標楷體" panose="03000509000000000000" pitchFamily="65" charset="-120"/>
                <a:ea typeface="標楷體" panose="03000509000000000000" pitchFamily="65" charset="-120"/>
              </a:rPr>
              <a:t>操作流程</a:t>
            </a:r>
            <a:r>
              <a:rPr lang="en-US" altLang="zh-TW" sz="2400" b="1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b="1">
                <a:latin typeface="標楷體" panose="03000509000000000000" pitchFamily="65" charset="-120"/>
                <a:ea typeface="標楷體" panose="03000509000000000000" pitchFamily="65" charset="-120"/>
              </a:rPr>
              <a:t>借用</a:t>
            </a:r>
            <a:r>
              <a:rPr lang="en-US" altLang="zh-TW" sz="2400" b="1">
                <a:latin typeface="標楷體" panose="03000509000000000000" pitchFamily="65" charset="-120"/>
                <a:ea typeface="標楷體" panose="03000509000000000000" pitchFamily="65" charset="-120"/>
              </a:rPr>
              <a:t>):</a:t>
            </a: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條件篩選：依「投影機」與「可用」狀態找尋。</a:t>
            </a:r>
          </a:p>
          <a:p>
            <a:pPr marL="514350" indent="-5143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提出申請單：填寫借用起迄日，或填寫損壞描述。</a:t>
            </a:r>
          </a:p>
          <a:p>
            <a:pPr marL="514350" indent="-5143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後台審核聯動：管理員核准後，自動變更為</a:t>
            </a:r>
            <a:r>
              <a:rPr lang="zh-TW" altLang="en-US" sz="200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借出中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07A1F1A8-51B7-1524-36F3-8D42D693FFAC}"/>
              </a:ext>
            </a:extLst>
          </p:cNvPr>
          <p:cNvGrpSpPr/>
          <p:nvPr/>
        </p:nvGrpSpPr>
        <p:grpSpPr>
          <a:xfrm>
            <a:off x="-1095375" y="-8460926"/>
            <a:ext cx="4622800" cy="1200329"/>
            <a:chOff x="368300" y="1419930"/>
            <a:chExt cx="4622800" cy="1200329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C4AD3276-C00D-5ACC-5B2E-F4FD1EDF24D0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28384212-B0C1-954C-8891-90826EEBF368}"/>
                </a:ext>
              </a:extLst>
            </p:cNvPr>
            <p:cNvSpPr txBox="1"/>
            <p:nvPr/>
          </p:nvSpPr>
          <p:spPr>
            <a:xfrm>
              <a:off x="4254500" y="141993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2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5D1E5C9-EC50-904A-07E3-EC23DEA5D877}"/>
              </a:ext>
            </a:extLst>
          </p:cNvPr>
          <p:cNvSpPr txBox="1"/>
          <p:nvPr/>
        </p:nvSpPr>
        <p:spPr>
          <a:xfrm>
            <a:off x="479425" y="-8228784"/>
            <a:ext cx="2482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應用情境</a:t>
            </a: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1012BFE7-426F-2211-780F-BA3D09B87413}"/>
              </a:ext>
            </a:extLst>
          </p:cNvPr>
          <p:cNvCxnSpPr>
            <a:cxnSpLocks/>
          </p:cNvCxnSpPr>
          <p:nvPr/>
        </p:nvCxnSpPr>
        <p:spPr>
          <a:xfrm>
            <a:off x="5489576" y="-5670476"/>
            <a:ext cx="0" cy="368050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">
            <a:extLst>
              <a:ext uri="{FF2B5EF4-FFF2-40B4-BE49-F238E27FC236}">
                <a16:creationId xmlns:a16="http://schemas.microsoft.com/office/drawing/2014/main" id="{F7A037FE-70A2-1A18-524C-65F55B9A0C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23" t="19527" r="16250" b="18428"/>
          <a:stretch>
            <a:fillRect/>
          </a:stretch>
        </p:blipFill>
        <p:spPr>
          <a:xfrm>
            <a:off x="6988181" y="-8355674"/>
            <a:ext cx="5073649" cy="2612001"/>
          </a:xfrm>
          <a:prstGeom prst="rect">
            <a:avLst/>
          </a:prstGeom>
        </p:spPr>
      </p:pic>
      <p:sp>
        <p:nvSpPr>
          <p:cNvPr id="31" name="內容版面配置區 3">
            <a:extLst>
              <a:ext uri="{FF2B5EF4-FFF2-40B4-BE49-F238E27FC236}">
                <a16:creationId xmlns:a16="http://schemas.microsoft.com/office/drawing/2014/main" id="{DF6DA1EF-F13C-BE44-436F-31A2EA3D67FF}"/>
              </a:ext>
            </a:extLst>
          </p:cNvPr>
          <p:cNvSpPr txBox="1">
            <a:spLocks/>
          </p:cNvSpPr>
          <p:nvPr/>
        </p:nvSpPr>
        <p:spPr>
          <a:xfrm>
            <a:off x="5594360" y="-3763724"/>
            <a:ext cx="6597640" cy="1684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None/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操作流程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維修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):</a:t>
            </a: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條件篩選：依「電腦」與「可用」狀態找尋。</a:t>
            </a:r>
          </a:p>
          <a:p>
            <a:pPr marL="514350" indent="-5143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提交設備損壞通報。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後台審核聯動：管理員建立維護紀錄並追蹤處理進度。</a:t>
            </a:r>
          </a:p>
        </p:txBody>
      </p:sp>
    </p:spTree>
    <p:extLst>
      <p:ext uri="{BB962C8B-B14F-4D97-AF65-F5344CB8AC3E}">
        <p14:creationId xmlns:p14="http://schemas.microsoft.com/office/powerpoint/2010/main" val="2434786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/>
      <p:bldP spid="20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圖片 15">
            <a:extLst>
              <a:ext uri="{FF2B5EF4-FFF2-40B4-BE49-F238E27FC236}">
                <a16:creationId xmlns:a16="http://schemas.microsoft.com/office/drawing/2014/main" id="{5FE1AD28-F716-3466-6E0F-31FB241540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68" r="18359"/>
          <a:stretch>
            <a:fillRect/>
          </a:stretch>
        </p:blipFill>
        <p:spPr>
          <a:xfrm>
            <a:off x="-114300" y="1689941"/>
            <a:ext cx="5644243" cy="4839159"/>
          </a:xfrm>
          <a:prstGeom prst="rect">
            <a:avLst/>
          </a:prstGeom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73F7F1-0F9B-FF33-E9AE-A972CB996F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29943" y="1154091"/>
            <a:ext cx="7302500" cy="21599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使用者管理：</a:t>
            </a:r>
          </a:p>
          <a:p>
            <a:pPr marL="0" indent="0"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‧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新帳號註冊及登入驗證</a:t>
            </a:r>
          </a:p>
          <a:p>
            <a:pPr marL="0" indent="0"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‧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忘記密碼與重設功能</a:t>
            </a:r>
          </a:p>
          <a:p>
            <a:pPr marL="0" indent="0"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‧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角色權限控管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管理員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教師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學生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marL="0" indent="0">
              <a:buNone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9CE87ED-0627-DFB1-8777-C8C06FC3D9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13198" y="4646872"/>
            <a:ext cx="8813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設備管理：</a:t>
            </a:r>
          </a:p>
          <a:p>
            <a:pPr marL="0" indent="0"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‧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管理員新增、修改、刪除</a:t>
            </a:r>
          </a:p>
          <a:p>
            <a:pPr marL="0" indent="0"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‧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依類別、狀態、地點瀏覽與搜尋</a:t>
            </a:r>
          </a:p>
          <a:p>
            <a:pPr marL="0" indent="0"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‧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設備狀態隨流程自動更新</a:t>
            </a: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4D844D11-2321-057E-94D5-221356A5A30D}"/>
              </a:ext>
            </a:extLst>
          </p:cNvPr>
          <p:cNvGrpSpPr/>
          <p:nvPr/>
        </p:nvGrpSpPr>
        <p:grpSpPr>
          <a:xfrm>
            <a:off x="-1200150" y="51900"/>
            <a:ext cx="7733595" cy="1200329"/>
            <a:chOff x="368300" y="1413688"/>
            <a:chExt cx="4703473" cy="1200329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8703ACA-22DC-C3C9-AFC9-C4E70FBC32E2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8A439A37-4F5A-9FD4-4DEE-21DC1764B964}"/>
                </a:ext>
              </a:extLst>
            </p:cNvPr>
            <p:cNvSpPr txBox="1"/>
            <p:nvPr/>
          </p:nvSpPr>
          <p:spPr>
            <a:xfrm>
              <a:off x="4335173" y="1413688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4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E9E091AE-900C-5A70-835E-4343F546E6F3}"/>
              </a:ext>
            </a:extLst>
          </p:cNvPr>
          <p:cNvSpPr txBox="1"/>
          <p:nvPr/>
        </p:nvSpPr>
        <p:spPr>
          <a:xfrm>
            <a:off x="114754" y="328900"/>
            <a:ext cx="54151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功能需求：基礎管理模組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96BF995-FAE2-A71C-58F0-CA25E4E3F2E1}"/>
              </a:ext>
            </a:extLst>
          </p:cNvPr>
          <p:cNvSpPr txBox="1"/>
          <p:nvPr/>
        </p:nvSpPr>
        <p:spPr>
          <a:xfrm>
            <a:off x="5613198" y="3212692"/>
            <a:ext cx="669925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類別管理：</a:t>
            </a:r>
          </a:p>
          <a:p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‧ 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建立清晰的資產分類目錄</a:t>
            </a:r>
          </a:p>
          <a:p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‧ 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管理員專屬：新增、修改、刪除</a:t>
            </a:r>
          </a:p>
        </p:txBody>
      </p:sp>
    </p:spTree>
    <p:extLst>
      <p:ext uri="{BB962C8B-B14F-4D97-AF65-F5344CB8AC3E}">
        <p14:creationId xmlns:p14="http://schemas.microsoft.com/office/powerpoint/2010/main" val="19579382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0DD408-F672-FCC0-E1F4-FE623D9533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1936" y="1803400"/>
            <a:ext cx="587216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借用管理：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提交申請，管理員審核並更新狀態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系統內建自動偵測逾期功能</a:t>
            </a: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維護管理：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提供設備故障通報機制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追蹤進度，完成後自動恢復「可用」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CA034FB-9855-43AE-D67B-6048049209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832" y="1803400"/>
            <a:ext cx="6019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報廢管理：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申請設備報廢並附上原因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審核後鎖定設備狀態為「報廢」</a:t>
            </a: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安全性設計：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採學校 SSO 單一登入，系統不儲存密碼，降低資料外洩風險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落實角色操作存取控制</a:t>
            </a: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A1192A55-B082-18CF-ADBA-5048790FD9FB}"/>
              </a:ext>
            </a:extLst>
          </p:cNvPr>
          <p:cNvGrpSpPr/>
          <p:nvPr/>
        </p:nvGrpSpPr>
        <p:grpSpPr>
          <a:xfrm>
            <a:off x="-1200150" y="58142"/>
            <a:ext cx="8152494" cy="1200329"/>
            <a:chOff x="368300" y="1419930"/>
            <a:chExt cx="4622800" cy="1200329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4A199EE-D957-E035-C13A-0B7609F9486E}"/>
                </a:ext>
              </a:extLst>
            </p:cNvPr>
            <p:cNvSpPr/>
            <p:nvPr/>
          </p:nvSpPr>
          <p:spPr>
            <a:xfrm>
              <a:off x="368300" y="1690688"/>
              <a:ext cx="4180426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E9F17B1E-127E-7F60-5AC2-5C9F1AEEFD4B}"/>
                </a:ext>
              </a:extLst>
            </p:cNvPr>
            <p:cNvSpPr txBox="1"/>
            <p:nvPr/>
          </p:nvSpPr>
          <p:spPr>
            <a:xfrm>
              <a:off x="4254500" y="141993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5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BD353555-052C-3ED2-5041-63AEC5B02E1F}"/>
              </a:ext>
            </a:extLst>
          </p:cNvPr>
          <p:cNvSpPr txBox="1"/>
          <p:nvPr/>
        </p:nvSpPr>
        <p:spPr>
          <a:xfrm>
            <a:off x="0" y="328900"/>
            <a:ext cx="57054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功能需求：流程與資安模組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7CAB8FF1-8CA2-CF26-DAB1-410CB9FFAEC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"/>
          </a:blip>
          <a:stretch>
            <a:fillRect/>
          </a:stretch>
        </p:blipFill>
        <p:spPr>
          <a:xfrm>
            <a:off x="-57150" y="-1327"/>
            <a:ext cx="12458700" cy="680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9635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15A9AE-5671-1F7E-65B8-DC8E99C6D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330DCDD2-CF2D-4088-86BD-D1F60551253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52" b="3886"/>
          <a:stretch>
            <a:fillRect/>
          </a:stretch>
        </p:blipFill>
        <p:spPr>
          <a:xfrm>
            <a:off x="6157020" y="2841493"/>
            <a:ext cx="6034980" cy="2781016"/>
          </a:xfrm>
          <a:prstGeom prst="rect">
            <a:avLst/>
          </a:prstGeom>
        </p:spPr>
      </p:pic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9038CC70-597F-8FF1-07F0-59262FAF9E0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0" t="16050" b="3918"/>
          <a:stretch>
            <a:fillRect/>
          </a:stretch>
        </p:blipFill>
        <p:spPr>
          <a:xfrm>
            <a:off x="63957" y="2841493"/>
            <a:ext cx="6238875" cy="2898449"/>
          </a:xfrm>
          <a:prstGeom prst="rect">
            <a:avLst/>
          </a:prstGeom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F83F1D7C-421E-A9C5-8DDA-9127F54A21B7}"/>
              </a:ext>
            </a:extLst>
          </p:cNvPr>
          <p:cNvGrpSpPr/>
          <p:nvPr/>
        </p:nvGrpSpPr>
        <p:grpSpPr>
          <a:xfrm>
            <a:off x="-1069521" y="856428"/>
            <a:ext cx="8152494" cy="1200329"/>
            <a:chOff x="368300" y="1419930"/>
            <a:chExt cx="4622800" cy="1200329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4163951-A541-478D-66E1-5B0F7EBA3678}"/>
                </a:ext>
              </a:extLst>
            </p:cNvPr>
            <p:cNvSpPr/>
            <p:nvPr/>
          </p:nvSpPr>
          <p:spPr>
            <a:xfrm>
              <a:off x="368300" y="1690688"/>
              <a:ext cx="4180426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3B132383-70F2-05AA-02A5-E79683ABC8DE}"/>
                </a:ext>
              </a:extLst>
            </p:cNvPr>
            <p:cNvSpPr txBox="1"/>
            <p:nvPr/>
          </p:nvSpPr>
          <p:spPr>
            <a:xfrm>
              <a:off x="4254500" y="141993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5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398870C-D56A-5D8B-E870-DD915AEA8462}"/>
              </a:ext>
            </a:extLst>
          </p:cNvPr>
          <p:cNvSpPr txBox="1"/>
          <p:nvPr/>
        </p:nvSpPr>
        <p:spPr>
          <a:xfrm>
            <a:off x="130629" y="1127186"/>
            <a:ext cx="57054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功能需求：流程與資安模組</a:t>
            </a:r>
          </a:p>
        </p:txBody>
      </p:sp>
    </p:spTree>
    <p:extLst>
      <p:ext uri="{BB962C8B-B14F-4D97-AF65-F5344CB8AC3E}">
        <p14:creationId xmlns:p14="http://schemas.microsoft.com/office/powerpoint/2010/main" val="21568139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>
            <a:extLst>
              <a:ext uri="{FF2B5EF4-FFF2-40B4-BE49-F238E27FC236}">
                <a16:creationId xmlns:a16="http://schemas.microsoft.com/office/drawing/2014/main" id="{A74A24C7-D8F7-A73E-4AEF-F97B7498F865}"/>
              </a:ext>
            </a:extLst>
          </p:cNvPr>
          <p:cNvGrpSpPr/>
          <p:nvPr/>
        </p:nvGrpSpPr>
        <p:grpSpPr>
          <a:xfrm>
            <a:off x="-1200150" y="80872"/>
            <a:ext cx="7913284" cy="1200329"/>
            <a:chOff x="368300" y="1442660"/>
            <a:chExt cx="4722578" cy="120032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1A36DB9-54FB-BE2E-C975-C0638787E256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790B9DC8-263E-8181-D411-460A0EBEA513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6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7" name="文字方塊 6">
            <a:extLst>
              <a:ext uri="{FF2B5EF4-FFF2-40B4-BE49-F238E27FC236}">
                <a16:creationId xmlns:a16="http://schemas.microsoft.com/office/drawing/2014/main" id="{925F6F65-3223-1AF7-22FA-2D537FB1FEF4}"/>
              </a:ext>
            </a:extLst>
          </p:cNvPr>
          <p:cNvSpPr txBox="1"/>
          <p:nvPr/>
        </p:nvSpPr>
        <p:spPr>
          <a:xfrm>
            <a:off x="49716" y="341381"/>
            <a:ext cx="5429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資料表：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Member (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使用者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3600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AC419BF6-983F-E516-3E0E-2832AB8707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600439"/>
              </p:ext>
            </p:extLst>
          </p:nvPr>
        </p:nvGraphicFramePr>
        <p:xfrm>
          <a:off x="476699" y="1235740"/>
          <a:ext cx="10904220" cy="535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48587">
                  <a:extLst>
                    <a:ext uri="{9D8B030D-6E8A-4147-A177-3AD203B41FA5}">
                      <a16:colId xmlns:a16="http://schemas.microsoft.com/office/drawing/2014/main" val="2670266609"/>
                    </a:ext>
                  </a:extLst>
                </a:gridCol>
                <a:gridCol w="1884098">
                  <a:extLst>
                    <a:ext uri="{9D8B030D-6E8A-4147-A177-3AD203B41FA5}">
                      <a16:colId xmlns:a16="http://schemas.microsoft.com/office/drawing/2014/main" val="1993058790"/>
                    </a:ext>
                  </a:extLst>
                </a:gridCol>
                <a:gridCol w="2001854">
                  <a:extLst>
                    <a:ext uri="{9D8B030D-6E8A-4147-A177-3AD203B41FA5}">
                      <a16:colId xmlns:a16="http://schemas.microsoft.com/office/drawing/2014/main" val="780937139"/>
                    </a:ext>
                  </a:extLst>
                </a:gridCol>
                <a:gridCol w="1530831">
                  <a:extLst>
                    <a:ext uri="{9D8B030D-6E8A-4147-A177-3AD203B41FA5}">
                      <a16:colId xmlns:a16="http://schemas.microsoft.com/office/drawing/2014/main" val="2470827280"/>
                    </a:ext>
                  </a:extLst>
                </a:gridCol>
                <a:gridCol w="3838850">
                  <a:extLst>
                    <a:ext uri="{9D8B030D-6E8A-4147-A177-3AD203B41FA5}">
                      <a16:colId xmlns:a16="http://schemas.microsoft.com/office/drawing/2014/main" val="3825926816"/>
                    </a:ext>
                  </a:extLst>
                </a:gridCol>
              </a:tblGrid>
              <a:tr h="5066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欄位名稱</a:t>
                      </a:r>
                      <a:endParaRPr lang="zh-TW" sz="2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資料型態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是否為空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值域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05630465"/>
                  </a:ext>
                </a:extLst>
              </a:tr>
              <a:tr h="8221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使用者</a:t>
                      </a: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ID</a:t>
                      </a:r>
                      <a:endParaRPr lang="zh-TW" sz="2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INT</a:t>
                      </a:r>
                      <a:endParaRPr lang="zh-TW" sz="2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從</a:t>
                      </a: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1 </a:t>
                      </a: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開始遞增（</a:t>
                      </a: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AUTO_INCREMENT</a:t>
                      </a: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）；</a:t>
                      </a: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sz="2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495667654"/>
                  </a:ext>
                </a:extLst>
              </a:tr>
              <a:tr h="8221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mAccount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帳號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VARCHAR(20)</a:t>
                      </a:r>
                      <a:endParaRPr lang="zh-TW" sz="2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長度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6~20 </a:t>
                      </a: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英數字混合；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UNIQUE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415568972"/>
                  </a:ext>
                </a:extLst>
              </a:tr>
              <a:tr h="506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mName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姓名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VARCHAR(12)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長度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2~12 </a:t>
                      </a: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的文字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995146673"/>
                  </a:ext>
                </a:extLst>
              </a:tr>
              <a:tr h="506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mEmail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電子郵件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VARCHAR(50)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需含</a:t>
                      </a: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@ </a:t>
                      </a: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與網域；</a:t>
                      </a: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UNIQUE</a:t>
                      </a:r>
                      <a:endParaRPr lang="zh-TW" sz="2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952586079"/>
                  </a:ext>
                </a:extLst>
              </a:tr>
              <a:tr h="506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mPhone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連絡電話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CHAR(10)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Y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09xxxxxxxx </a:t>
                      </a: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格式（</a:t>
                      </a: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 </a:t>
                      </a: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位數字）</a:t>
                      </a:r>
                      <a:endParaRPr lang="zh-TW" sz="2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033490188"/>
                  </a:ext>
                </a:extLst>
              </a:tr>
              <a:tr h="506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mRole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角色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VARCHAR(6)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管理員</a:t>
                      </a: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/ </a:t>
                      </a: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教師</a:t>
                      </a: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/ </a:t>
                      </a: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學生</a:t>
                      </a:r>
                      <a:endParaRPr lang="zh-TW" sz="2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711287352"/>
                  </a:ext>
                </a:extLst>
              </a:tr>
              <a:tr h="8221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mCreateDate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建立日期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DATE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日期格式，建立時自動填入當日</a:t>
                      </a:r>
                      <a:endParaRPr lang="zh-TW" sz="2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025864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71362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C3E47315-D080-28D9-27A9-79B560D00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23B05EA3-1DDE-EB8C-AAD1-3F1BE06E4D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013431"/>
              </p:ext>
            </p:extLst>
          </p:nvPr>
        </p:nvGraphicFramePr>
        <p:xfrm>
          <a:off x="128587" y="1825625"/>
          <a:ext cx="11934825" cy="48006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04403">
                  <a:extLst>
                    <a:ext uri="{9D8B030D-6E8A-4147-A177-3AD203B41FA5}">
                      <a16:colId xmlns:a16="http://schemas.microsoft.com/office/drawing/2014/main" val="2636085727"/>
                    </a:ext>
                  </a:extLst>
                </a:gridCol>
                <a:gridCol w="2062173">
                  <a:extLst>
                    <a:ext uri="{9D8B030D-6E8A-4147-A177-3AD203B41FA5}">
                      <a16:colId xmlns:a16="http://schemas.microsoft.com/office/drawing/2014/main" val="1111709749"/>
                    </a:ext>
                  </a:extLst>
                </a:gridCol>
                <a:gridCol w="2191057">
                  <a:extLst>
                    <a:ext uri="{9D8B030D-6E8A-4147-A177-3AD203B41FA5}">
                      <a16:colId xmlns:a16="http://schemas.microsoft.com/office/drawing/2014/main" val="1310703435"/>
                    </a:ext>
                  </a:extLst>
                </a:gridCol>
                <a:gridCol w="1675514">
                  <a:extLst>
                    <a:ext uri="{9D8B030D-6E8A-4147-A177-3AD203B41FA5}">
                      <a16:colId xmlns:a16="http://schemas.microsoft.com/office/drawing/2014/main" val="1852199078"/>
                    </a:ext>
                  </a:extLst>
                </a:gridCol>
                <a:gridCol w="4201678">
                  <a:extLst>
                    <a:ext uri="{9D8B030D-6E8A-4147-A177-3AD203B41FA5}">
                      <a16:colId xmlns:a16="http://schemas.microsoft.com/office/drawing/2014/main" val="1618205529"/>
                    </a:ext>
                  </a:extLst>
                </a:gridCol>
              </a:tblGrid>
              <a:tr h="2764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欄位名稱</a:t>
                      </a:r>
                      <a:endParaRPr lang="zh-TW" sz="20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  <a:endParaRPr lang="zh-TW" sz="20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資料型態</a:t>
                      </a:r>
                      <a:endParaRPr lang="zh-TW" sz="20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是否為空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值域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551030245"/>
                  </a:ext>
                </a:extLst>
              </a:tr>
              <a:tr h="492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eId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設備</a:t>
                      </a:r>
                      <a:r>
                        <a:rPr lang="en-US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ID</a:t>
                      </a:r>
                      <a:endParaRPr lang="zh-TW" sz="20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INT</a:t>
                      </a:r>
                      <a:endParaRPr lang="zh-TW" sz="20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從</a:t>
                      </a: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1 </a:t>
                      </a:r>
                      <a:r>
                        <a:rPr lang="zh-TW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開始遞增（</a:t>
                      </a: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AUTO_INCREMENT</a:t>
                      </a:r>
                      <a:r>
                        <a:rPr lang="zh-TW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）；</a:t>
                      </a: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054195829"/>
                  </a:ext>
                </a:extLst>
              </a:tr>
              <a:tr h="492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ePropertyNo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財產編號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VARCHAR(20)</a:t>
                      </a:r>
                      <a:endParaRPr lang="zh-TW" sz="20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唯一財產編號；</a:t>
                      </a: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UNIQUE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822735172"/>
                  </a:ext>
                </a:extLst>
              </a:tr>
              <a:tr h="276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eName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設備名稱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VARCHAR(40)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0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長度</a:t>
                      </a: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1~40 </a:t>
                      </a:r>
                      <a:r>
                        <a:rPr lang="zh-TW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的文字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889003790"/>
                  </a:ext>
                </a:extLst>
              </a:tr>
              <a:tr h="276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cId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類別</a:t>
                      </a: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ID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INT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FK → Category.cId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791087976"/>
                  </a:ext>
                </a:extLst>
              </a:tr>
              <a:tr h="492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eStatus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設備狀態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VARCHAR(6)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可用</a:t>
                      </a:r>
                      <a:r>
                        <a:rPr lang="en-US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/ </a:t>
                      </a:r>
                      <a:r>
                        <a:rPr lang="zh-TW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借出中</a:t>
                      </a:r>
                      <a:r>
                        <a:rPr lang="en-US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/ </a:t>
                      </a:r>
                      <a:r>
                        <a:rPr lang="zh-TW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維修中</a:t>
                      </a:r>
                      <a:r>
                        <a:rPr lang="en-US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/ </a:t>
                      </a:r>
                      <a:r>
                        <a:rPr lang="zh-TW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報廢</a:t>
                      </a:r>
                      <a:endParaRPr lang="zh-TW" sz="20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83556048"/>
                  </a:ext>
                </a:extLst>
              </a:tr>
              <a:tr h="492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eLocation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存放地點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VARCHAR(64)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如「</a:t>
                      </a:r>
                      <a:r>
                        <a:rPr lang="en-US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</a:t>
                      </a:r>
                      <a:r>
                        <a:rPr lang="zh-TW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棟</a:t>
                      </a:r>
                      <a:r>
                        <a:rPr lang="en-US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307</a:t>
                      </a:r>
                      <a:r>
                        <a:rPr lang="zh-TW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室」；長度</a:t>
                      </a:r>
                      <a:r>
                        <a:rPr lang="en-US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1~64</a:t>
                      </a:r>
                      <a:endParaRPr lang="zh-TW" sz="20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194371425"/>
                  </a:ext>
                </a:extLst>
              </a:tr>
              <a:tr h="492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ePurchaseDate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購入日期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DATE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不得為未來日期</a:t>
                      </a:r>
                      <a:endParaRPr lang="zh-TW" sz="20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647029497"/>
                  </a:ext>
                </a:extLst>
              </a:tr>
              <a:tr h="492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eWarrantyDate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保固到期日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DATE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Y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需</a:t>
                      </a:r>
                      <a:r>
                        <a:rPr lang="en-US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&gt;= </a:t>
                      </a:r>
                      <a:r>
                        <a:rPr lang="en-US" sz="20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ePurchaseDate</a:t>
                      </a:r>
                      <a:r>
                        <a:rPr lang="zh-TW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；可為空</a:t>
                      </a:r>
                      <a:endParaRPr lang="zh-TW" sz="20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8093402"/>
                  </a:ext>
                </a:extLst>
              </a:tr>
              <a:tr h="276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eNote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備註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VARCHAR(128)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Y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可為空</a:t>
                      </a:r>
                      <a:endParaRPr lang="zh-TW" sz="20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299455092"/>
                  </a:ext>
                </a:extLst>
              </a:tr>
            </a:tbl>
          </a:graphicData>
        </a:graphic>
      </p:graphicFrame>
      <p:grpSp>
        <p:nvGrpSpPr>
          <p:cNvPr id="13" name="群組 12">
            <a:extLst>
              <a:ext uri="{FF2B5EF4-FFF2-40B4-BE49-F238E27FC236}">
                <a16:creationId xmlns:a16="http://schemas.microsoft.com/office/drawing/2014/main" id="{56542EB4-1FFB-17EF-102D-693D60EF7B97}"/>
              </a:ext>
            </a:extLst>
          </p:cNvPr>
          <p:cNvGrpSpPr/>
          <p:nvPr/>
        </p:nvGrpSpPr>
        <p:grpSpPr>
          <a:xfrm>
            <a:off x="-1200151" y="80872"/>
            <a:ext cx="9095921" cy="1200329"/>
            <a:chOff x="368300" y="1442660"/>
            <a:chExt cx="4722578" cy="1200329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C01688BC-F35F-C4F2-ABE1-292EE275C86C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B7C92D44-A635-1156-D6D5-D93AE5141E77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6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BC78263-AD0E-4730-E75D-B91664D22BCF}"/>
              </a:ext>
            </a:extLst>
          </p:cNvPr>
          <p:cNvSpPr txBox="1"/>
          <p:nvPr/>
        </p:nvSpPr>
        <p:spPr>
          <a:xfrm>
            <a:off x="49716" y="341381"/>
            <a:ext cx="6655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資料表：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Equipment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（設備資料）</a:t>
            </a:r>
          </a:p>
        </p:txBody>
      </p:sp>
    </p:spTree>
    <p:extLst>
      <p:ext uri="{BB962C8B-B14F-4D97-AF65-F5344CB8AC3E}">
        <p14:creationId xmlns:p14="http://schemas.microsoft.com/office/powerpoint/2010/main" val="31008197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F3C384B6-40CD-1C39-CCBD-80FD4C00B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8439"/>
              </p:ext>
            </p:extLst>
          </p:nvPr>
        </p:nvGraphicFramePr>
        <p:xfrm>
          <a:off x="882649" y="3037484"/>
          <a:ext cx="10426701" cy="30262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76391">
                  <a:extLst>
                    <a:ext uri="{9D8B030D-6E8A-4147-A177-3AD203B41FA5}">
                      <a16:colId xmlns:a16="http://schemas.microsoft.com/office/drawing/2014/main" val="1920340815"/>
                    </a:ext>
                  </a:extLst>
                </a:gridCol>
                <a:gridCol w="1801590">
                  <a:extLst>
                    <a:ext uri="{9D8B030D-6E8A-4147-A177-3AD203B41FA5}">
                      <a16:colId xmlns:a16="http://schemas.microsoft.com/office/drawing/2014/main" val="2661460474"/>
                    </a:ext>
                  </a:extLst>
                </a:gridCol>
                <a:gridCol w="1914189">
                  <a:extLst>
                    <a:ext uri="{9D8B030D-6E8A-4147-A177-3AD203B41FA5}">
                      <a16:colId xmlns:a16="http://schemas.microsoft.com/office/drawing/2014/main" val="2659979923"/>
                    </a:ext>
                  </a:extLst>
                </a:gridCol>
                <a:gridCol w="1463792">
                  <a:extLst>
                    <a:ext uri="{9D8B030D-6E8A-4147-A177-3AD203B41FA5}">
                      <a16:colId xmlns:a16="http://schemas.microsoft.com/office/drawing/2014/main" val="490782694"/>
                    </a:ext>
                  </a:extLst>
                </a:gridCol>
                <a:gridCol w="3670739">
                  <a:extLst>
                    <a:ext uri="{9D8B030D-6E8A-4147-A177-3AD203B41FA5}">
                      <a16:colId xmlns:a16="http://schemas.microsoft.com/office/drawing/2014/main" val="1873467083"/>
                    </a:ext>
                  </a:extLst>
                </a:gridCol>
              </a:tblGrid>
              <a:tr h="5166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欄位名稱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資料型態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是否為空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值域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277161510"/>
                  </a:ext>
                </a:extLst>
              </a:tr>
              <a:tr h="8382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類別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INT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從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1 </a:t>
                      </a: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開始遞增（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AUTO_INCREMENT</a:t>
                      </a: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）；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141214976"/>
                  </a:ext>
                </a:extLst>
              </a:tr>
              <a:tr h="8382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cName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類別名稱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VARCHAR(16)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長度</a:t>
                      </a: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1~16</a:t>
                      </a: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；如電腦、投影機、網路設備</a:t>
                      </a:r>
                      <a:endParaRPr lang="zh-TW" sz="2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134834281"/>
                  </a:ext>
                </a:extLst>
              </a:tr>
              <a:tr h="5166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cOutline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類別概述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VARCHAR(64)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Y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長度</a:t>
                      </a: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1~64 </a:t>
                      </a: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的文字；可為空</a:t>
                      </a:r>
                      <a:endParaRPr lang="zh-TW" sz="2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310967228"/>
                  </a:ext>
                </a:extLst>
              </a:tr>
            </a:tbl>
          </a:graphicData>
        </a:graphic>
      </p:graphicFrame>
      <p:grpSp>
        <p:nvGrpSpPr>
          <p:cNvPr id="13" name="群組 12">
            <a:extLst>
              <a:ext uri="{FF2B5EF4-FFF2-40B4-BE49-F238E27FC236}">
                <a16:creationId xmlns:a16="http://schemas.microsoft.com/office/drawing/2014/main" id="{F0A24BB4-098C-CF83-2BF9-DC0D8A825527}"/>
              </a:ext>
            </a:extLst>
          </p:cNvPr>
          <p:cNvGrpSpPr/>
          <p:nvPr/>
        </p:nvGrpSpPr>
        <p:grpSpPr>
          <a:xfrm>
            <a:off x="-1200151" y="80872"/>
            <a:ext cx="10426701" cy="1200329"/>
            <a:chOff x="368300" y="1442660"/>
            <a:chExt cx="4722578" cy="1200329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6288395-EE1E-0CA8-F08A-498CEE88D5BD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9A921029-DA28-90B7-B15E-EF3782400D2F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6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6067953-8833-B051-17B6-E07EE4DB4FA6}"/>
              </a:ext>
            </a:extLst>
          </p:cNvPr>
          <p:cNvSpPr txBox="1"/>
          <p:nvPr/>
        </p:nvSpPr>
        <p:spPr>
          <a:xfrm>
            <a:off x="49716" y="341381"/>
            <a:ext cx="7629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資料表：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Category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（設備類別）</a:t>
            </a:r>
          </a:p>
        </p:txBody>
      </p:sp>
    </p:spTree>
    <p:extLst>
      <p:ext uri="{BB962C8B-B14F-4D97-AF65-F5344CB8AC3E}">
        <p14:creationId xmlns:p14="http://schemas.microsoft.com/office/powerpoint/2010/main" val="18289454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2FDCFE7A-0660-17F1-914F-D5343D19E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001197"/>
              </p:ext>
            </p:extLst>
          </p:nvPr>
        </p:nvGraphicFramePr>
        <p:xfrm>
          <a:off x="917121" y="1293682"/>
          <a:ext cx="10655300" cy="5232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10952">
                  <a:extLst>
                    <a:ext uri="{9D8B030D-6E8A-4147-A177-3AD203B41FA5}">
                      <a16:colId xmlns:a16="http://schemas.microsoft.com/office/drawing/2014/main" val="1938562011"/>
                    </a:ext>
                  </a:extLst>
                </a:gridCol>
                <a:gridCol w="1841089">
                  <a:extLst>
                    <a:ext uri="{9D8B030D-6E8A-4147-A177-3AD203B41FA5}">
                      <a16:colId xmlns:a16="http://schemas.microsoft.com/office/drawing/2014/main" val="3097408967"/>
                    </a:ext>
                  </a:extLst>
                </a:gridCol>
                <a:gridCol w="1956157">
                  <a:extLst>
                    <a:ext uri="{9D8B030D-6E8A-4147-A177-3AD203B41FA5}">
                      <a16:colId xmlns:a16="http://schemas.microsoft.com/office/drawing/2014/main" val="437994860"/>
                    </a:ext>
                  </a:extLst>
                </a:gridCol>
                <a:gridCol w="1495884">
                  <a:extLst>
                    <a:ext uri="{9D8B030D-6E8A-4147-A177-3AD203B41FA5}">
                      <a16:colId xmlns:a16="http://schemas.microsoft.com/office/drawing/2014/main" val="845953157"/>
                    </a:ext>
                  </a:extLst>
                </a:gridCol>
                <a:gridCol w="3751218">
                  <a:extLst>
                    <a:ext uri="{9D8B030D-6E8A-4147-A177-3AD203B41FA5}">
                      <a16:colId xmlns:a16="http://schemas.microsoft.com/office/drawing/2014/main" val="23510851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欄位名稱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資料型態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是否為空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值域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917633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bId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借用</a:t>
                      </a: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ID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INT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從</a:t>
                      </a: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1 </a:t>
                      </a: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開始遞增（</a:t>
                      </a: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AUTO_INCREMENT</a:t>
                      </a: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）；</a:t>
                      </a: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555631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mId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使用者</a:t>
                      </a: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ID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INT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FK → Member.mId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427382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eId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設備</a:t>
                      </a: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ID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INT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FK → Equipment.eId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523498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bApplyDate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申請日期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DATE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申請當日日期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06696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bApprovedBy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審核員 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INT</a:t>
                      </a:r>
                      <a:endParaRPr lang="zh-TW" sz="18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FK -&gt; Member.mId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385576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bApprovedDate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審核日期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DATE</a:t>
                      </a:r>
                      <a:endParaRPr lang="zh-TW" sz="18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審核通過日期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45574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bStartDate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借用開始日期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DATE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借用起始日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352311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bEndDate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預計歸還日期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DATE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需</a:t>
                      </a: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&gt;= bStartDate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0907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bReturnDate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實際歸還日期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DATE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Y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歸還後填入；需</a:t>
                      </a: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&gt;= bStartDate</a:t>
                      </a: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；可為空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17363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bStatus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借用狀態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VARCHAR(6)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申請中</a:t>
                      </a:r>
                      <a:r>
                        <a:rPr lang="en-US" sz="18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/ </a:t>
                      </a:r>
                      <a:r>
                        <a:rPr lang="zh-TW" sz="18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核准</a:t>
                      </a:r>
                      <a:r>
                        <a:rPr lang="en-US" sz="18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/ </a:t>
                      </a:r>
                      <a:r>
                        <a:rPr lang="zh-TW" sz="18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已歸還</a:t>
                      </a:r>
                      <a:r>
                        <a:rPr lang="en-US" sz="18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/ </a:t>
                      </a:r>
                      <a:r>
                        <a:rPr lang="zh-TW" sz="18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逾期</a:t>
                      </a:r>
                      <a:r>
                        <a:rPr lang="en-US" sz="18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/ </a:t>
                      </a:r>
                      <a:r>
                        <a:rPr lang="zh-TW" sz="18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拒絕</a:t>
                      </a:r>
                      <a:endParaRPr lang="zh-TW" sz="18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286955432"/>
                  </a:ext>
                </a:extLst>
              </a:tr>
            </a:tbl>
          </a:graphicData>
        </a:graphic>
      </p:graphicFrame>
      <p:grpSp>
        <p:nvGrpSpPr>
          <p:cNvPr id="16" name="群組 15">
            <a:extLst>
              <a:ext uri="{FF2B5EF4-FFF2-40B4-BE49-F238E27FC236}">
                <a16:creationId xmlns:a16="http://schemas.microsoft.com/office/drawing/2014/main" id="{D43A8A96-B2C2-C8D9-1A1A-99DCBAE177E8}"/>
              </a:ext>
            </a:extLst>
          </p:cNvPr>
          <p:cNvGrpSpPr/>
          <p:nvPr/>
        </p:nvGrpSpPr>
        <p:grpSpPr>
          <a:xfrm>
            <a:off x="-1200151" y="80872"/>
            <a:ext cx="10426701" cy="1200329"/>
            <a:chOff x="368300" y="1442660"/>
            <a:chExt cx="4722578" cy="1200329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3CC28BC1-62E8-B462-F144-07A83BA6BA5E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2EA5394C-887E-B90E-A611-D217A236CF6A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6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C6CB38D-20BC-5C51-15CA-3EDBB3CFC403}"/>
              </a:ext>
            </a:extLst>
          </p:cNvPr>
          <p:cNvSpPr txBox="1"/>
          <p:nvPr/>
        </p:nvSpPr>
        <p:spPr>
          <a:xfrm>
            <a:off x="49716" y="341381"/>
            <a:ext cx="7629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資料表：</a:t>
            </a:r>
            <a:r>
              <a:rPr lang="en-US" altLang="zh-TW" sz="3600" dirty="0" err="1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BorrowRecord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（借用紀錄）</a:t>
            </a:r>
          </a:p>
        </p:txBody>
      </p:sp>
    </p:spTree>
    <p:extLst>
      <p:ext uri="{BB962C8B-B14F-4D97-AF65-F5344CB8AC3E}">
        <p14:creationId xmlns:p14="http://schemas.microsoft.com/office/powerpoint/2010/main" val="21664987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22810C-DD11-A69B-2FC2-FF6903E1F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96D6A8E-FCE6-7CAB-3351-87827CA879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FACF149-56D7-78A4-2C6A-BF334215D79B}"/>
              </a:ext>
            </a:extLst>
          </p:cNvPr>
          <p:cNvGraphicFramePr>
            <a:graphicFrameLocks noGrp="1"/>
          </p:cNvGraphicFramePr>
          <p:nvPr/>
        </p:nvGraphicFramePr>
        <p:xfrm>
          <a:off x="3155950" y="2622074"/>
          <a:ext cx="5880100" cy="29260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18385178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1321624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385653648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857848549"/>
                    </a:ext>
                  </a:extLst>
                </a:gridCol>
                <a:gridCol w="2070100">
                  <a:extLst>
                    <a:ext uri="{9D8B030D-6E8A-4147-A177-3AD203B41FA5}">
                      <a16:colId xmlns:a16="http://schemas.microsoft.com/office/drawing/2014/main" val="27856917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100">
                          <a:effectLst/>
                        </a:rPr>
                        <a:t>欄位名稱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100">
                          <a:effectLst/>
                        </a:rPr>
                        <a:t>說明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100">
                          <a:effectLst/>
                        </a:rPr>
                        <a:t>資料型態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100">
                          <a:effectLst/>
                        </a:rPr>
                        <a:t>是否為空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100">
                          <a:effectLst/>
                        </a:rPr>
                        <a:t>值域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985474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mRecId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100">
                          <a:effectLst/>
                        </a:rPr>
                        <a:t>維護</a:t>
                      </a:r>
                      <a:r>
                        <a:rPr lang="en-US" sz="1100">
                          <a:effectLst/>
                        </a:rPr>
                        <a:t> ID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INT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N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100">
                          <a:effectLst/>
                        </a:rPr>
                        <a:t>從</a:t>
                      </a:r>
                      <a:r>
                        <a:rPr lang="en-US" sz="1100">
                          <a:effectLst/>
                        </a:rPr>
                        <a:t> 1 </a:t>
                      </a:r>
                      <a:r>
                        <a:rPr lang="zh-TW" sz="1100">
                          <a:effectLst/>
                        </a:rPr>
                        <a:t>開始遞增（</a:t>
                      </a:r>
                      <a:r>
                        <a:rPr lang="en-US" sz="1100">
                          <a:effectLst/>
                        </a:rPr>
                        <a:t>AUTO_INCREMENT</a:t>
                      </a:r>
                      <a:r>
                        <a:rPr lang="zh-TW" sz="1100">
                          <a:effectLst/>
                        </a:rPr>
                        <a:t>）；</a:t>
                      </a:r>
                      <a:r>
                        <a:rPr lang="en-US" sz="1100">
                          <a:effectLst/>
                        </a:rPr>
                        <a:t>PK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249086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eId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100">
                          <a:effectLst/>
                        </a:rPr>
                        <a:t>設備</a:t>
                      </a:r>
                      <a:r>
                        <a:rPr lang="en-US" sz="1100">
                          <a:effectLst/>
                        </a:rPr>
                        <a:t> ID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INT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N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FK → Equipment.eId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101397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mId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100">
                          <a:effectLst/>
                        </a:rPr>
                        <a:t>申報人</a:t>
                      </a:r>
                      <a:r>
                        <a:rPr lang="en-US" sz="1100">
                          <a:effectLst/>
                        </a:rPr>
                        <a:t> ID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INT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N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FK → Member.mId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422383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mRecDate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100">
                          <a:effectLst/>
                        </a:rPr>
                        <a:t>維護日期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DATE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N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100">
                          <a:effectLst/>
                        </a:rPr>
                        <a:t>日期格式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540415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mIssue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100">
                          <a:effectLst/>
                        </a:rPr>
                        <a:t>問題描述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VARCHAR(256)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N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100">
                          <a:effectLst/>
                        </a:rPr>
                        <a:t>長度</a:t>
                      </a:r>
                      <a:r>
                        <a:rPr lang="en-US" sz="1100">
                          <a:effectLst/>
                        </a:rPr>
                        <a:t> 1~256 </a:t>
                      </a:r>
                      <a:r>
                        <a:rPr lang="zh-TW" sz="1100">
                          <a:effectLst/>
                        </a:rPr>
                        <a:t>的文字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130278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mResult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100">
                          <a:effectLst/>
                        </a:rPr>
                        <a:t>處理結果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VARCHAR(256)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Y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100">
                          <a:effectLst/>
                        </a:rPr>
                        <a:t>完成後填入；長度</a:t>
                      </a:r>
                      <a:r>
                        <a:rPr lang="en-US" sz="1100">
                          <a:effectLst/>
                        </a:rPr>
                        <a:t> 1~256</a:t>
                      </a:r>
                      <a:r>
                        <a:rPr lang="zh-TW" sz="1100">
                          <a:effectLst/>
                        </a:rPr>
                        <a:t>；可為空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27276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mStaff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100">
                          <a:effectLst/>
                        </a:rPr>
                        <a:t>負責人員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VARCHAR(32)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Y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100">
                          <a:effectLst/>
                        </a:rPr>
                        <a:t>處理人員姓名；可為空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261500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mStatus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100">
                          <a:effectLst/>
                        </a:rPr>
                        <a:t>維護狀態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VARCHAR(6)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N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100" dirty="0">
                          <a:effectLst/>
                        </a:rPr>
                        <a:t>待處理</a:t>
                      </a:r>
                      <a:r>
                        <a:rPr lang="en-US" sz="1100" dirty="0">
                          <a:effectLst/>
                        </a:rPr>
                        <a:t> / </a:t>
                      </a:r>
                      <a:r>
                        <a:rPr lang="zh-TW" sz="1100" dirty="0">
                          <a:effectLst/>
                        </a:rPr>
                        <a:t>處理中</a:t>
                      </a:r>
                      <a:r>
                        <a:rPr lang="en-US" sz="1100" dirty="0">
                          <a:effectLst/>
                        </a:rPr>
                        <a:t> / </a:t>
                      </a:r>
                      <a:r>
                        <a:rPr lang="zh-TW" sz="1100" dirty="0">
                          <a:effectLst/>
                        </a:rPr>
                        <a:t>已完成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865195654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BB9620D-AA8F-32BC-609F-9537426668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49745"/>
              </p:ext>
            </p:extLst>
          </p:nvPr>
        </p:nvGraphicFramePr>
        <p:xfrm>
          <a:off x="168274" y="1683862"/>
          <a:ext cx="11855451" cy="4937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92401">
                  <a:extLst>
                    <a:ext uri="{9D8B030D-6E8A-4147-A177-3AD203B41FA5}">
                      <a16:colId xmlns:a16="http://schemas.microsoft.com/office/drawing/2014/main" val="3813760441"/>
                    </a:ext>
                  </a:extLst>
                </a:gridCol>
                <a:gridCol w="2048458">
                  <a:extLst>
                    <a:ext uri="{9D8B030D-6E8A-4147-A177-3AD203B41FA5}">
                      <a16:colId xmlns:a16="http://schemas.microsoft.com/office/drawing/2014/main" val="1555622788"/>
                    </a:ext>
                  </a:extLst>
                </a:gridCol>
                <a:gridCol w="2176487">
                  <a:extLst>
                    <a:ext uri="{9D8B030D-6E8A-4147-A177-3AD203B41FA5}">
                      <a16:colId xmlns:a16="http://schemas.microsoft.com/office/drawing/2014/main" val="2331807976"/>
                    </a:ext>
                  </a:extLst>
                </a:gridCol>
                <a:gridCol w="1664372">
                  <a:extLst>
                    <a:ext uri="{9D8B030D-6E8A-4147-A177-3AD203B41FA5}">
                      <a16:colId xmlns:a16="http://schemas.microsoft.com/office/drawing/2014/main" val="4184786413"/>
                    </a:ext>
                  </a:extLst>
                </a:gridCol>
                <a:gridCol w="4173733">
                  <a:extLst>
                    <a:ext uri="{9D8B030D-6E8A-4147-A177-3AD203B41FA5}">
                      <a16:colId xmlns:a16="http://schemas.microsoft.com/office/drawing/2014/main" val="20432177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欄位名稱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資料型態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是否為空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值域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016052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mRecId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維護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INT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從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1 </a:t>
                      </a: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開始遞增（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AUTO_INCREMENT</a:t>
                      </a: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）；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703305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設備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INT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FK → Equipment.eId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873116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申報人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INT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FK → Member.mId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979742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mRecDate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維護日期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DATE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日期格式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68875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mIssue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問題描述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VARCHAR(256)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長度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1~256 </a:t>
                      </a: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的文字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981153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mResult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處理結果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VARCHAR(256)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Y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完成後填入；長度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1~256</a:t>
                      </a: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；可為空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876101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mStaff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負責人員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VARCHAR(32)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Y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處理人員姓名；可為空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13722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mStatus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維護狀態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VARCHAR(6)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待處理</a:t>
                      </a: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/ </a:t>
                      </a: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處理中</a:t>
                      </a: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/ </a:t>
                      </a: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已完成</a:t>
                      </a:r>
                      <a:endParaRPr lang="zh-TW" sz="2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988243261"/>
                  </a:ext>
                </a:extLst>
              </a:tr>
            </a:tbl>
          </a:graphicData>
        </a:graphic>
      </p:graphicFrame>
      <p:grpSp>
        <p:nvGrpSpPr>
          <p:cNvPr id="6" name="群組 5">
            <a:extLst>
              <a:ext uri="{FF2B5EF4-FFF2-40B4-BE49-F238E27FC236}">
                <a16:creationId xmlns:a16="http://schemas.microsoft.com/office/drawing/2014/main" id="{555DD0E9-DD78-F716-6FD6-E2465E953E72}"/>
              </a:ext>
            </a:extLst>
          </p:cNvPr>
          <p:cNvGrpSpPr/>
          <p:nvPr/>
        </p:nvGrpSpPr>
        <p:grpSpPr>
          <a:xfrm>
            <a:off x="-1200151" y="80872"/>
            <a:ext cx="11374665" cy="1200329"/>
            <a:chOff x="368300" y="1442660"/>
            <a:chExt cx="4722578" cy="1200329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4E6EE9D-0060-CD27-1DF2-268B1D127C3C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6D46B6F4-FA39-B8EA-A06F-ECADB12E7CC1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6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9" name="文字方塊 8">
            <a:extLst>
              <a:ext uri="{FF2B5EF4-FFF2-40B4-BE49-F238E27FC236}">
                <a16:creationId xmlns:a16="http://schemas.microsoft.com/office/drawing/2014/main" id="{6A08B60E-E4A5-C539-BF71-A44EAF0A2A06}"/>
              </a:ext>
            </a:extLst>
          </p:cNvPr>
          <p:cNvSpPr txBox="1"/>
          <p:nvPr/>
        </p:nvSpPr>
        <p:spPr>
          <a:xfrm>
            <a:off x="49716" y="341381"/>
            <a:ext cx="86733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資料表：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MaintenanceRecord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（維護紀錄）</a:t>
            </a:r>
          </a:p>
        </p:txBody>
      </p:sp>
    </p:spTree>
    <p:extLst>
      <p:ext uri="{BB962C8B-B14F-4D97-AF65-F5344CB8AC3E}">
        <p14:creationId xmlns:p14="http://schemas.microsoft.com/office/powerpoint/2010/main" val="18099437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0FCED24-74BC-B920-E9EB-752E01A8E2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269110"/>
              </p:ext>
            </p:extLst>
          </p:nvPr>
        </p:nvGraphicFramePr>
        <p:xfrm>
          <a:off x="838200" y="2173923"/>
          <a:ext cx="10515600" cy="40030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89832">
                  <a:extLst>
                    <a:ext uri="{9D8B030D-6E8A-4147-A177-3AD203B41FA5}">
                      <a16:colId xmlns:a16="http://schemas.microsoft.com/office/drawing/2014/main" val="3629745194"/>
                    </a:ext>
                  </a:extLst>
                </a:gridCol>
                <a:gridCol w="1816950">
                  <a:extLst>
                    <a:ext uri="{9D8B030D-6E8A-4147-A177-3AD203B41FA5}">
                      <a16:colId xmlns:a16="http://schemas.microsoft.com/office/drawing/2014/main" val="4029629007"/>
                    </a:ext>
                  </a:extLst>
                </a:gridCol>
                <a:gridCol w="1930510">
                  <a:extLst>
                    <a:ext uri="{9D8B030D-6E8A-4147-A177-3AD203B41FA5}">
                      <a16:colId xmlns:a16="http://schemas.microsoft.com/office/drawing/2014/main" val="87474195"/>
                    </a:ext>
                  </a:extLst>
                </a:gridCol>
                <a:gridCol w="1476272">
                  <a:extLst>
                    <a:ext uri="{9D8B030D-6E8A-4147-A177-3AD203B41FA5}">
                      <a16:colId xmlns:a16="http://schemas.microsoft.com/office/drawing/2014/main" val="2045914200"/>
                    </a:ext>
                  </a:extLst>
                </a:gridCol>
                <a:gridCol w="3702036">
                  <a:extLst>
                    <a:ext uri="{9D8B030D-6E8A-4147-A177-3AD203B41FA5}">
                      <a16:colId xmlns:a16="http://schemas.microsoft.com/office/drawing/2014/main" val="25815139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欄位名稱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資料型態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是否為空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值域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669882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retId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申請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INT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從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1 </a:t>
                      </a: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開始遞增（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AUTO_INCREMENT</a:t>
                      </a: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）；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727841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設備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INT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FK → Equipment.eId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802337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申請人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INT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FK → Member.mId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910181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retDate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申請日期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DATE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申請當日日期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810497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retReason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報廢原因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VARCHAR(256)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長度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1~256 </a:t>
                      </a: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的文字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343498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retStatus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審核狀態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VARCHAR(6)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待審核</a:t>
                      </a: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/ </a:t>
                      </a: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核准</a:t>
                      </a: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/ </a:t>
                      </a: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駁回</a:t>
                      </a:r>
                      <a:endParaRPr lang="zh-TW" sz="2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229247603"/>
                  </a:ext>
                </a:extLst>
              </a:tr>
            </a:tbl>
          </a:graphicData>
        </a:graphic>
      </p:graphicFrame>
      <p:grpSp>
        <p:nvGrpSpPr>
          <p:cNvPr id="5" name="群組 4">
            <a:extLst>
              <a:ext uri="{FF2B5EF4-FFF2-40B4-BE49-F238E27FC236}">
                <a16:creationId xmlns:a16="http://schemas.microsoft.com/office/drawing/2014/main" id="{D677DCC6-446A-2381-D6FB-C66EB4BF79F0}"/>
              </a:ext>
            </a:extLst>
          </p:cNvPr>
          <p:cNvGrpSpPr/>
          <p:nvPr/>
        </p:nvGrpSpPr>
        <p:grpSpPr>
          <a:xfrm>
            <a:off x="-1301750" y="0"/>
            <a:ext cx="10521951" cy="1200329"/>
            <a:chOff x="368300" y="1373634"/>
            <a:chExt cx="4787588" cy="1200329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F74734B-33EE-BE68-2283-70E0C7E24471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62F94417-ED7E-28D8-9257-B525587DD566}"/>
                </a:ext>
              </a:extLst>
            </p:cNvPr>
            <p:cNvSpPr txBox="1"/>
            <p:nvPr/>
          </p:nvSpPr>
          <p:spPr>
            <a:xfrm>
              <a:off x="4419288" y="1373634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6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E784A299-1D5F-7121-BE92-B5816FD4D899}"/>
              </a:ext>
            </a:extLst>
          </p:cNvPr>
          <p:cNvSpPr txBox="1"/>
          <p:nvPr/>
        </p:nvSpPr>
        <p:spPr>
          <a:xfrm>
            <a:off x="-51883" y="329535"/>
            <a:ext cx="79481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資料表：</a:t>
            </a:r>
            <a:r>
              <a:rPr lang="en-US" altLang="zh-TW" sz="3600" dirty="0" err="1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RetireRequest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（報廢申請）</a:t>
            </a:r>
          </a:p>
        </p:txBody>
      </p:sp>
    </p:spTree>
    <p:extLst>
      <p:ext uri="{BB962C8B-B14F-4D97-AF65-F5344CB8AC3E}">
        <p14:creationId xmlns:p14="http://schemas.microsoft.com/office/powerpoint/2010/main" val="4435850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>
            <a:extLst>
              <a:ext uri="{FF2B5EF4-FFF2-40B4-BE49-F238E27FC236}">
                <a16:creationId xmlns:a16="http://schemas.microsoft.com/office/drawing/2014/main" id="{AD2160CF-EF2C-BE15-B650-DF971FCAFCEF}"/>
              </a:ext>
            </a:extLst>
          </p:cNvPr>
          <p:cNvGrpSpPr/>
          <p:nvPr/>
        </p:nvGrpSpPr>
        <p:grpSpPr>
          <a:xfrm>
            <a:off x="-1200151" y="80872"/>
            <a:ext cx="10426701" cy="1200329"/>
            <a:chOff x="368300" y="1442660"/>
            <a:chExt cx="4722578" cy="1200329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1E56BDD-F311-CC73-D08D-40DFE75A57C8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19249372-7CEE-8A07-7784-2743A2B5106E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6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CED02A04-AC32-D6CD-928F-28E1D5021D2B}"/>
              </a:ext>
            </a:extLst>
          </p:cNvPr>
          <p:cNvSpPr txBox="1"/>
          <p:nvPr/>
        </p:nvSpPr>
        <p:spPr>
          <a:xfrm>
            <a:off x="49716" y="341381"/>
            <a:ext cx="7629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資料表：</a:t>
            </a:r>
            <a:r>
              <a:rPr lang="en-US" altLang="zh-TW" sz="3600" dirty="0" err="1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BorrowRecord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（借用紀錄）</a:t>
            </a: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2C83D9F3-ECED-4055-4396-2E4C995B8483}"/>
              </a:ext>
            </a:extLst>
          </p:cNvPr>
          <p:cNvGrpSpPr/>
          <p:nvPr/>
        </p:nvGrpSpPr>
        <p:grpSpPr>
          <a:xfrm>
            <a:off x="-1301750" y="69026"/>
            <a:ext cx="11374665" cy="1200329"/>
            <a:chOff x="368300" y="1442660"/>
            <a:chExt cx="4722578" cy="1200329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6987354-74A7-1E18-68F3-FA8E280B4ACB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DDFD4FB2-73FE-3A20-6FD2-B22119E1A9FE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6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73B5D05-4EF0-DC6A-1062-53D2339FA2AB}"/>
              </a:ext>
            </a:extLst>
          </p:cNvPr>
          <p:cNvSpPr txBox="1"/>
          <p:nvPr/>
        </p:nvSpPr>
        <p:spPr>
          <a:xfrm>
            <a:off x="-51883" y="329535"/>
            <a:ext cx="86733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安全性設計：採用學校 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SSO 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單一登入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D82DBB2-36DD-3EC6-4DB5-24FC13BC803A}"/>
              </a:ext>
            </a:extLst>
          </p:cNvPr>
          <p:cNvSpPr txBox="1"/>
          <p:nvPr/>
        </p:nvSpPr>
        <p:spPr>
          <a:xfrm>
            <a:off x="49716" y="1975104"/>
            <a:ext cx="12191052" cy="2028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本系統不自行管理密碼改採學校 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SSO 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單一登入驗證</a:t>
            </a:r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使用者以學校信箱（如 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41243168@nfu.edu.tw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）作為身份識別</a:t>
            </a:r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系統收到 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SSO 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回傳的 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Token 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後，比對 </a:t>
            </a:r>
            <a:r>
              <a:rPr lang="en-US" altLang="zh-TW" sz="28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Member.mEmail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確認使用者角色</a:t>
            </a:r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藉此避免在資料庫儲存密碼等敏感資訊，提升安全性</a:t>
            </a:r>
          </a:p>
        </p:txBody>
      </p:sp>
    </p:spTree>
    <p:extLst>
      <p:ext uri="{BB962C8B-B14F-4D97-AF65-F5344CB8AC3E}">
        <p14:creationId xmlns:p14="http://schemas.microsoft.com/office/powerpoint/2010/main" val="36440220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0B45E7-F750-00C8-7441-82C7FA171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6E934A8-252C-97C1-E411-8F02406CC1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 descr="一張含有 圖表, 行, 圖畫, 折紙 的圖片  AI 產生的內容可能不正確。">
            <a:extLst>
              <a:ext uri="{FF2B5EF4-FFF2-40B4-BE49-F238E27FC236}">
                <a16:creationId xmlns:a16="http://schemas.microsoft.com/office/drawing/2014/main" id="{7E68EA28-079E-3926-D861-299356A82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876" y="198120"/>
            <a:ext cx="5864225" cy="6461760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6DC2C56A-40EB-9C05-6A9B-8901A5779350}"/>
              </a:ext>
            </a:extLst>
          </p:cNvPr>
          <p:cNvGrpSpPr/>
          <p:nvPr/>
        </p:nvGrpSpPr>
        <p:grpSpPr>
          <a:xfrm>
            <a:off x="-1024495" y="109630"/>
            <a:ext cx="4581978" cy="1200329"/>
            <a:chOff x="368300" y="1419929"/>
            <a:chExt cx="4515365" cy="1200329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7E39F60-EDEC-51A3-B206-CC4F73B1F301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DEE7621C-FEF5-2735-C3DE-FB745B99303F}"/>
                </a:ext>
              </a:extLst>
            </p:cNvPr>
            <p:cNvSpPr txBox="1"/>
            <p:nvPr/>
          </p:nvSpPr>
          <p:spPr>
            <a:xfrm>
              <a:off x="4147065" y="1419929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7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F76B2F3C-68CC-BE72-2798-78C929A0E549}"/>
              </a:ext>
            </a:extLst>
          </p:cNvPr>
          <p:cNvSpPr txBox="1"/>
          <p:nvPr/>
        </p:nvSpPr>
        <p:spPr>
          <a:xfrm>
            <a:off x="225370" y="392870"/>
            <a:ext cx="26390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ER Diagram</a:t>
            </a:r>
            <a:endParaRPr lang="zh-TW" altLang="en-US" sz="3600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527D52C-ED84-3727-EEBF-A206876C2E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630597"/>
              </p:ext>
            </p:extLst>
          </p:nvPr>
        </p:nvGraphicFramePr>
        <p:xfrm>
          <a:off x="198966" y="2434510"/>
          <a:ext cx="5633101" cy="34001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34759">
                  <a:extLst>
                    <a:ext uri="{9D8B030D-6E8A-4147-A177-3AD203B41FA5}">
                      <a16:colId xmlns:a16="http://schemas.microsoft.com/office/drawing/2014/main" val="3371660806"/>
                    </a:ext>
                  </a:extLst>
                </a:gridCol>
                <a:gridCol w="2698342">
                  <a:extLst>
                    <a:ext uri="{9D8B030D-6E8A-4147-A177-3AD203B41FA5}">
                      <a16:colId xmlns:a16="http://schemas.microsoft.com/office/drawing/2014/main" val="331266105"/>
                    </a:ext>
                  </a:extLst>
                </a:gridCol>
              </a:tblGrid>
              <a:tr h="2727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關係描述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基數與說明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987164891"/>
                  </a:ext>
                </a:extLst>
              </a:tr>
              <a:tr h="272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Member ─── </a:t>
                      </a:r>
                      <a:r>
                        <a:rPr lang="en-US" sz="12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BorrowRecord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1:N</a:t>
                      </a:r>
                      <a:r>
                        <a:rPr lang="zh-TW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　一位使用者可有多筆借用紀錄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810143550"/>
                  </a:ext>
                </a:extLst>
              </a:tr>
              <a:tr h="442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Equipment ─── </a:t>
                      </a:r>
                      <a:r>
                        <a:rPr lang="en-US" sz="12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BorrowRecord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1:N</a:t>
                      </a:r>
                      <a:r>
                        <a:rPr lang="zh-TW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　一項設備可有多筆借用紀錄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726475662"/>
                  </a:ext>
                </a:extLst>
              </a:tr>
              <a:tr h="442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Member ─── MaintenanceRecord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1:N</a:t>
                      </a:r>
                      <a:r>
                        <a:rPr lang="zh-TW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　一位使用者可申報多筆維護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48487663"/>
                  </a:ext>
                </a:extLst>
              </a:tr>
              <a:tr h="442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Equipment ─── MaintenanceRecord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1:N</a:t>
                      </a:r>
                      <a:r>
                        <a:rPr lang="zh-TW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　一項設備可累積多筆維護紀錄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843260886"/>
                  </a:ext>
                </a:extLst>
              </a:tr>
              <a:tr h="272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Member ─── </a:t>
                      </a:r>
                      <a:r>
                        <a:rPr lang="en-US" sz="12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RetireRequest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1:N</a:t>
                      </a:r>
                      <a:r>
                        <a:rPr lang="zh-TW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　一位使用者可提出多筆報廢申請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006023935"/>
                  </a:ext>
                </a:extLst>
              </a:tr>
              <a:tr h="442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Equipment ─── </a:t>
                      </a:r>
                      <a:r>
                        <a:rPr lang="en-US" sz="12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RetireRequest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1:N</a:t>
                      </a:r>
                      <a:r>
                        <a:rPr lang="zh-TW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　一項設備可有多筆報廢申請紀錄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101925822"/>
                  </a:ext>
                </a:extLst>
              </a:tr>
              <a:tr h="272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Category ─── Equipment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1:N</a:t>
                      </a:r>
                      <a:r>
                        <a:rPr lang="zh-TW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　一個類別下包含多項設備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062082631"/>
                  </a:ext>
                </a:extLst>
              </a:tr>
            </a:tbl>
          </a:graphicData>
        </a:graphic>
      </p:graphicFrame>
      <p:sp>
        <p:nvSpPr>
          <p:cNvPr id="99" name="SSO備註"/>
          <p:cNvSpPr txBox="1"/>
          <p:nvPr/>
        </p:nvSpPr>
        <p:spPr>
          <a:xfrm>
            <a:off x="457200" y="6200000"/>
            <a:ext cx="8229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＊本系統採學校 SSO 單一登入驗證，不自行儲存密碼，故無 Password 資料表。</a:t>
            </a:r>
          </a:p>
        </p:txBody>
      </p:sp>
    </p:spTree>
    <p:extLst>
      <p:ext uri="{BB962C8B-B14F-4D97-AF65-F5344CB8AC3E}">
        <p14:creationId xmlns:p14="http://schemas.microsoft.com/office/powerpoint/2010/main" val="18484621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F8150ECD0D2740B048A1F2DBADCEA7" ma:contentTypeVersion="4" ma:contentTypeDescription="Create a new document." ma:contentTypeScope="" ma:versionID="4267f1183aa3307aeb3366ce46141a57">
  <xsd:schema xmlns:xsd="http://www.w3.org/2001/XMLSchema" xmlns:xs="http://www.w3.org/2001/XMLSchema" xmlns:p="http://schemas.microsoft.com/office/2006/metadata/properties" xmlns:ns3="6bef4f0c-891e-4b83-9a0f-4e876e356cf2" targetNamespace="http://schemas.microsoft.com/office/2006/metadata/properties" ma:root="true" ma:fieldsID="89887e1dfcc54f6cbf24cb2ce9b8a79d" ns3:_="">
    <xsd:import namespace="6bef4f0c-891e-4b83-9a0f-4e876e356cf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ef4f0c-891e-4b83-9a0f-4e876e356cf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096FAE-66D5-44C4-ADC5-19524CB678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43D95E-002B-4580-A635-53BB0B4B4A64}">
  <ds:schemaRefs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terms/"/>
    <ds:schemaRef ds:uri="http://purl.org/dc/elements/1.1/"/>
    <ds:schemaRef ds:uri="6bef4f0c-891e-4b83-9a0f-4e876e356cf2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73406BD3-950E-4F24-8609-0706872B7B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ef4f0c-891e-4b83-9a0f-4e876e356c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3104</TotalTime>
  <Words>2019</Words>
  <Application>Microsoft Office PowerPoint</Application>
  <PresentationFormat>寬螢幕</PresentationFormat>
  <Paragraphs>456</Paragraphs>
  <Slides>15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1" baseType="lpstr">
      <vt:lpstr>標楷體</vt:lpstr>
      <vt:lpstr>Aptos</vt:lpstr>
      <vt:lpstr>Arial</vt:lpstr>
      <vt:lpstr>Times New Roman</vt:lpstr>
      <vt:lpstr>Wingdings</vt:lpstr>
      <vt:lpstr>Office 佈景主題</vt:lpstr>
      <vt:lpstr>設備管理與維護系統</vt:lpstr>
      <vt:lpstr>系辦日常</vt:lpstr>
      <vt:lpstr>專題急需</vt:lpstr>
      <vt:lpstr>專題急需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宋沛玲</dc:creator>
  <cp:lastModifiedBy>Leo WC Xiao</cp:lastModifiedBy>
  <cp:revision>6</cp:revision>
  <dcterms:created xsi:type="dcterms:W3CDTF">2026-04-24T12:49:32Z</dcterms:created>
  <dcterms:modified xsi:type="dcterms:W3CDTF">2026-04-28T13:35:28Z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0x0101009AF8150ECD0D2740B048A1F2DBADCEA7</vt:lpwstr>
  </property>
</Properties>
</file>