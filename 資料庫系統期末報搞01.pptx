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F080F-4872-4AE8-B942-73B81574DF63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A70C3-14D1-4228-BDEE-8FBB7AE947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16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A70C3-14D1-4228-BDEE-8FBB7AE947A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6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086BD-2C82-7DB4-0EE5-DFACE9152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C3D796-3942-2500-4429-02FF28B31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30E3B5-9299-4BCE-7407-316120ADC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F548FC-3C2A-4CDD-983C-F449EB02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C760C-F4C0-D969-09B6-37E8574F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68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C85C9-B1F7-7CDD-A1DB-C751B539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92695E-021A-C4FA-17E6-31CD31301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A9C093-6A2B-3C9D-AD6C-9C211021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7762A5-9415-6F69-2C41-7B717F11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9987F4-A994-BB94-C68C-1C0A064D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19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06A1-502B-D97D-2F84-CBB1660D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3C2A08-B240-6F16-5C12-B95B0AF8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7D878D-BE87-16D3-67E2-D9EF7E8E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E53E73-D177-62C8-0CD4-99423A77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71555A-441A-6177-B998-694EBC9A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68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24736-6CE4-70EF-48AD-85975B61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5702AD-136D-5205-248B-9A7D34B5D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A0CCFD-EAF1-720F-0F56-CCF63821C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C10DA-9B4F-F3FB-7416-D51D8FBF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A197F9-DEE6-5D8F-E751-EF3A29D6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B22A36-DB77-924A-85EB-73398142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15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44A3CB-BFB6-E406-EC06-CCBBAAA9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778F31-86E0-2F7E-0F85-58946EA5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E356E8-7A85-0A93-3A7C-541AB538F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4ADD9B1-F0B8-190A-BFF7-B548DB127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8CA89A-BF46-87F0-2123-F8027D3B6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5EC3D97-F04C-DB47-FD3C-1C8808D8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19A1C6-6F16-FB88-1573-E4171EA0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A7DDF9-81BD-F536-DEA8-ED27D135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52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7BFD82-BD46-2AE3-8C10-C754487A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C27F69-4C67-ABB9-34E2-0F2C03B1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B1B846-0866-9CE6-8301-8EDC9F13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D4E982-C744-FF26-6DB2-FB993B92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10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2CD7D8-5E36-D9BC-86E5-5A4B110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6AC575D-EC38-E388-EDD1-C0B2563C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BFFF70-5BD4-5115-098E-3FEE7A5C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0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4A5EF-0209-6C57-8155-80C6A7A1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61D177-BAB3-C3CD-9EE5-782F890D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1B6382-84FD-DD5C-BFC8-7BC1FB911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7A3C8F-F02A-8750-84C0-A4997EEE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CDB53E-58BD-29AE-56D4-EED51FAB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D054DA-BE75-3693-C0FC-0707BF8E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35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E4F57-F78C-4660-81BD-88ED38C8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B1EA66-6E75-8D5E-CE83-2F3287322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10C590-5100-8B7E-F2AA-5FA7DF99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AA37E9-1B2D-98BF-0EF4-D0CD172E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09CB46-0231-E690-D273-B5BAD803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61F7A4-5724-2FF6-17C4-B6B79767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5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DA7995-4EEC-EC0D-8D67-281A95ED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CD0CCF-3D2C-CB2C-BC49-AF2BE37D5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63DB99-AC20-91CA-675C-9D943F15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524A81-C24F-1FA3-A57D-055342D2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82021F-F80C-7E39-78F9-D1418680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32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75FD24-2718-6EE2-453B-5A7A333D3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06E7E2-7BF6-F951-2DDA-683EC41B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579A3-3D5F-D1FC-508C-3C9BCE57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6EDEBC-27F5-9B85-408D-445AD5B0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101B44-7E2A-A413-231D-D99B0E8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492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D0FAE-CA5C-848C-ED52-3B6DB6AE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DA8617-E6A8-9BF8-6787-4078167B4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35818B-1D7F-7C5C-91AF-79951B0D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FFC72F-2052-0D1F-60BB-DDFAF36C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A1D4FE-680F-3FFD-6C2A-77E09629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28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D92FF4-3EC5-AE65-7713-00AEA5AF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794629-82C0-9A43-623F-E64DF2E69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E87296-CDDB-19B8-40EA-C506F85E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8C760-4BF8-4DF7-8FC8-B9A0432FCF74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9096C9-B0E4-1642-8C14-AC08C7F44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A76158-3A38-FD22-760F-2501FDB29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31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127CEB5-0767-FF50-6947-855C2BE9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0" r="763"/>
          <a:stretch>
            <a:fillRect/>
          </a:stretch>
        </p:blipFill>
        <p:spPr>
          <a:xfrm>
            <a:off x="6192158" y="-224626"/>
            <a:ext cx="6994740" cy="6857997"/>
          </a:xfrm>
          <a:prstGeom prst="rect">
            <a:avLst/>
          </a:prstGeom>
        </p:spPr>
      </p:pic>
      <p:sp>
        <p:nvSpPr>
          <p:cNvPr id="23" name="Rectangle 15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77AC56-1184-5D87-7F22-59FB6D75088C}"/>
              </a:ext>
            </a:extLst>
          </p:cNvPr>
          <p:cNvSpPr/>
          <p:nvPr/>
        </p:nvSpPr>
        <p:spPr>
          <a:xfrm>
            <a:off x="6223624" y="63500"/>
            <a:ext cx="6931809" cy="6284407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8B89D7-062C-273C-E9AC-7054B5379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443" y="3020138"/>
            <a:ext cx="7696479" cy="424363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Database System Final Project</a:t>
            </a:r>
          </a:p>
          <a:p>
            <a:pPr algn="l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Group 04</a:t>
            </a:r>
          </a:p>
          <a:p>
            <a:pPr algn="l"/>
            <a:endParaRPr lang="en-US" altLang="zh-TW" sz="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41243167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楊芷寧 </a:t>
            </a:r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41243168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陳有臨</a:t>
            </a:r>
          </a:p>
          <a:p>
            <a:pPr algn="l"/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41243169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宋沛玲 </a:t>
            </a:r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41243260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蕭文成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D15DA91-BD6A-DC15-742B-3E03134A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443" y="2066501"/>
            <a:ext cx="7213599" cy="79419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設備管理與維護系統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1258931-2588-8F8C-C459-89148D740F8A}"/>
              </a:ext>
            </a:extLst>
          </p:cNvPr>
          <p:cNvSpPr/>
          <p:nvPr/>
        </p:nvSpPr>
        <p:spPr>
          <a:xfrm>
            <a:off x="303948" y="4160017"/>
            <a:ext cx="6452452" cy="2024096"/>
          </a:xfrm>
          <a:prstGeom prst="roundRect">
            <a:avLst>
              <a:gd name="adj" fmla="val 255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F99CF20-3F76-D90D-2E4E-540588FE214A}"/>
              </a:ext>
            </a:extLst>
          </p:cNvPr>
          <p:cNvSpPr/>
          <p:nvPr/>
        </p:nvSpPr>
        <p:spPr>
          <a:xfrm>
            <a:off x="221398" y="4082092"/>
            <a:ext cx="6617552" cy="2179946"/>
          </a:xfrm>
          <a:prstGeom prst="roundRect">
            <a:avLst>
              <a:gd name="adj" fmla="val 255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452452"/>
                      <a:gd name="csY0" fmla="*/ 516691 h 2024096"/>
                      <a:gd name="csX1" fmla="*/ 516691 w 6452452"/>
                      <a:gd name="csY1" fmla="*/ 0 h 2024096"/>
                      <a:gd name="csX2" fmla="*/ 1166979 w 6452452"/>
                      <a:gd name="csY2" fmla="*/ 0 h 2024096"/>
                      <a:gd name="csX3" fmla="*/ 1654696 w 6452452"/>
                      <a:gd name="csY3" fmla="*/ 0 h 2024096"/>
                      <a:gd name="csX4" fmla="*/ 2088221 w 6452452"/>
                      <a:gd name="csY4" fmla="*/ 0 h 2024096"/>
                      <a:gd name="csX5" fmla="*/ 2684319 w 6452452"/>
                      <a:gd name="csY5" fmla="*/ 0 h 2024096"/>
                      <a:gd name="csX6" fmla="*/ 3172035 w 6452452"/>
                      <a:gd name="csY6" fmla="*/ 0 h 2024096"/>
                      <a:gd name="csX7" fmla="*/ 3822324 w 6452452"/>
                      <a:gd name="csY7" fmla="*/ 0 h 2024096"/>
                      <a:gd name="csX8" fmla="*/ 4255849 w 6452452"/>
                      <a:gd name="csY8" fmla="*/ 0 h 2024096"/>
                      <a:gd name="csX9" fmla="*/ 4906138 w 6452452"/>
                      <a:gd name="csY9" fmla="*/ 0 h 2024096"/>
                      <a:gd name="csX10" fmla="*/ 5285473 w 6452452"/>
                      <a:gd name="csY10" fmla="*/ 0 h 2024096"/>
                      <a:gd name="csX11" fmla="*/ 5935761 w 6452452"/>
                      <a:gd name="csY11" fmla="*/ 0 h 2024096"/>
                      <a:gd name="csX12" fmla="*/ 6452452 w 6452452"/>
                      <a:gd name="csY12" fmla="*/ 516691 h 2024096"/>
                      <a:gd name="csX13" fmla="*/ 6452452 w 6452452"/>
                      <a:gd name="csY13" fmla="*/ 982327 h 2024096"/>
                      <a:gd name="csX14" fmla="*/ 6452452 w 6452452"/>
                      <a:gd name="csY14" fmla="*/ 1507405 h 2024096"/>
                      <a:gd name="csX15" fmla="*/ 5935761 w 6452452"/>
                      <a:gd name="csY15" fmla="*/ 2024096 h 2024096"/>
                      <a:gd name="csX16" fmla="*/ 5339663 w 6452452"/>
                      <a:gd name="csY16" fmla="*/ 2024096 h 2024096"/>
                      <a:gd name="csX17" fmla="*/ 4797756 w 6452452"/>
                      <a:gd name="csY17" fmla="*/ 2024096 h 2024096"/>
                      <a:gd name="csX18" fmla="*/ 4418421 w 6452452"/>
                      <a:gd name="csY18" fmla="*/ 2024096 h 2024096"/>
                      <a:gd name="csX19" fmla="*/ 3984896 w 6452452"/>
                      <a:gd name="csY19" fmla="*/ 2024096 h 2024096"/>
                      <a:gd name="csX20" fmla="*/ 3334607 w 6452452"/>
                      <a:gd name="csY20" fmla="*/ 2024096 h 2024096"/>
                      <a:gd name="csX21" fmla="*/ 2792700 w 6452452"/>
                      <a:gd name="csY21" fmla="*/ 2024096 h 2024096"/>
                      <a:gd name="csX22" fmla="*/ 2359175 w 6452452"/>
                      <a:gd name="csY22" fmla="*/ 2024096 h 2024096"/>
                      <a:gd name="csX23" fmla="*/ 1817268 w 6452452"/>
                      <a:gd name="csY23" fmla="*/ 2024096 h 2024096"/>
                      <a:gd name="csX24" fmla="*/ 1437933 w 6452452"/>
                      <a:gd name="csY24" fmla="*/ 2024096 h 2024096"/>
                      <a:gd name="csX25" fmla="*/ 1058598 w 6452452"/>
                      <a:gd name="csY25" fmla="*/ 2024096 h 2024096"/>
                      <a:gd name="csX26" fmla="*/ 516691 w 6452452"/>
                      <a:gd name="csY26" fmla="*/ 2024096 h 2024096"/>
                      <a:gd name="csX27" fmla="*/ 0 w 6452452"/>
                      <a:gd name="csY27" fmla="*/ 1507405 h 2024096"/>
                      <a:gd name="csX28" fmla="*/ 0 w 6452452"/>
                      <a:gd name="csY28" fmla="*/ 1041769 h 2024096"/>
                      <a:gd name="csX29" fmla="*/ 0 w 6452452"/>
                      <a:gd name="csY29" fmla="*/ 516691 h 20240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</a:cxnLst>
                    <a:rect l="l" t="t" r="r" b="b"/>
                    <a:pathLst>
                      <a:path w="6452452" h="2024096" extrusionOk="0">
                        <a:moveTo>
                          <a:pt x="0" y="516691"/>
                        </a:moveTo>
                        <a:cubicBezTo>
                          <a:pt x="-39183" y="207161"/>
                          <a:pt x="160606" y="26544"/>
                          <a:pt x="516691" y="0"/>
                        </a:cubicBezTo>
                        <a:cubicBezTo>
                          <a:pt x="732804" y="-36074"/>
                          <a:pt x="884974" y="23344"/>
                          <a:pt x="1166979" y="0"/>
                        </a:cubicBezTo>
                        <a:cubicBezTo>
                          <a:pt x="1448984" y="-23344"/>
                          <a:pt x="1545106" y="7235"/>
                          <a:pt x="1654696" y="0"/>
                        </a:cubicBezTo>
                        <a:cubicBezTo>
                          <a:pt x="1764286" y="-7235"/>
                          <a:pt x="1896475" y="11663"/>
                          <a:pt x="2088221" y="0"/>
                        </a:cubicBezTo>
                        <a:cubicBezTo>
                          <a:pt x="2279968" y="-11663"/>
                          <a:pt x="2515565" y="38586"/>
                          <a:pt x="2684319" y="0"/>
                        </a:cubicBezTo>
                        <a:cubicBezTo>
                          <a:pt x="2853073" y="-38586"/>
                          <a:pt x="2996842" y="54825"/>
                          <a:pt x="3172035" y="0"/>
                        </a:cubicBezTo>
                        <a:cubicBezTo>
                          <a:pt x="3347228" y="-54825"/>
                          <a:pt x="3570300" y="53972"/>
                          <a:pt x="3822324" y="0"/>
                        </a:cubicBezTo>
                        <a:cubicBezTo>
                          <a:pt x="4074348" y="-53972"/>
                          <a:pt x="4120587" y="329"/>
                          <a:pt x="4255849" y="0"/>
                        </a:cubicBezTo>
                        <a:cubicBezTo>
                          <a:pt x="4391112" y="-329"/>
                          <a:pt x="4629112" y="48097"/>
                          <a:pt x="4906138" y="0"/>
                        </a:cubicBezTo>
                        <a:cubicBezTo>
                          <a:pt x="5183164" y="-48097"/>
                          <a:pt x="5186188" y="31554"/>
                          <a:pt x="5285473" y="0"/>
                        </a:cubicBezTo>
                        <a:cubicBezTo>
                          <a:pt x="5384758" y="-31554"/>
                          <a:pt x="5632903" y="47323"/>
                          <a:pt x="5935761" y="0"/>
                        </a:cubicBezTo>
                        <a:cubicBezTo>
                          <a:pt x="6230348" y="13734"/>
                          <a:pt x="6453777" y="245052"/>
                          <a:pt x="6452452" y="516691"/>
                        </a:cubicBezTo>
                        <a:cubicBezTo>
                          <a:pt x="6472595" y="635825"/>
                          <a:pt x="6443722" y="847140"/>
                          <a:pt x="6452452" y="982327"/>
                        </a:cubicBezTo>
                        <a:cubicBezTo>
                          <a:pt x="6461182" y="1117514"/>
                          <a:pt x="6417452" y="1244937"/>
                          <a:pt x="6452452" y="1507405"/>
                        </a:cubicBezTo>
                        <a:cubicBezTo>
                          <a:pt x="6397615" y="1801771"/>
                          <a:pt x="6159910" y="1981861"/>
                          <a:pt x="5935761" y="2024096"/>
                        </a:cubicBezTo>
                        <a:cubicBezTo>
                          <a:pt x="5687850" y="2083461"/>
                          <a:pt x="5468916" y="1960712"/>
                          <a:pt x="5339663" y="2024096"/>
                        </a:cubicBezTo>
                        <a:cubicBezTo>
                          <a:pt x="5210410" y="2087480"/>
                          <a:pt x="5036686" y="2012692"/>
                          <a:pt x="4797756" y="2024096"/>
                        </a:cubicBezTo>
                        <a:cubicBezTo>
                          <a:pt x="4558826" y="2035500"/>
                          <a:pt x="4541897" y="1986147"/>
                          <a:pt x="4418421" y="2024096"/>
                        </a:cubicBezTo>
                        <a:cubicBezTo>
                          <a:pt x="4294945" y="2062045"/>
                          <a:pt x="4140554" y="2017033"/>
                          <a:pt x="3984896" y="2024096"/>
                        </a:cubicBezTo>
                        <a:cubicBezTo>
                          <a:pt x="3829238" y="2031159"/>
                          <a:pt x="3579847" y="1948207"/>
                          <a:pt x="3334607" y="2024096"/>
                        </a:cubicBezTo>
                        <a:cubicBezTo>
                          <a:pt x="3089367" y="2099985"/>
                          <a:pt x="3053203" y="2004684"/>
                          <a:pt x="2792700" y="2024096"/>
                        </a:cubicBezTo>
                        <a:cubicBezTo>
                          <a:pt x="2532197" y="2043508"/>
                          <a:pt x="2570285" y="2002676"/>
                          <a:pt x="2359175" y="2024096"/>
                        </a:cubicBezTo>
                        <a:cubicBezTo>
                          <a:pt x="2148066" y="2045516"/>
                          <a:pt x="1932522" y="2012414"/>
                          <a:pt x="1817268" y="2024096"/>
                        </a:cubicBezTo>
                        <a:cubicBezTo>
                          <a:pt x="1702014" y="2035778"/>
                          <a:pt x="1615457" y="1984121"/>
                          <a:pt x="1437933" y="2024096"/>
                        </a:cubicBezTo>
                        <a:cubicBezTo>
                          <a:pt x="1260409" y="2064071"/>
                          <a:pt x="1206530" y="2001491"/>
                          <a:pt x="1058598" y="2024096"/>
                        </a:cubicBezTo>
                        <a:cubicBezTo>
                          <a:pt x="910666" y="2046701"/>
                          <a:pt x="756106" y="1997476"/>
                          <a:pt x="516691" y="2024096"/>
                        </a:cubicBezTo>
                        <a:cubicBezTo>
                          <a:pt x="275574" y="2039581"/>
                          <a:pt x="6093" y="1813289"/>
                          <a:pt x="0" y="1507405"/>
                        </a:cubicBezTo>
                        <a:cubicBezTo>
                          <a:pt x="-7181" y="1366037"/>
                          <a:pt x="44881" y="1200146"/>
                          <a:pt x="0" y="1041769"/>
                        </a:cubicBezTo>
                        <a:cubicBezTo>
                          <a:pt x="-44881" y="883392"/>
                          <a:pt x="43464" y="702451"/>
                          <a:pt x="0" y="51669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66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>
            <a:extLst>
              <a:ext uri="{FF2B5EF4-FFF2-40B4-BE49-F238E27FC236}">
                <a16:creationId xmlns:a16="http://schemas.microsoft.com/office/drawing/2014/main" id="{C096C71F-D6EC-1ACD-BA0B-A650872266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3073399" y="-351292"/>
            <a:ext cx="14027154" cy="76574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91E2B62-4092-7304-4D9A-62F3C5ED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168" y="1131568"/>
            <a:ext cx="4912519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系辦日常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1360CE-CE8A-5C73-5F04-C786DF6D4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147" y="2932556"/>
            <a:ext cx="5200654" cy="314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情境描述：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資工系系辦剛採購了一批新的桌上型電腦與網路交換器。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過去用紙本登記容易造成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資料遺漏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、設備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去向不明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管理員需要一個系統來建立這批設備的財產清單，並後續追蹤借用與報修狀況。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DC2F21-CDAE-8646-F201-4EE24B26A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1" y="2943663"/>
            <a:ext cx="6984997" cy="4351338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系統應用：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管理員以帳號密碼登入系統。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管理員新增設備資料，鍵入財產編號、類別、存放地點與保固期限。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系統自動產生設備紀錄，狀態預設為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日後若遇設備年限到期，管理員可直接在系統提出報廢申請，審核後系統標記為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49E70EC-B31F-0CBF-E4EE-CA507A2230F7}"/>
              </a:ext>
            </a:extLst>
          </p:cNvPr>
          <p:cNvGrpSpPr/>
          <p:nvPr/>
        </p:nvGrpSpPr>
        <p:grpSpPr>
          <a:xfrm>
            <a:off x="-1200150" y="58142"/>
            <a:ext cx="4622800" cy="1200329"/>
            <a:chOff x="368300" y="1419930"/>
            <a:chExt cx="4622800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6856ED7-B041-E72D-25B3-D87BC1D11A5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73FCCA7-006E-13A2-8A4E-C96943DE9763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1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AEBEFC-50C8-46BD-5641-2CEA444E5B7E}"/>
              </a:ext>
            </a:extLst>
          </p:cNvPr>
          <p:cNvSpPr txBox="1"/>
          <p:nvPr/>
        </p:nvSpPr>
        <p:spPr>
          <a:xfrm>
            <a:off x="374650" y="2902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29E4F8D-86B8-B5EF-7F96-2D9CFD7B425C}"/>
              </a:ext>
            </a:extLst>
          </p:cNvPr>
          <p:cNvCxnSpPr>
            <a:cxnSpLocks/>
          </p:cNvCxnSpPr>
          <p:nvPr/>
        </p:nvCxnSpPr>
        <p:spPr>
          <a:xfrm>
            <a:off x="5257801" y="28485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F5BA5029-CF3A-9E83-3002-2D221D8F8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6" y="196825"/>
            <a:ext cx="3295647" cy="2735731"/>
          </a:xfrm>
          <a:prstGeom prst="rect">
            <a:avLst/>
          </a:prstGeom>
        </p:spPr>
      </p:pic>
      <p:sp>
        <p:nvSpPr>
          <p:cNvPr id="50" name="標題 1">
            <a:extLst>
              <a:ext uri="{FF2B5EF4-FFF2-40B4-BE49-F238E27FC236}">
                <a16:creationId xmlns:a16="http://schemas.microsoft.com/office/drawing/2014/main" id="{D5242F7E-F4F7-3205-85E3-FBAAF3F9E176}"/>
              </a:ext>
            </a:extLst>
          </p:cNvPr>
          <p:cNvSpPr txBox="1">
            <a:spLocks/>
          </p:cNvSpPr>
          <p:nvPr/>
        </p:nvSpPr>
        <p:spPr>
          <a:xfrm>
            <a:off x="3344721" y="9764560"/>
            <a:ext cx="4324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  <a:endParaRPr lang="zh-TW" altLang="en-US" sz="7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內容版面配置區 2">
            <a:extLst>
              <a:ext uri="{FF2B5EF4-FFF2-40B4-BE49-F238E27FC236}">
                <a16:creationId xmlns:a16="http://schemas.microsoft.com/office/drawing/2014/main" id="{E2EA5FE7-0A33-43A4-7A42-546AB982486F}"/>
              </a:ext>
            </a:extLst>
          </p:cNvPr>
          <p:cNvSpPr txBox="1">
            <a:spLocks/>
          </p:cNvSpPr>
          <p:nvPr/>
        </p:nvSpPr>
        <p:spPr>
          <a:xfrm>
            <a:off x="665021" y="11448612"/>
            <a:ext cx="50101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學生小明最近在趕專題展演，急需借用特定的投影機與實驗器材。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內容版面配置區 3">
            <a:extLst>
              <a:ext uri="{FF2B5EF4-FFF2-40B4-BE49-F238E27FC236}">
                <a16:creationId xmlns:a16="http://schemas.microsoft.com/office/drawing/2014/main" id="{9E8BC024-3C01-B953-121A-6EADDD3F6007}"/>
              </a:ext>
            </a:extLst>
          </p:cNvPr>
          <p:cNvSpPr txBox="1">
            <a:spLocks/>
          </p:cNvSpPr>
          <p:nvPr/>
        </p:nvSpPr>
        <p:spPr>
          <a:xfrm>
            <a:off x="6081571" y="11448612"/>
            <a:ext cx="63626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提出申請單：填寫借用起迄日，或填寫損壞描述。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5312FAF8-661A-9094-4FBA-D3EAC980252C}"/>
              </a:ext>
            </a:extLst>
          </p:cNvPr>
          <p:cNvGrpSpPr/>
          <p:nvPr/>
        </p:nvGrpSpPr>
        <p:grpSpPr>
          <a:xfrm>
            <a:off x="-909779" y="8473944"/>
            <a:ext cx="4622800" cy="1200329"/>
            <a:chOff x="368300" y="1419930"/>
            <a:chExt cx="4622800" cy="1200329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13866C6-9E82-FF15-F606-2C96DDC51FF2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A225837D-8076-DDBA-0E4B-1C8EE0ED8EFB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261C011E-7EB5-4959-F054-67200AAE8E9D}"/>
              </a:ext>
            </a:extLst>
          </p:cNvPr>
          <p:cNvSpPr txBox="1"/>
          <p:nvPr/>
        </p:nvSpPr>
        <p:spPr>
          <a:xfrm>
            <a:off x="665021" y="8706086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DC3E6E4F-DCC5-80E2-5EF6-22003517ED45}"/>
              </a:ext>
            </a:extLst>
          </p:cNvPr>
          <p:cNvCxnSpPr>
            <a:cxnSpLocks/>
          </p:cNvCxnSpPr>
          <p:nvPr/>
        </p:nvCxnSpPr>
        <p:spPr>
          <a:xfrm>
            <a:off x="5675172" y="11264394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2">
            <a:extLst>
              <a:ext uri="{FF2B5EF4-FFF2-40B4-BE49-F238E27FC236}">
                <a16:creationId xmlns:a16="http://schemas.microsoft.com/office/drawing/2014/main" id="{724B97D1-742B-1592-E69F-E300BA8D73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23" t="19527" r="16250" b="18428"/>
          <a:stretch>
            <a:fillRect/>
          </a:stretch>
        </p:blipFill>
        <p:spPr>
          <a:xfrm>
            <a:off x="7513495" y="9013451"/>
            <a:ext cx="4729303" cy="243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48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5A67A-8A6A-90F2-C684-4BC4F3F2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350" y="1348758"/>
            <a:ext cx="4324350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409844-6D9C-933F-6D50-768833F74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650" y="3032810"/>
            <a:ext cx="50101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None/>
            </a:pP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學生小明最近在趕專題展演，急需借用特定的投影機與實驗器材。</a:t>
            </a: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3D05F2-1967-C102-B3AB-43608A413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1200" y="3032810"/>
            <a:ext cx="6362695" cy="4351338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提出申請單：填寫借用起迄日，或填寫損壞描述。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CA7DF87-10C5-C7E0-7CAC-2D44CA988794}"/>
              </a:ext>
            </a:extLst>
          </p:cNvPr>
          <p:cNvGrpSpPr/>
          <p:nvPr/>
        </p:nvGrpSpPr>
        <p:grpSpPr>
          <a:xfrm>
            <a:off x="-1200150" y="58142"/>
            <a:ext cx="4622800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B9BBC8-B0D2-0253-7FC0-4071232AE386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29A566D-ECCF-DE5C-04B8-86A13F32F687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3CC25E8-3D1C-77CE-1238-F1964257570F}"/>
              </a:ext>
            </a:extLst>
          </p:cNvPr>
          <p:cNvSpPr txBox="1"/>
          <p:nvPr/>
        </p:nvSpPr>
        <p:spPr>
          <a:xfrm>
            <a:off x="374650" y="2902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521D9FD-0C19-92F9-7E9F-23071E04F42E}"/>
              </a:ext>
            </a:extLst>
          </p:cNvPr>
          <p:cNvCxnSpPr>
            <a:cxnSpLocks/>
          </p:cNvCxnSpPr>
          <p:nvPr/>
        </p:nvCxnSpPr>
        <p:spPr>
          <a:xfrm>
            <a:off x="5384801" y="28485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5A1425FA-8DD3-E1B8-BB95-41B6EF42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t="19527" r="16250" b="18428"/>
          <a:stretch>
            <a:fillRect/>
          </a:stretch>
        </p:blipFill>
        <p:spPr>
          <a:xfrm>
            <a:off x="7223124" y="597649"/>
            <a:ext cx="4729303" cy="2434726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531C0E30-DAC6-3320-C170-00A4A9990C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3124197" y="-8389666"/>
            <a:ext cx="14027154" cy="7657401"/>
          </a:xfrm>
          <a:prstGeom prst="rect">
            <a:avLst/>
          </a:prstGeom>
        </p:spPr>
      </p:pic>
      <p:sp>
        <p:nvSpPr>
          <p:cNvPr id="30" name="標題 1">
            <a:extLst>
              <a:ext uri="{FF2B5EF4-FFF2-40B4-BE49-F238E27FC236}">
                <a16:creationId xmlns:a16="http://schemas.microsoft.com/office/drawing/2014/main" id="{B2A1980B-8561-63B6-82D2-E065952C7F11}"/>
              </a:ext>
            </a:extLst>
          </p:cNvPr>
          <p:cNvSpPr txBox="1">
            <a:spLocks/>
          </p:cNvSpPr>
          <p:nvPr/>
        </p:nvSpPr>
        <p:spPr>
          <a:xfrm>
            <a:off x="3560370" y="-6906806"/>
            <a:ext cx="49125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系辦日常</a:t>
            </a:r>
            <a:endParaRPr lang="zh-TW" altLang="en-US" sz="7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EB4217BC-BBFE-C78E-8E59-EDBDA52BF9E8}"/>
              </a:ext>
            </a:extLst>
          </p:cNvPr>
          <p:cNvSpPr txBox="1">
            <a:spLocks/>
          </p:cNvSpPr>
          <p:nvPr/>
        </p:nvSpPr>
        <p:spPr>
          <a:xfrm>
            <a:off x="133349" y="-5105818"/>
            <a:ext cx="5200654" cy="314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情境描述：</a:t>
            </a: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資工系系辦剛採購了一批新的桌上型電腦與網路交換器。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過去用紙本登記容易造成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資料遺漏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、設備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去向不明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管理員需要一個系統來建立這批設備的財產清單，並後續追蹤借用與報修狀況。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內容版面配置區 3">
            <a:extLst>
              <a:ext uri="{FF2B5EF4-FFF2-40B4-BE49-F238E27FC236}">
                <a16:creationId xmlns:a16="http://schemas.microsoft.com/office/drawing/2014/main" id="{01747611-92F1-2283-3EDE-D0C8ED83B925}"/>
              </a:ext>
            </a:extLst>
          </p:cNvPr>
          <p:cNvSpPr txBox="1">
            <a:spLocks/>
          </p:cNvSpPr>
          <p:nvPr/>
        </p:nvSpPr>
        <p:spPr>
          <a:xfrm>
            <a:off x="5207003" y="-5094711"/>
            <a:ext cx="69849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系統應用：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管理員以帳號密碼登入系統。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管理員新增設備資料，鍵入財產編號、類別、存放地點與保固期限。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系統自動產生設備紀錄，狀態預設為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日後若遇設備年限到期，管理員可直接在系統提出報廢申請，審核後系統標記為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1BBB3756-6946-4900-750B-9D26A66BE4AF}"/>
              </a:ext>
            </a:extLst>
          </p:cNvPr>
          <p:cNvGrpSpPr/>
          <p:nvPr/>
        </p:nvGrpSpPr>
        <p:grpSpPr>
          <a:xfrm>
            <a:off x="-1250948" y="-7980232"/>
            <a:ext cx="4622800" cy="1200329"/>
            <a:chOff x="368300" y="1419930"/>
            <a:chExt cx="4622800" cy="120032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4CA2A10-E1DD-B813-E5EC-FF453FB3499E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D230B999-8BC9-52D1-57B6-A06CD1514314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1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0EA3833-F91C-4A91-DF6A-5B4A28048C17}"/>
              </a:ext>
            </a:extLst>
          </p:cNvPr>
          <p:cNvSpPr txBox="1"/>
          <p:nvPr/>
        </p:nvSpPr>
        <p:spPr>
          <a:xfrm>
            <a:off x="323852" y="-7748090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AB2EB42A-64E4-8E0B-1D36-8CA71D142A3B}"/>
              </a:ext>
            </a:extLst>
          </p:cNvPr>
          <p:cNvCxnSpPr>
            <a:cxnSpLocks/>
          </p:cNvCxnSpPr>
          <p:nvPr/>
        </p:nvCxnSpPr>
        <p:spPr>
          <a:xfrm>
            <a:off x="5207003" y="-518978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圖片 37">
            <a:extLst>
              <a:ext uri="{FF2B5EF4-FFF2-40B4-BE49-F238E27FC236}">
                <a16:creationId xmlns:a16="http://schemas.microsoft.com/office/drawing/2014/main" id="{4C81F84B-AD62-C2BE-56AD-02BABB467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408" y="-7841549"/>
            <a:ext cx="3295647" cy="273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70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29B23D-F203-E278-77AC-688135752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993" y="1176117"/>
            <a:ext cx="10515600" cy="924754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本系統以「關聯式資料庫」為核心，管理資工系所有具財產編號設備的完整生命週期，提供高安全、高效率的管理方案。</a:t>
            </a:r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D928E55-49D3-ECA4-8063-CB64AE307E9D}"/>
              </a:ext>
            </a:extLst>
          </p:cNvPr>
          <p:cNvGrpSpPr/>
          <p:nvPr/>
        </p:nvGrpSpPr>
        <p:grpSpPr>
          <a:xfrm>
            <a:off x="-1200151" y="58142"/>
            <a:ext cx="5206093" cy="1200329"/>
            <a:chOff x="368300" y="1419930"/>
            <a:chExt cx="4622800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6A3C55-BF3E-C35A-5DF6-38A9F5DA18A3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A716147-FCBA-6BA1-286E-1CE0DB7FF434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3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9CAB57-9C0E-9A45-E50F-B7673338AEE0}"/>
              </a:ext>
            </a:extLst>
          </p:cNvPr>
          <p:cNvSpPr txBox="1"/>
          <p:nvPr/>
        </p:nvSpPr>
        <p:spPr>
          <a:xfrm>
            <a:off x="172811" y="323971"/>
            <a:ext cx="31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系統需求概述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87CDA37-0480-D7C3-C154-5D1EA9AACE44}"/>
              </a:ext>
            </a:extLst>
          </p:cNvPr>
          <p:cNvSpPr/>
          <p:nvPr/>
        </p:nvSpPr>
        <p:spPr>
          <a:xfrm>
            <a:off x="172811" y="2280948"/>
            <a:ext cx="11952514" cy="141693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BAB0BD7-4651-6737-3EE0-E64BD4630DD1}"/>
              </a:ext>
            </a:extLst>
          </p:cNvPr>
          <p:cNvSpPr/>
          <p:nvPr/>
        </p:nvSpPr>
        <p:spPr>
          <a:xfrm>
            <a:off x="387013" y="2358226"/>
            <a:ext cx="11319212" cy="777146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全生命週期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E32B915-D515-26F6-EFF4-8093343D0E7A}"/>
              </a:ext>
            </a:extLst>
          </p:cNvPr>
          <p:cNvSpPr/>
          <p:nvPr/>
        </p:nvSpPr>
        <p:spPr>
          <a:xfrm>
            <a:off x="172811" y="3814261"/>
            <a:ext cx="11888467" cy="136734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96D0BB1-EE0A-3ADB-3086-47EF0F532C74}"/>
              </a:ext>
            </a:extLst>
          </p:cNvPr>
          <p:cNvSpPr/>
          <p:nvPr/>
        </p:nvSpPr>
        <p:spPr>
          <a:xfrm>
            <a:off x="387013" y="3875628"/>
            <a:ext cx="11319212" cy="60441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存取控制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(RBAC)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7CE4C22-B8A4-B7BE-3CFA-28AF787A7B26}"/>
              </a:ext>
            </a:extLst>
          </p:cNvPr>
          <p:cNvSpPr/>
          <p:nvPr/>
        </p:nvSpPr>
        <p:spPr>
          <a:xfrm>
            <a:off x="172811" y="5297592"/>
            <a:ext cx="11888467" cy="131774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4DE8F76-3611-EA3F-D394-85E691AFD5D2}"/>
              </a:ext>
            </a:extLst>
          </p:cNvPr>
          <p:cNvSpPr/>
          <p:nvPr/>
        </p:nvSpPr>
        <p:spPr>
          <a:xfrm>
            <a:off x="387013" y="5414040"/>
            <a:ext cx="11333217" cy="52322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操作稽核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14023D1-8D4A-6D48-2F34-6BEAFA85F8A5}"/>
              </a:ext>
            </a:extLst>
          </p:cNvPr>
          <p:cNvSpPr txBox="1"/>
          <p:nvPr/>
        </p:nvSpPr>
        <p:spPr>
          <a:xfrm>
            <a:off x="3344636" y="3135372"/>
            <a:ext cx="8375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涵蓋登錄、借用、維護及報廢作業。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8B393FA-3A2F-0EAD-09A3-2D83E5724BBD}"/>
              </a:ext>
            </a:extLst>
          </p:cNvPr>
          <p:cNvSpPr txBox="1"/>
          <p:nvPr/>
        </p:nvSpPr>
        <p:spPr>
          <a:xfrm>
            <a:off x="3344636" y="4552307"/>
            <a:ext cx="10150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依身份嚴格劃分管理員與師生權限。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0ED61D-1E8B-CA36-8D71-0BBE74AAD765}"/>
              </a:ext>
            </a:extLst>
          </p:cNvPr>
          <p:cNvSpPr txBox="1"/>
          <p:nvPr/>
        </p:nvSpPr>
        <p:spPr>
          <a:xfrm>
            <a:off x="2486232" y="5929951"/>
            <a:ext cx="1039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保留完整操作歷史與審核軌跡，責任清晰可查。</a:t>
            </a:r>
          </a:p>
        </p:txBody>
      </p:sp>
    </p:spTree>
    <p:extLst>
      <p:ext uri="{BB962C8B-B14F-4D97-AF65-F5344CB8AC3E}">
        <p14:creationId xmlns:p14="http://schemas.microsoft.com/office/powerpoint/2010/main" val="243478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5FE1AD28-F716-3466-6E0F-31FB24154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8" r="18359"/>
          <a:stretch>
            <a:fillRect/>
          </a:stretch>
        </p:blipFill>
        <p:spPr>
          <a:xfrm>
            <a:off x="-114300" y="1689941"/>
            <a:ext cx="5644243" cy="4839159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3F7F1-0F9B-FF33-E9AE-A972CB996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29943" y="1154091"/>
            <a:ext cx="7302500" cy="2159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使用者管理：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新帳號註冊及登入驗證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忘記密碼與重設功能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角色權限控管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教師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學生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CE87ED-0627-DFB1-8777-C8C06FC3D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3198" y="4646872"/>
            <a:ext cx="881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設備管理：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管理員新增、修改、刪除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依類別、狀態、地點瀏覽與搜尋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設備狀態隨流程自動更新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D844D11-2321-057E-94D5-221356A5A30D}"/>
              </a:ext>
            </a:extLst>
          </p:cNvPr>
          <p:cNvGrpSpPr/>
          <p:nvPr/>
        </p:nvGrpSpPr>
        <p:grpSpPr>
          <a:xfrm>
            <a:off x="-1200150" y="51900"/>
            <a:ext cx="7733595" cy="1200329"/>
            <a:chOff x="368300" y="1413688"/>
            <a:chExt cx="4703473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703ACA-22DC-C3C9-AFC9-C4E70FBC32E2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A439A37-4F5A-9FD4-4DEE-21DC1764B964}"/>
                </a:ext>
              </a:extLst>
            </p:cNvPr>
            <p:cNvSpPr txBox="1"/>
            <p:nvPr/>
          </p:nvSpPr>
          <p:spPr>
            <a:xfrm>
              <a:off x="4335173" y="1413688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4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E091AE-900C-5A70-835E-4343F546E6F3}"/>
              </a:ext>
            </a:extLst>
          </p:cNvPr>
          <p:cNvSpPr txBox="1"/>
          <p:nvPr/>
        </p:nvSpPr>
        <p:spPr>
          <a:xfrm>
            <a:off x="114754" y="328900"/>
            <a:ext cx="5415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功能需求：基礎管理模組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96BF995-FAE2-A71C-58F0-CA25E4E3F2E1}"/>
              </a:ext>
            </a:extLst>
          </p:cNvPr>
          <p:cNvSpPr txBox="1"/>
          <p:nvPr/>
        </p:nvSpPr>
        <p:spPr>
          <a:xfrm>
            <a:off x="5613198" y="3212692"/>
            <a:ext cx="6699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類別管理：</a:t>
            </a: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建立清晰的資產分類目錄</a:t>
            </a: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管理員專屬：新增、修改、刪除</a:t>
            </a:r>
          </a:p>
        </p:txBody>
      </p:sp>
    </p:spTree>
    <p:extLst>
      <p:ext uri="{BB962C8B-B14F-4D97-AF65-F5344CB8AC3E}">
        <p14:creationId xmlns:p14="http://schemas.microsoft.com/office/powerpoint/2010/main" val="195793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0DD408-F672-FCC0-E1F4-FE623D953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936" y="1803400"/>
            <a:ext cx="5872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借用管理：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提交申請，管理員審核並更新狀態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系統內建自動偵測逾期功能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維護管理：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提供設備故障通報機制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追蹤進度，完成後自動恢復「可用」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A034FB-9855-43AE-D67B-60480492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832" y="1803400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報廢管理：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申請設備報廢並附上原因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審核後鎖定設備狀態為「報廢」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安全性設計：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密碼採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Bcrypt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加密獨立儲存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落實角色操作存取控制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1192A55-B082-18CF-ADBA-5048790FD9FB}"/>
              </a:ext>
            </a:extLst>
          </p:cNvPr>
          <p:cNvGrpSpPr/>
          <p:nvPr/>
        </p:nvGrpSpPr>
        <p:grpSpPr>
          <a:xfrm>
            <a:off x="-1200150" y="58142"/>
            <a:ext cx="8152494" cy="1200329"/>
            <a:chOff x="368300" y="1419930"/>
            <a:chExt cx="4622800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4A199EE-D957-E035-C13A-0B7609F9486E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9F17B1E-127E-7F60-5AC2-5C9F1AEEFD4B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5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353555-052C-3ED2-5041-63AEC5B02E1F}"/>
              </a:ext>
            </a:extLst>
          </p:cNvPr>
          <p:cNvSpPr txBox="1"/>
          <p:nvPr/>
        </p:nvSpPr>
        <p:spPr>
          <a:xfrm>
            <a:off x="0" y="328900"/>
            <a:ext cx="570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功能需求：流程與資安模組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CAB8FF1-8CA2-CF26-DAB1-410CB9FFAE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57150" y="-1327"/>
            <a:ext cx="12458700" cy="68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6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5A9AE-5671-1F7E-65B8-DC8E99C6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30DCDD2-CF2D-4088-86BD-D1F6055125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2" b="3886"/>
          <a:stretch>
            <a:fillRect/>
          </a:stretch>
        </p:blipFill>
        <p:spPr>
          <a:xfrm>
            <a:off x="6157020" y="2841493"/>
            <a:ext cx="6034980" cy="2781016"/>
          </a:xfrm>
          <a:prstGeom prst="rect">
            <a:avLst/>
          </a:prstGeo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038CC70-597F-8FF1-07F0-59262FAF9E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0" t="16050" b="3918"/>
          <a:stretch>
            <a:fillRect/>
          </a:stretch>
        </p:blipFill>
        <p:spPr>
          <a:xfrm>
            <a:off x="63957" y="2841493"/>
            <a:ext cx="6238875" cy="2898449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83F1D7C-421E-A9C5-8DDA-9127F54A21B7}"/>
              </a:ext>
            </a:extLst>
          </p:cNvPr>
          <p:cNvGrpSpPr/>
          <p:nvPr/>
        </p:nvGrpSpPr>
        <p:grpSpPr>
          <a:xfrm>
            <a:off x="-1069521" y="856428"/>
            <a:ext cx="8152494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4163951-A541-478D-66E1-5B0F7EBA3678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B132383-70F2-05AA-02A5-E79683ABC8DE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5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398870C-D56A-5D8B-E870-DD915AEA8462}"/>
              </a:ext>
            </a:extLst>
          </p:cNvPr>
          <p:cNvSpPr txBox="1"/>
          <p:nvPr/>
        </p:nvSpPr>
        <p:spPr>
          <a:xfrm>
            <a:off x="130629" y="1127186"/>
            <a:ext cx="570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功能需求：流程與資安模組</a:t>
            </a:r>
          </a:p>
        </p:txBody>
      </p:sp>
    </p:spTree>
    <p:extLst>
      <p:ext uri="{BB962C8B-B14F-4D97-AF65-F5344CB8AC3E}">
        <p14:creationId xmlns:p14="http://schemas.microsoft.com/office/powerpoint/2010/main" val="215681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A74A24C7-D8F7-A73E-4AEF-F97B7498F865}"/>
              </a:ext>
            </a:extLst>
          </p:cNvPr>
          <p:cNvGrpSpPr/>
          <p:nvPr/>
        </p:nvGrpSpPr>
        <p:grpSpPr>
          <a:xfrm>
            <a:off x="-1200150" y="80872"/>
            <a:ext cx="7913284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1A36DB9-54FB-BE2E-C975-C0638787E256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90B9DC8-263E-8181-D411-460A0EBEA513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5F6F65-3223-1AF7-22FA-2D537FB1FEF4}"/>
              </a:ext>
            </a:extLst>
          </p:cNvPr>
          <p:cNvSpPr txBox="1"/>
          <p:nvPr/>
        </p:nvSpPr>
        <p:spPr>
          <a:xfrm>
            <a:off x="49716" y="341381"/>
            <a:ext cx="5429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Member (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使用者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C419BF6-983F-E516-3E0E-2832AB870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00439"/>
              </p:ext>
            </p:extLst>
          </p:nvPr>
        </p:nvGraphicFramePr>
        <p:xfrm>
          <a:off x="476699" y="1235740"/>
          <a:ext cx="10904220" cy="535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8587">
                  <a:extLst>
                    <a:ext uri="{9D8B030D-6E8A-4147-A177-3AD203B41FA5}">
                      <a16:colId xmlns:a16="http://schemas.microsoft.com/office/drawing/2014/main" val="2670266609"/>
                    </a:ext>
                  </a:extLst>
                </a:gridCol>
                <a:gridCol w="1884098">
                  <a:extLst>
                    <a:ext uri="{9D8B030D-6E8A-4147-A177-3AD203B41FA5}">
                      <a16:colId xmlns:a16="http://schemas.microsoft.com/office/drawing/2014/main" val="1993058790"/>
                    </a:ext>
                  </a:extLst>
                </a:gridCol>
                <a:gridCol w="2001854">
                  <a:extLst>
                    <a:ext uri="{9D8B030D-6E8A-4147-A177-3AD203B41FA5}">
                      <a16:colId xmlns:a16="http://schemas.microsoft.com/office/drawing/2014/main" val="780937139"/>
                    </a:ext>
                  </a:extLst>
                </a:gridCol>
                <a:gridCol w="1530831">
                  <a:extLst>
                    <a:ext uri="{9D8B030D-6E8A-4147-A177-3AD203B41FA5}">
                      <a16:colId xmlns:a16="http://schemas.microsoft.com/office/drawing/2014/main" val="2470827280"/>
                    </a:ext>
                  </a:extLst>
                </a:gridCol>
                <a:gridCol w="3838850">
                  <a:extLst>
                    <a:ext uri="{9D8B030D-6E8A-4147-A177-3AD203B41FA5}">
                      <a16:colId xmlns:a16="http://schemas.microsoft.com/office/drawing/2014/main" val="3825926816"/>
                    </a:ext>
                  </a:extLst>
                </a:gridCol>
              </a:tblGrid>
              <a:tr h="506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5630465"/>
                  </a:ext>
                </a:extLst>
              </a:tr>
              <a:tr h="82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使用者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95667654"/>
                  </a:ext>
                </a:extLst>
              </a:tr>
              <a:tr h="82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mAccount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帳號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VARCHAR(20)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6~20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英數字混合；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UNIQUE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15568972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mName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姓名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VARCHAR(12)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2~12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95146673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mEmail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電子郵件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VARCHAR(50)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需含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@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與網域；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UNIQUE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52586079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mPhone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連絡電話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09xxxxxxxx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格式（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位數字）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33490188"/>
                  </a:ext>
                </a:extLst>
              </a:tr>
              <a:tr h="50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mRole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角色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管理員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教師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學生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11287352"/>
                  </a:ext>
                </a:extLst>
              </a:tr>
              <a:tr h="82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mCreateDate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建立日期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日期格式，建立時自動填入當日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2586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13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C3E47315-D080-28D9-27A9-79B560D00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3B05EA3-1DDE-EB8C-AAD1-3F1BE06E4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13431"/>
              </p:ext>
            </p:extLst>
          </p:nvPr>
        </p:nvGraphicFramePr>
        <p:xfrm>
          <a:off x="128587" y="1825625"/>
          <a:ext cx="11934825" cy="4800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403">
                  <a:extLst>
                    <a:ext uri="{9D8B030D-6E8A-4147-A177-3AD203B41FA5}">
                      <a16:colId xmlns:a16="http://schemas.microsoft.com/office/drawing/2014/main" val="2636085727"/>
                    </a:ext>
                  </a:extLst>
                </a:gridCol>
                <a:gridCol w="2062173">
                  <a:extLst>
                    <a:ext uri="{9D8B030D-6E8A-4147-A177-3AD203B41FA5}">
                      <a16:colId xmlns:a16="http://schemas.microsoft.com/office/drawing/2014/main" val="1111709749"/>
                    </a:ext>
                  </a:extLst>
                </a:gridCol>
                <a:gridCol w="2191057">
                  <a:extLst>
                    <a:ext uri="{9D8B030D-6E8A-4147-A177-3AD203B41FA5}">
                      <a16:colId xmlns:a16="http://schemas.microsoft.com/office/drawing/2014/main" val="1310703435"/>
                    </a:ext>
                  </a:extLst>
                </a:gridCol>
                <a:gridCol w="1675514">
                  <a:extLst>
                    <a:ext uri="{9D8B030D-6E8A-4147-A177-3AD203B41FA5}">
                      <a16:colId xmlns:a16="http://schemas.microsoft.com/office/drawing/2014/main" val="1852199078"/>
                    </a:ext>
                  </a:extLst>
                </a:gridCol>
                <a:gridCol w="4201678">
                  <a:extLst>
                    <a:ext uri="{9D8B030D-6E8A-4147-A177-3AD203B41FA5}">
                      <a16:colId xmlns:a16="http://schemas.microsoft.com/office/drawing/2014/main" val="1618205529"/>
                    </a:ext>
                  </a:extLst>
                </a:gridCol>
              </a:tblGrid>
              <a:tr h="276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51030245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54195829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ePropertyNo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財產編號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VARCHAR(20)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唯一財產編號；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UNIQUE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22735172"/>
                  </a:ext>
                </a:extLst>
              </a:tr>
              <a:tr h="27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eName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設備名稱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VARCHAR(40)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1~40 </a:t>
                      </a: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89003790"/>
                  </a:ext>
                </a:extLst>
              </a:tr>
              <a:tr h="27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Category.cId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91087976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eStatus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設備狀態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可用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借出中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維修中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報廢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3556048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eLocation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存放地點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VARCHAR(64)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如「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棟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307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室」；長度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1~64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94371425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ePurchaseDate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購入日期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不得為未來日期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47029497"/>
                  </a:ext>
                </a:extLst>
              </a:tr>
              <a:tr h="49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eWarrantyDate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保固到期日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</a:t>
                      </a:r>
                      <a:r>
                        <a:rPr lang="en-US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&gt;= </a:t>
                      </a:r>
                      <a:r>
                        <a:rPr lang="en-US" sz="20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ePurchaseDate</a:t>
                      </a: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；可為空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8093402"/>
                  </a:ext>
                </a:extLst>
              </a:tr>
              <a:tr h="27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eNote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VARCHAR(128)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0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0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可為空</a:t>
                      </a:r>
                      <a:endParaRPr lang="zh-TW" sz="20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99455092"/>
                  </a:ext>
                </a:extLst>
              </a:tr>
            </a:tbl>
          </a:graphicData>
        </a:graphic>
      </p:graphicFrame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542EB4-1FFB-17EF-102D-693D60EF7B97}"/>
              </a:ext>
            </a:extLst>
          </p:cNvPr>
          <p:cNvGrpSpPr/>
          <p:nvPr/>
        </p:nvGrpSpPr>
        <p:grpSpPr>
          <a:xfrm>
            <a:off x="-1200151" y="80872"/>
            <a:ext cx="9095921" cy="1200329"/>
            <a:chOff x="368300" y="1442660"/>
            <a:chExt cx="4722578" cy="12003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01688BC-F35F-C4F2-ABE1-292EE275C86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C92D44-A635-1156-D6D5-D93AE5141E77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C78263-AD0E-4730-E75D-B91664D22BCF}"/>
              </a:ext>
            </a:extLst>
          </p:cNvPr>
          <p:cNvSpPr txBox="1"/>
          <p:nvPr/>
        </p:nvSpPr>
        <p:spPr>
          <a:xfrm>
            <a:off x="49716" y="341381"/>
            <a:ext cx="6655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Equipment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（設備資料）</a:t>
            </a:r>
          </a:p>
        </p:txBody>
      </p:sp>
    </p:spTree>
    <p:extLst>
      <p:ext uri="{BB962C8B-B14F-4D97-AF65-F5344CB8AC3E}">
        <p14:creationId xmlns:p14="http://schemas.microsoft.com/office/powerpoint/2010/main" val="310081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3C384B6-40CD-1C39-CCBD-80FD4C00B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8439"/>
              </p:ext>
            </p:extLst>
          </p:nvPr>
        </p:nvGraphicFramePr>
        <p:xfrm>
          <a:off x="882649" y="3037484"/>
          <a:ext cx="10426701" cy="30262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391">
                  <a:extLst>
                    <a:ext uri="{9D8B030D-6E8A-4147-A177-3AD203B41FA5}">
                      <a16:colId xmlns:a16="http://schemas.microsoft.com/office/drawing/2014/main" val="1920340815"/>
                    </a:ext>
                  </a:extLst>
                </a:gridCol>
                <a:gridCol w="1801590">
                  <a:extLst>
                    <a:ext uri="{9D8B030D-6E8A-4147-A177-3AD203B41FA5}">
                      <a16:colId xmlns:a16="http://schemas.microsoft.com/office/drawing/2014/main" val="2661460474"/>
                    </a:ext>
                  </a:extLst>
                </a:gridCol>
                <a:gridCol w="1914189">
                  <a:extLst>
                    <a:ext uri="{9D8B030D-6E8A-4147-A177-3AD203B41FA5}">
                      <a16:colId xmlns:a16="http://schemas.microsoft.com/office/drawing/2014/main" val="2659979923"/>
                    </a:ext>
                  </a:extLst>
                </a:gridCol>
                <a:gridCol w="1463792">
                  <a:extLst>
                    <a:ext uri="{9D8B030D-6E8A-4147-A177-3AD203B41FA5}">
                      <a16:colId xmlns:a16="http://schemas.microsoft.com/office/drawing/2014/main" val="490782694"/>
                    </a:ext>
                  </a:extLst>
                </a:gridCol>
                <a:gridCol w="3670739">
                  <a:extLst>
                    <a:ext uri="{9D8B030D-6E8A-4147-A177-3AD203B41FA5}">
                      <a16:colId xmlns:a16="http://schemas.microsoft.com/office/drawing/2014/main" val="1873467083"/>
                    </a:ext>
                  </a:extLst>
                </a:gridCol>
              </a:tblGrid>
              <a:tr h="516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277161510"/>
                  </a:ext>
                </a:extLst>
              </a:tr>
              <a:tr h="83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41214976"/>
                  </a:ext>
                </a:extLst>
              </a:tr>
              <a:tr h="83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cName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VARCHAR(16)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1~16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；如電腦、投影機、網路設備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34834281"/>
                  </a:ext>
                </a:extLst>
              </a:tr>
              <a:tr h="516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cOutline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類別概述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VARCHAR(64)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1~64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的文字；可為空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10967228"/>
                  </a:ext>
                </a:extLst>
              </a:tr>
            </a:tbl>
          </a:graphicData>
        </a:graphic>
      </p:graphicFrame>
      <p:grpSp>
        <p:nvGrpSpPr>
          <p:cNvPr id="13" name="群組 12">
            <a:extLst>
              <a:ext uri="{FF2B5EF4-FFF2-40B4-BE49-F238E27FC236}">
                <a16:creationId xmlns:a16="http://schemas.microsoft.com/office/drawing/2014/main" id="{F0A24BB4-098C-CF83-2BF9-DC0D8A825527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6288395-EE1E-0CA8-F08A-498CEE88D5BD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A921029-DA28-90B7-B15E-EF3782400D2F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067953-8833-B051-17B6-E07EE4DB4FA6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Category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（設備類別）</a:t>
            </a:r>
          </a:p>
        </p:txBody>
      </p:sp>
    </p:spTree>
    <p:extLst>
      <p:ext uri="{BB962C8B-B14F-4D97-AF65-F5344CB8AC3E}">
        <p14:creationId xmlns:p14="http://schemas.microsoft.com/office/powerpoint/2010/main" val="182894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FDCFE7A-0660-17F1-914F-D5343D19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001197"/>
              </p:ext>
            </p:extLst>
          </p:nvPr>
        </p:nvGraphicFramePr>
        <p:xfrm>
          <a:off x="917121" y="1293682"/>
          <a:ext cx="10655300" cy="5232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0952">
                  <a:extLst>
                    <a:ext uri="{9D8B030D-6E8A-4147-A177-3AD203B41FA5}">
                      <a16:colId xmlns:a16="http://schemas.microsoft.com/office/drawing/2014/main" val="1938562011"/>
                    </a:ext>
                  </a:extLst>
                </a:gridCol>
                <a:gridCol w="1841089">
                  <a:extLst>
                    <a:ext uri="{9D8B030D-6E8A-4147-A177-3AD203B41FA5}">
                      <a16:colId xmlns:a16="http://schemas.microsoft.com/office/drawing/2014/main" val="3097408967"/>
                    </a:ext>
                  </a:extLst>
                </a:gridCol>
                <a:gridCol w="1956157">
                  <a:extLst>
                    <a:ext uri="{9D8B030D-6E8A-4147-A177-3AD203B41FA5}">
                      <a16:colId xmlns:a16="http://schemas.microsoft.com/office/drawing/2014/main" val="437994860"/>
                    </a:ext>
                  </a:extLst>
                </a:gridCol>
                <a:gridCol w="1495884">
                  <a:extLst>
                    <a:ext uri="{9D8B030D-6E8A-4147-A177-3AD203B41FA5}">
                      <a16:colId xmlns:a16="http://schemas.microsoft.com/office/drawing/2014/main" val="845953157"/>
                    </a:ext>
                  </a:extLst>
                </a:gridCol>
                <a:gridCol w="3751218">
                  <a:extLst>
                    <a:ext uri="{9D8B030D-6E8A-4147-A177-3AD203B41FA5}">
                      <a16:colId xmlns:a16="http://schemas.microsoft.com/office/drawing/2014/main" val="235108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17633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5563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使用者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Member.mId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27382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Equipment.eId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2349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bApplyDate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申請當日日期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6696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bApprovedBy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審核員 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-&gt; Member.mId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8557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bApprovedDate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審核通過日期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557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bStartDate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借用開始日期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借用起始日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5231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bEndDate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預計歸還日期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需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&gt;= bStartDate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90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bReturnDate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實際歸還日期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歸還後填入；需</a:t>
                      </a: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&gt;= bStartDate</a:t>
                      </a: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；可為空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736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bStatus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借用狀態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申請中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核准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已歸還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逾期</a:t>
                      </a: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拒絕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86955432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D43A8A96-B2C2-C8D9-1A1A-99DCBAE177E8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CC28BC1-62E8-B462-F144-07A83BA6BA5E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EA5394C-887E-B90E-A611-D217A236CF6A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C6CB38D-20BC-5C51-15CA-3EDBB3CFC403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（借用紀錄）</a:t>
            </a:r>
          </a:p>
        </p:txBody>
      </p:sp>
    </p:spTree>
    <p:extLst>
      <p:ext uri="{BB962C8B-B14F-4D97-AF65-F5344CB8AC3E}">
        <p14:creationId xmlns:p14="http://schemas.microsoft.com/office/powerpoint/2010/main" val="216649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2810C-DD11-A69B-2FC2-FF6903E1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96D6A8E-FCE6-7CAB-3351-87827CA87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ACF149-56D7-78A4-2C6A-BF334215D79B}"/>
              </a:ext>
            </a:extLst>
          </p:cNvPr>
          <p:cNvGraphicFramePr>
            <a:graphicFrameLocks noGrp="1"/>
          </p:cNvGraphicFramePr>
          <p:nvPr/>
        </p:nvGraphicFramePr>
        <p:xfrm>
          <a:off x="3155950" y="2622074"/>
          <a:ext cx="5880100" cy="2758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18385178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132162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8565364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57848549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785691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欄位名稱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說明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資料型態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是否為空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100">
                          <a:effectLst/>
                        </a:rPr>
                        <a:t>值域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8547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mRecId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維護</a:t>
                      </a:r>
                      <a:r>
                        <a:rPr lang="en-US" sz="1100">
                          <a:effectLst/>
                        </a:rPr>
                        <a:t> 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INT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從</a:t>
                      </a:r>
                      <a:r>
                        <a:rPr lang="en-US" sz="1100">
                          <a:effectLst/>
                        </a:rPr>
                        <a:t> 1 </a:t>
                      </a:r>
                      <a:r>
                        <a:rPr lang="zh-TW" sz="1100">
                          <a:effectLst/>
                        </a:rPr>
                        <a:t>開始遞增（</a:t>
                      </a:r>
                      <a:r>
                        <a:rPr lang="en-US" sz="1100">
                          <a:effectLst/>
                        </a:rPr>
                        <a:t>AUTO_INCREMENT</a:t>
                      </a:r>
                      <a:r>
                        <a:rPr lang="zh-TW" sz="1100">
                          <a:effectLst/>
                        </a:rPr>
                        <a:t>）；</a:t>
                      </a:r>
                      <a:r>
                        <a:rPr lang="en-US" sz="1100">
                          <a:effectLst/>
                        </a:rPr>
                        <a:t>PK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49086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eId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設備</a:t>
                      </a:r>
                      <a:r>
                        <a:rPr lang="en-US" sz="1100">
                          <a:effectLst/>
                        </a:rPr>
                        <a:t> 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INT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FK → Equipment.eId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0139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申報人</a:t>
                      </a:r>
                      <a:r>
                        <a:rPr lang="en-US" sz="1100">
                          <a:effectLst/>
                        </a:rPr>
                        <a:t> 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INT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FK → Member.mId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22383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mRecDate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維護日期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DATE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日期格式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4041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mIssue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問題描述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VARCHAR(256)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長度</a:t>
                      </a:r>
                      <a:r>
                        <a:rPr lang="en-US" sz="1100">
                          <a:effectLst/>
                        </a:rPr>
                        <a:t> 1~256 </a:t>
                      </a:r>
                      <a:r>
                        <a:rPr lang="zh-TW" sz="1100">
                          <a:effectLst/>
                        </a:rPr>
                        <a:t>的文字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30278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mResult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處理結果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VARCHAR(256)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Y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完成後填入；長度</a:t>
                      </a:r>
                      <a:r>
                        <a:rPr lang="en-US" sz="1100">
                          <a:effectLst/>
                        </a:rPr>
                        <a:t> 1~256</a:t>
                      </a:r>
                      <a:r>
                        <a:rPr lang="zh-TW" sz="1100">
                          <a:effectLst/>
                        </a:rPr>
                        <a:t>；可為空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727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mStaff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負責人員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VARCHAR(32)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Y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處理人員姓名；可為空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61500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mStatus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>
                          <a:effectLst/>
                        </a:rPr>
                        <a:t>維護狀態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VARCHAR(6)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N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100" dirty="0">
                          <a:effectLst/>
                        </a:rPr>
                        <a:t>待處理</a:t>
                      </a:r>
                      <a:r>
                        <a:rPr lang="en-US" sz="1100" dirty="0">
                          <a:effectLst/>
                        </a:rPr>
                        <a:t> / </a:t>
                      </a:r>
                      <a:r>
                        <a:rPr lang="zh-TW" sz="1100" dirty="0">
                          <a:effectLst/>
                        </a:rPr>
                        <a:t>處理中</a:t>
                      </a:r>
                      <a:r>
                        <a:rPr lang="en-US" sz="1100" dirty="0">
                          <a:effectLst/>
                        </a:rPr>
                        <a:t> / </a:t>
                      </a:r>
                      <a:r>
                        <a:rPr lang="zh-TW" sz="1100" dirty="0">
                          <a:effectLst/>
                        </a:rPr>
                        <a:t>已完成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6519565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B9620D-AA8F-32BC-609F-953742666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49745"/>
              </p:ext>
            </p:extLst>
          </p:nvPr>
        </p:nvGraphicFramePr>
        <p:xfrm>
          <a:off x="168274" y="1683862"/>
          <a:ext cx="11855451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2401">
                  <a:extLst>
                    <a:ext uri="{9D8B030D-6E8A-4147-A177-3AD203B41FA5}">
                      <a16:colId xmlns:a16="http://schemas.microsoft.com/office/drawing/2014/main" val="3813760441"/>
                    </a:ext>
                  </a:extLst>
                </a:gridCol>
                <a:gridCol w="2048458">
                  <a:extLst>
                    <a:ext uri="{9D8B030D-6E8A-4147-A177-3AD203B41FA5}">
                      <a16:colId xmlns:a16="http://schemas.microsoft.com/office/drawing/2014/main" val="1555622788"/>
                    </a:ext>
                  </a:extLst>
                </a:gridCol>
                <a:gridCol w="2176487">
                  <a:extLst>
                    <a:ext uri="{9D8B030D-6E8A-4147-A177-3AD203B41FA5}">
                      <a16:colId xmlns:a16="http://schemas.microsoft.com/office/drawing/2014/main" val="2331807976"/>
                    </a:ext>
                  </a:extLst>
                </a:gridCol>
                <a:gridCol w="1664372">
                  <a:extLst>
                    <a:ext uri="{9D8B030D-6E8A-4147-A177-3AD203B41FA5}">
                      <a16:colId xmlns:a16="http://schemas.microsoft.com/office/drawing/2014/main" val="4184786413"/>
                    </a:ext>
                  </a:extLst>
                </a:gridCol>
                <a:gridCol w="4173733">
                  <a:extLst>
                    <a:ext uri="{9D8B030D-6E8A-4147-A177-3AD203B41FA5}">
                      <a16:colId xmlns:a16="http://schemas.microsoft.com/office/drawing/2014/main" val="2043217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016052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mRecId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維護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03305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Equipment.eId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7311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申報人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Member.mId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7974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mRecDate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維護日期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日期格式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68875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mIssue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問題描述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1~256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8115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mResult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處理結果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完成後填入；長度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1~256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；可為空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7610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mStaff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負責人員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VARCHAR(32)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處理人員姓名；可為空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372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mStatus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維護狀態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待處理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處理中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已完成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88243261"/>
                  </a:ext>
                </a:extLst>
              </a:tr>
            </a:tbl>
          </a:graphicData>
        </a:graphic>
      </p:graphicFrame>
      <p:grpSp>
        <p:nvGrpSpPr>
          <p:cNvPr id="6" name="群組 5">
            <a:extLst>
              <a:ext uri="{FF2B5EF4-FFF2-40B4-BE49-F238E27FC236}">
                <a16:creationId xmlns:a16="http://schemas.microsoft.com/office/drawing/2014/main" id="{555DD0E9-DD78-F716-6FD6-E2465E953E72}"/>
              </a:ext>
            </a:extLst>
          </p:cNvPr>
          <p:cNvGrpSpPr/>
          <p:nvPr/>
        </p:nvGrpSpPr>
        <p:grpSpPr>
          <a:xfrm>
            <a:off x="-1200151" y="80872"/>
            <a:ext cx="11374665" cy="1200329"/>
            <a:chOff x="368300" y="1442660"/>
            <a:chExt cx="4722578" cy="120032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4E6EE9D-0060-CD27-1DF2-268B1D127C3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D46B6F4-FA39-B8EA-A06F-ECADB12E7CC1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08B60E-E4A5-C539-BF71-A44EAF0A2A06}"/>
              </a:ext>
            </a:extLst>
          </p:cNvPr>
          <p:cNvSpPr txBox="1"/>
          <p:nvPr/>
        </p:nvSpPr>
        <p:spPr>
          <a:xfrm>
            <a:off x="49716" y="341381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MaintenanceRecord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（維護紀錄）</a:t>
            </a:r>
          </a:p>
        </p:txBody>
      </p:sp>
    </p:spTree>
    <p:extLst>
      <p:ext uri="{BB962C8B-B14F-4D97-AF65-F5344CB8AC3E}">
        <p14:creationId xmlns:p14="http://schemas.microsoft.com/office/powerpoint/2010/main" val="180994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FCED24-74BC-B920-E9EB-752E01A8E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69110"/>
              </p:ext>
            </p:extLst>
          </p:nvPr>
        </p:nvGraphicFramePr>
        <p:xfrm>
          <a:off x="838200" y="2173923"/>
          <a:ext cx="10515600" cy="4003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9832">
                  <a:extLst>
                    <a:ext uri="{9D8B030D-6E8A-4147-A177-3AD203B41FA5}">
                      <a16:colId xmlns:a16="http://schemas.microsoft.com/office/drawing/2014/main" val="3629745194"/>
                    </a:ext>
                  </a:extLst>
                </a:gridCol>
                <a:gridCol w="1816950">
                  <a:extLst>
                    <a:ext uri="{9D8B030D-6E8A-4147-A177-3AD203B41FA5}">
                      <a16:colId xmlns:a16="http://schemas.microsoft.com/office/drawing/2014/main" val="4029629007"/>
                    </a:ext>
                  </a:extLst>
                </a:gridCol>
                <a:gridCol w="1930510">
                  <a:extLst>
                    <a:ext uri="{9D8B030D-6E8A-4147-A177-3AD203B41FA5}">
                      <a16:colId xmlns:a16="http://schemas.microsoft.com/office/drawing/2014/main" val="87474195"/>
                    </a:ext>
                  </a:extLst>
                </a:gridCol>
                <a:gridCol w="1476272">
                  <a:extLst>
                    <a:ext uri="{9D8B030D-6E8A-4147-A177-3AD203B41FA5}">
                      <a16:colId xmlns:a16="http://schemas.microsoft.com/office/drawing/2014/main" val="2045914200"/>
                    </a:ext>
                  </a:extLst>
                </a:gridCol>
                <a:gridCol w="3702036">
                  <a:extLst>
                    <a:ext uri="{9D8B030D-6E8A-4147-A177-3AD203B41FA5}">
                      <a16:colId xmlns:a16="http://schemas.microsoft.com/office/drawing/2014/main" val="25815139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6988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從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開始遞增（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AUTO_INCREMENT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）；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27841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設備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Equipment.eId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02337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申請人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→ Member.mId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10181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申請當日日期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1049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retReason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報廢原因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1~256 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的文字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4349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retStatus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審核狀態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VARCHAR(6)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待審核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核准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/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駁回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29247603"/>
                  </a:ext>
                </a:extLst>
              </a:tr>
            </a:tbl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D677DCC6-446A-2381-D6FB-C66EB4BF79F0}"/>
              </a:ext>
            </a:extLst>
          </p:cNvPr>
          <p:cNvGrpSpPr/>
          <p:nvPr/>
        </p:nvGrpSpPr>
        <p:grpSpPr>
          <a:xfrm>
            <a:off x="-1301750" y="69026"/>
            <a:ext cx="11374665" cy="1200329"/>
            <a:chOff x="368300" y="1442660"/>
            <a:chExt cx="4722578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74734B-33EE-BE68-2283-70E0C7E2447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2F94417-ED7E-28D8-9257-B525587DD566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E784A299-1D5F-7121-BE92-B5816FD4D899}"/>
              </a:ext>
            </a:extLst>
          </p:cNvPr>
          <p:cNvSpPr txBox="1"/>
          <p:nvPr/>
        </p:nvSpPr>
        <p:spPr>
          <a:xfrm>
            <a:off x="-51883" y="329535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RetireRequest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（報廢申請）</a:t>
            </a:r>
          </a:p>
        </p:txBody>
      </p:sp>
    </p:spTree>
    <p:extLst>
      <p:ext uri="{BB962C8B-B14F-4D97-AF65-F5344CB8AC3E}">
        <p14:creationId xmlns:p14="http://schemas.microsoft.com/office/powerpoint/2010/main" val="44358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6BF0C2-F91A-73C3-532D-D14B26B32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881381"/>
              </p:ext>
            </p:extLst>
          </p:nvPr>
        </p:nvGraphicFramePr>
        <p:xfrm>
          <a:off x="1409699" y="2310358"/>
          <a:ext cx="9372601" cy="2865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7024">
                  <a:extLst>
                    <a:ext uri="{9D8B030D-6E8A-4147-A177-3AD203B41FA5}">
                      <a16:colId xmlns:a16="http://schemas.microsoft.com/office/drawing/2014/main" val="1777361434"/>
                    </a:ext>
                  </a:extLst>
                </a:gridCol>
                <a:gridCol w="1619456">
                  <a:extLst>
                    <a:ext uri="{9D8B030D-6E8A-4147-A177-3AD203B41FA5}">
                      <a16:colId xmlns:a16="http://schemas.microsoft.com/office/drawing/2014/main" val="2929392375"/>
                    </a:ext>
                  </a:extLst>
                </a:gridCol>
                <a:gridCol w="1720672">
                  <a:extLst>
                    <a:ext uri="{9D8B030D-6E8A-4147-A177-3AD203B41FA5}">
                      <a16:colId xmlns:a16="http://schemas.microsoft.com/office/drawing/2014/main" val="939564610"/>
                    </a:ext>
                  </a:extLst>
                </a:gridCol>
                <a:gridCol w="1315808">
                  <a:extLst>
                    <a:ext uri="{9D8B030D-6E8A-4147-A177-3AD203B41FA5}">
                      <a16:colId xmlns:a16="http://schemas.microsoft.com/office/drawing/2014/main" val="91905480"/>
                    </a:ext>
                  </a:extLst>
                </a:gridCol>
                <a:gridCol w="3299641">
                  <a:extLst>
                    <a:ext uri="{9D8B030D-6E8A-4147-A177-3AD203B41FA5}">
                      <a16:colId xmlns:a16="http://schemas.microsoft.com/office/drawing/2014/main" val="3888318096"/>
                    </a:ext>
                  </a:extLst>
                </a:gridCol>
              </a:tblGrid>
              <a:tr h="445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資料型態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是否為空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值域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187045214"/>
                  </a:ext>
                </a:extLst>
              </a:tr>
              <a:tr h="722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使用者</a:t>
                      </a: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ID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INT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FK + PK → Member.mId</a:t>
                      </a: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；一對一關係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06523948"/>
                  </a:ext>
                </a:extLst>
              </a:tr>
              <a:tr h="445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mPd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加密密碼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VARCHAR(255)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endParaRPr lang="zh-TW" sz="2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原始密碼</a:t>
                      </a:r>
                      <a:r>
                        <a:rPr lang="en-US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1~255 </a:t>
                      </a:r>
                      <a:r>
                        <a:rPr lang="zh-TW" sz="24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英數字混合</a:t>
                      </a:r>
                      <a:endParaRPr lang="zh-TW" sz="2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11440465"/>
                  </a:ext>
                </a:extLst>
              </a:tr>
            </a:tbl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AD2160CF-EF2C-BE15-B650-DF971FCAFCEF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E56BDD-F311-CC73-D08D-40DFE75A57C8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9249372-7CEE-8A07-7784-2743A2B5106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CED02A04-AC32-D6CD-928F-28E1D5021D2B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（借用紀錄）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C83D9F3-ECED-4055-4396-2E4C995B8483}"/>
              </a:ext>
            </a:extLst>
          </p:cNvPr>
          <p:cNvGrpSpPr/>
          <p:nvPr/>
        </p:nvGrpSpPr>
        <p:grpSpPr>
          <a:xfrm>
            <a:off x="-1301750" y="69026"/>
            <a:ext cx="11374665" cy="1200329"/>
            <a:chOff x="368300" y="1442660"/>
            <a:chExt cx="4722578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987354-74A7-1E18-68F3-FA8E280B4ACB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DFD4FB2-73FE-3A20-6FD2-B22119E1A9F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3B5D05-4EF0-DC6A-1062-53D2339FA2AB}"/>
              </a:ext>
            </a:extLst>
          </p:cNvPr>
          <p:cNvSpPr txBox="1"/>
          <p:nvPr/>
        </p:nvSpPr>
        <p:spPr>
          <a:xfrm>
            <a:off x="-51883" y="329535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Password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（使用者密碼）</a:t>
            </a:r>
          </a:p>
        </p:txBody>
      </p:sp>
    </p:spTree>
    <p:extLst>
      <p:ext uri="{BB962C8B-B14F-4D97-AF65-F5344CB8AC3E}">
        <p14:creationId xmlns:p14="http://schemas.microsoft.com/office/powerpoint/2010/main" val="364402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B45E7-F750-00C8-7441-82C7FA17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E934A8-252C-97C1-E411-8F02406CC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圖表, 行, 圖畫, 折紙 的圖片&#10;&#10;AI 產生的內容可能不正確。">
            <a:extLst>
              <a:ext uri="{FF2B5EF4-FFF2-40B4-BE49-F238E27FC236}">
                <a16:creationId xmlns:a16="http://schemas.microsoft.com/office/drawing/2014/main" id="{7E68EA28-079E-3926-D861-299356A82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876" y="198120"/>
            <a:ext cx="5864225" cy="646176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6DC2C56A-40EB-9C05-6A9B-8901A5779350}"/>
              </a:ext>
            </a:extLst>
          </p:cNvPr>
          <p:cNvGrpSpPr/>
          <p:nvPr/>
        </p:nvGrpSpPr>
        <p:grpSpPr>
          <a:xfrm>
            <a:off x="-1301748" y="46295"/>
            <a:ext cx="4581978" cy="1200329"/>
            <a:chOff x="368300" y="1419929"/>
            <a:chExt cx="4515365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7E39F60-EDEC-51A3-B206-CC4F73B1F30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DEE7621C-FEF5-2735-C3DE-FB745B99303F}"/>
                </a:ext>
              </a:extLst>
            </p:cNvPr>
            <p:cNvSpPr txBox="1"/>
            <p:nvPr/>
          </p:nvSpPr>
          <p:spPr>
            <a:xfrm>
              <a:off x="4147065" y="1419929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6B2F3C-68CC-BE72-2798-78C929A0E549}"/>
              </a:ext>
            </a:extLst>
          </p:cNvPr>
          <p:cNvSpPr txBox="1"/>
          <p:nvPr/>
        </p:nvSpPr>
        <p:spPr>
          <a:xfrm>
            <a:off x="-51883" y="329535"/>
            <a:ext cx="2639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ER Diagram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527D52C-ED84-3727-EEBF-A206876C2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30597"/>
              </p:ext>
            </p:extLst>
          </p:nvPr>
        </p:nvGraphicFramePr>
        <p:xfrm>
          <a:off x="198966" y="2434510"/>
          <a:ext cx="5633101" cy="34001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4759">
                  <a:extLst>
                    <a:ext uri="{9D8B030D-6E8A-4147-A177-3AD203B41FA5}">
                      <a16:colId xmlns:a16="http://schemas.microsoft.com/office/drawing/2014/main" val="3371660806"/>
                    </a:ext>
                  </a:extLst>
                </a:gridCol>
                <a:gridCol w="2698342">
                  <a:extLst>
                    <a:ext uri="{9D8B030D-6E8A-4147-A177-3AD203B41FA5}">
                      <a16:colId xmlns:a16="http://schemas.microsoft.com/office/drawing/2014/main" val="331266105"/>
                    </a:ext>
                  </a:extLst>
                </a:gridCol>
              </a:tblGrid>
              <a:tr h="272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關係描述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基數與說明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87164891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Password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1:1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一位使用者對應一筆加密密碼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87693734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BorrowRecord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一位使用者可有多筆借用紀錄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10143550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Equipment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BorrowRecord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一項設備可有多筆借用紀錄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26475662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MaintenanceRecord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一位使用者可申報多筆維護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8487663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Equipment ─── MaintenanceRecord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一項設備可累積多筆維護紀錄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43260886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Member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RetireRequest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一位使用者可提出多筆報廢申請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6023935"/>
                  </a:ext>
                </a:extLst>
              </a:tr>
              <a:tr h="44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Equipment ─── </a:t>
                      </a:r>
                      <a:r>
                        <a:rPr lang="en-US" sz="12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RetireRequest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一項設備可有多筆報廢申請紀錄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01925822"/>
                  </a:ext>
                </a:extLst>
              </a:tr>
              <a:tr h="27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Category ─── Equipment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1:N</a:t>
                      </a:r>
                      <a:r>
                        <a:rPr lang="zh-TW" sz="12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　一個類別下包含多項設備</a:t>
                      </a:r>
                      <a:endParaRPr lang="zh-TW" sz="12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6208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46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F8150ECD0D2740B048A1F2DBADCEA7" ma:contentTypeVersion="4" ma:contentTypeDescription="Create a new document." ma:contentTypeScope="" ma:versionID="4267f1183aa3307aeb3366ce46141a57">
  <xsd:schema xmlns:xsd="http://www.w3.org/2001/XMLSchema" xmlns:xs="http://www.w3.org/2001/XMLSchema" xmlns:p="http://schemas.microsoft.com/office/2006/metadata/properties" xmlns:ns3="6bef4f0c-891e-4b83-9a0f-4e876e356cf2" targetNamespace="http://schemas.microsoft.com/office/2006/metadata/properties" ma:root="true" ma:fieldsID="89887e1dfcc54f6cbf24cb2ce9b8a79d" ns3:_="">
    <xsd:import namespace="6bef4f0c-891e-4b83-9a0f-4e876e356cf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f4f0c-891e-4b83-9a0f-4e876e356cf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406BD3-950E-4F24-8609-0706872B7B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f4f0c-891e-4b83-9a0f-4e876e356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096FAE-66D5-44C4-ADC5-19524CB678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43D95E-002B-4580-A635-53BB0B4B4A64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6bef4f0c-891e-4b83-9a0f-4e876e356cf2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1681</Words>
  <Application>Microsoft Office PowerPoint</Application>
  <PresentationFormat>寬螢幕</PresentationFormat>
  <Paragraphs>438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標楷體</vt:lpstr>
      <vt:lpstr>Aptos</vt:lpstr>
      <vt:lpstr>Aptos Display</vt:lpstr>
      <vt:lpstr>Arial</vt:lpstr>
      <vt:lpstr>Wingdings</vt:lpstr>
      <vt:lpstr>Office 佈景主題</vt:lpstr>
      <vt:lpstr>設備管理與維護系統</vt:lpstr>
      <vt:lpstr>系辦日常</vt:lpstr>
      <vt:lpstr>專題急需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宋沛玲</dc:creator>
  <cp:lastModifiedBy>宋沛玲</cp:lastModifiedBy>
  <cp:revision>3</cp:revision>
  <dcterms:created xsi:type="dcterms:W3CDTF">2026-04-24T12:49:32Z</dcterms:created>
  <dcterms:modified xsi:type="dcterms:W3CDTF">2026-04-24T17:32:39Z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0x0101009AF8150ECD0D2740B048A1F2DBADCEA7</vt:lpwstr>
  </property>
</Properties>
</file>