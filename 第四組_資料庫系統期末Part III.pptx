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51"/>
  </p:notesMasterIdLst>
  <p:sldIdLst>
    <p:sldId id="256" r:id="rId5"/>
    <p:sldId id="257" r:id="rId6"/>
    <p:sldId id="258" r:id="rId7"/>
    <p:sldId id="259" r:id="rId8"/>
    <p:sldId id="260" r:id="rId9"/>
    <p:sldId id="261" r:id="rId10"/>
    <p:sldId id="273" r:id="rId11"/>
    <p:sldId id="274" r:id="rId12"/>
    <p:sldId id="262" r:id="rId13"/>
    <p:sldId id="263" r:id="rId14"/>
    <p:sldId id="264" r:id="rId15"/>
    <p:sldId id="265" r:id="rId16"/>
    <p:sldId id="266" r:id="rId17"/>
    <p:sldId id="267" r:id="rId18"/>
    <p:sldId id="268" r:id="rId19"/>
    <p:sldId id="270" r:id="rId20"/>
    <p:sldId id="275" r:id="rId21"/>
    <p:sldId id="293" r:id="rId22"/>
    <p:sldId id="281" r:id="rId23"/>
    <p:sldId id="277" r:id="rId24"/>
    <p:sldId id="294" r:id="rId25"/>
    <p:sldId id="283" r:id="rId26"/>
    <p:sldId id="276" r:id="rId27"/>
    <p:sldId id="295" r:id="rId28"/>
    <p:sldId id="282" r:id="rId29"/>
    <p:sldId id="278" r:id="rId30"/>
    <p:sldId id="296" r:id="rId31"/>
    <p:sldId id="284" r:id="rId32"/>
    <p:sldId id="279" r:id="rId33"/>
    <p:sldId id="297" r:id="rId34"/>
    <p:sldId id="285" r:id="rId35"/>
    <p:sldId id="280" r:id="rId36"/>
    <p:sldId id="298" r:id="rId37"/>
    <p:sldId id="286" r:id="rId38"/>
    <p:sldId id="289" r:id="rId39"/>
    <p:sldId id="305" r:id="rId40"/>
    <p:sldId id="304" r:id="rId41"/>
    <p:sldId id="290" r:id="rId42"/>
    <p:sldId id="302" r:id="rId43"/>
    <p:sldId id="306" r:id="rId44"/>
    <p:sldId id="291" r:id="rId45"/>
    <p:sldId id="303" r:id="rId46"/>
    <p:sldId id="301" r:id="rId47"/>
    <p:sldId id="299" r:id="rId48"/>
    <p:sldId id="300" r:id="rId49"/>
    <p:sldId id="287" r:id="rId5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ECF1"/>
    <a:srgbClr val="FCFCD6"/>
    <a:srgbClr val="FCFDF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3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0F080F-4872-4AE8-B942-73B81574DF63}" type="datetimeFigureOut">
              <a:rPr lang="zh-TW" altLang="en-US" smtClean="0"/>
              <a:t>2026/6/9</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1A70C3-14D1-4228-BDEE-8FBB7AE947A7}" type="slidenum">
              <a:rPr lang="zh-TW" altLang="en-US" smtClean="0"/>
              <a:t>‹#›</a:t>
            </a:fld>
            <a:endParaRPr lang="zh-TW" altLang="en-US"/>
          </a:p>
        </p:txBody>
      </p:sp>
    </p:spTree>
    <p:extLst>
      <p:ext uri="{BB962C8B-B14F-4D97-AF65-F5344CB8AC3E}">
        <p14:creationId xmlns:p14="http://schemas.microsoft.com/office/powerpoint/2010/main" val="4087169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txBody>
          <a:bodyPr/>
          <a:lstStyle/>
          <a:p>
            <a:endParaRPr lang="zh-TW" altLang="en-US"/>
          </a:p>
        </p:txBody>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8E1A70C3-14D1-4228-BDEE-8FBB7AE947A7}" type="slidenum">
              <a:rPr lang="zh-TW" altLang="en-US" smtClean="0"/>
              <a:t>1</a:t>
            </a:fld>
            <a:endParaRPr lang="zh-TW" altLang="en-US"/>
          </a:p>
        </p:txBody>
      </p:sp>
    </p:spTree>
    <p:extLst>
      <p:ext uri="{BB962C8B-B14F-4D97-AF65-F5344CB8AC3E}">
        <p14:creationId xmlns:p14="http://schemas.microsoft.com/office/powerpoint/2010/main" val="69865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47086BD-2C82-7DB4-0EE5-DFACE91527C1}"/>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EFC3D796-3942-2500-4429-02FF28B3128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F230E3B5-9299-4BCE-7407-316120ADC250}"/>
              </a:ext>
            </a:extLst>
          </p:cNvPr>
          <p:cNvSpPr>
            <a:spLocks noGrp="1"/>
          </p:cNvSpPr>
          <p:nvPr>
            <p:ph type="dt" sz="half" idx="10"/>
          </p:nvPr>
        </p:nvSpPr>
        <p:spPr/>
        <p:txBody>
          <a:bodyPr/>
          <a:lstStyle/>
          <a:p>
            <a:fld id="{1338C760-4BF8-4DF7-8FC8-B9A0432FCF74}" type="datetimeFigureOut">
              <a:rPr lang="zh-TW" altLang="en-US" smtClean="0"/>
              <a:t>2026/6/9</a:t>
            </a:fld>
            <a:endParaRPr lang="zh-TW" altLang="en-US"/>
          </a:p>
        </p:txBody>
      </p:sp>
      <p:sp>
        <p:nvSpPr>
          <p:cNvPr id="5" name="頁尾版面配置區 4">
            <a:extLst>
              <a:ext uri="{FF2B5EF4-FFF2-40B4-BE49-F238E27FC236}">
                <a16:creationId xmlns:a16="http://schemas.microsoft.com/office/drawing/2014/main" id="{6DF548FC-3C2A-4CDD-983C-F449EB021D4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5BC760C-F4C0-D969-09B6-37E8574F1674}"/>
              </a:ext>
            </a:extLst>
          </p:cNvPr>
          <p:cNvSpPr>
            <a:spLocks noGrp="1"/>
          </p:cNvSpPr>
          <p:nvPr>
            <p:ph type="sldNum" sz="quarter" idx="12"/>
          </p:nvPr>
        </p:nvSpPr>
        <p:spPr/>
        <p:txBody>
          <a:body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3027686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2C85C9-B1F7-7CDD-A1DB-C751B5395ED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192695E-021A-C4FA-17E6-31CD31301981}"/>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12A9C093-6A2B-3C9D-AD6C-9C211021ED5F}"/>
              </a:ext>
            </a:extLst>
          </p:cNvPr>
          <p:cNvSpPr>
            <a:spLocks noGrp="1"/>
          </p:cNvSpPr>
          <p:nvPr>
            <p:ph type="dt" sz="half" idx="10"/>
          </p:nvPr>
        </p:nvSpPr>
        <p:spPr/>
        <p:txBody>
          <a:bodyPr/>
          <a:lstStyle/>
          <a:p>
            <a:fld id="{1338C760-4BF8-4DF7-8FC8-B9A0432FCF74}" type="datetimeFigureOut">
              <a:rPr lang="zh-TW" altLang="en-US" smtClean="0"/>
              <a:t>2026/6/9</a:t>
            </a:fld>
            <a:endParaRPr lang="zh-TW" altLang="en-US"/>
          </a:p>
        </p:txBody>
      </p:sp>
      <p:sp>
        <p:nvSpPr>
          <p:cNvPr id="5" name="頁尾版面配置區 4">
            <a:extLst>
              <a:ext uri="{FF2B5EF4-FFF2-40B4-BE49-F238E27FC236}">
                <a16:creationId xmlns:a16="http://schemas.microsoft.com/office/drawing/2014/main" id="{1C7762A5-9415-6F69-2C41-7B717F11FB7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89987F4-A994-BB94-C68C-1C0A064D22AF}"/>
              </a:ext>
            </a:extLst>
          </p:cNvPr>
          <p:cNvSpPr>
            <a:spLocks noGrp="1"/>
          </p:cNvSpPr>
          <p:nvPr>
            <p:ph type="sldNum" sz="quarter" idx="12"/>
          </p:nvPr>
        </p:nvSpPr>
        <p:spPr/>
        <p:txBody>
          <a:body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3840196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D106A1-502B-D97D-2F84-CBB1660D3376}"/>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B83C2A08-B240-6F16-5C12-B95B0AF8A6F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1F7D878D-BE87-16D3-67E2-D9EF7E8EA9B9}"/>
              </a:ext>
            </a:extLst>
          </p:cNvPr>
          <p:cNvSpPr>
            <a:spLocks noGrp="1"/>
          </p:cNvSpPr>
          <p:nvPr>
            <p:ph type="dt" sz="half" idx="10"/>
          </p:nvPr>
        </p:nvSpPr>
        <p:spPr/>
        <p:txBody>
          <a:bodyPr/>
          <a:lstStyle/>
          <a:p>
            <a:fld id="{1338C760-4BF8-4DF7-8FC8-B9A0432FCF74}" type="datetimeFigureOut">
              <a:rPr lang="zh-TW" altLang="en-US" smtClean="0"/>
              <a:t>2026/6/9</a:t>
            </a:fld>
            <a:endParaRPr lang="zh-TW" altLang="en-US"/>
          </a:p>
        </p:txBody>
      </p:sp>
      <p:sp>
        <p:nvSpPr>
          <p:cNvPr id="5" name="頁尾版面配置區 4">
            <a:extLst>
              <a:ext uri="{FF2B5EF4-FFF2-40B4-BE49-F238E27FC236}">
                <a16:creationId xmlns:a16="http://schemas.microsoft.com/office/drawing/2014/main" id="{34E53E73-D177-62C8-0CD4-99423A772AA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BB71555A-441A-6177-B998-694EBC9AFAA5}"/>
              </a:ext>
            </a:extLst>
          </p:cNvPr>
          <p:cNvSpPr>
            <a:spLocks noGrp="1"/>
          </p:cNvSpPr>
          <p:nvPr>
            <p:ph type="sldNum" sz="quarter" idx="12"/>
          </p:nvPr>
        </p:nvSpPr>
        <p:spPr/>
        <p:txBody>
          <a:body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40266852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224736-6CE4-70EF-48AD-85975B614044}"/>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675702AD-136D-5205-248B-9A7D34B5DDFF}"/>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93A0CCFD-EAF1-720F-0F56-CCF63821C348}"/>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236C10DA-9B4F-F3FB-7416-D51D8FBFFDAD}"/>
              </a:ext>
            </a:extLst>
          </p:cNvPr>
          <p:cNvSpPr>
            <a:spLocks noGrp="1"/>
          </p:cNvSpPr>
          <p:nvPr>
            <p:ph type="dt" sz="half" idx="10"/>
          </p:nvPr>
        </p:nvSpPr>
        <p:spPr/>
        <p:txBody>
          <a:bodyPr/>
          <a:lstStyle/>
          <a:p>
            <a:fld id="{1338C760-4BF8-4DF7-8FC8-B9A0432FCF74}" type="datetimeFigureOut">
              <a:rPr lang="zh-TW" altLang="en-US" smtClean="0"/>
              <a:t>2026/6/9</a:t>
            </a:fld>
            <a:endParaRPr lang="zh-TW" altLang="en-US"/>
          </a:p>
        </p:txBody>
      </p:sp>
      <p:sp>
        <p:nvSpPr>
          <p:cNvPr id="6" name="頁尾版面配置區 5">
            <a:extLst>
              <a:ext uri="{FF2B5EF4-FFF2-40B4-BE49-F238E27FC236}">
                <a16:creationId xmlns:a16="http://schemas.microsoft.com/office/drawing/2014/main" id="{64A197F9-DEE6-5D8F-E751-EF3A29D68759}"/>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2B22A36-DB77-924A-85EB-73398142DC2D}"/>
              </a:ext>
            </a:extLst>
          </p:cNvPr>
          <p:cNvSpPr>
            <a:spLocks noGrp="1"/>
          </p:cNvSpPr>
          <p:nvPr>
            <p:ph type="sldNum" sz="quarter" idx="12"/>
          </p:nvPr>
        </p:nvSpPr>
        <p:spPr/>
        <p:txBody>
          <a:body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33831547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C44A3CB-BFB6-E406-EC06-CCBBAAA98A91}"/>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7A778F31-86E0-2F7E-0F85-58946EA5DA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81E356E8-7A85-0A93-3A7C-541AB538F760}"/>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4ADD9B1-F0B8-190A-BFF7-B548DB127D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708CA89A-BF46-87F0-2123-F8027D3B6593}"/>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65EC3D97-F04C-DB47-FD3C-1C8808D82247}"/>
              </a:ext>
            </a:extLst>
          </p:cNvPr>
          <p:cNvSpPr>
            <a:spLocks noGrp="1"/>
          </p:cNvSpPr>
          <p:nvPr>
            <p:ph type="dt" sz="half" idx="10"/>
          </p:nvPr>
        </p:nvSpPr>
        <p:spPr/>
        <p:txBody>
          <a:bodyPr/>
          <a:lstStyle/>
          <a:p>
            <a:fld id="{1338C760-4BF8-4DF7-8FC8-B9A0432FCF74}" type="datetimeFigureOut">
              <a:rPr lang="zh-TW" altLang="en-US" smtClean="0"/>
              <a:t>2026/6/9</a:t>
            </a:fld>
            <a:endParaRPr lang="zh-TW" altLang="en-US"/>
          </a:p>
        </p:txBody>
      </p:sp>
      <p:sp>
        <p:nvSpPr>
          <p:cNvPr id="8" name="頁尾版面配置區 7">
            <a:extLst>
              <a:ext uri="{FF2B5EF4-FFF2-40B4-BE49-F238E27FC236}">
                <a16:creationId xmlns:a16="http://schemas.microsoft.com/office/drawing/2014/main" id="{C919A1C6-6F16-FB88-1573-E4171EA0459C}"/>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7DA7DDF9-81BD-F536-DEA8-ED27D135BDF3}"/>
              </a:ext>
            </a:extLst>
          </p:cNvPr>
          <p:cNvSpPr>
            <a:spLocks noGrp="1"/>
          </p:cNvSpPr>
          <p:nvPr>
            <p:ph type="sldNum" sz="quarter" idx="12"/>
          </p:nvPr>
        </p:nvSpPr>
        <p:spPr/>
        <p:txBody>
          <a:body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38955290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7BFD82-BD46-2AE3-8C10-C754487A444A}"/>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88C27F69-4C67-ABB9-34E2-0F2C03B157C7}"/>
              </a:ext>
            </a:extLst>
          </p:cNvPr>
          <p:cNvSpPr>
            <a:spLocks noGrp="1"/>
          </p:cNvSpPr>
          <p:nvPr>
            <p:ph type="dt" sz="half" idx="10"/>
          </p:nvPr>
        </p:nvSpPr>
        <p:spPr/>
        <p:txBody>
          <a:bodyPr/>
          <a:lstStyle/>
          <a:p>
            <a:fld id="{1338C760-4BF8-4DF7-8FC8-B9A0432FCF74}" type="datetimeFigureOut">
              <a:rPr lang="zh-TW" altLang="en-US" smtClean="0"/>
              <a:t>2026/6/9</a:t>
            </a:fld>
            <a:endParaRPr lang="zh-TW" altLang="en-US"/>
          </a:p>
        </p:txBody>
      </p:sp>
      <p:sp>
        <p:nvSpPr>
          <p:cNvPr id="4" name="頁尾版面配置區 3">
            <a:extLst>
              <a:ext uri="{FF2B5EF4-FFF2-40B4-BE49-F238E27FC236}">
                <a16:creationId xmlns:a16="http://schemas.microsoft.com/office/drawing/2014/main" id="{15B1B846-0866-9CE6-8301-8EDC9F130FCF}"/>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CD4E982-C744-FF26-6DB2-FB993B9207A9}"/>
              </a:ext>
            </a:extLst>
          </p:cNvPr>
          <p:cNvSpPr>
            <a:spLocks noGrp="1"/>
          </p:cNvSpPr>
          <p:nvPr>
            <p:ph type="sldNum" sz="quarter" idx="12"/>
          </p:nvPr>
        </p:nvSpPr>
        <p:spPr/>
        <p:txBody>
          <a:body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7991000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6C2CD7D8-5E36-D9BC-86E5-5A4B110C10E3}"/>
              </a:ext>
            </a:extLst>
          </p:cNvPr>
          <p:cNvSpPr>
            <a:spLocks noGrp="1"/>
          </p:cNvSpPr>
          <p:nvPr>
            <p:ph type="dt" sz="half" idx="10"/>
          </p:nvPr>
        </p:nvSpPr>
        <p:spPr/>
        <p:txBody>
          <a:bodyPr/>
          <a:lstStyle/>
          <a:p>
            <a:fld id="{1338C760-4BF8-4DF7-8FC8-B9A0432FCF74}" type="datetimeFigureOut">
              <a:rPr lang="zh-TW" altLang="en-US" smtClean="0"/>
              <a:t>2026/6/9</a:t>
            </a:fld>
            <a:endParaRPr lang="zh-TW" altLang="en-US"/>
          </a:p>
        </p:txBody>
      </p:sp>
      <p:sp>
        <p:nvSpPr>
          <p:cNvPr id="3" name="頁尾版面配置區 2">
            <a:extLst>
              <a:ext uri="{FF2B5EF4-FFF2-40B4-BE49-F238E27FC236}">
                <a16:creationId xmlns:a16="http://schemas.microsoft.com/office/drawing/2014/main" id="{36AC575D-EC38-E388-EDD1-C0B2563CECA2}"/>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31BFFF70-5BD4-5115-098E-3FEE7A5C3B9D}"/>
              </a:ext>
            </a:extLst>
          </p:cNvPr>
          <p:cNvSpPr>
            <a:spLocks noGrp="1"/>
          </p:cNvSpPr>
          <p:nvPr>
            <p:ph type="sldNum" sz="quarter" idx="12"/>
          </p:nvPr>
        </p:nvSpPr>
        <p:spPr/>
        <p:txBody>
          <a:body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56200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E14A5EF-0209-6C57-8155-80C6A7A115A9}"/>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9D61D177-BAB3-C3CD-9EE5-782F890DCBF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F51B6382-84FD-DD5C-BFC8-7BC1FB911C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B17A3C8F-F02A-8750-84C0-A4997EEEC461}"/>
              </a:ext>
            </a:extLst>
          </p:cNvPr>
          <p:cNvSpPr>
            <a:spLocks noGrp="1"/>
          </p:cNvSpPr>
          <p:nvPr>
            <p:ph type="dt" sz="half" idx="10"/>
          </p:nvPr>
        </p:nvSpPr>
        <p:spPr/>
        <p:txBody>
          <a:bodyPr/>
          <a:lstStyle/>
          <a:p>
            <a:fld id="{1338C760-4BF8-4DF7-8FC8-B9A0432FCF74}" type="datetimeFigureOut">
              <a:rPr lang="zh-TW" altLang="en-US" smtClean="0"/>
              <a:t>2026/6/9</a:t>
            </a:fld>
            <a:endParaRPr lang="zh-TW" altLang="en-US"/>
          </a:p>
        </p:txBody>
      </p:sp>
      <p:sp>
        <p:nvSpPr>
          <p:cNvPr id="6" name="頁尾版面配置區 5">
            <a:extLst>
              <a:ext uri="{FF2B5EF4-FFF2-40B4-BE49-F238E27FC236}">
                <a16:creationId xmlns:a16="http://schemas.microsoft.com/office/drawing/2014/main" id="{62CDB53E-58BD-29AE-56D4-EED51FAB745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02D054DA-BE75-3693-C0FC-0707BF8EF75A}"/>
              </a:ext>
            </a:extLst>
          </p:cNvPr>
          <p:cNvSpPr>
            <a:spLocks noGrp="1"/>
          </p:cNvSpPr>
          <p:nvPr>
            <p:ph type="sldNum" sz="quarter" idx="12"/>
          </p:nvPr>
        </p:nvSpPr>
        <p:spPr/>
        <p:txBody>
          <a:body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3137356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3E4F57-F78C-4660-81BD-88ED38C838F5}"/>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43B1EA66-6E75-8D5E-CE83-2F3287322C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610C590-5100-8B7E-F2AA-5FA7DF9983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0AA37E9-1B2D-98BF-0EF4-D0CD172E5AFB}"/>
              </a:ext>
            </a:extLst>
          </p:cNvPr>
          <p:cNvSpPr>
            <a:spLocks noGrp="1"/>
          </p:cNvSpPr>
          <p:nvPr>
            <p:ph type="dt" sz="half" idx="10"/>
          </p:nvPr>
        </p:nvSpPr>
        <p:spPr/>
        <p:txBody>
          <a:bodyPr/>
          <a:lstStyle/>
          <a:p>
            <a:fld id="{1338C760-4BF8-4DF7-8FC8-B9A0432FCF74}" type="datetimeFigureOut">
              <a:rPr lang="zh-TW" altLang="en-US" smtClean="0"/>
              <a:t>2026/6/9</a:t>
            </a:fld>
            <a:endParaRPr lang="zh-TW" altLang="en-US"/>
          </a:p>
        </p:txBody>
      </p:sp>
      <p:sp>
        <p:nvSpPr>
          <p:cNvPr id="6" name="頁尾版面配置區 5">
            <a:extLst>
              <a:ext uri="{FF2B5EF4-FFF2-40B4-BE49-F238E27FC236}">
                <a16:creationId xmlns:a16="http://schemas.microsoft.com/office/drawing/2014/main" id="{D309CB46-0231-E690-D273-B5BAD803A75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761F7A4-5724-2FF6-17C4-B6B79767EC15}"/>
              </a:ext>
            </a:extLst>
          </p:cNvPr>
          <p:cNvSpPr>
            <a:spLocks noGrp="1"/>
          </p:cNvSpPr>
          <p:nvPr>
            <p:ph type="sldNum" sz="quarter" idx="12"/>
          </p:nvPr>
        </p:nvSpPr>
        <p:spPr/>
        <p:txBody>
          <a:body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40525171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9DA7995-4EEC-EC0D-8D67-281A95EDDB30}"/>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2BCD0CCF-3D2C-CB2C-BC49-AF2BE37D5DF9}"/>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2B63DB99-AC20-91CA-675C-9D943F154DE0}"/>
              </a:ext>
            </a:extLst>
          </p:cNvPr>
          <p:cNvSpPr>
            <a:spLocks noGrp="1"/>
          </p:cNvSpPr>
          <p:nvPr>
            <p:ph type="dt" sz="half" idx="10"/>
          </p:nvPr>
        </p:nvSpPr>
        <p:spPr/>
        <p:txBody>
          <a:bodyPr/>
          <a:lstStyle/>
          <a:p>
            <a:fld id="{1338C760-4BF8-4DF7-8FC8-B9A0432FCF74}" type="datetimeFigureOut">
              <a:rPr lang="zh-TW" altLang="en-US" smtClean="0"/>
              <a:t>2026/6/9</a:t>
            </a:fld>
            <a:endParaRPr lang="zh-TW" altLang="en-US"/>
          </a:p>
        </p:txBody>
      </p:sp>
      <p:sp>
        <p:nvSpPr>
          <p:cNvPr id="5" name="頁尾版面配置區 4">
            <a:extLst>
              <a:ext uri="{FF2B5EF4-FFF2-40B4-BE49-F238E27FC236}">
                <a16:creationId xmlns:a16="http://schemas.microsoft.com/office/drawing/2014/main" id="{F5524A81-C24F-1FA3-A57D-055342D2B935}"/>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82021F-F80C-7E39-78F9-D1418680331E}"/>
              </a:ext>
            </a:extLst>
          </p:cNvPr>
          <p:cNvSpPr>
            <a:spLocks noGrp="1"/>
          </p:cNvSpPr>
          <p:nvPr>
            <p:ph type="sldNum" sz="quarter" idx="12"/>
          </p:nvPr>
        </p:nvSpPr>
        <p:spPr/>
        <p:txBody>
          <a:body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2947321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E175FD24-2718-6EE2-453B-5A7A333D307A}"/>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F506E7E2-7BF6-F951-2DDA-683EC41B49F7}"/>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39579A3-3D5F-D1FC-508C-3C9BCE57A71E}"/>
              </a:ext>
            </a:extLst>
          </p:cNvPr>
          <p:cNvSpPr>
            <a:spLocks noGrp="1"/>
          </p:cNvSpPr>
          <p:nvPr>
            <p:ph type="dt" sz="half" idx="10"/>
          </p:nvPr>
        </p:nvSpPr>
        <p:spPr/>
        <p:txBody>
          <a:bodyPr/>
          <a:lstStyle/>
          <a:p>
            <a:fld id="{1338C760-4BF8-4DF7-8FC8-B9A0432FCF74}" type="datetimeFigureOut">
              <a:rPr lang="zh-TW" altLang="en-US" smtClean="0"/>
              <a:t>2026/6/9</a:t>
            </a:fld>
            <a:endParaRPr lang="zh-TW" altLang="en-US"/>
          </a:p>
        </p:txBody>
      </p:sp>
      <p:sp>
        <p:nvSpPr>
          <p:cNvPr id="5" name="頁尾版面配置區 4">
            <a:extLst>
              <a:ext uri="{FF2B5EF4-FFF2-40B4-BE49-F238E27FC236}">
                <a16:creationId xmlns:a16="http://schemas.microsoft.com/office/drawing/2014/main" id="{8F6EDEBC-27F5-9B85-408D-445AD5B0D761}"/>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8101B44-7E2A-A413-231D-D99B0E84CA0E}"/>
              </a:ext>
            </a:extLst>
          </p:cNvPr>
          <p:cNvSpPr>
            <a:spLocks noGrp="1"/>
          </p:cNvSpPr>
          <p:nvPr>
            <p:ph type="sldNum" sz="quarter" idx="12"/>
          </p:nvPr>
        </p:nvSpPr>
        <p:spPr/>
        <p:txBody>
          <a:body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27664920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標題及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64D0FAE-CA5C-848C-ED52-3B6DB6AE1539}"/>
              </a:ext>
            </a:extLst>
          </p:cNvPr>
          <p:cNvSpPr>
            <a:spLocks noGrp="1"/>
          </p:cNvSpPr>
          <p:nvPr>
            <p:ph type="title"/>
          </p:nvPr>
        </p:nvSpPr>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DCDA8617-E6A8-9BF8-6787-4078167B45CF}"/>
              </a:ext>
            </a:extLst>
          </p:cNvPr>
          <p:cNvSpPr>
            <a:spLocks noGrp="1"/>
          </p:cNvSpPr>
          <p:nvPr>
            <p:ph type="body"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835818B-1D7F-7C5C-91AF-79951B0D1BE3}"/>
              </a:ext>
            </a:extLst>
          </p:cNvPr>
          <p:cNvSpPr>
            <a:spLocks noGrp="1"/>
          </p:cNvSpPr>
          <p:nvPr>
            <p:ph type="dt" sz="half" idx="10"/>
          </p:nvPr>
        </p:nvSpPr>
        <p:spPr/>
        <p:txBody>
          <a:bodyPr/>
          <a:lstStyle/>
          <a:p>
            <a:fld id="{1338C760-4BF8-4DF7-8FC8-B9A0432FCF74}" type="datetimeFigureOut">
              <a:rPr lang="zh-TW" altLang="en-US" smtClean="0"/>
              <a:t>2026/6/9</a:t>
            </a:fld>
            <a:endParaRPr lang="zh-TW" altLang="en-US"/>
          </a:p>
        </p:txBody>
      </p:sp>
      <p:sp>
        <p:nvSpPr>
          <p:cNvPr id="5" name="頁尾版面配置區 4">
            <a:extLst>
              <a:ext uri="{FF2B5EF4-FFF2-40B4-BE49-F238E27FC236}">
                <a16:creationId xmlns:a16="http://schemas.microsoft.com/office/drawing/2014/main" id="{B2FFC72F-2052-0D1F-60BB-DDFAF36CEF07}"/>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3A1D4FE-680F-3FFD-6C2A-77E096297745}"/>
              </a:ext>
            </a:extLst>
          </p:cNvPr>
          <p:cNvSpPr>
            <a:spLocks noGrp="1"/>
          </p:cNvSpPr>
          <p:nvPr>
            <p:ph type="sldNum" sz="quarter" idx="12"/>
          </p:nvPr>
        </p:nvSpPr>
        <p:spPr/>
        <p:txBody>
          <a:body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4059281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93D92FF4-3EC5-AE65-7713-00AEA5AF97C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D794629-82C0-9A43-623F-E64DF2E691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5E87296-CDDB-19B8-40EA-C506F85EBD8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338C760-4BF8-4DF7-8FC8-B9A0432FCF74}" type="datetimeFigureOut">
              <a:rPr lang="zh-TW" altLang="en-US" smtClean="0"/>
              <a:t>2026/6/9</a:t>
            </a:fld>
            <a:endParaRPr lang="zh-TW" altLang="en-US"/>
          </a:p>
        </p:txBody>
      </p:sp>
      <p:sp>
        <p:nvSpPr>
          <p:cNvPr id="5" name="頁尾版面配置區 4">
            <a:extLst>
              <a:ext uri="{FF2B5EF4-FFF2-40B4-BE49-F238E27FC236}">
                <a16:creationId xmlns:a16="http://schemas.microsoft.com/office/drawing/2014/main" id="{659096C9-B0E4-1642-8C14-AC08C7F447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CAA76158-3A38-FD22-760F-2501FDB294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4CDC8B6-D9B8-4EA0-85D0-B0A9C82D69CD}" type="slidenum">
              <a:rPr lang="zh-TW" altLang="en-US" smtClean="0"/>
              <a:t>‹#›</a:t>
            </a:fld>
            <a:endParaRPr lang="zh-TW" altLang="en-US"/>
          </a:p>
        </p:txBody>
      </p:sp>
    </p:spTree>
    <p:extLst>
      <p:ext uri="{BB962C8B-B14F-4D97-AF65-F5344CB8AC3E}">
        <p14:creationId xmlns:p14="http://schemas.microsoft.com/office/powerpoint/2010/main" val="480318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4.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mailto:teach002@mail.com" TargetMode="External"/><Relationship Id="rId2" Type="http://schemas.openxmlformats.org/officeDocument/2006/relationships/hyperlink" Target="mailto:admin001@mail.com" TargetMode="External"/><Relationship Id="rId1" Type="http://schemas.openxmlformats.org/officeDocument/2006/relationships/slideLayout" Target="../slideLayouts/slideLayout12.xml"/><Relationship Id="rId6" Type="http://schemas.openxmlformats.org/officeDocument/2006/relationships/hyperlink" Target="mailto:teach005@mail.com" TargetMode="External"/><Relationship Id="rId5" Type="http://schemas.openxmlformats.org/officeDocument/2006/relationships/hyperlink" Target="mailto:stud004@mail.com" TargetMode="External"/><Relationship Id="rId4" Type="http://schemas.openxmlformats.org/officeDocument/2006/relationships/hyperlink" Target="mailto:stud003@mail.com"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3" Type="http://schemas.openxmlformats.org/officeDocument/2006/relationships/hyperlink" Target="https://vocus.cc/article/672a1623fd897800010ba2d6" TargetMode="External"/><Relationship Id="rId2" Type="http://schemas.openxmlformats.org/officeDocument/2006/relationships/hyperlink" Target="https://fgchen.com/wpedu/2024/07/%E7%B3%BB%E8%A8%AD%E5%82%99%E5%A0%B1%E4%BF%AE%E7%B3%BB%E7%B5%B1%E9%9C%80%E6%B1%82%E6%96%87%E4%BB%B6/" TargetMode="External"/><Relationship Id="rId1" Type="http://schemas.openxmlformats.org/officeDocument/2006/relationships/slideLayout" Target="../slideLayouts/slideLayout12.xml"/><Relationship Id="rId4" Type="http://schemas.openxmlformats.org/officeDocument/2006/relationships/hyperlink" Target="https://kenming.idv.tw/case-study_about-customer-operation-maintain_business-process_analysi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13">
            <a:extLst>
              <a:ext uri="{FF2B5EF4-FFF2-40B4-BE49-F238E27FC236}">
                <a16:creationId xmlns:a16="http://schemas.microsoft.com/office/drawing/2014/main" id="{3AFE8227-C443-417B-BA91-520EB1EF4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圖片 8">
            <a:extLst>
              <a:ext uri="{FF2B5EF4-FFF2-40B4-BE49-F238E27FC236}">
                <a16:creationId xmlns:a16="http://schemas.microsoft.com/office/drawing/2014/main" id="{A127CEB5-0767-FF50-6947-855C2BE98418}"/>
              </a:ext>
            </a:extLst>
          </p:cNvPr>
          <p:cNvPicPr>
            <a:picLocks noChangeAspect="1"/>
          </p:cNvPicPr>
          <p:nvPr/>
        </p:nvPicPr>
        <p:blipFill>
          <a:blip r:embed="rId3">
            <a:extLst>
              <a:ext uri="{28A0092B-C50C-407E-A947-70E740481C1C}">
                <a14:useLocalDpi xmlns:a14="http://schemas.microsoft.com/office/drawing/2010/main" val="0"/>
              </a:ext>
            </a:extLst>
          </a:blip>
          <a:srcRect l="43650" r="763"/>
          <a:stretch>
            <a:fillRect/>
          </a:stretch>
        </p:blipFill>
        <p:spPr>
          <a:xfrm>
            <a:off x="6192158" y="-224626"/>
            <a:ext cx="6994740" cy="6857997"/>
          </a:xfrm>
          <a:prstGeom prst="rect">
            <a:avLst/>
          </a:prstGeom>
        </p:spPr>
      </p:pic>
      <p:sp>
        <p:nvSpPr>
          <p:cNvPr id="23" name="Rectangle 15">
            <a:extLst>
              <a:ext uri="{FF2B5EF4-FFF2-40B4-BE49-F238E27FC236}">
                <a16:creationId xmlns:a16="http://schemas.microsoft.com/office/drawing/2014/main" id="{907741FC-B544-4A6E-B831-6789D0423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6408741"/>
            <a:ext cx="12191998" cy="45720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7">
            <a:extLst>
              <a:ext uri="{FF2B5EF4-FFF2-40B4-BE49-F238E27FC236}">
                <a16:creationId xmlns:a16="http://schemas.microsoft.com/office/drawing/2014/main" id="{3F0BE7ED-7814-4273-B18A-F26CC03803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6408742"/>
            <a:ext cx="8115300" cy="449258"/>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矩形 10">
            <a:extLst>
              <a:ext uri="{FF2B5EF4-FFF2-40B4-BE49-F238E27FC236}">
                <a16:creationId xmlns:a16="http://schemas.microsoft.com/office/drawing/2014/main" id="{3077AC56-1184-5D87-7F22-59FB6D75088C}"/>
              </a:ext>
            </a:extLst>
          </p:cNvPr>
          <p:cNvSpPr/>
          <p:nvPr/>
        </p:nvSpPr>
        <p:spPr>
          <a:xfrm>
            <a:off x="6223624" y="63500"/>
            <a:ext cx="6931809" cy="6284407"/>
          </a:xfrm>
          <a:prstGeom prst="rect">
            <a:avLst/>
          </a:prstGeom>
          <a:gradFill>
            <a:gsLst>
              <a:gs pos="0">
                <a:schemeClr val="bg1"/>
              </a:gs>
              <a:gs pos="51000">
                <a:schemeClr val="bg1">
                  <a:alpha val="0"/>
                </a:schemeClr>
              </a:gs>
              <a:gs pos="100000">
                <a:schemeClr val="bg1">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 name="副標題 2">
            <a:extLst>
              <a:ext uri="{FF2B5EF4-FFF2-40B4-BE49-F238E27FC236}">
                <a16:creationId xmlns:a16="http://schemas.microsoft.com/office/drawing/2014/main" id="{438B89D7-062C-273C-E9AC-7054B5379533}"/>
              </a:ext>
            </a:extLst>
          </p:cNvPr>
          <p:cNvSpPr>
            <a:spLocks noGrp="1"/>
          </p:cNvSpPr>
          <p:nvPr>
            <p:ph type="subTitle" idx="1"/>
          </p:nvPr>
        </p:nvSpPr>
        <p:spPr>
          <a:xfrm>
            <a:off x="546443" y="3020138"/>
            <a:ext cx="7696479" cy="4243630"/>
          </a:xfrm>
        </p:spPr>
        <p:txBody>
          <a:bodyPr vert="horz" lIns="91440" tIns="45720" rIns="91440" bIns="45720" rtlCol="0">
            <a:normAutofit/>
          </a:bodyPr>
          <a:lstStyle/>
          <a:p>
            <a:pPr algn="l"/>
            <a:r>
              <a:rPr lang="en-US" altLang="zh-TW" dirty="0">
                <a:latin typeface="標楷體" panose="03000509000000000000" pitchFamily="65" charset="-120"/>
                <a:ea typeface="標楷體" panose="03000509000000000000" pitchFamily="65" charset="-120"/>
              </a:rPr>
              <a:t>Database System Final Project</a:t>
            </a:r>
          </a:p>
          <a:p>
            <a:pPr algn="l"/>
            <a:endParaRPr lang="en-US" altLang="zh-TW" sz="2000" dirty="0">
              <a:latin typeface="標楷體" panose="03000509000000000000" pitchFamily="65" charset="-120"/>
              <a:ea typeface="標楷體" panose="03000509000000000000" pitchFamily="65" charset="-120"/>
            </a:endParaRPr>
          </a:p>
          <a:p>
            <a:pPr algn="l"/>
            <a:endParaRPr lang="en-US" altLang="zh-TW" sz="2000" dirty="0">
              <a:latin typeface="標楷體" panose="03000509000000000000" pitchFamily="65" charset="-120"/>
              <a:ea typeface="標楷體" panose="03000509000000000000" pitchFamily="65" charset="-120"/>
            </a:endParaRPr>
          </a:p>
          <a:p>
            <a:pPr algn="l"/>
            <a:r>
              <a:rPr lang="en-US" altLang="zh-TW" sz="2800" dirty="0">
                <a:solidFill>
                  <a:schemeClr val="tx2">
                    <a:lumMod val="75000"/>
                    <a:lumOff val="25000"/>
                  </a:schemeClr>
                </a:solidFill>
                <a:latin typeface="標楷體" panose="03000509000000000000" pitchFamily="65" charset="-120"/>
                <a:ea typeface="標楷體" panose="03000509000000000000" pitchFamily="65" charset="-120"/>
              </a:rPr>
              <a:t>Group 04</a:t>
            </a:r>
          </a:p>
          <a:p>
            <a:pPr algn="l"/>
            <a:endParaRPr lang="en-US" altLang="zh-TW" sz="100" dirty="0">
              <a:latin typeface="標楷體" panose="03000509000000000000" pitchFamily="65" charset="-120"/>
              <a:ea typeface="標楷體" panose="03000509000000000000" pitchFamily="65" charset="-120"/>
            </a:endParaRPr>
          </a:p>
          <a:p>
            <a:pPr algn="l"/>
            <a:r>
              <a:rPr lang="en-US" altLang="zh-TW" sz="2800" dirty="0">
                <a:latin typeface="標楷體" panose="03000509000000000000" pitchFamily="65" charset="-120"/>
                <a:ea typeface="標楷體" panose="03000509000000000000" pitchFamily="65" charset="-120"/>
              </a:rPr>
              <a:t>41243167 </a:t>
            </a:r>
            <a:r>
              <a:rPr lang="zh-TW" altLang="en-US" sz="2800" dirty="0">
                <a:latin typeface="標楷體" panose="03000509000000000000" pitchFamily="65" charset="-120"/>
                <a:ea typeface="標楷體" panose="03000509000000000000" pitchFamily="65" charset="-120"/>
              </a:rPr>
              <a:t>楊芷寧 </a:t>
            </a:r>
            <a:r>
              <a:rPr lang="en-US" altLang="zh-TW" sz="2800" dirty="0">
                <a:solidFill>
                  <a:schemeClr val="tx2">
                    <a:lumMod val="75000"/>
                    <a:lumOff val="25000"/>
                  </a:schemeClr>
                </a:solidFill>
                <a:latin typeface="標楷體" panose="03000509000000000000" pitchFamily="65" charset="-120"/>
                <a:ea typeface="標楷體" panose="03000509000000000000" pitchFamily="65" charset="-120"/>
              </a:rPr>
              <a:t>|</a:t>
            </a:r>
            <a:r>
              <a:rPr lang="en-US" altLang="zh-TW" sz="2800" dirty="0">
                <a:latin typeface="標楷體" panose="03000509000000000000" pitchFamily="65" charset="-120"/>
                <a:ea typeface="標楷體" panose="03000509000000000000" pitchFamily="65" charset="-120"/>
              </a:rPr>
              <a:t> 41243168 </a:t>
            </a:r>
            <a:r>
              <a:rPr lang="zh-TW" altLang="en-US" sz="2800" dirty="0">
                <a:latin typeface="標楷體" panose="03000509000000000000" pitchFamily="65" charset="-120"/>
                <a:ea typeface="標楷體" panose="03000509000000000000" pitchFamily="65" charset="-120"/>
              </a:rPr>
              <a:t>陳有臨</a:t>
            </a:r>
          </a:p>
          <a:p>
            <a:pPr algn="l"/>
            <a:r>
              <a:rPr lang="en-US" altLang="zh-TW" sz="2800" dirty="0">
                <a:latin typeface="標楷體" panose="03000509000000000000" pitchFamily="65" charset="-120"/>
                <a:ea typeface="標楷體" panose="03000509000000000000" pitchFamily="65" charset="-120"/>
              </a:rPr>
              <a:t>41243169 </a:t>
            </a:r>
            <a:r>
              <a:rPr lang="zh-TW" altLang="en-US" sz="2800" dirty="0">
                <a:latin typeface="標楷體" panose="03000509000000000000" pitchFamily="65" charset="-120"/>
                <a:ea typeface="標楷體" panose="03000509000000000000" pitchFamily="65" charset="-120"/>
              </a:rPr>
              <a:t>宋沛玲 </a:t>
            </a:r>
            <a:r>
              <a:rPr lang="en-US" altLang="zh-TW" sz="2800" dirty="0">
                <a:solidFill>
                  <a:schemeClr val="tx2">
                    <a:lumMod val="75000"/>
                    <a:lumOff val="25000"/>
                  </a:schemeClr>
                </a:solidFill>
                <a:latin typeface="標楷體" panose="03000509000000000000" pitchFamily="65" charset="-120"/>
                <a:ea typeface="標楷體" panose="03000509000000000000" pitchFamily="65" charset="-120"/>
              </a:rPr>
              <a:t>|</a:t>
            </a:r>
            <a:r>
              <a:rPr lang="en-US" altLang="zh-TW" sz="2800" dirty="0">
                <a:latin typeface="標楷體" panose="03000509000000000000" pitchFamily="65" charset="-120"/>
                <a:ea typeface="標楷體" panose="03000509000000000000" pitchFamily="65" charset="-120"/>
              </a:rPr>
              <a:t> 41243260 </a:t>
            </a:r>
            <a:r>
              <a:rPr lang="zh-TW" altLang="en-US" sz="2800" dirty="0">
                <a:latin typeface="標楷體" panose="03000509000000000000" pitchFamily="65" charset="-120"/>
                <a:ea typeface="標楷體" panose="03000509000000000000" pitchFamily="65" charset="-120"/>
              </a:rPr>
              <a:t>蕭文成</a:t>
            </a:r>
          </a:p>
        </p:txBody>
      </p:sp>
      <p:sp>
        <p:nvSpPr>
          <p:cNvPr id="2" name="標題 1">
            <a:extLst>
              <a:ext uri="{FF2B5EF4-FFF2-40B4-BE49-F238E27FC236}">
                <a16:creationId xmlns:a16="http://schemas.microsoft.com/office/drawing/2014/main" id="{CD15DA91-BD6A-DC15-742B-3E03134A2BC3}"/>
              </a:ext>
            </a:extLst>
          </p:cNvPr>
          <p:cNvSpPr>
            <a:spLocks noGrp="1"/>
          </p:cNvSpPr>
          <p:nvPr>
            <p:ph type="ctrTitle"/>
          </p:nvPr>
        </p:nvSpPr>
        <p:spPr>
          <a:xfrm>
            <a:off x="546443" y="2066501"/>
            <a:ext cx="7213599" cy="794191"/>
          </a:xfrm>
        </p:spPr>
        <p:txBody>
          <a:bodyPr vert="horz" lIns="91440" tIns="45720" rIns="91440" bIns="45720" rtlCol="0" anchor="b">
            <a:noAutofit/>
          </a:bodyPr>
          <a:lstStyle/>
          <a:p>
            <a:pPr algn="l"/>
            <a:r>
              <a:rPr lang="zh-TW" altLang="en-US" sz="7200" dirty="0">
                <a:latin typeface="標楷體" panose="03000509000000000000" pitchFamily="65" charset="-120"/>
                <a:ea typeface="標楷體" panose="03000509000000000000" pitchFamily="65" charset="-120"/>
              </a:rPr>
              <a:t>設備管理與維護系統</a:t>
            </a:r>
          </a:p>
        </p:txBody>
      </p:sp>
      <p:sp>
        <p:nvSpPr>
          <p:cNvPr id="25" name="矩形: 圓角 24">
            <a:extLst>
              <a:ext uri="{FF2B5EF4-FFF2-40B4-BE49-F238E27FC236}">
                <a16:creationId xmlns:a16="http://schemas.microsoft.com/office/drawing/2014/main" id="{91258931-2588-8F8C-C459-89148D740F8A}"/>
              </a:ext>
            </a:extLst>
          </p:cNvPr>
          <p:cNvSpPr/>
          <p:nvPr/>
        </p:nvSpPr>
        <p:spPr>
          <a:xfrm>
            <a:off x="303948" y="4160017"/>
            <a:ext cx="6452452" cy="2024096"/>
          </a:xfrm>
          <a:prstGeom prst="roundRect">
            <a:avLst>
              <a:gd name="adj" fmla="val 25527"/>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矩形: 圓角 25">
            <a:extLst>
              <a:ext uri="{FF2B5EF4-FFF2-40B4-BE49-F238E27FC236}">
                <a16:creationId xmlns:a16="http://schemas.microsoft.com/office/drawing/2014/main" id="{BF99CF20-3F76-D90D-2E4E-540588FE214A}"/>
              </a:ext>
            </a:extLst>
          </p:cNvPr>
          <p:cNvSpPr/>
          <p:nvPr/>
        </p:nvSpPr>
        <p:spPr>
          <a:xfrm>
            <a:off x="221398" y="4082092"/>
            <a:ext cx="6617552" cy="2179946"/>
          </a:xfrm>
          <a:prstGeom prst="roundRect">
            <a:avLst>
              <a:gd name="adj" fmla="val 25527"/>
            </a:avLst>
          </a:prstGeom>
          <a:noFill/>
          <a:ln>
            <a:solidFill>
              <a:schemeClr val="tx2">
                <a:lumMod val="75000"/>
                <a:lumOff val="25000"/>
              </a:schemeClr>
            </a:solidFill>
            <a:prstDash val="dash"/>
            <a:extLst>
              <a:ext uri="{C807C97D-BFC1-408E-A445-0C87EB9F89A2}">
                <ask:lineSketchStyleProps xmlns:ask="http://schemas.microsoft.com/office/drawing/2018/sketchyshapes" sd="1219033472">
                  <a:custGeom>
                    <a:avLst/>
                    <a:gdLst>
                      <a:gd name="csX0" fmla="*/ 0 w 6452452"/>
                      <a:gd name="csY0" fmla="*/ 516691 h 2024096"/>
                      <a:gd name="csX1" fmla="*/ 516691 w 6452452"/>
                      <a:gd name="csY1" fmla="*/ 0 h 2024096"/>
                      <a:gd name="csX2" fmla="*/ 1166979 w 6452452"/>
                      <a:gd name="csY2" fmla="*/ 0 h 2024096"/>
                      <a:gd name="csX3" fmla="*/ 1654696 w 6452452"/>
                      <a:gd name="csY3" fmla="*/ 0 h 2024096"/>
                      <a:gd name="csX4" fmla="*/ 2088221 w 6452452"/>
                      <a:gd name="csY4" fmla="*/ 0 h 2024096"/>
                      <a:gd name="csX5" fmla="*/ 2684319 w 6452452"/>
                      <a:gd name="csY5" fmla="*/ 0 h 2024096"/>
                      <a:gd name="csX6" fmla="*/ 3172035 w 6452452"/>
                      <a:gd name="csY6" fmla="*/ 0 h 2024096"/>
                      <a:gd name="csX7" fmla="*/ 3822324 w 6452452"/>
                      <a:gd name="csY7" fmla="*/ 0 h 2024096"/>
                      <a:gd name="csX8" fmla="*/ 4255849 w 6452452"/>
                      <a:gd name="csY8" fmla="*/ 0 h 2024096"/>
                      <a:gd name="csX9" fmla="*/ 4906138 w 6452452"/>
                      <a:gd name="csY9" fmla="*/ 0 h 2024096"/>
                      <a:gd name="csX10" fmla="*/ 5285473 w 6452452"/>
                      <a:gd name="csY10" fmla="*/ 0 h 2024096"/>
                      <a:gd name="csX11" fmla="*/ 5935761 w 6452452"/>
                      <a:gd name="csY11" fmla="*/ 0 h 2024096"/>
                      <a:gd name="csX12" fmla="*/ 6452452 w 6452452"/>
                      <a:gd name="csY12" fmla="*/ 516691 h 2024096"/>
                      <a:gd name="csX13" fmla="*/ 6452452 w 6452452"/>
                      <a:gd name="csY13" fmla="*/ 982327 h 2024096"/>
                      <a:gd name="csX14" fmla="*/ 6452452 w 6452452"/>
                      <a:gd name="csY14" fmla="*/ 1507405 h 2024096"/>
                      <a:gd name="csX15" fmla="*/ 5935761 w 6452452"/>
                      <a:gd name="csY15" fmla="*/ 2024096 h 2024096"/>
                      <a:gd name="csX16" fmla="*/ 5339663 w 6452452"/>
                      <a:gd name="csY16" fmla="*/ 2024096 h 2024096"/>
                      <a:gd name="csX17" fmla="*/ 4797756 w 6452452"/>
                      <a:gd name="csY17" fmla="*/ 2024096 h 2024096"/>
                      <a:gd name="csX18" fmla="*/ 4418421 w 6452452"/>
                      <a:gd name="csY18" fmla="*/ 2024096 h 2024096"/>
                      <a:gd name="csX19" fmla="*/ 3984896 w 6452452"/>
                      <a:gd name="csY19" fmla="*/ 2024096 h 2024096"/>
                      <a:gd name="csX20" fmla="*/ 3334607 w 6452452"/>
                      <a:gd name="csY20" fmla="*/ 2024096 h 2024096"/>
                      <a:gd name="csX21" fmla="*/ 2792700 w 6452452"/>
                      <a:gd name="csY21" fmla="*/ 2024096 h 2024096"/>
                      <a:gd name="csX22" fmla="*/ 2359175 w 6452452"/>
                      <a:gd name="csY22" fmla="*/ 2024096 h 2024096"/>
                      <a:gd name="csX23" fmla="*/ 1817268 w 6452452"/>
                      <a:gd name="csY23" fmla="*/ 2024096 h 2024096"/>
                      <a:gd name="csX24" fmla="*/ 1437933 w 6452452"/>
                      <a:gd name="csY24" fmla="*/ 2024096 h 2024096"/>
                      <a:gd name="csX25" fmla="*/ 1058598 w 6452452"/>
                      <a:gd name="csY25" fmla="*/ 2024096 h 2024096"/>
                      <a:gd name="csX26" fmla="*/ 516691 w 6452452"/>
                      <a:gd name="csY26" fmla="*/ 2024096 h 2024096"/>
                      <a:gd name="csX27" fmla="*/ 0 w 6452452"/>
                      <a:gd name="csY27" fmla="*/ 1507405 h 2024096"/>
                      <a:gd name="csX28" fmla="*/ 0 w 6452452"/>
                      <a:gd name="csY28" fmla="*/ 1041769 h 2024096"/>
                      <a:gd name="csX29" fmla="*/ 0 w 6452452"/>
                      <a:gd name="csY29" fmla="*/ 516691 h 20240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6452452" h="2024096" extrusionOk="0">
                        <a:moveTo>
                          <a:pt x="0" y="516691"/>
                        </a:moveTo>
                        <a:cubicBezTo>
                          <a:pt x="-39183" y="207161"/>
                          <a:pt x="160606" y="26544"/>
                          <a:pt x="516691" y="0"/>
                        </a:cubicBezTo>
                        <a:cubicBezTo>
                          <a:pt x="732804" y="-36074"/>
                          <a:pt x="884974" y="23344"/>
                          <a:pt x="1166979" y="0"/>
                        </a:cubicBezTo>
                        <a:cubicBezTo>
                          <a:pt x="1448984" y="-23344"/>
                          <a:pt x="1545106" y="7235"/>
                          <a:pt x="1654696" y="0"/>
                        </a:cubicBezTo>
                        <a:cubicBezTo>
                          <a:pt x="1764286" y="-7235"/>
                          <a:pt x="1896475" y="11663"/>
                          <a:pt x="2088221" y="0"/>
                        </a:cubicBezTo>
                        <a:cubicBezTo>
                          <a:pt x="2279968" y="-11663"/>
                          <a:pt x="2515565" y="38586"/>
                          <a:pt x="2684319" y="0"/>
                        </a:cubicBezTo>
                        <a:cubicBezTo>
                          <a:pt x="2853073" y="-38586"/>
                          <a:pt x="2996842" y="54825"/>
                          <a:pt x="3172035" y="0"/>
                        </a:cubicBezTo>
                        <a:cubicBezTo>
                          <a:pt x="3347228" y="-54825"/>
                          <a:pt x="3570300" y="53972"/>
                          <a:pt x="3822324" y="0"/>
                        </a:cubicBezTo>
                        <a:cubicBezTo>
                          <a:pt x="4074348" y="-53972"/>
                          <a:pt x="4120587" y="329"/>
                          <a:pt x="4255849" y="0"/>
                        </a:cubicBezTo>
                        <a:cubicBezTo>
                          <a:pt x="4391112" y="-329"/>
                          <a:pt x="4629112" y="48097"/>
                          <a:pt x="4906138" y="0"/>
                        </a:cubicBezTo>
                        <a:cubicBezTo>
                          <a:pt x="5183164" y="-48097"/>
                          <a:pt x="5186188" y="31554"/>
                          <a:pt x="5285473" y="0"/>
                        </a:cubicBezTo>
                        <a:cubicBezTo>
                          <a:pt x="5384758" y="-31554"/>
                          <a:pt x="5632903" y="47323"/>
                          <a:pt x="5935761" y="0"/>
                        </a:cubicBezTo>
                        <a:cubicBezTo>
                          <a:pt x="6230348" y="13734"/>
                          <a:pt x="6453777" y="245052"/>
                          <a:pt x="6452452" y="516691"/>
                        </a:cubicBezTo>
                        <a:cubicBezTo>
                          <a:pt x="6472595" y="635825"/>
                          <a:pt x="6443722" y="847140"/>
                          <a:pt x="6452452" y="982327"/>
                        </a:cubicBezTo>
                        <a:cubicBezTo>
                          <a:pt x="6461182" y="1117514"/>
                          <a:pt x="6417452" y="1244937"/>
                          <a:pt x="6452452" y="1507405"/>
                        </a:cubicBezTo>
                        <a:cubicBezTo>
                          <a:pt x="6397615" y="1801771"/>
                          <a:pt x="6159910" y="1981861"/>
                          <a:pt x="5935761" y="2024096"/>
                        </a:cubicBezTo>
                        <a:cubicBezTo>
                          <a:pt x="5687850" y="2083461"/>
                          <a:pt x="5468916" y="1960712"/>
                          <a:pt x="5339663" y="2024096"/>
                        </a:cubicBezTo>
                        <a:cubicBezTo>
                          <a:pt x="5210410" y="2087480"/>
                          <a:pt x="5036686" y="2012692"/>
                          <a:pt x="4797756" y="2024096"/>
                        </a:cubicBezTo>
                        <a:cubicBezTo>
                          <a:pt x="4558826" y="2035500"/>
                          <a:pt x="4541897" y="1986147"/>
                          <a:pt x="4418421" y="2024096"/>
                        </a:cubicBezTo>
                        <a:cubicBezTo>
                          <a:pt x="4294945" y="2062045"/>
                          <a:pt x="4140554" y="2017033"/>
                          <a:pt x="3984896" y="2024096"/>
                        </a:cubicBezTo>
                        <a:cubicBezTo>
                          <a:pt x="3829238" y="2031159"/>
                          <a:pt x="3579847" y="1948207"/>
                          <a:pt x="3334607" y="2024096"/>
                        </a:cubicBezTo>
                        <a:cubicBezTo>
                          <a:pt x="3089367" y="2099985"/>
                          <a:pt x="3053203" y="2004684"/>
                          <a:pt x="2792700" y="2024096"/>
                        </a:cubicBezTo>
                        <a:cubicBezTo>
                          <a:pt x="2532197" y="2043508"/>
                          <a:pt x="2570285" y="2002676"/>
                          <a:pt x="2359175" y="2024096"/>
                        </a:cubicBezTo>
                        <a:cubicBezTo>
                          <a:pt x="2148066" y="2045516"/>
                          <a:pt x="1932522" y="2012414"/>
                          <a:pt x="1817268" y="2024096"/>
                        </a:cubicBezTo>
                        <a:cubicBezTo>
                          <a:pt x="1702014" y="2035778"/>
                          <a:pt x="1615457" y="1984121"/>
                          <a:pt x="1437933" y="2024096"/>
                        </a:cubicBezTo>
                        <a:cubicBezTo>
                          <a:pt x="1260409" y="2064071"/>
                          <a:pt x="1206530" y="2001491"/>
                          <a:pt x="1058598" y="2024096"/>
                        </a:cubicBezTo>
                        <a:cubicBezTo>
                          <a:pt x="910666" y="2046701"/>
                          <a:pt x="756106" y="1997476"/>
                          <a:pt x="516691" y="2024096"/>
                        </a:cubicBezTo>
                        <a:cubicBezTo>
                          <a:pt x="275574" y="2039581"/>
                          <a:pt x="6093" y="1813289"/>
                          <a:pt x="0" y="1507405"/>
                        </a:cubicBezTo>
                        <a:cubicBezTo>
                          <a:pt x="-7181" y="1366037"/>
                          <a:pt x="44881" y="1200146"/>
                          <a:pt x="0" y="1041769"/>
                        </a:cubicBezTo>
                        <a:cubicBezTo>
                          <a:pt x="-44881" y="883392"/>
                          <a:pt x="43464" y="702451"/>
                          <a:pt x="0" y="516691"/>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5196670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圖片 20">
            <a:extLst>
              <a:ext uri="{FF2B5EF4-FFF2-40B4-BE49-F238E27FC236}">
                <a16:creationId xmlns:a16="http://schemas.microsoft.com/office/drawing/2014/main" id="{C096C71F-D6EC-1ACD-BA0B-A65087226639}"/>
              </a:ext>
            </a:extLst>
          </p:cNvPr>
          <p:cNvPicPr>
            <a:picLocks noChangeAspect="1"/>
          </p:cNvPicPr>
          <p:nvPr/>
        </p:nvPicPr>
        <p:blipFill>
          <a:blip r:embed="rId2">
            <a:alphaModFix amt="8000"/>
          </a:blip>
          <a:stretch>
            <a:fillRect/>
          </a:stretch>
        </p:blipFill>
        <p:spPr>
          <a:xfrm>
            <a:off x="-3073399" y="-351292"/>
            <a:ext cx="14027154" cy="7657401"/>
          </a:xfrm>
          <a:prstGeom prst="rect">
            <a:avLst/>
          </a:prstGeom>
        </p:spPr>
      </p:pic>
      <p:sp>
        <p:nvSpPr>
          <p:cNvPr id="2" name="標題 1">
            <a:extLst>
              <a:ext uri="{FF2B5EF4-FFF2-40B4-BE49-F238E27FC236}">
                <a16:creationId xmlns:a16="http://schemas.microsoft.com/office/drawing/2014/main" id="{A91E2B62-4092-7304-4D9A-62F3C5ED545D}"/>
              </a:ext>
            </a:extLst>
          </p:cNvPr>
          <p:cNvSpPr>
            <a:spLocks noGrp="1"/>
          </p:cNvSpPr>
          <p:nvPr>
            <p:ph type="title"/>
          </p:nvPr>
        </p:nvSpPr>
        <p:spPr>
          <a:xfrm>
            <a:off x="3611168" y="1131568"/>
            <a:ext cx="4912519" cy="1325563"/>
          </a:xfrm>
        </p:spPr>
        <p:txBody>
          <a:bodyPr>
            <a:noAutofit/>
          </a:bodyPr>
          <a:lstStyle/>
          <a:p>
            <a:r>
              <a:rPr lang="zh-TW" altLang="en-US" sz="7200" dirty="0">
                <a:latin typeface="標楷體" panose="03000509000000000000" pitchFamily="65" charset="-120"/>
                <a:ea typeface="標楷體" panose="03000509000000000000" pitchFamily="65" charset="-120"/>
              </a:rPr>
              <a:t>系辦日常</a:t>
            </a:r>
          </a:p>
        </p:txBody>
      </p:sp>
      <p:sp>
        <p:nvSpPr>
          <p:cNvPr id="3" name="內容版面配置區 2">
            <a:extLst>
              <a:ext uri="{FF2B5EF4-FFF2-40B4-BE49-F238E27FC236}">
                <a16:creationId xmlns:a16="http://schemas.microsoft.com/office/drawing/2014/main" id="{F51360CE-CE8A-5C73-5F04-C786DF6D4CCA}"/>
              </a:ext>
            </a:extLst>
          </p:cNvPr>
          <p:cNvSpPr>
            <a:spLocks noGrp="1"/>
          </p:cNvSpPr>
          <p:nvPr>
            <p:ph sz="half" idx="1"/>
          </p:nvPr>
        </p:nvSpPr>
        <p:spPr>
          <a:xfrm>
            <a:off x="184147" y="2932556"/>
            <a:ext cx="5200654" cy="3147108"/>
          </a:xfrm>
        </p:spPr>
        <p:txBody>
          <a:bodyPr>
            <a:normAutofit/>
          </a:bodyPr>
          <a:lstStyle/>
          <a:p>
            <a:pPr marL="0" indent="0">
              <a:buNone/>
            </a:pPr>
            <a:r>
              <a:rPr lang="zh-TW" altLang="en-US" sz="2400" b="1" dirty="0">
                <a:latin typeface="標楷體" panose="03000509000000000000" pitchFamily="65" charset="-120"/>
                <a:ea typeface="標楷體" panose="03000509000000000000" pitchFamily="65" charset="-120"/>
              </a:rPr>
              <a:t>情境描述：</a:t>
            </a:r>
            <a:endParaRPr lang="en-US" altLang="zh-TW" sz="2400" b="1" dirty="0">
              <a:latin typeface="標楷體" panose="03000509000000000000" pitchFamily="65" charset="-120"/>
              <a:ea typeface="標楷體" panose="03000509000000000000" pitchFamily="65" charset="-120"/>
            </a:endParaRPr>
          </a:p>
          <a:p>
            <a:pPr marL="0" indent="0">
              <a:buNone/>
            </a:pPr>
            <a:r>
              <a:rPr lang="zh-TW" altLang="en-US" sz="2400" dirty="0">
                <a:latin typeface="標楷體" panose="03000509000000000000" pitchFamily="65" charset="-120"/>
                <a:ea typeface="標楷體" panose="03000509000000000000" pitchFamily="65" charset="-120"/>
              </a:rPr>
              <a:t>資工系系辦剛採購了一批新的桌上型電腦與網路交換器。</a:t>
            </a:r>
            <a:endParaRPr lang="en-US" altLang="zh-TW" sz="2400" dirty="0">
              <a:latin typeface="標楷體" panose="03000509000000000000" pitchFamily="65" charset="-120"/>
              <a:ea typeface="標楷體" panose="03000509000000000000" pitchFamily="65" charset="-120"/>
            </a:endParaRPr>
          </a:p>
          <a:p>
            <a:pPr marL="0" indent="0">
              <a:buNone/>
            </a:pPr>
            <a:r>
              <a:rPr lang="zh-TW" altLang="en-US" sz="2400" dirty="0">
                <a:latin typeface="標楷體" panose="03000509000000000000" pitchFamily="65" charset="-120"/>
                <a:ea typeface="標楷體" panose="03000509000000000000" pitchFamily="65" charset="-120"/>
              </a:rPr>
              <a:t>過去用紙本登記容易造成</a:t>
            </a:r>
            <a:r>
              <a:rPr lang="zh-TW" altLang="en-US" sz="2400" dirty="0">
                <a:solidFill>
                  <a:schemeClr val="tx2">
                    <a:lumMod val="75000"/>
                    <a:lumOff val="25000"/>
                  </a:schemeClr>
                </a:solidFill>
                <a:latin typeface="標楷體" panose="03000509000000000000" pitchFamily="65" charset="-120"/>
                <a:ea typeface="標楷體" panose="03000509000000000000" pitchFamily="65" charset="-120"/>
              </a:rPr>
              <a:t>資料遺漏</a:t>
            </a:r>
            <a:r>
              <a:rPr lang="zh-TW" altLang="en-US" sz="2400" dirty="0">
                <a:latin typeface="標楷體" panose="03000509000000000000" pitchFamily="65" charset="-120"/>
                <a:ea typeface="標楷體" panose="03000509000000000000" pitchFamily="65" charset="-120"/>
              </a:rPr>
              <a:t>、設備</a:t>
            </a:r>
            <a:r>
              <a:rPr lang="zh-TW" altLang="en-US" sz="2400" dirty="0">
                <a:solidFill>
                  <a:schemeClr val="tx2">
                    <a:lumMod val="75000"/>
                    <a:lumOff val="25000"/>
                  </a:schemeClr>
                </a:solidFill>
                <a:latin typeface="標楷體" panose="03000509000000000000" pitchFamily="65" charset="-120"/>
                <a:ea typeface="標楷體" panose="03000509000000000000" pitchFamily="65" charset="-120"/>
              </a:rPr>
              <a:t>去向不明</a:t>
            </a:r>
            <a:r>
              <a:rPr lang="zh-TW" altLang="en-US" sz="2400" dirty="0">
                <a:latin typeface="標楷體" panose="03000509000000000000" pitchFamily="65" charset="-120"/>
                <a:ea typeface="標楷體" panose="03000509000000000000" pitchFamily="65" charset="-120"/>
              </a:rPr>
              <a:t>。</a:t>
            </a:r>
            <a:endParaRPr lang="en-US" altLang="zh-TW" sz="2400" dirty="0">
              <a:latin typeface="標楷體" panose="03000509000000000000" pitchFamily="65" charset="-120"/>
              <a:ea typeface="標楷體" panose="03000509000000000000" pitchFamily="65" charset="-120"/>
            </a:endParaRPr>
          </a:p>
          <a:p>
            <a:pPr marL="0" indent="0">
              <a:buNone/>
            </a:pPr>
            <a:r>
              <a:rPr lang="zh-TW" altLang="en-US" sz="2400" dirty="0">
                <a:latin typeface="標楷體" panose="03000509000000000000" pitchFamily="65" charset="-120"/>
                <a:ea typeface="標楷體" panose="03000509000000000000" pitchFamily="65" charset="-120"/>
              </a:rPr>
              <a:t>管理員需要一個系統來追蹤借用與報修狀況。</a:t>
            </a:r>
          </a:p>
        </p:txBody>
      </p:sp>
      <p:sp>
        <p:nvSpPr>
          <p:cNvPr id="4" name="內容版面配置區 3">
            <a:extLst>
              <a:ext uri="{FF2B5EF4-FFF2-40B4-BE49-F238E27FC236}">
                <a16:creationId xmlns:a16="http://schemas.microsoft.com/office/drawing/2014/main" id="{BBDC2F21-CDAE-8646-F201-4EE24B26A000}"/>
              </a:ext>
            </a:extLst>
          </p:cNvPr>
          <p:cNvSpPr>
            <a:spLocks noGrp="1"/>
          </p:cNvSpPr>
          <p:nvPr>
            <p:ph sz="half" idx="2"/>
          </p:nvPr>
        </p:nvSpPr>
        <p:spPr>
          <a:xfrm>
            <a:off x="5372098" y="2969332"/>
            <a:ext cx="6984997" cy="4351338"/>
          </a:xfrm>
        </p:spPr>
        <p:txBody>
          <a:bodyPr>
            <a:normAutofit/>
          </a:bodyPr>
          <a:lstStyle/>
          <a:p>
            <a:pPr marL="0" indent="0">
              <a:buClr>
                <a:schemeClr val="tx2">
                  <a:lumMod val="75000"/>
                  <a:lumOff val="25000"/>
                </a:schemeClr>
              </a:buClr>
              <a:buNone/>
            </a:pPr>
            <a:r>
              <a:rPr lang="zh-TW" altLang="en-US" sz="2400" b="1" dirty="0">
                <a:latin typeface="標楷體" panose="03000509000000000000" pitchFamily="65" charset="-120"/>
                <a:ea typeface="標楷體" panose="03000509000000000000" pitchFamily="65" charset="-120"/>
              </a:rPr>
              <a:t>系統應用：</a:t>
            </a:r>
          </a:p>
          <a:p>
            <a:pPr marL="457200" indent="-457200">
              <a:buClr>
                <a:schemeClr val="tx2">
                  <a:lumMod val="75000"/>
                  <a:lumOff val="25000"/>
                </a:schemeClr>
              </a:buClr>
              <a:buFont typeface="Wingdings" panose="05000000000000000000" pitchFamily="2" charset="2"/>
              <a:buAutoNum type="circleNumWdWhitePlain"/>
            </a:pPr>
            <a:r>
              <a:rPr lang="zh-TW" altLang="en-US" sz="2400" dirty="0">
                <a:latin typeface="標楷體" panose="03000509000000000000" pitchFamily="65" charset="-120"/>
                <a:ea typeface="標楷體" panose="03000509000000000000" pitchFamily="65" charset="-120"/>
              </a:rPr>
              <a:t>管理員透過學校 SSO 單一登入系統。</a:t>
            </a:r>
            <a:endParaRPr lang="en-US" altLang="zh-TW" sz="2400" dirty="0">
              <a:latin typeface="標楷體" panose="03000509000000000000" pitchFamily="65" charset="-120"/>
              <a:ea typeface="標楷體" panose="03000509000000000000" pitchFamily="65" charset="-120"/>
            </a:endParaRPr>
          </a:p>
          <a:p>
            <a:pPr marL="457200" indent="-457200">
              <a:buClr>
                <a:schemeClr val="tx2">
                  <a:lumMod val="75000"/>
                  <a:lumOff val="25000"/>
                </a:schemeClr>
              </a:buClr>
              <a:buFont typeface="Wingdings" panose="05000000000000000000" pitchFamily="2" charset="2"/>
              <a:buAutoNum type="circleNumWdWhitePlain"/>
            </a:pPr>
            <a:endParaRPr lang="zh-TW" altLang="en-US" sz="2400" dirty="0">
              <a:latin typeface="標楷體" panose="03000509000000000000" pitchFamily="65" charset="-120"/>
              <a:ea typeface="標楷體" panose="03000509000000000000" pitchFamily="65" charset="-120"/>
            </a:endParaRPr>
          </a:p>
          <a:p>
            <a:pPr marL="457200" indent="-457200">
              <a:buClr>
                <a:schemeClr val="tx2">
                  <a:lumMod val="75000"/>
                  <a:lumOff val="25000"/>
                </a:schemeClr>
              </a:buClr>
              <a:buFont typeface="Wingdings" panose="05000000000000000000" pitchFamily="2" charset="2"/>
              <a:buAutoNum type="circleNumWdWhitePlain"/>
            </a:pPr>
            <a:r>
              <a:rPr lang="zh-TW" altLang="en-US" sz="2400" dirty="0">
                <a:latin typeface="標楷體" panose="03000509000000000000" pitchFamily="65" charset="-120"/>
                <a:ea typeface="標楷體" panose="03000509000000000000" pitchFamily="65" charset="-120"/>
              </a:rPr>
              <a:t>系統自動產生設備紀錄，狀態預設為</a:t>
            </a:r>
            <a:r>
              <a:rPr lang="zh-TW" altLang="en-US" sz="2400" dirty="0">
                <a:solidFill>
                  <a:schemeClr val="tx2">
                    <a:lumMod val="75000"/>
                    <a:lumOff val="25000"/>
                  </a:schemeClr>
                </a:solidFill>
                <a:latin typeface="標楷體" panose="03000509000000000000" pitchFamily="65" charset="-120"/>
                <a:ea typeface="標楷體" panose="03000509000000000000" pitchFamily="65" charset="-120"/>
              </a:rPr>
              <a:t>可用</a:t>
            </a:r>
            <a:r>
              <a:rPr lang="zh-TW" altLang="en-US" sz="2400" dirty="0">
                <a:latin typeface="標楷體" panose="03000509000000000000" pitchFamily="65" charset="-120"/>
                <a:ea typeface="標楷體" panose="03000509000000000000" pitchFamily="65" charset="-120"/>
              </a:rPr>
              <a:t>。</a:t>
            </a:r>
            <a:endParaRPr lang="en-US" altLang="zh-TW" sz="2400" dirty="0">
              <a:latin typeface="標楷體" panose="03000509000000000000" pitchFamily="65" charset="-120"/>
              <a:ea typeface="標楷體" panose="03000509000000000000" pitchFamily="65" charset="-120"/>
            </a:endParaRPr>
          </a:p>
          <a:p>
            <a:pPr marL="457200" indent="-457200">
              <a:buClr>
                <a:schemeClr val="tx2">
                  <a:lumMod val="75000"/>
                  <a:lumOff val="25000"/>
                </a:schemeClr>
              </a:buClr>
              <a:buFont typeface="Wingdings" panose="05000000000000000000" pitchFamily="2" charset="2"/>
              <a:buAutoNum type="circleNumWdWhitePlain"/>
            </a:pPr>
            <a:endParaRPr lang="zh-TW" altLang="en-US" sz="2400" dirty="0">
              <a:latin typeface="標楷體" panose="03000509000000000000" pitchFamily="65" charset="-120"/>
              <a:ea typeface="標楷體" panose="03000509000000000000" pitchFamily="65" charset="-120"/>
            </a:endParaRPr>
          </a:p>
          <a:p>
            <a:pPr marL="457200" indent="-457200">
              <a:buClr>
                <a:schemeClr val="tx2">
                  <a:lumMod val="75000"/>
                  <a:lumOff val="25000"/>
                </a:schemeClr>
              </a:buClr>
              <a:buFont typeface="Wingdings" panose="05000000000000000000" pitchFamily="2" charset="2"/>
              <a:buAutoNum type="circleNumWdWhitePlain"/>
            </a:pPr>
            <a:r>
              <a:rPr lang="zh-TW" altLang="en-US" sz="2400" dirty="0">
                <a:latin typeface="標楷體" panose="03000509000000000000" pitchFamily="65" charset="-120"/>
                <a:ea typeface="標楷體" panose="03000509000000000000" pitchFamily="65" charset="-120"/>
              </a:rPr>
              <a:t>日後若遇設備年限到期，管理員可直接在系統提出報廢申請，審核後系統標記為</a:t>
            </a:r>
            <a:r>
              <a:rPr lang="zh-TW" altLang="en-US" sz="2400" dirty="0">
                <a:solidFill>
                  <a:schemeClr val="tx2">
                    <a:lumMod val="75000"/>
                    <a:lumOff val="25000"/>
                  </a:schemeClr>
                </a:solidFill>
                <a:latin typeface="標楷體" panose="03000509000000000000" pitchFamily="65" charset="-120"/>
                <a:ea typeface="標楷體" panose="03000509000000000000" pitchFamily="65" charset="-120"/>
              </a:rPr>
              <a:t>報廢</a:t>
            </a:r>
            <a:r>
              <a:rPr lang="zh-TW" altLang="en-US" sz="2400" dirty="0">
                <a:latin typeface="標楷體" panose="03000509000000000000" pitchFamily="65" charset="-120"/>
                <a:ea typeface="標楷體" panose="03000509000000000000" pitchFamily="65" charset="-120"/>
              </a:rPr>
              <a:t>。</a:t>
            </a:r>
          </a:p>
        </p:txBody>
      </p:sp>
      <p:grpSp>
        <p:nvGrpSpPr>
          <p:cNvPr id="8" name="群組 7">
            <a:extLst>
              <a:ext uri="{FF2B5EF4-FFF2-40B4-BE49-F238E27FC236}">
                <a16:creationId xmlns:a16="http://schemas.microsoft.com/office/drawing/2014/main" id="{249E70EC-B31F-0CBF-E4EE-CA507A2230F7}"/>
              </a:ext>
            </a:extLst>
          </p:cNvPr>
          <p:cNvGrpSpPr/>
          <p:nvPr/>
        </p:nvGrpSpPr>
        <p:grpSpPr>
          <a:xfrm>
            <a:off x="-1200150" y="58142"/>
            <a:ext cx="4622800" cy="1200329"/>
            <a:chOff x="368300" y="1419930"/>
            <a:chExt cx="4622800" cy="1200329"/>
          </a:xfrm>
        </p:grpSpPr>
        <p:sp>
          <p:nvSpPr>
            <p:cNvPr id="5" name="矩形 4">
              <a:extLst>
                <a:ext uri="{FF2B5EF4-FFF2-40B4-BE49-F238E27FC236}">
                  <a16:creationId xmlns:a16="http://schemas.microsoft.com/office/drawing/2014/main" id="{86856ED7-B041-E72D-25B3-D87BC1D11A51}"/>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173FCCA7-006E-13A2-8A4E-C96943DE9763}"/>
                </a:ext>
              </a:extLst>
            </p:cNvPr>
            <p:cNvSpPr txBox="1"/>
            <p:nvPr/>
          </p:nvSpPr>
          <p:spPr>
            <a:xfrm>
              <a:off x="4254500" y="141993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1</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10" name="文字方塊 9">
            <a:extLst>
              <a:ext uri="{FF2B5EF4-FFF2-40B4-BE49-F238E27FC236}">
                <a16:creationId xmlns:a16="http://schemas.microsoft.com/office/drawing/2014/main" id="{D3AEBEFC-50C8-46BD-5641-2CEA444E5B7E}"/>
              </a:ext>
            </a:extLst>
          </p:cNvPr>
          <p:cNvSpPr txBox="1"/>
          <p:nvPr/>
        </p:nvSpPr>
        <p:spPr>
          <a:xfrm>
            <a:off x="374650" y="290284"/>
            <a:ext cx="2482850"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應用情境</a:t>
            </a:r>
          </a:p>
        </p:txBody>
      </p:sp>
      <p:cxnSp>
        <p:nvCxnSpPr>
          <p:cNvPr id="12" name="直線接點 11">
            <a:extLst>
              <a:ext uri="{FF2B5EF4-FFF2-40B4-BE49-F238E27FC236}">
                <a16:creationId xmlns:a16="http://schemas.microsoft.com/office/drawing/2014/main" id="{129E4F8D-86B8-B5EF-7F96-2D9CFD7B425C}"/>
              </a:ext>
            </a:extLst>
          </p:cNvPr>
          <p:cNvCxnSpPr>
            <a:cxnSpLocks/>
          </p:cNvCxnSpPr>
          <p:nvPr/>
        </p:nvCxnSpPr>
        <p:spPr>
          <a:xfrm>
            <a:off x="5257801" y="2848592"/>
            <a:ext cx="0" cy="3680508"/>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pic>
        <p:nvPicPr>
          <p:cNvPr id="14" name="圖片 13">
            <a:extLst>
              <a:ext uri="{FF2B5EF4-FFF2-40B4-BE49-F238E27FC236}">
                <a16:creationId xmlns:a16="http://schemas.microsoft.com/office/drawing/2014/main" id="{F5BA5029-CF3A-9E83-3002-2D221D8F80A6}"/>
              </a:ext>
            </a:extLst>
          </p:cNvPr>
          <p:cNvPicPr>
            <a:picLocks noChangeAspect="1"/>
          </p:cNvPicPr>
          <p:nvPr/>
        </p:nvPicPr>
        <p:blipFill>
          <a:blip r:embed="rId3"/>
          <a:stretch>
            <a:fillRect/>
          </a:stretch>
        </p:blipFill>
        <p:spPr>
          <a:xfrm>
            <a:off x="8712206" y="196825"/>
            <a:ext cx="3295647" cy="2735731"/>
          </a:xfrm>
          <a:prstGeom prst="rect">
            <a:avLst/>
          </a:prstGeom>
        </p:spPr>
      </p:pic>
      <p:sp>
        <p:nvSpPr>
          <p:cNvPr id="2074" name="標題 1">
            <a:extLst>
              <a:ext uri="{FF2B5EF4-FFF2-40B4-BE49-F238E27FC236}">
                <a16:creationId xmlns:a16="http://schemas.microsoft.com/office/drawing/2014/main" id="{F778BB3F-D999-35DC-43B8-58DACBE9793D}"/>
              </a:ext>
            </a:extLst>
          </p:cNvPr>
          <p:cNvSpPr txBox="1">
            <a:spLocks/>
          </p:cNvSpPr>
          <p:nvPr/>
        </p:nvSpPr>
        <p:spPr>
          <a:xfrm>
            <a:off x="3209923" y="10165558"/>
            <a:ext cx="4324350"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7200">
                <a:latin typeface="標楷體" panose="03000509000000000000" pitchFamily="65" charset="-120"/>
                <a:ea typeface="標楷體" panose="03000509000000000000" pitchFamily="65" charset="-120"/>
              </a:rPr>
              <a:t>專題急需</a:t>
            </a:r>
            <a:endParaRPr lang="zh-TW" altLang="en-US" sz="7200" dirty="0">
              <a:latin typeface="標楷體" panose="03000509000000000000" pitchFamily="65" charset="-120"/>
              <a:ea typeface="標楷體" panose="03000509000000000000" pitchFamily="65" charset="-120"/>
            </a:endParaRPr>
          </a:p>
        </p:txBody>
      </p:sp>
      <p:sp>
        <p:nvSpPr>
          <p:cNvPr id="2075" name="內容版面配置區 2">
            <a:extLst>
              <a:ext uri="{FF2B5EF4-FFF2-40B4-BE49-F238E27FC236}">
                <a16:creationId xmlns:a16="http://schemas.microsoft.com/office/drawing/2014/main" id="{94E86047-EBA1-3E57-8629-F23172C25BA2}"/>
              </a:ext>
            </a:extLst>
          </p:cNvPr>
          <p:cNvSpPr txBox="1">
            <a:spLocks/>
          </p:cNvSpPr>
          <p:nvPr/>
        </p:nvSpPr>
        <p:spPr>
          <a:xfrm>
            <a:off x="530223" y="11849610"/>
            <a:ext cx="501014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TW" altLang="en-US" sz="2400" b="1">
                <a:latin typeface="標楷體" panose="03000509000000000000" pitchFamily="65" charset="-120"/>
                <a:ea typeface="標楷體" panose="03000509000000000000" pitchFamily="65" charset="-120"/>
              </a:rPr>
              <a:t>學生器材借用與通報</a:t>
            </a:r>
            <a:r>
              <a:rPr lang="en-US" altLang="zh-TW" sz="2400" b="1">
                <a:latin typeface="標楷體" panose="03000509000000000000" pitchFamily="65" charset="-120"/>
                <a:ea typeface="標楷體" panose="03000509000000000000" pitchFamily="65" charset="-120"/>
              </a:rPr>
              <a:t>:</a:t>
            </a:r>
          </a:p>
          <a:p>
            <a:pPr marL="0" indent="0">
              <a:buFont typeface="Arial" panose="020B0604020202020204" pitchFamily="34" charset="0"/>
              <a:buNone/>
            </a:pPr>
            <a:endParaRPr lang="en-US" altLang="zh-TW" sz="2400" b="1">
              <a:latin typeface="標楷體" panose="03000509000000000000" pitchFamily="65" charset="-120"/>
              <a:ea typeface="標楷體" panose="03000509000000000000" pitchFamily="65" charset="-120"/>
            </a:endParaRPr>
          </a:p>
          <a:p>
            <a:pPr marL="0" indent="0">
              <a:buFont typeface="Arial" panose="020B0604020202020204" pitchFamily="34" charset="0"/>
              <a:buNone/>
            </a:pPr>
            <a:r>
              <a:rPr lang="zh-TW" altLang="en-US" sz="2400">
                <a:latin typeface="標楷體" panose="03000509000000000000" pitchFamily="65" charset="-120"/>
                <a:ea typeface="標楷體" panose="03000509000000000000" pitchFamily="65" charset="-120"/>
              </a:rPr>
              <a:t>學生小明最近在趕專題展演，急需</a:t>
            </a:r>
            <a:r>
              <a:rPr lang="zh-TW" altLang="en-US" sz="2400">
                <a:solidFill>
                  <a:schemeClr val="tx2">
                    <a:lumMod val="75000"/>
                    <a:lumOff val="25000"/>
                  </a:schemeClr>
                </a:solidFill>
                <a:latin typeface="標楷體" panose="03000509000000000000" pitchFamily="65" charset="-120"/>
                <a:ea typeface="標楷體" panose="03000509000000000000" pitchFamily="65" charset="-120"/>
              </a:rPr>
              <a:t>借用</a:t>
            </a:r>
            <a:r>
              <a:rPr lang="zh-TW" altLang="en-US" sz="2400">
                <a:latin typeface="標楷體" panose="03000509000000000000" pitchFamily="65" charset="-120"/>
                <a:ea typeface="標楷體" panose="03000509000000000000" pitchFamily="65" charset="-120"/>
              </a:rPr>
              <a:t>特定的投影機與實驗器材。</a:t>
            </a:r>
          </a:p>
          <a:p>
            <a:pPr marL="0" indent="0">
              <a:buFont typeface="Arial" panose="020B0604020202020204" pitchFamily="34" charset="0"/>
              <a:buNone/>
            </a:pPr>
            <a:r>
              <a:rPr lang="zh-TW" altLang="en-US" sz="2400">
                <a:latin typeface="標楷體" panose="03000509000000000000" pitchFamily="65" charset="-120"/>
                <a:ea typeface="標楷體" panose="03000509000000000000" pitchFamily="65" charset="-120"/>
              </a:rPr>
              <a:t>同時，他發現實驗室的一台電腦故障了，需要即時向系辦發出</a:t>
            </a:r>
            <a:r>
              <a:rPr lang="zh-TW" altLang="en-US" sz="2400">
                <a:solidFill>
                  <a:schemeClr val="tx2">
                    <a:lumMod val="75000"/>
                    <a:lumOff val="25000"/>
                  </a:schemeClr>
                </a:solidFill>
                <a:latin typeface="標楷體" panose="03000509000000000000" pitchFamily="65" charset="-120"/>
                <a:ea typeface="標楷體" panose="03000509000000000000" pitchFamily="65" charset="-120"/>
              </a:rPr>
              <a:t>維修通報</a:t>
            </a:r>
            <a:r>
              <a:rPr lang="zh-TW" altLang="en-US" sz="2400">
                <a:latin typeface="標楷體" panose="03000509000000000000" pitchFamily="65" charset="-120"/>
                <a:ea typeface="標楷體" panose="03000509000000000000" pitchFamily="65" charset="-120"/>
              </a:rPr>
              <a:t>。</a:t>
            </a:r>
            <a:endParaRPr lang="zh-TW" altLang="en-US" sz="2400" dirty="0">
              <a:latin typeface="標楷體" panose="03000509000000000000" pitchFamily="65" charset="-120"/>
              <a:ea typeface="標楷體" panose="03000509000000000000" pitchFamily="65" charset="-120"/>
            </a:endParaRPr>
          </a:p>
        </p:txBody>
      </p:sp>
      <p:sp>
        <p:nvSpPr>
          <p:cNvPr id="2076" name="內容版面配置區 3">
            <a:extLst>
              <a:ext uri="{FF2B5EF4-FFF2-40B4-BE49-F238E27FC236}">
                <a16:creationId xmlns:a16="http://schemas.microsoft.com/office/drawing/2014/main" id="{57B980C2-7F38-DAFD-918B-B81E4F3585F2}"/>
              </a:ext>
            </a:extLst>
          </p:cNvPr>
          <p:cNvSpPr txBox="1">
            <a:spLocks/>
          </p:cNvSpPr>
          <p:nvPr/>
        </p:nvSpPr>
        <p:spPr>
          <a:xfrm>
            <a:off x="5645158" y="11630912"/>
            <a:ext cx="6597640" cy="16846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2">
                  <a:lumMod val="75000"/>
                  <a:lumOff val="25000"/>
                </a:schemeClr>
              </a:buClr>
              <a:buFont typeface="Arial" panose="020B0604020202020204" pitchFamily="34" charset="0"/>
              <a:buNone/>
            </a:pPr>
            <a:r>
              <a:rPr lang="zh-TW" altLang="en-US" sz="2400" b="1">
                <a:latin typeface="標楷體" panose="03000509000000000000" pitchFamily="65" charset="-120"/>
                <a:ea typeface="標楷體" panose="03000509000000000000" pitchFamily="65" charset="-120"/>
              </a:rPr>
              <a:t>操作流程</a:t>
            </a:r>
            <a:r>
              <a:rPr lang="en-US" altLang="zh-TW" sz="2400" b="1">
                <a:latin typeface="標楷體" panose="03000509000000000000" pitchFamily="65" charset="-120"/>
                <a:ea typeface="標楷體" panose="03000509000000000000" pitchFamily="65" charset="-120"/>
              </a:rPr>
              <a:t>(</a:t>
            </a:r>
            <a:r>
              <a:rPr lang="zh-TW" altLang="en-US" sz="2400" b="1">
                <a:latin typeface="標楷體" panose="03000509000000000000" pitchFamily="65" charset="-120"/>
                <a:ea typeface="標楷體" panose="03000509000000000000" pitchFamily="65" charset="-120"/>
              </a:rPr>
              <a:t>借用</a:t>
            </a:r>
            <a:r>
              <a:rPr lang="en-US" altLang="zh-TW" sz="2400" b="1">
                <a:latin typeface="標楷體" panose="03000509000000000000" pitchFamily="65" charset="-120"/>
                <a:ea typeface="標楷體" panose="03000509000000000000" pitchFamily="65" charset="-120"/>
              </a:rPr>
              <a:t>):</a:t>
            </a:r>
          </a:p>
          <a:p>
            <a:pPr marL="457200" indent="-457200">
              <a:buClr>
                <a:schemeClr val="tx2">
                  <a:lumMod val="75000"/>
                  <a:lumOff val="25000"/>
                </a:schemeClr>
              </a:buClr>
              <a:buFont typeface="Wingdings" panose="05000000000000000000" pitchFamily="2" charset="2"/>
              <a:buAutoNum type="circleNumWdWhitePlain"/>
            </a:pPr>
            <a:r>
              <a:rPr lang="zh-TW" altLang="en-US" sz="2000">
                <a:latin typeface="標楷體" panose="03000509000000000000" pitchFamily="65" charset="-120"/>
                <a:ea typeface="標楷體" panose="03000509000000000000" pitchFamily="65" charset="-120"/>
              </a:rPr>
              <a:t>條件篩選：依「投影機」與「可用」狀態找尋。</a:t>
            </a:r>
          </a:p>
          <a:p>
            <a:pPr marL="514350" indent="-514350">
              <a:buClr>
                <a:schemeClr val="tx2">
                  <a:lumMod val="75000"/>
                  <a:lumOff val="25000"/>
                </a:schemeClr>
              </a:buClr>
              <a:buFont typeface="Wingdings" panose="05000000000000000000" pitchFamily="2" charset="2"/>
              <a:buAutoNum type="circleNumWdWhitePlain"/>
            </a:pPr>
            <a:r>
              <a:rPr lang="zh-TW" altLang="en-US" sz="2000">
                <a:latin typeface="標楷體" panose="03000509000000000000" pitchFamily="65" charset="-120"/>
                <a:ea typeface="標楷體" panose="03000509000000000000" pitchFamily="65" charset="-120"/>
              </a:rPr>
              <a:t>提出申請單：填寫借用起迄日，或填寫損壞描述。</a:t>
            </a:r>
          </a:p>
          <a:p>
            <a:pPr marL="514350" indent="-514350">
              <a:buClr>
                <a:schemeClr val="tx2">
                  <a:lumMod val="75000"/>
                  <a:lumOff val="25000"/>
                </a:schemeClr>
              </a:buClr>
              <a:buFont typeface="Wingdings" panose="05000000000000000000" pitchFamily="2" charset="2"/>
              <a:buAutoNum type="circleNumWdWhitePlain"/>
            </a:pPr>
            <a:r>
              <a:rPr lang="zh-TW" altLang="en-US" sz="2000">
                <a:latin typeface="標楷體" panose="03000509000000000000" pitchFamily="65" charset="-120"/>
                <a:ea typeface="標楷體" panose="03000509000000000000" pitchFamily="65" charset="-120"/>
              </a:rPr>
              <a:t>後台審核聯動：管理員核准後，自動變更為</a:t>
            </a:r>
            <a:r>
              <a:rPr lang="zh-TW" altLang="en-US" sz="2000">
                <a:solidFill>
                  <a:schemeClr val="tx2">
                    <a:lumMod val="75000"/>
                    <a:lumOff val="25000"/>
                  </a:schemeClr>
                </a:solidFill>
                <a:latin typeface="標楷體" panose="03000509000000000000" pitchFamily="65" charset="-120"/>
                <a:ea typeface="標楷體" panose="03000509000000000000" pitchFamily="65" charset="-120"/>
              </a:rPr>
              <a:t>借出中</a:t>
            </a:r>
            <a:r>
              <a:rPr lang="zh-TW" altLang="en-US" sz="2000">
                <a:latin typeface="標楷體" panose="03000509000000000000" pitchFamily="65" charset="-120"/>
                <a:ea typeface="標楷體" panose="03000509000000000000" pitchFamily="65" charset="-120"/>
              </a:rPr>
              <a:t>。</a:t>
            </a:r>
            <a:endParaRPr lang="zh-TW" altLang="en-US" sz="2000" dirty="0">
              <a:latin typeface="標楷體" panose="03000509000000000000" pitchFamily="65" charset="-120"/>
              <a:ea typeface="標楷體" panose="03000509000000000000" pitchFamily="65" charset="-120"/>
            </a:endParaRPr>
          </a:p>
        </p:txBody>
      </p:sp>
      <p:grpSp>
        <p:nvGrpSpPr>
          <p:cNvPr id="2077" name="群組 2076">
            <a:extLst>
              <a:ext uri="{FF2B5EF4-FFF2-40B4-BE49-F238E27FC236}">
                <a16:creationId xmlns:a16="http://schemas.microsoft.com/office/drawing/2014/main" id="{001D9357-88FE-8089-6B9C-876AF17798CB}"/>
              </a:ext>
            </a:extLst>
          </p:cNvPr>
          <p:cNvGrpSpPr/>
          <p:nvPr/>
        </p:nvGrpSpPr>
        <p:grpSpPr>
          <a:xfrm>
            <a:off x="-1044577" y="8874942"/>
            <a:ext cx="4622800" cy="1200329"/>
            <a:chOff x="368300" y="1419930"/>
            <a:chExt cx="4622800" cy="1200329"/>
          </a:xfrm>
        </p:grpSpPr>
        <p:sp>
          <p:nvSpPr>
            <p:cNvPr id="2078" name="矩形 2077">
              <a:extLst>
                <a:ext uri="{FF2B5EF4-FFF2-40B4-BE49-F238E27FC236}">
                  <a16:creationId xmlns:a16="http://schemas.microsoft.com/office/drawing/2014/main" id="{DBA78BCB-AFF1-5A0A-6868-C227F1153D7A}"/>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079" name="文字方塊 2078">
              <a:extLst>
                <a:ext uri="{FF2B5EF4-FFF2-40B4-BE49-F238E27FC236}">
                  <a16:creationId xmlns:a16="http://schemas.microsoft.com/office/drawing/2014/main" id="{EA40877F-DAF4-3756-6DC2-15B31E2FA408}"/>
                </a:ext>
              </a:extLst>
            </p:cNvPr>
            <p:cNvSpPr txBox="1"/>
            <p:nvPr/>
          </p:nvSpPr>
          <p:spPr>
            <a:xfrm>
              <a:off x="4254500" y="141993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2</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2080" name="文字方塊 2079">
            <a:extLst>
              <a:ext uri="{FF2B5EF4-FFF2-40B4-BE49-F238E27FC236}">
                <a16:creationId xmlns:a16="http://schemas.microsoft.com/office/drawing/2014/main" id="{B9532F5C-49C8-6BD1-8D0F-86C2149CD267}"/>
              </a:ext>
            </a:extLst>
          </p:cNvPr>
          <p:cNvSpPr txBox="1"/>
          <p:nvPr/>
        </p:nvSpPr>
        <p:spPr>
          <a:xfrm>
            <a:off x="530223" y="9107084"/>
            <a:ext cx="2482850"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應用情境</a:t>
            </a:r>
          </a:p>
        </p:txBody>
      </p:sp>
      <p:cxnSp>
        <p:nvCxnSpPr>
          <p:cNvPr id="2081" name="直線接點 2080">
            <a:extLst>
              <a:ext uri="{FF2B5EF4-FFF2-40B4-BE49-F238E27FC236}">
                <a16:creationId xmlns:a16="http://schemas.microsoft.com/office/drawing/2014/main" id="{334E30E0-DC08-DCC3-513D-20BDEF15A98E}"/>
              </a:ext>
            </a:extLst>
          </p:cNvPr>
          <p:cNvCxnSpPr>
            <a:cxnSpLocks/>
          </p:cNvCxnSpPr>
          <p:nvPr/>
        </p:nvCxnSpPr>
        <p:spPr>
          <a:xfrm>
            <a:off x="5540374" y="11665392"/>
            <a:ext cx="0" cy="3680508"/>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pic>
        <p:nvPicPr>
          <p:cNvPr id="2082" name="Picture 2">
            <a:extLst>
              <a:ext uri="{FF2B5EF4-FFF2-40B4-BE49-F238E27FC236}">
                <a16:creationId xmlns:a16="http://schemas.microsoft.com/office/drawing/2014/main" id="{1DB379EB-3CF3-8B03-08FE-B87C97C339CA}"/>
              </a:ext>
            </a:extLst>
          </p:cNvPr>
          <p:cNvPicPr>
            <a:picLocks noChangeAspect="1"/>
          </p:cNvPicPr>
          <p:nvPr/>
        </p:nvPicPr>
        <p:blipFill>
          <a:blip r:embed="rId4"/>
          <a:srcRect l="16523" t="19527" r="16250" b="18428"/>
          <a:stretch>
            <a:fillRect/>
          </a:stretch>
        </p:blipFill>
        <p:spPr>
          <a:xfrm>
            <a:off x="7038979" y="8980194"/>
            <a:ext cx="5073649" cy="2612001"/>
          </a:xfrm>
          <a:prstGeom prst="rect">
            <a:avLst/>
          </a:prstGeom>
        </p:spPr>
      </p:pic>
      <p:sp>
        <p:nvSpPr>
          <p:cNvPr id="2083" name="內容版面配置區 3">
            <a:extLst>
              <a:ext uri="{FF2B5EF4-FFF2-40B4-BE49-F238E27FC236}">
                <a16:creationId xmlns:a16="http://schemas.microsoft.com/office/drawing/2014/main" id="{8B8699F6-3AE0-0C20-3691-B1C16B1B057A}"/>
              </a:ext>
            </a:extLst>
          </p:cNvPr>
          <p:cNvSpPr txBox="1">
            <a:spLocks/>
          </p:cNvSpPr>
          <p:nvPr/>
        </p:nvSpPr>
        <p:spPr>
          <a:xfrm>
            <a:off x="5645158" y="13572144"/>
            <a:ext cx="6597640" cy="16846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2">
                  <a:lumMod val="75000"/>
                  <a:lumOff val="25000"/>
                </a:schemeClr>
              </a:buClr>
              <a:buFont typeface="Arial" panose="020B0604020202020204" pitchFamily="34" charset="0"/>
              <a:buNone/>
            </a:pPr>
            <a:r>
              <a:rPr lang="zh-TW" altLang="en-US" sz="2400" b="1" dirty="0">
                <a:latin typeface="標楷體" panose="03000509000000000000" pitchFamily="65" charset="-120"/>
                <a:ea typeface="標楷體" panose="03000509000000000000" pitchFamily="65" charset="-120"/>
              </a:rPr>
              <a:t>操作流程</a:t>
            </a:r>
            <a:r>
              <a:rPr lang="en-US" altLang="zh-TW" sz="2400" b="1" dirty="0">
                <a:latin typeface="標楷體" panose="03000509000000000000" pitchFamily="65" charset="-120"/>
                <a:ea typeface="標楷體" panose="03000509000000000000" pitchFamily="65" charset="-120"/>
              </a:rPr>
              <a:t>(</a:t>
            </a:r>
            <a:r>
              <a:rPr lang="zh-TW" altLang="en-US" sz="2400" b="1" dirty="0">
                <a:latin typeface="標楷體" panose="03000509000000000000" pitchFamily="65" charset="-120"/>
                <a:ea typeface="標楷體" panose="03000509000000000000" pitchFamily="65" charset="-120"/>
              </a:rPr>
              <a:t>維修</a:t>
            </a:r>
            <a:r>
              <a:rPr lang="en-US" altLang="zh-TW" sz="2400" b="1" dirty="0">
                <a:latin typeface="標楷體" panose="03000509000000000000" pitchFamily="65" charset="-120"/>
                <a:ea typeface="標楷體" panose="03000509000000000000" pitchFamily="65" charset="-120"/>
              </a:rPr>
              <a:t>):</a:t>
            </a:r>
          </a:p>
          <a:p>
            <a:pPr marL="457200" indent="-457200">
              <a:buClr>
                <a:schemeClr val="tx2">
                  <a:lumMod val="75000"/>
                  <a:lumOff val="25000"/>
                </a:schemeClr>
              </a:buClr>
              <a:buFont typeface="Wingdings" panose="05000000000000000000" pitchFamily="2" charset="2"/>
              <a:buAutoNum type="circleNumWdWhitePlain"/>
            </a:pPr>
            <a:r>
              <a:rPr lang="zh-TW" altLang="en-US" sz="2000" dirty="0">
                <a:latin typeface="標楷體" panose="03000509000000000000" pitchFamily="65" charset="-120"/>
                <a:ea typeface="標楷體" panose="03000509000000000000" pitchFamily="65" charset="-120"/>
              </a:rPr>
              <a:t>條件篩選：依「電腦」與「可用」狀態找尋。</a:t>
            </a:r>
          </a:p>
          <a:p>
            <a:pPr marL="514350" indent="-514350">
              <a:buClr>
                <a:schemeClr val="tx2">
                  <a:lumMod val="75000"/>
                  <a:lumOff val="25000"/>
                </a:schemeClr>
              </a:buClr>
              <a:buFont typeface="Wingdings" panose="05000000000000000000" pitchFamily="2" charset="2"/>
              <a:buAutoNum type="circleNumWdWhitePlain"/>
            </a:pPr>
            <a:r>
              <a:rPr lang="zh-TW" altLang="en-US" sz="2000" dirty="0">
                <a:latin typeface="標楷體" panose="03000509000000000000" pitchFamily="65" charset="-120"/>
                <a:ea typeface="標楷體" panose="03000509000000000000" pitchFamily="65" charset="-120"/>
              </a:rPr>
              <a:t>提交設備損壞通報。</a:t>
            </a:r>
            <a:endParaRPr lang="en-US" altLang="zh-TW" sz="2000" dirty="0">
              <a:latin typeface="標楷體" panose="03000509000000000000" pitchFamily="65" charset="-120"/>
              <a:ea typeface="標楷體" panose="03000509000000000000" pitchFamily="65" charset="-120"/>
            </a:endParaRPr>
          </a:p>
          <a:p>
            <a:pPr marL="514350" indent="-514350">
              <a:buClr>
                <a:schemeClr val="tx2">
                  <a:lumMod val="75000"/>
                  <a:lumOff val="25000"/>
                </a:schemeClr>
              </a:buClr>
              <a:buFont typeface="Wingdings" panose="05000000000000000000" pitchFamily="2" charset="2"/>
              <a:buAutoNum type="circleNumWdWhitePlain"/>
            </a:pPr>
            <a:r>
              <a:rPr lang="zh-TW" altLang="en-US" sz="2000" dirty="0">
                <a:latin typeface="標楷體" panose="03000509000000000000" pitchFamily="65" charset="-120"/>
                <a:ea typeface="標楷體" panose="03000509000000000000" pitchFamily="65" charset="-120"/>
              </a:rPr>
              <a:t>後台審核聯動：管理員建立維護紀錄並追蹤處理進度。</a:t>
            </a:r>
          </a:p>
        </p:txBody>
      </p:sp>
    </p:spTree>
    <p:extLst>
      <p:ext uri="{BB962C8B-B14F-4D97-AF65-F5344CB8AC3E}">
        <p14:creationId xmlns:p14="http://schemas.microsoft.com/office/powerpoint/2010/main" val="11445489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8" fill="hold" grpId="1"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nodeType="clickEffect">
                                  <p:stCondLst>
                                    <p:cond delay="0"/>
                                  </p:stCondLst>
                                  <p:childTnLst>
                                    <p:anim calcmode="lin" valueType="num">
                                      <p:cBhvr additive="base">
                                        <p:cTn id="16" dur="500"/>
                                        <p:tgtEl>
                                          <p:spTgt spid="8"/>
                                        </p:tgtEl>
                                        <p:attrNameLst>
                                          <p:attrName>ppt_x</p:attrName>
                                        </p:attrNameLst>
                                      </p:cBhvr>
                                      <p:tavLst>
                                        <p:tav tm="0">
                                          <p:val>
                                            <p:strVal val="ppt_x"/>
                                          </p:val>
                                        </p:tav>
                                        <p:tav tm="100000">
                                          <p:val>
                                            <p:strVal val="0-ppt_w/2"/>
                                          </p:val>
                                        </p:tav>
                                      </p:tavLst>
                                    </p:anim>
                                    <p:anim calcmode="lin" valueType="num">
                                      <p:cBhvr additive="base">
                                        <p:cTn id="17" dur="500"/>
                                        <p:tgtEl>
                                          <p:spTgt spid="8"/>
                                        </p:tgtEl>
                                        <p:attrNameLst>
                                          <p:attrName>ppt_y</p:attrName>
                                        </p:attrNameLst>
                                      </p:cBhvr>
                                      <p:tavLst>
                                        <p:tav tm="0">
                                          <p:val>
                                            <p:strVal val="ppt_y"/>
                                          </p:val>
                                        </p:tav>
                                        <p:tav tm="100000">
                                          <p:val>
                                            <p:strVal val="ppt_y"/>
                                          </p:val>
                                        </p:tav>
                                      </p:tavLst>
                                    </p:anim>
                                    <p:set>
                                      <p:cBhvr>
                                        <p:cTn id="18" dur="1" fill="hold">
                                          <p:stCondLst>
                                            <p:cond delay="499"/>
                                          </p:stCondLst>
                                        </p:cTn>
                                        <p:tgtEl>
                                          <p:spTgt spid="8"/>
                                        </p:tgtEl>
                                        <p:attrNameLst>
                                          <p:attrName>style.visibility</p:attrName>
                                        </p:attrNameLst>
                                      </p:cBhvr>
                                      <p:to>
                                        <p:strVal val="hidden"/>
                                      </p:to>
                                    </p:set>
                                  </p:childTnLst>
                                </p:cTn>
                              </p:par>
                              <p:par>
                                <p:cTn id="19" presetID="2" presetClass="exit" presetSubtype="8" fill="hold" grpId="0" nodeType="withEffect">
                                  <p:stCondLst>
                                    <p:cond delay="0"/>
                                  </p:stCondLst>
                                  <p:childTnLst>
                                    <p:anim calcmode="lin" valueType="num">
                                      <p:cBhvr additive="base">
                                        <p:cTn id="20" dur="500"/>
                                        <p:tgtEl>
                                          <p:spTgt spid="10"/>
                                        </p:tgtEl>
                                        <p:attrNameLst>
                                          <p:attrName>ppt_x</p:attrName>
                                        </p:attrNameLst>
                                      </p:cBhvr>
                                      <p:tavLst>
                                        <p:tav tm="0">
                                          <p:val>
                                            <p:strVal val="ppt_x"/>
                                          </p:val>
                                        </p:tav>
                                        <p:tav tm="100000">
                                          <p:val>
                                            <p:strVal val="0-ppt_w/2"/>
                                          </p:val>
                                        </p:tav>
                                      </p:tavLst>
                                    </p:anim>
                                    <p:anim calcmode="lin" valueType="num">
                                      <p:cBhvr additive="base">
                                        <p:cTn id="21" dur="500"/>
                                        <p:tgtEl>
                                          <p:spTgt spid="10"/>
                                        </p:tgtEl>
                                        <p:attrNameLst>
                                          <p:attrName>ppt_y</p:attrName>
                                        </p:attrNameLst>
                                      </p:cBhvr>
                                      <p:tavLst>
                                        <p:tav tm="0">
                                          <p:val>
                                            <p:strVal val="ppt_y"/>
                                          </p:val>
                                        </p:tav>
                                        <p:tav tm="100000">
                                          <p:val>
                                            <p:strVal val="ppt_y"/>
                                          </p:val>
                                        </p:tav>
                                      </p:tavLst>
                                    </p:anim>
                                    <p:set>
                                      <p:cBhvr>
                                        <p:cTn id="22" dur="1" fill="hold">
                                          <p:stCondLst>
                                            <p:cond delay="499"/>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9F5A67A-8A6A-90F2-C684-4BC4F3F27161}"/>
              </a:ext>
            </a:extLst>
          </p:cNvPr>
          <p:cNvSpPr>
            <a:spLocks noGrp="1"/>
          </p:cNvSpPr>
          <p:nvPr>
            <p:ph type="title"/>
          </p:nvPr>
        </p:nvSpPr>
        <p:spPr>
          <a:xfrm>
            <a:off x="3054350" y="1348758"/>
            <a:ext cx="4324350" cy="1325563"/>
          </a:xfrm>
        </p:spPr>
        <p:txBody>
          <a:bodyPr>
            <a:noAutofit/>
          </a:bodyPr>
          <a:lstStyle/>
          <a:p>
            <a:r>
              <a:rPr lang="zh-TW" altLang="en-US" sz="7200" dirty="0">
                <a:latin typeface="標楷體" panose="03000509000000000000" pitchFamily="65" charset="-120"/>
                <a:ea typeface="標楷體" panose="03000509000000000000" pitchFamily="65" charset="-120"/>
              </a:rPr>
              <a:t>專題急需</a:t>
            </a:r>
          </a:p>
        </p:txBody>
      </p:sp>
      <p:sp>
        <p:nvSpPr>
          <p:cNvPr id="3" name="內容版面配置區 2">
            <a:extLst>
              <a:ext uri="{FF2B5EF4-FFF2-40B4-BE49-F238E27FC236}">
                <a16:creationId xmlns:a16="http://schemas.microsoft.com/office/drawing/2014/main" id="{F5409844-6D9C-933F-6D50-768833F74424}"/>
              </a:ext>
            </a:extLst>
          </p:cNvPr>
          <p:cNvSpPr>
            <a:spLocks noGrp="1"/>
          </p:cNvSpPr>
          <p:nvPr>
            <p:ph sz="half" idx="1"/>
          </p:nvPr>
        </p:nvSpPr>
        <p:spPr>
          <a:xfrm>
            <a:off x="374650" y="3032810"/>
            <a:ext cx="5010149" cy="4351338"/>
          </a:xfrm>
        </p:spPr>
        <p:txBody>
          <a:bodyPr>
            <a:normAutofit/>
          </a:bodyPr>
          <a:lstStyle/>
          <a:p>
            <a:pPr marL="0" indent="0">
              <a:buNone/>
            </a:pPr>
            <a:r>
              <a:rPr lang="zh-TW" altLang="en-US" sz="2400" b="1" dirty="0">
                <a:latin typeface="標楷體" panose="03000509000000000000" pitchFamily="65" charset="-120"/>
                <a:ea typeface="標楷體" panose="03000509000000000000" pitchFamily="65" charset="-120"/>
              </a:rPr>
              <a:t>學生器材借用與通報</a:t>
            </a:r>
            <a:r>
              <a:rPr lang="en-US" altLang="zh-TW" sz="2400" b="1" dirty="0">
                <a:latin typeface="標楷體" panose="03000509000000000000" pitchFamily="65" charset="-120"/>
                <a:ea typeface="標楷體" panose="03000509000000000000" pitchFamily="65" charset="-120"/>
              </a:rPr>
              <a:t>:</a:t>
            </a:r>
          </a:p>
          <a:p>
            <a:pPr marL="0" indent="0">
              <a:buNone/>
            </a:pPr>
            <a:endParaRPr lang="en-US" altLang="zh-TW" sz="2400" b="1" dirty="0">
              <a:latin typeface="標楷體" panose="03000509000000000000" pitchFamily="65" charset="-120"/>
              <a:ea typeface="標楷體" panose="03000509000000000000" pitchFamily="65" charset="-120"/>
            </a:endParaRPr>
          </a:p>
          <a:p>
            <a:pPr marL="0" indent="0">
              <a:buNone/>
            </a:pPr>
            <a:r>
              <a:rPr lang="zh-TW" altLang="en-US" sz="2400" dirty="0">
                <a:latin typeface="標楷體" panose="03000509000000000000" pitchFamily="65" charset="-120"/>
                <a:ea typeface="標楷體" panose="03000509000000000000" pitchFamily="65" charset="-120"/>
              </a:rPr>
              <a:t>學生小明最近在趕專題展演，急需</a:t>
            </a:r>
            <a:r>
              <a:rPr lang="zh-TW" altLang="en-US" sz="2400" dirty="0">
                <a:solidFill>
                  <a:schemeClr val="tx2">
                    <a:lumMod val="75000"/>
                    <a:lumOff val="25000"/>
                  </a:schemeClr>
                </a:solidFill>
                <a:latin typeface="標楷體" panose="03000509000000000000" pitchFamily="65" charset="-120"/>
                <a:ea typeface="標楷體" panose="03000509000000000000" pitchFamily="65" charset="-120"/>
              </a:rPr>
              <a:t>借用</a:t>
            </a:r>
            <a:r>
              <a:rPr lang="zh-TW" altLang="en-US" sz="2400" dirty="0">
                <a:latin typeface="標楷體" panose="03000509000000000000" pitchFamily="65" charset="-120"/>
                <a:ea typeface="標楷體" panose="03000509000000000000" pitchFamily="65" charset="-120"/>
              </a:rPr>
              <a:t>特定的投影機與實驗器材。</a:t>
            </a:r>
          </a:p>
          <a:p>
            <a:pPr marL="0" indent="0">
              <a:buNone/>
            </a:pPr>
            <a:r>
              <a:rPr lang="zh-TW" altLang="en-US" sz="2400" dirty="0">
                <a:latin typeface="標楷體" panose="03000509000000000000" pitchFamily="65" charset="-120"/>
                <a:ea typeface="標楷體" panose="03000509000000000000" pitchFamily="65" charset="-120"/>
              </a:rPr>
              <a:t>同時，他發現實驗室的一台電腦故障了，需要即時向系辦發出</a:t>
            </a:r>
            <a:r>
              <a:rPr lang="zh-TW" altLang="en-US" sz="2400" dirty="0">
                <a:solidFill>
                  <a:schemeClr val="tx2">
                    <a:lumMod val="75000"/>
                    <a:lumOff val="25000"/>
                  </a:schemeClr>
                </a:solidFill>
                <a:latin typeface="標楷體" panose="03000509000000000000" pitchFamily="65" charset="-120"/>
                <a:ea typeface="標楷體" panose="03000509000000000000" pitchFamily="65" charset="-120"/>
              </a:rPr>
              <a:t>維修通報</a:t>
            </a:r>
            <a:r>
              <a:rPr lang="zh-TW" altLang="en-US" sz="2400" dirty="0">
                <a:latin typeface="標楷體" panose="03000509000000000000" pitchFamily="65" charset="-120"/>
                <a:ea typeface="標楷體" panose="03000509000000000000" pitchFamily="65" charset="-120"/>
              </a:rPr>
              <a:t>。</a:t>
            </a:r>
          </a:p>
        </p:txBody>
      </p:sp>
      <p:sp>
        <p:nvSpPr>
          <p:cNvPr id="4" name="內容版面配置區 3">
            <a:extLst>
              <a:ext uri="{FF2B5EF4-FFF2-40B4-BE49-F238E27FC236}">
                <a16:creationId xmlns:a16="http://schemas.microsoft.com/office/drawing/2014/main" id="{E73D05F2-1967-C102-B3AB-43608A4138EB}"/>
              </a:ext>
            </a:extLst>
          </p:cNvPr>
          <p:cNvSpPr>
            <a:spLocks noGrp="1"/>
          </p:cNvSpPr>
          <p:nvPr>
            <p:ph sz="half" idx="2"/>
          </p:nvPr>
        </p:nvSpPr>
        <p:spPr>
          <a:xfrm>
            <a:off x="5489585" y="2814112"/>
            <a:ext cx="6597640" cy="1684691"/>
          </a:xfrm>
        </p:spPr>
        <p:txBody>
          <a:bodyPr>
            <a:normAutofit/>
          </a:bodyPr>
          <a:lstStyle/>
          <a:p>
            <a:pPr marL="0" indent="0">
              <a:buClr>
                <a:schemeClr val="tx2">
                  <a:lumMod val="75000"/>
                  <a:lumOff val="25000"/>
                </a:schemeClr>
              </a:buClr>
              <a:buNone/>
            </a:pPr>
            <a:r>
              <a:rPr lang="zh-TW" altLang="en-US" sz="2400" b="1" dirty="0">
                <a:latin typeface="標楷體" panose="03000509000000000000" pitchFamily="65" charset="-120"/>
                <a:ea typeface="標楷體" panose="03000509000000000000" pitchFamily="65" charset="-120"/>
              </a:rPr>
              <a:t>操作流程</a:t>
            </a:r>
            <a:r>
              <a:rPr lang="en-US" altLang="zh-TW" sz="2400" b="1" dirty="0">
                <a:latin typeface="標楷體" panose="03000509000000000000" pitchFamily="65" charset="-120"/>
                <a:ea typeface="標楷體" panose="03000509000000000000" pitchFamily="65" charset="-120"/>
              </a:rPr>
              <a:t>(</a:t>
            </a:r>
            <a:r>
              <a:rPr lang="zh-TW" altLang="en-US" sz="2400" b="1" dirty="0">
                <a:latin typeface="標楷體" panose="03000509000000000000" pitchFamily="65" charset="-120"/>
                <a:ea typeface="標楷體" panose="03000509000000000000" pitchFamily="65" charset="-120"/>
              </a:rPr>
              <a:t>借用</a:t>
            </a:r>
            <a:r>
              <a:rPr lang="en-US" altLang="zh-TW" sz="2400" b="1" dirty="0">
                <a:latin typeface="標楷體" panose="03000509000000000000" pitchFamily="65" charset="-120"/>
                <a:ea typeface="標楷體" panose="03000509000000000000" pitchFamily="65" charset="-120"/>
              </a:rPr>
              <a:t>):</a:t>
            </a:r>
          </a:p>
          <a:p>
            <a:pPr marL="457200" indent="-457200">
              <a:buClr>
                <a:schemeClr val="tx2">
                  <a:lumMod val="75000"/>
                  <a:lumOff val="25000"/>
                </a:schemeClr>
              </a:buClr>
              <a:buFont typeface="Wingdings" panose="05000000000000000000" pitchFamily="2" charset="2"/>
              <a:buAutoNum type="circleNumWdWhitePlain"/>
            </a:pPr>
            <a:r>
              <a:rPr lang="zh-TW" altLang="en-US" sz="2000" dirty="0">
                <a:latin typeface="標楷體" panose="03000509000000000000" pitchFamily="65" charset="-120"/>
                <a:ea typeface="標楷體" panose="03000509000000000000" pitchFamily="65" charset="-120"/>
              </a:rPr>
              <a:t>條件篩選：依「投影機」與「可用」狀態找尋。</a:t>
            </a:r>
          </a:p>
          <a:p>
            <a:pPr marL="514350" indent="-514350">
              <a:buClr>
                <a:schemeClr val="tx2">
                  <a:lumMod val="75000"/>
                  <a:lumOff val="25000"/>
                </a:schemeClr>
              </a:buClr>
              <a:buFont typeface="Wingdings" panose="05000000000000000000" pitchFamily="2" charset="2"/>
              <a:buAutoNum type="circleNumWdWhitePlain"/>
            </a:pPr>
            <a:r>
              <a:rPr lang="zh-TW" altLang="en-US" sz="2000" dirty="0">
                <a:latin typeface="標楷體" panose="03000509000000000000" pitchFamily="65" charset="-120"/>
                <a:ea typeface="標楷體" panose="03000509000000000000" pitchFamily="65" charset="-120"/>
              </a:rPr>
              <a:t>提出申請單：填寫借用起</a:t>
            </a:r>
            <a:r>
              <a:rPr lang="zh-TW" altLang="en-US" sz="2000">
                <a:latin typeface="標楷體" panose="03000509000000000000" pitchFamily="65" charset="-120"/>
                <a:ea typeface="標楷體" panose="03000509000000000000" pitchFamily="65" charset="-120"/>
              </a:rPr>
              <a:t>迄日。</a:t>
            </a:r>
            <a:endParaRPr lang="zh-TW" altLang="en-US" sz="2000" dirty="0">
              <a:latin typeface="標楷體" panose="03000509000000000000" pitchFamily="65" charset="-120"/>
              <a:ea typeface="標楷體" panose="03000509000000000000" pitchFamily="65" charset="-120"/>
            </a:endParaRPr>
          </a:p>
          <a:p>
            <a:pPr marL="514350" indent="-514350">
              <a:buClr>
                <a:schemeClr val="tx2">
                  <a:lumMod val="75000"/>
                  <a:lumOff val="25000"/>
                </a:schemeClr>
              </a:buClr>
              <a:buFont typeface="Wingdings" panose="05000000000000000000" pitchFamily="2" charset="2"/>
              <a:buAutoNum type="circleNumWdWhitePlain"/>
            </a:pPr>
            <a:r>
              <a:rPr lang="zh-TW" altLang="en-US" sz="2000" dirty="0">
                <a:latin typeface="標楷體" panose="03000509000000000000" pitchFamily="65" charset="-120"/>
                <a:ea typeface="標楷體" panose="03000509000000000000" pitchFamily="65" charset="-120"/>
              </a:rPr>
              <a:t>後台審核聯動：管理員核准後，自動變更為</a:t>
            </a:r>
            <a:r>
              <a:rPr lang="zh-TW" altLang="en-US" sz="2000" dirty="0">
                <a:solidFill>
                  <a:schemeClr val="tx2">
                    <a:lumMod val="75000"/>
                    <a:lumOff val="25000"/>
                  </a:schemeClr>
                </a:solidFill>
                <a:latin typeface="標楷體" panose="03000509000000000000" pitchFamily="65" charset="-120"/>
                <a:ea typeface="標楷體" panose="03000509000000000000" pitchFamily="65" charset="-120"/>
              </a:rPr>
              <a:t>借出中</a:t>
            </a:r>
            <a:r>
              <a:rPr lang="zh-TW" altLang="en-US" sz="2000" dirty="0">
                <a:latin typeface="標楷體" panose="03000509000000000000" pitchFamily="65" charset="-120"/>
                <a:ea typeface="標楷體" panose="03000509000000000000" pitchFamily="65" charset="-120"/>
              </a:rPr>
              <a:t>。</a:t>
            </a:r>
          </a:p>
        </p:txBody>
      </p:sp>
      <p:grpSp>
        <p:nvGrpSpPr>
          <p:cNvPr id="9" name="群組 8">
            <a:extLst>
              <a:ext uri="{FF2B5EF4-FFF2-40B4-BE49-F238E27FC236}">
                <a16:creationId xmlns:a16="http://schemas.microsoft.com/office/drawing/2014/main" id="{6CA7DF87-10C5-C7E0-7CAC-2D44CA988794}"/>
              </a:ext>
            </a:extLst>
          </p:cNvPr>
          <p:cNvGrpSpPr/>
          <p:nvPr/>
        </p:nvGrpSpPr>
        <p:grpSpPr>
          <a:xfrm>
            <a:off x="-1200150" y="58142"/>
            <a:ext cx="4622800" cy="1200329"/>
            <a:chOff x="368300" y="1419930"/>
            <a:chExt cx="4622800" cy="1200329"/>
          </a:xfrm>
        </p:grpSpPr>
        <p:sp>
          <p:nvSpPr>
            <p:cNvPr id="10" name="矩形 9">
              <a:extLst>
                <a:ext uri="{FF2B5EF4-FFF2-40B4-BE49-F238E27FC236}">
                  <a16:creationId xmlns:a16="http://schemas.microsoft.com/office/drawing/2014/main" id="{16B9BBC8-B0D2-0253-7FC0-4071232AE386}"/>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F29A566D-ECCF-DE5C-04B8-86A13F32F687}"/>
                </a:ext>
              </a:extLst>
            </p:cNvPr>
            <p:cNvSpPr txBox="1"/>
            <p:nvPr/>
          </p:nvSpPr>
          <p:spPr>
            <a:xfrm>
              <a:off x="4254500" y="141993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2</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12" name="文字方塊 11">
            <a:extLst>
              <a:ext uri="{FF2B5EF4-FFF2-40B4-BE49-F238E27FC236}">
                <a16:creationId xmlns:a16="http://schemas.microsoft.com/office/drawing/2014/main" id="{D3CC25E8-3D1C-77CE-1238-F1964257570F}"/>
              </a:ext>
            </a:extLst>
          </p:cNvPr>
          <p:cNvSpPr txBox="1"/>
          <p:nvPr/>
        </p:nvSpPr>
        <p:spPr>
          <a:xfrm>
            <a:off x="374650" y="290284"/>
            <a:ext cx="2482850"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應用情境</a:t>
            </a:r>
          </a:p>
        </p:txBody>
      </p:sp>
      <p:cxnSp>
        <p:nvCxnSpPr>
          <p:cNvPr id="13" name="直線接點 12">
            <a:extLst>
              <a:ext uri="{FF2B5EF4-FFF2-40B4-BE49-F238E27FC236}">
                <a16:creationId xmlns:a16="http://schemas.microsoft.com/office/drawing/2014/main" id="{9521D9FD-0C19-92F9-7E9F-23071E04F42E}"/>
              </a:ext>
            </a:extLst>
          </p:cNvPr>
          <p:cNvCxnSpPr>
            <a:cxnSpLocks/>
          </p:cNvCxnSpPr>
          <p:nvPr/>
        </p:nvCxnSpPr>
        <p:spPr>
          <a:xfrm>
            <a:off x="5384801" y="2848592"/>
            <a:ext cx="0" cy="3680508"/>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pic>
        <p:nvPicPr>
          <p:cNvPr id="14" name="Picture 2">
            <a:extLst>
              <a:ext uri="{FF2B5EF4-FFF2-40B4-BE49-F238E27FC236}">
                <a16:creationId xmlns:a16="http://schemas.microsoft.com/office/drawing/2014/main" id="{5A1425FA-8DD3-E1B8-BB95-41B6EF425D22}"/>
              </a:ext>
            </a:extLst>
          </p:cNvPr>
          <p:cNvPicPr>
            <a:picLocks noChangeAspect="1"/>
          </p:cNvPicPr>
          <p:nvPr/>
        </p:nvPicPr>
        <p:blipFill>
          <a:blip r:embed="rId2"/>
          <a:srcRect l="16523" t="19527" r="16250" b="18428"/>
          <a:stretch>
            <a:fillRect/>
          </a:stretch>
        </p:blipFill>
        <p:spPr>
          <a:xfrm>
            <a:off x="6883406" y="163394"/>
            <a:ext cx="5073649" cy="2612001"/>
          </a:xfrm>
          <a:prstGeom prst="rect">
            <a:avLst/>
          </a:prstGeom>
        </p:spPr>
      </p:pic>
      <p:pic>
        <p:nvPicPr>
          <p:cNvPr id="29" name="圖片 28">
            <a:extLst>
              <a:ext uri="{FF2B5EF4-FFF2-40B4-BE49-F238E27FC236}">
                <a16:creationId xmlns:a16="http://schemas.microsoft.com/office/drawing/2014/main" id="{531C0E30-DAC6-3320-C170-00A4A9990C92}"/>
              </a:ext>
            </a:extLst>
          </p:cNvPr>
          <p:cNvPicPr>
            <a:picLocks noChangeAspect="1"/>
          </p:cNvPicPr>
          <p:nvPr/>
        </p:nvPicPr>
        <p:blipFill>
          <a:blip r:embed="rId3">
            <a:alphaModFix amt="8000"/>
          </a:blip>
          <a:stretch>
            <a:fillRect/>
          </a:stretch>
        </p:blipFill>
        <p:spPr>
          <a:xfrm>
            <a:off x="-3124197" y="-8389666"/>
            <a:ext cx="14027154" cy="7657401"/>
          </a:xfrm>
          <a:prstGeom prst="rect">
            <a:avLst/>
          </a:prstGeom>
        </p:spPr>
      </p:pic>
      <p:sp>
        <p:nvSpPr>
          <p:cNvPr id="30" name="標題 1">
            <a:extLst>
              <a:ext uri="{FF2B5EF4-FFF2-40B4-BE49-F238E27FC236}">
                <a16:creationId xmlns:a16="http://schemas.microsoft.com/office/drawing/2014/main" id="{B2A1980B-8561-63B6-82D2-E065952C7F11}"/>
              </a:ext>
            </a:extLst>
          </p:cNvPr>
          <p:cNvSpPr txBox="1">
            <a:spLocks/>
          </p:cNvSpPr>
          <p:nvPr/>
        </p:nvSpPr>
        <p:spPr>
          <a:xfrm>
            <a:off x="3560370" y="-6906806"/>
            <a:ext cx="4912519" cy="1325563"/>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7200">
                <a:latin typeface="標楷體" panose="03000509000000000000" pitchFamily="65" charset="-120"/>
                <a:ea typeface="標楷體" panose="03000509000000000000" pitchFamily="65" charset="-120"/>
              </a:rPr>
              <a:t>系辦日常</a:t>
            </a:r>
            <a:endParaRPr lang="zh-TW" altLang="en-US" sz="7200" dirty="0">
              <a:latin typeface="標楷體" panose="03000509000000000000" pitchFamily="65" charset="-120"/>
              <a:ea typeface="標楷體" panose="03000509000000000000" pitchFamily="65" charset="-120"/>
            </a:endParaRPr>
          </a:p>
        </p:txBody>
      </p:sp>
      <p:sp>
        <p:nvSpPr>
          <p:cNvPr id="31" name="內容版面配置區 2">
            <a:extLst>
              <a:ext uri="{FF2B5EF4-FFF2-40B4-BE49-F238E27FC236}">
                <a16:creationId xmlns:a16="http://schemas.microsoft.com/office/drawing/2014/main" id="{EB4217BC-BBFE-C78E-8E59-EDBDA52BF9E8}"/>
              </a:ext>
            </a:extLst>
          </p:cNvPr>
          <p:cNvSpPr txBox="1">
            <a:spLocks/>
          </p:cNvSpPr>
          <p:nvPr/>
        </p:nvSpPr>
        <p:spPr>
          <a:xfrm>
            <a:off x="133349" y="-5105818"/>
            <a:ext cx="5200654" cy="314710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TW" altLang="en-US" sz="2400" b="1">
                <a:latin typeface="標楷體" panose="03000509000000000000" pitchFamily="65" charset="-120"/>
                <a:ea typeface="標楷體" panose="03000509000000000000" pitchFamily="65" charset="-120"/>
              </a:rPr>
              <a:t>情境描述：</a:t>
            </a:r>
            <a:endParaRPr lang="en-US" altLang="zh-TW" sz="2400" b="1">
              <a:latin typeface="標楷體" panose="03000509000000000000" pitchFamily="65" charset="-120"/>
              <a:ea typeface="標楷體" panose="03000509000000000000" pitchFamily="65" charset="-120"/>
            </a:endParaRPr>
          </a:p>
          <a:p>
            <a:pPr marL="0" indent="0">
              <a:buFont typeface="Arial" panose="020B0604020202020204" pitchFamily="34" charset="0"/>
              <a:buNone/>
            </a:pPr>
            <a:r>
              <a:rPr lang="zh-TW" altLang="en-US" sz="2400">
                <a:latin typeface="標楷體" panose="03000509000000000000" pitchFamily="65" charset="-120"/>
                <a:ea typeface="標楷體" panose="03000509000000000000" pitchFamily="65" charset="-120"/>
              </a:rPr>
              <a:t>資工系系辦剛採購了一批新的桌上型電腦與網路交換器。</a:t>
            </a:r>
            <a:endParaRPr lang="en-US" altLang="zh-TW" sz="2400">
              <a:latin typeface="標楷體" panose="03000509000000000000" pitchFamily="65" charset="-120"/>
              <a:ea typeface="標楷體" panose="03000509000000000000" pitchFamily="65" charset="-120"/>
            </a:endParaRPr>
          </a:p>
          <a:p>
            <a:pPr marL="0" indent="0">
              <a:buFont typeface="Arial" panose="020B0604020202020204" pitchFamily="34" charset="0"/>
              <a:buNone/>
            </a:pPr>
            <a:r>
              <a:rPr lang="zh-TW" altLang="en-US" sz="2400">
                <a:latin typeface="標楷體" panose="03000509000000000000" pitchFamily="65" charset="-120"/>
                <a:ea typeface="標楷體" panose="03000509000000000000" pitchFamily="65" charset="-120"/>
              </a:rPr>
              <a:t>過去用紙本登記容易造成</a:t>
            </a:r>
            <a:r>
              <a:rPr lang="zh-TW" altLang="en-US" sz="2400">
                <a:solidFill>
                  <a:schemeClr val="tx2">
                    <a:lumMod val="75000"/>
                    <a:lumOff val="25000"/>
                  </a:schemeClr>
                </a:solidFill>
                <a:latin typeface="標楷體" panose="03000509000000000000" pitchFamily="65" charset="-120"/>
                <a:ea typeface="標楷體" panose="03000509000000000000" pitchFamily="65" charset="-120"/>
              </a:rPr>
              <a:t>資料遺漏</a:t>
            </a:r>
            <a:r>
              <a:rPr lang="zh-TW" altLang="en-US" sz="2400">
                <a:latin typeface="標楷體" panose="03000509000000000000" pitchFamily="65" charset="-120"/>
                <a:ea typeface="標楷體" panose="03000509000000000000" pitchFamily="65" charset="-120"/>
              </a:rPr>
              <a:t>、設備</a:t>
            </a:r>
            <a:r>
              <a:rPr lang="zh-TW" altLang="en-US" sz="2400">
                <a:solidFill>
                  <a:schemeClr val="tx2">
                    <a:lumMod val="75000"/>
                    <a:lumOff val="25000"/>
                  </a:schemeClr>
                </a:solidFill>
                <a:latin typeface="標楷體" panose="03000509000000000000" pitchFamily="65" charset="-120"/>
                <a:ea typeface="標楷體" panose="03000509000000000000" pitchFamily="65" charset="-120"/>
              </a:rPr>
              <a:t>去向不明</a:t>
            </a:r>
            <a:r>
              <a:rPr lang="zh-TW" altLang="en-US" sz="2400">
                <a:latin typeface="標楷體" panose="03000509000000000000" pitchFamily="65" charset="-120"/>
                <a:ea typeface="標楷體" panose="03000509000000000000" pitchFamily="65" charset="-120"/>
              </a:rPr>
              <a:t>。</a:t>
            </a:r>
            <a:endParaRPr lang="en-US" altLang="zh-TW" sz="2400">
              <a:latin typeface="標楷體" panose="03000509000000000000" pitchFamily="65" charset="-120"/>
              <a:ea typeface="標楷體" panose="03000509000000000000" pitchFamily="65" charset="-120"/>
            </a:endParaRPr>
          </a:p>
          <a:p>
            <a:pPr marL="0" indent="0">
              <a:buFont typeface="Arial" panose="020B0604020202020204" pitchFamily="34" charset="0"/>
              <a:buNone/>
            </a:pPr>
            <a:r>
              <a:rPr lang="zh-TW" altLang="en-US" sz="2400">
                <a:latin typeface="標楷體" panose="03000509000000000000" pitchFamily="65" charset="-120"/>
                <a:ea typeface="標楷體" panose="03000509000000000000" pitchFamily="65" charset="-120"/>
              </a:rPr>
              <a:t>管理員需要一個系統來建立這批設備的財產清單，並後續追蹤借用與報修狀況。</a:t>
            </a:r>
            <a:endParaRPr lang="zh-TW" altLang="en-US" sz="2400" dirty="0">
              <a:latin typeface="標楷體" panose="03000509000000000000" pitchFamily="65" charset="-120"/>
              <a:ea typeface="標楷體" panose="03000509000000000000" pitchFamily="65" charset="-120"/>
            </a:endParaRPr>
          </a:p>
        </p:txBody>
      </p:sp>
      <p:sp>
        <p:nvSpPr>
          <p:cNvPr id="32" name="內容版面配置區 3">
            <a:extLst>
              <a:ext uri="{FF2B5EF4-FFF2-40B4-BE49-F238E27FC236}">
                <a16:creationId xmlns:a16="http://schemas.microsoft.com/office/drawing/2014/main" id="{01747611-92F1-2283-3EDE-D0C8ED83B925}"/>
              </a:ext>
            </a:extLst>
          </p:cNvPr>
          <p:cNvSpPr txBox="1">
            <a:spLocks/>
          </p:cNvSpPr>
          <p:nvPr/>
        </p:nvSpPr>
        <p:spPr>
          <a:xfrm>
            <a:off x="5207003" y="-5094711"/>
            <a:ext cx="6984997"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2">
                  <a:lumMod val="75000"/>
                  <a:lumOff val="25000"/>
                </a:schemeClr>
              </a:buClr>
              <a:buFont typeface="Arial" panose="020B0604020202020204" pitchFamily="34" charset="0"/>
              <a:buNone/>
            </a:pPr>
            <a:r>
              <a:rPr lang="zh-TW" altLang="en-US" sz="2400" b="1">
                <a:latin typeface="標楷體" panose="03000509000000000000" pitchFamily="65" charset="-120"/>
                <a:ea typeface="標楷體" panose="03000509000000000000" pitchFamily="65" charset="-120"/>
              </a:rPr>
              <a:t>系統應用：</a:t>
            </a:r>
          </a:p>
          <a:p>
            <a:pPr marL="457200" indent="-457200">
              <a:buClr>
                <a:schemeClr val="tx2">
                  <a:lumMod val="75000"/>
                  <a:lumOff val="25000"/>
                </a:schemeClr>
              </a:buClr>
              <a:buFont typeface="Wingdings" panose="05000000000000000000" pitchFamily="2" charset="2"/>
              <a:buAutoNum type="circleNumWdWhitePlain"/>
            </a:pPr>
            <a:r>
              <a:rPr lang="zh-TW" altLang="en-US" sz="2400">
                <a:latin typeface="標楷體" panose="03000509000000000000" pitchFamily="65" charset="-120"/>
                <a:ea typeface="標楷體" panose="03000509000000000000" pitchFamily="65" charset="-120"/>
              </a:rPr>
              <a:t>管理員透過學校 SSO 單一登入系統。</a:t>
            </a:r>
          </a:p>
          <a:p>
            <a:pPr marL="457200" indent="-457200">
              <a:buClr>
                <a:schemeClr val="tx2">
                  <a:lumMod val="75000"/>
                  <a:lumOff val="25000"/>
                </a:schemeClr>
              </a:buClr>
              <a:buFont typeface="Wingdings" panose="05000000000000000000" pitchFamily="2" charset="2"/>
              <a:buAutoNum type="circleNumWdWhitePlain"/>
            </a:pPr>
            <a:r>
              <a:rPr lang="zh-TW" altLang="en-US" sz="2400">
                <a:latin typeface="標楷體" panose="03000509000000000000" pitchFamily="65" charset="-120"/>
                <a:ea typeface="標楷體" panose="03000509000000000000" pitchFamily="65" charset="-120"/>
              </a:rPr>
              <a:t>管理員新增設備資料，鍵入財產編號、類別、存放地點與保固期限。</a:t>
            </a:r>
          </a:p>
          <a:p>
            <a:pPr marL="457200" indent="-457200">
              <a:buClr>
                <a:schemeClr val="tx2">
                  <a:lumMod val="75000"/>
                  <a:lumOff val="25000"/>
                </a:schemeClr>
              </a:buClr>
              <a:buFont typeface="Wingdings" panose="05000000000000000000" pitchFamily="2" charset="2"/>
              <a:buAutoNum type="circleNumWdWhitePlain"/>
            </a:pPr>
            <a:r>
              <a:rPr lang="zh-TW" altLang="en-US" sz="2400">
                <a:latin typeface="標楷體" panose="03000509000000000000" pitchFamily="65" charset="-120"/>
                <a:ea typeface="標楷體" panose="03000509000000000000" pitchFamily="65" charset="-120"/>
              </a:rPr>
              <a:t>系統自動產生設備紀錄，狀態預設為</a:t>
            </a:r>
            <a:r>
              <a:rPr lang="zh-TW" altLang="en-US" sz="2400">
                <a:solidFill>
                  <a:schemeClr val="tx2">
                    <a:lumMod val="75000"/>
                    <a:lumOff val="25000"/>
                  </a:schemeClr>
                </a:solidFill>
                <a:latin typeface="標楷體" panose="03000509000000000000" pitchFamily="65" charset="-120"/>
                <a:ea typeface="標楷體" panose="03000509000000000000" pitchFamily="65" charset="-120"/>
              </a:rPr>
              <a:t>可用</a:t>
            </a:r>
            <a:r>
              <a:rPr lang="zh-TW" altLang="en-US" sz="2400">
                <a:latin typeface="標楷體" panose="03000509000000000000" pitchFamily="65" charset="-120"/>
                <a:ea typeface="標楷體" panose="03000509000000000000" pitchFamily="65" charset="-120"/>
              </a:rPr>
              <a:t>。</a:t>
            </a:r>
          </a:p>
          <a:p>
            <a:pPr marL="457200" indent="-457200">
              <a:buClr>
                <a:schemeClr val="tx2">
                  <a:lumMod val="75000"/>
                  <a:lumOff val="25000"/>
                </a:schemeClr>
              </a:buClr>
              <a:buFont typeface="Wingdings" panose="05000000000000000000" pitchFamily="2" charset="2"/>
              <a:buAutoNum type="circleNumWdWhitePlain"/>
            </a:pPr>
            <a:r>
              <a:rPr lang="zh-TW" altLang="en-US" sz="2400">
                <a:latin typeface="標楷體" panose="03000509000000000000" pitchFamily="65" charset="-120"/>
                <a:ea typeface="標楷體" panose="03000509000000000000" pitchFamily="65" charset="-120"/>
              </a:rPr>
              <a:t>日後若遇設備年限到期，管理員可直接在系統提出報廢申請，審核後系統標記為</a:t>
            </a:r>
            <a:r>
              <a:rPr lang="zh-TW" altLang="en-US" sz="2400">
                <a:solidFill>
                  <a:schemeClr val="tx2">
                    <a:lumMod val="75000"/>
                    <a:lumOff val="25000"/>
                  </a:schemeClr>
                </a:solidFill>
                <a:latin typeface="標楷體" panose="03000509000000000000" pitchFamily="65" charset="-120"/>
                <a:ea typeface="標楷體" panose="03000509000000000000" pitchFamily="65" charset="-120"/>
              </a:rPr>
              <a:t>報廢</a:t>
            </a:r>
            <a:r>
              <a:rPr lang="zh-TW" altLang="en-US" sz="2400">
                <a:latin typeface="標楷體" panose="03000509000000000000" pitchFamily="65" charset="-120"/>
                <a:ea typeface="標楷體" panose="03000509000000000000" pitchFamily="65" charset="-120"/>
              </a:rPr>
              <a:t>。</a:t>
            </a:r>
            <a:endParaRPr lang="zh-TW" altLang="en-US" sz="2400" dirty="0">
              <a:latin typeface="標楷體" panose="03000509000000000000" pitchFamily="65" charset="-120"/>
              <a:ea typeface="標楷體" panose="03000509000000000000" pitchFamily="65" charset="-120"/>
            </a:endParaRPr>
          </a:p>
        </p:txBody>
      </p:sp>
      <p:grpSp>
        <p:nvGrpSpPr>
          <p:cNvPr id="33" name="群組 32">
            <a:extLst>
              <a:ext uri="{FF2B5EF4-FFF2-40B4-BE49-F238E27FC236}">
                <a16:creationId xmlns:a16="http://schemas.microsoft.com/office/drawing/2014/main" id="{1BBB3756-6946-4900-750B-9D26A66BE4AF}"/>
              </a:ext>
            </a:extLst>
          </p:cNvPr>
          <p:cNvGrpSpPr/>
          <p:nvPr/>
        </p:nvGrpSpPr>
        <p:grpSpPr>
          <a:xfrm>
            <a:off x="-1250948" y="-7980232"/>
            <a:ext cx="4622800" cy="1200329"/>
            <a:chOff x="368300" y="1419930"/>
            <a:chExt cx="4622800" cy="1200329"/>
          </a:xfrm>
        </p:grpSpPr>
        <p:sp>
          <p:nvSpPr>
            <p:cNvPr id="34" name="矩形 33">
              <a:extLst>
                <a:ext uri="{FF2B5EF4-FFF2-40B4-BE49-F238E27FC236}">
                  <a16:creationId xmlns:a16="http://schemas.microsoft.com/office/drawing/2014/main" id="{B4CA2A10-E1DD-B813-E5EC-FF453FB3499E}"/>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文字方塊 34">
              <a:extLst>
                <a:ext uri="{FF2B5EF4-FFF2-40B4-BE49-F238E27FC236}">
                  <a16:creationId xmlns:a16="http://schemas.microsoft.com/office/drawing/2014/main" id="{D230B999-8BC9-52D1-57B6-A06CD1514314}"/>
                </a:ext>
              </a:extLst>
            </p:cNvPr>
            <p:cNvSpPr txBox="1"/>
            <p:nvPr/>
          </p:nvSpPr>
          <p:spPr>
            <a:xfrm>
              <a:off x="4254500" y="141993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1</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36" name="文字方塊 35">
            <a:extLst>
              <a:ext uri="{FF2B5EF4-FFF2-40B4-BE49-F238E27FC236}">
                <a16:creationId xmlns:a16="http://schemas.microsoft.com/office/drawing/2014/main" id="{90EA3833-F91C-4A91-DF6A-5B4A28048C17}"/>
              </a:ext>
            </a:extLst>
          </p:cNvPr>
          <p:cNvSpPr txBox="1"/>
          <p:nvPr/>
        </p:nvSpPr>
        <p:spPr>
          <a:xfrm>
            <a:off x="323852" y="-7748090"/>
            <a:ext cx="2482850"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應用情境</a:t>
            </a:r>
          </a:p>
        </p:txBody>
      </p:sp>
      <p:cxnSp>
        <p:nvCxnSpPr>
          <p:cNvPr id="37" name="直線接點 36">
            <a:extLst>
              <a:ext uri="{FF2B5EF4-FFF2-40B4-BE49-F238E27FC236}">
                <a16:creationId xmlns:a16="http://schemas.microsoft.com/office/drawing/2014/main" id="{AB2EB42A-64E4-8E0B-1D36-8CA71D142A3B}"/>
              </a:ext>
            </a:extLst>
          </p:cNvPr>
          <p:cNvCxnSpPr>
            <a:cxnSpLocks/>
          </p:cNvCxnSpPr>
          <p:nvPr/>
        </p:nvCxnSpPr>
        <p:spPr>
          <a:xfrm>
            <a:off x="5207003" y="-5189782"/>
            <a:ext cx="0" cy="3680508"/>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pic>
        <p:nvPicPr>
          <p:cNvPr id="38" name="圖片 37">
            <a:extLst>
              <a:ext uri="{FF2B5EF4-FFF2-40B4-BE49-F238E27FC236}">
                <a16:creationId xmlns:a16="http://schemas.microsoft.com/office/drawing/2014/main" id="{4C81F84B-AD62-C2BE-56AD-02BABB467573}"/>
              </a:ext>
            </a:extLst>
          </p:cNvPr>
          <p:cNvPicPr>
            <a:picLocks noChangeAspect="1"/>
          </p:cNvPicPr>
          <p:nvPr/>
        </p:nvPicPr>
        <p:blipFill>
          <a:blip r:embed="rId4"/>
          <a:stretch>
            <a:fillRect/>
          </a:stretch>
        </p:blipFill>
        <p:spPr>
          <a:xfrm>
            <a:off x="8661408" y="-7841549"/>
            <a:ext cx="3295647" cy="2735731"/>
          </a:xfrm>
          <a:prstGeom prst="rect">
            <a:avLst/>
          </a:prstGeom>
        </p:spPr>
      </p:pic>
      <p:sp>
        <p:nvSpPr>
          <p:cNvPr id="39" name="內容版面配置區 3">
            <a:extLst>
              <a:ext uri="{FF2B5EF4-FFF2-40B4-BE49-F238E27FC236}">
                <a16:creationId xmlns:a16="http://schemas.microsoft.com/office/drawing/2014/main" id="{31D8FCB2-DCF4-76C1-0CA1-CF5BEE75AAD7}"/>
              </a:ext>
            </a:extLst>
          </p:cNvPr>
          <p:cNvSpPr txBox="1">
            <a:spLocks/>
          </p:cNvSpPr>
          <p:nvPr/>
        </p:nvSpPr>
        <p:spPr>
          <a:xfrm>
            <a:off x="5489585" y="4755344"/>
            <a:ext cx="6597640" cy="16846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2">
                  <a:lumMod val="75000"/>
                  <a:lumOff val="25000"/>
                </a:schemeClr>
              </a:buClr>
              <a:buFont typeface="Arial" panose="020B0604020202020204" pitchFamily="34" charset="0"/>
              <a:buNone/>
            </a:pPr>
            <a:r>
              <a:rPr lang="zh-TW" altLang="en-US" sz="2400" b="1" dirty="0">
                <a:latin typeface="標楷體" panose="03000509000000000000" pitchFamily="65" charset="-120"/>
                <a:ea typeface="標楷體" panose="03000509000000000000" pitchFamily="65" charset="-120"/>
              </a:rPr>
              <a:t>操作流程</a:t>
            </a:r>
            <a:r>
              <a:rPr lang="en-US" altLang="zh-TW" sz="2400" b="1" dirty="0">
                <a:latin typeface="標楷體" panose="03000509000000000000" pitchFamily="65" charset="-120"/>
                <a:ea typeface="標楷體" panose="03000509000000000000" pitchFamily="65" charset="-120"/>
              </a:rPr>
              <a:t>(</a:t>
            </a:r>
            <a:r>
              <a:rPr lang="zh-TW" altLang="en-US" sz="2400" b="1" dirty="0">
                <a:latin typeface="標楷體" panose="03000509000000000000" pitchFamily="65" charset="-120"/>
                <a:ea typeface="標楷體" panose="03000509000000000000" pitchFamily="65" charset="-120"/>
              </a:rPr>
              <a:t>維修</a:t>
            </a:r>
            <a:r>
              <a:rPr lang="en-US" altLang="zh-TW" sz="2400" b="1" dirty="0">
                <a:latin typeface="標楷體" panose="03000509000000000000" pitchFamily="65" charset="-120"/>
                <a:ea typeface="標楷體" panose="03000509000000000000" pitchFamily="65" charset="-120"/>
              </a:rPr>
              <a:t>):</a:t>
            </a:r>
          </a:p>
          <a:p>
            <a:pPr marL="457200" indent="-457200">
              <a:buClr>
                <a:schemeClr val="tx2">
                  <a:lumMod val="75000"/>
                  <a:lumOff val="25000"/>
                </a:schemeClr>
              </a:buClr>
              <a:buFont typeface="Wingdings" panose="05000000000000000000" pitchFamily="2" charset="2"/>
              <a:buAutoNum type="circleNumWdWhitePlain"/>
            </a:pPr>
            <a:r>
              <a:rPr lang="zh-TW" altLang="en-US" sz="2000" dirty="0">
                <a:latin typeface="標楷體" panose="03000509000000000000" pitchFamily="65" charset="-120"/>
                <a:ea typeface="標楷體" panose="03000509000000000000" pitchFamily="65" charset="-120"/>
              </a:rPr>
              <a:t>條件篩選：依「電腦」與「可用」狀態找尋。</a:t>
            </a:r>
          </a:p>
          <a:p>
            <a:pPr marL="514350" indent="-514350">
              <a:buClr>
                <a:schemeClr val="tx2">
                  <a:lumMod val="75000"/>
                  <a:lumOff val="25000"/>
                </a:schemeClr>
              </a:buClr>
              <a:buFont typeface="Wingdings" panose="05000000000000000000" pitchFamily="2" charset="2"/>
              <a:buAutoNum type="circleNumWdWhitePlain"/>
            </a:pPr>
            <a:r>
              <a:rPr lang="zh-TW" altLang="en-US" sz="2000" dirty="0">
                <a:latin typeface="標楷體" panose="03000509000000000000" pitchFamily="65" charset="-120"/>
                <a:ea typeface="標楷體" panose="03000509000000000000" pitchFamily="65" charset="-120"/>
              </a:rPr>
              <a:t>提交設備損壞通報。</a:t>
            </a:r>
            <a:endParaRPr lang="en-US" altLang="zh-TW" sz="2000" dirty="0">
              <a:latin typeface="標楷體" panose="03000509000000000000" pitchFamily="65" charset="-120"/>
              <a:ea typeface="標楷體" panose="03000509000000000000" pitchFamily="65" charset="-120"/>
            </a:endParaRPr>
          </a:p>
          <a:p>
            <a:pPr marL="514350" indent="-514350">
              <a:buClr>
                <a:schemeClr val="tx2">
                  <a:lumMod val="75000"/>
                  <a:lumOff val="25000"/>
                </a:schemeClr>
              </a:buClr>
              <a:buFont typeface="Wingdings" panose="05000000000000000000" pitchFamily="2" charset="2"/>
              <a:buAutoNum type="circleNumWdWhitePlain"/>
            </a:pPr>
            <a:r>
              <a:rPr lang="zh-TW" altLang="en-US" sz="2000" dirty="0">
                <a:latin typeface="標楷體" panose="03000509000000000000" pitchFamily="65" charset="-120"/>
                <a:ea typeface="標楷體" panose="03000509000000000000" pitchFamily="65" charset="-120"/>
              </a:rPr>
              <a:t>後台審核聯動：管理員建立維護紀錄並追蹤處理進度。</a:t>
            </a:r>
          </a:p>
        </p:txBody>
      </p:sp>
      <p:sp>
        <p:nvSpPr>
          <p:cNvPr id="40" name="文字版面配置區 2">
            <a:extLst>
              <a:ext uri="{FF2B5EF4-FFF2-40B4-BE49-F238E27FC236}">
                <a16:creationId xmlns:a16="http://schemas.microsoft.com/office/drawing/2014/main" id="{40D1BA38-BDB6-EF91-5F97-932E332CD8E1}"/>
              </a:ext>
            </a:extLst>
          </p:cNvPr>
          <p:cNvSpPr txBox="1">
            <a:spLocks/>
          </p:cNvSpPr>
          <p:nvPr/>
        </p:nvSpPr>
        <p:spPr>
          <a:xfrm>
            <a:off x="1023543" y="9421414"/>
            <a:ext cx="10515600" cy="92475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TW" altLang="en-US">
                <a:latin typeface="標楷體" panose="03000509000000000000" pitchFamily="65" charset="-120"/>
                <a:ea typeface="標楷體" panose="03000509000000000000" pitchFamily="65" charset="-120"/>
              </a:rPr>
              <a:t>本系統以「關聯式資料庫」為核心，管理資工系所有具財產編號設備的完整生命週期，提供高安全、高效率的管理方案。</a:t>
            </a:r>
          </a:p>
          <a:p>
            <a:pPr marL="0" indent="0">
              <a:buFont typeface="Arial" panose="020B0604020202020204" pitchFamily="34" charset="0"/>
              <a:buNone/>
            </a:pPr>
            <a:endParaRPr lang="zh-TW" altLang="en-US" dirty="0"/>
          </a:p>
        </p:txBody>
      </p:sp>
      <p:grpSp>
        <p:nvGrpSpPr>
          <p:cNvPr id="41" name="群組 40">
            <a:extLst>
              <a:ext uri="{FF2B5EF4-FFF2-40B4-BE49-F238E27FC236}">
                <a16:creationId xmlns:a16="http://schemas.microsoft.com/office/drawing/2014/main" id="{3A2B5FC2-B949-64D1-2B70-361543AEF2B8}"/>
              </a:ext>
            </a:extLst>
          </p:cNvPr>
          <p:cNvGrpSpPr/>
          <p:nvPr/>
        </p:nvGrpSpPr>
        <p:grpSpPr>
          <a:xfrm>
            <a:off x="-1278601" y="8303439"/>
            <a:ext cx="5206093" cy="1200329"/>
            <a:chOff x="368300" y="1419930"/>
            <a:chExt cx="4622800" cy="1200329"/>
          </a:xfrm>
        </p:grpSpPr>
        <p:sp>
          <p:nvSpPr>
            <p:cNvPr id="42" name="矩形 41">
              <a:extLst>
                <a:ext uri="{FF2B5EF4-FFF2-40B4-BE49-F238E27FC236}">
                  <a16:creationId xmlns:a16="http://schemas.microsoft.com/office/drawing/2014/main" id="{63ACD635-3E77-C6E9-E770-C054171EFA90}"/>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文字方塊 42">
              <a:extLst>
                <a:ext uri="{FF2B5EF4-FFF2-40B4-BE49-F238E27FC236}">
                  <a16:creationId xmlns:a16="http://schemas.microsoft.com/office/drawing/2014/main" id="{588D9330-56A9-CBC3-1851-EACD8B68210B}"/>
                </a:ext>
              </a:extLst>
            </p:cNvPr>
            <p:cNvSpPr txBox="1"/>
            <p:nvPr/>
          </p:nvSpPr>
          <p:spPr>
            <a:xfrm>
              <a:off x="4254500" y="141993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3</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44" name="文字方塊 43">
            <a:extLst>
              <a:ext uri="{FF2B5EF4-FFF2-40B4-BE49-F238E27FC236}">
                <a16:creationId xmlns:a16="http://schemas.microsoft.com/office/drawing/2014/main" id="{1BF0E627-4B71-9997-CEAA-129850B14880}"/>
              </a:ext>
            </a:extLst>
          </p:cNvPr>
          <p:cNvSpPr txBox="1"/>
          <p:nvPr/>
        </p:nvSpPr>
        <p:spPr>
          <a:xfrm>
            <a:off x="94361" y="8569268"/>
            <a:ext cx="3171825"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系統需求概述</a:t>
            </a:r>
          </a:p>
        </p:txBody>
      </p:sp>
      <p:sp>
        <p:nvSpPr>
          <p:cNvPr id="45" name="矩形: 圓角 44">
            <a:extLst>
              <a:ext uri="{FF2B5EF4-FFF2-40B4-BE49-F238E27FC236}">
                <a16:creationId xmlns:a16="http://schemas.microsoft.com/office/drawing/2014/main" id="{F3BBE1E4-D87A-BF1A-2383-88F40098A98F}"/>
              </a:ext>
            </a:extLst>
          </p:cNvPr>
          <p:cNvSpPr/>
          <p:nvPr/>
        </p:nvSpPr>
        <p:spPr>
          <a:xfrm>
            <a:off x="94361" y="10526245"/>
            <a:ext cx="11952514" cy="1416935"/>
          </a:xfrm>
          <a:prstGeom prst="roundRect">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6" name="矩形: 圓角 45">
            <a:extLst>
              <a:ext uri="{FF2B5EF4-FFF2-40B4-BE49-F238E27FC236}">
                <a16:creationId xmlns:a16="http://schemas.microsoft.com/office/drawing/2014/main" id="{BAB1EEBD-E216-F520-D034-1CC748BBF115}"/>
              </a:ext>
            </a:extLst>
          </p:cNvPr>
          <p:cNvSpPr/>
          <p:nvPr/>
        </p:nvSpPr>
        <p:spPr>
          <a:xfrm>
            <a:off x="308563" y="10603523"/>
            <a:ext cx="11319212" cy="777146"/>
          </a:xfrm>
          <a:prstGeom prst="roundRect">
            <a:avLst>
              <a:gd name="adj" fmla="val 35245"/>
            </a:avLst>
          </a:prstGeom>
          <a:solidFill>
            <a:schemeClr val="tx2">
              <a:lumMod val="90000"/>
              <a:lumOff val="1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800" dirty="0">
                <a:latin typeface="標楷體" panose="03000509000000000000" pitchFamily="65" charset="-120"/>
                <a:ea typeface="標楷體" panose="03000509000000000000" pitchFamily="65" charset="-120"/>
              </a:rPr>
              <a:t>全生命週期</a:t>
            </a:r>
          </a:p>
        </p:txBody>
      </p:sp>
      <p:sp>
        <p:nvSpPr>
          <p:cNvPr id="47" name="矩形: 圓角 46">
            <a:extLst>
              <a:ext uri="{FF2B5EF4-FFF2-40B4-BE49-F238E27FC236}">
                <a16:creationId xmlns:a16="http://schemas.microsoft.com/office/drawing/2014/main" id="{EDE07547-44C1-3479-D66A-78A967A3A3F7}"/>
              </a:ext>
            </a:extLst>
          </p:cNvPr>
          <p:cNvSpPr/>
          <p:nvPr/>
        </p:nvSpPr>
        <p:spPr>
          <a:xfrm>
            <a:off x="94361" y="12059558"/>
            <a:ext cx="11888467" cy="1367340"/>
          </a:xfrm>
          <a:prstGeom prst="roundRect">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8" name="矩形: 圓角 47">
            <a:extLst>
              <a:ext uri="{FF2B5EF4-FFF2-40B4-BE49-F238E27FC236}">
                <a16:creationId xmlns:a16="http://schemas.microsoft.com/office/drawing/2014/main" id="{130B0473-2BBF-79DB-07D0-9F0557B8AD72}"/>
              </a:ext>
            </a:extLst>
          </p:cNvPr>
          <p:cNvSpPr/>
          <p:nvPr/>
        </p:nvSpPr>
        <p:spPr>
          <a:xfrm>
            <a:off x="308563" y="12120925"/>
            <a:ext cx="11319212" cy="604410"/>
          </a:xfrm>
          <a:prstGeom prst="roundRect">
            <a:avLst>
              <a:gd name="adj" fmla="val 35245"/>
            </a:avLst>
          </a:prstGeom>
          <a:solidFill>
            <a:schemeClr val="tx2">
              <a:lumMod val="90000"/>
              <a:lumOff val="1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800" dirty="0">
                <a:latin typeface="標楷體" panose="03000509000000000000" pitchFamily="65" charset="-120"/>
                <a:ea typeface="標楷體" panose="03000509000000000000" pitchFamily="65" charset="-120"/>
              </a:rPr>
              <a:t>存取控制 </a:t>
            </a:r>
            <a:r>
              <a:rPr lang="en-US" altLang="zh-TW" sz="2800" dirty="0">
                <a:latin typeface="標楷體" panose="03000509000000000000" pitchFamily="65" charset="-120"/>
                <a:ea typeface="標楷體" panose="03000509000000000000" pitchFamily="65" charset="-120"/>
              </a:rPr>
              <a:t>(RBAC)</a:t>
            </a:r>
            <a:endParaRPr lang="zh-TW" altLang="en-US" sz="2800" dirty="0">
              <a:latin typeface="標楷體" panose="03000509000000000000" pitchFamily="65" charset="-120"/>
              <a:ea typeface="標楷體" panose="03000509000000000000" pitchFamily="65" charset="-120"/>
            </a:endParaRPr>
          </a:p>
        </p:txBody>
      </p:sp>
      <p:sp>
        <p:nvSpPr>
          <p:cNvPr id="49" name="矩形: 圓角 48">
            <a:extLst>
              <a:ext uri="{FF2B5EF4-FFF2-40B4-BE49-F238E27FC236}">
                <a16:creationId xmlns:a16="http://schemas.microsoft.com/office/drawing/2014/main" id="{14A370BF-E91E-FC18-3507-AD9AB419E942}"/>
              </a:ext>
            </a:extLst>
          </p:cNvPr>
          <p:cNvSpPr/>
          <p:nvPr/>
        </p:nvSpPr>
        <p:spPr>
          <a:xfrm>
            <a:off x="94361" y="13542889"/>
            <a:ext cx="11888467" cy="1317741"/>
          </a:xfrm>
          <a:prstGeom prst="roundRect">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0" name="矩形: 圓角 49">
            <a:extLst>
              <a:ext uri="{FF2B5EF4-FFF2-40B4-BE49-F238E27FC236}">
                <a16:creationId xmlns:a16="http://schemas.microsoft.com/office/drawing/2014/main" id="{AFAF01C1-54D9-CB12-76AF-0512E387775C}"/>
              </a:ext>
            </a:extLst>
          </p:cNvPr>
          <p:cNvSpPr/>
          <p:nvPr/>
        </p:nvSpPr>
        <p:spPr>
          <a:xfrm>
            <a:off x="308563" y="13659337"/>
            <a:ext cx="11333217" cy="523220"/>
          </a:xfrm>
          <a:prstGeom prst="roundRect">
            <a:avLst>
              <a:gd name="adj" fmla="val 35245"/>
            </a:avLst>
          </a:prstGeom>
          <a:solidFill>
            <a:schemeClr val="tx2">
              <a:lumMod val="90000"/>
              <a:lumOff val="1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800" dirty="0">
                <a:latin typeface="標楷體" panose="03000509000000000000" pitchFamily="65" charset="-120"/>
                <a:ea typeface="標楷體" panose="03000509000000000000" pitchFamily="65" charset="-120"/>
              </a:rPr>
              <a:t>操作稽核</a:t>
            </a:r>
          </a:p>
        </p:txBody>
      </p:sp>
      <p:sp>
        <p:nvSpPr>
          <p:cNvPr id="51" name="文字方塊 50">
            <a:extLst>
              <a:ext uri="{FF2B5EF4-FFF2-40B4-BE49-F238E27FC236}">
                <a16:creationId xmlns:a16="http://schemas.microsoft.com/office/drawing/2014/main" id="{9DC09029-2A55-678B-327A-DB5D8DBBC33F}"/>
              </a:ext>
            </a:extLst>
          </p:cNvPr>
          <p:cNvSpPr txBox="1"/>
          <p:nvPr/>
        </p:nvSpPr>
        <p:spPr>
          <a:xfrm>
            <a:off x="3266186" y="11380669"/>
            <a:ext cx="8375595" cy="523220"/>
          </a:xfrm>
          <a:prstGeom prst="rect">
            <a:avLst/>
          </a:prstGeom>
          <a:noFill/>
        </p:spPr>
        <p:txBody>
          <a:bodyPr wrap="square">
            <a:spAutoFit/>
          </a:bodyPr>
          <a:lstStyle/>
          <a:p>
            <a:r>
              <a:rPr lang="zh-TW" altLang="en-US" sz="2800" dirty="0">
                <a:solidFill>
                  <a:schemeClr val="tx2">
                    <a:lumMod val="90000"/>
                    <a:lumOff val="10000"/>
                  </a:schemeClr>
                </a:solidFill>
                <a:latin typeface="標楷體" panose="03000509000000000000" pitchFamily="65" charset="-120"/>
                <a:ea typeface="標楷體" panose="03000509000000000000" pitchFamily="65" charset="-120"/>
              </a:rPr>
              <a:t>涵蓋登錄、借用、維護及報廢作業。</a:t>
            </a:r>
          </a:p>
        </p:txBody>
      </p:sp>
      <p:sp>
        <p:nvSpPr>
          <p:cNvPr id="52" name="文字方塊 51">
            <a:extLst>
              <a:ext uri="{FF2B5EF4-FFF2-40B4-BE49-F238E27FC236}">
                <a16:creationId xmlns:a16="http://schemas.microsoft.com/office/drawing/2014/main" id="{D2DA1927-844D-ACF2-ADDA-9F580415F472}"/>
              </a:ext>
            </a:extLst>
          </p:cNvPr>
          <p:cNvSpPr txBox="1"/>
          <p:nvPr/>
        </p:nvSpPr>
        <p:spPr>
          <a:xfrm>
            <a:off x="3266186" y="12797604"/>
            <a:ext cx="10150541" cy="523220"/>
          </a:xfrm>
          <a:prstGeom prst="rect">
            <a:avLst/>
          </a:prstGeom>
          <a:noFill/>
        </p:spPr>
        <p:txBody>
          <a:bodyPr wrap="square">
            <a:spAutoFit/>
          </a:bodyPr>
          <a:lstStyle/>
          <a:p>
            <a:r>
              <a:rPr lang="zh-TW" altLang="en-US" sz="2800" dirty="0">
                <a:solidFill>
                  <a:schemeClr val="tx2">
                    <a:lumMod val="90000"/>
                    <a:lumOff val="10000"/>
                  </a:schemeClr>
                </a:solidFill>
                <a:latin typeface="標楷體" panose="03000509000000000000" pitchFamily="65" charset="-120"/>
                <a:ea typeface="標楷體" panose="03000509000000000000" pitchFamily="65" charset="-120"/>
              </a:rPr>
              <a:t>依身份嚴格劃分管理員與師生權限。</a:t>
            </a:r>
          </a:p>
        </p:txBody>
      </p:sp>
      <p:sp>
        <p:nvSpPr>
          <p:cNvPr id="53" name="文字方塊 52">
            <a:extLst>
              <a:ext uri="{FF2B5EF4-FFF2-40B4-BE49-F238E27FC236}">
                <a16:creationId xmlns:a16="http://schemas.microsoft.com/office/drawing/2014/main" id="{27E46240-E085-81B6-03E8-0C210094899D}"/>
              </a:ext>
            </a:extLst>
          </p:cNvPr>
          <p:cNvSpPr txBox="1"/>
          <p:nvPr/>
        </p:nvSpPr>
        <p:spPr>
          <a:xfrm>
            <a:off x="2407782" y="14175248"/>
            <a:ext cx="10398152" cy="523220"/>
          </a:xfrm>
          <a:prstGeom prst="rect">
            <a:avLst/>
          </a:prstGeom>
          <a:noFill/>
        </p:spPr>
        <p:txBody>
          <a:bodyPr wrap="square">
            <a:spAutoFit/>
          </a:bodyPr>
          <a:lstStyle/>
          <a:p>
            <a:r>
              <a:rPr lang="zh-TW" altLang="en-US" sz="2800" dirty="0">
                <a:solidFill>
                  <a:schemeClr val="tx2">
                    <a:lumMod val="90000"/>
                    <a:lumOff val="10000"/>
                  </a:schemeClr>
                </a:solidFill>
                <a:latin typeface="標楷體" panose="03000509000000000000" pitchFamily="65" charset="-120"/>
                <a:ea typeface="標楷體" panose="03000509000000000000" pitchFamily="65" charset="-120"/>
              </a:rPr>
              <a:t>保留完整操作歷史與審核軌跡，責任清晰可查。</a:t>
            </a:r>
          </a:p>
        </p:txBody>
      </p:sp>
    </p:spTree>
    <p:extLst>
      <p:ext uri="{BB962C8B-B14F-4D97-AF65-F5344CB8AC3E}">
        <p14:creationId xmlns:p14="http://schemas.microsoft.com/office/powerpoint/2010/main" val="30294708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ppt_x"/>
                                          </p:val>
                                        </p:tav>
                                        <p:tav tm="100000">
                                          <p:val>
                                            <p:strVal val="#ppt_x"/>
                                          </p:val>
                                        </p:tav>
                                      </p:tavLst>
                                    </p:anim>
                                    <p:anim calcmode="lin" valueType="num">
                                      <p:cBhvr additive="base">
                                        <p:cTn id="1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xit" presetSubtype="8" fill="hold" nodeType="clickEffect">
                                  <p:stCondLst>
                                    <p:cond delay="0"/>
                                  </p:stCondLst>
                                  <p:childTnLst>
                                    <p:anim calcmode="lin" valueType="num">
                                      <p:cBhvr additive="base">
                                        <p:cTn id="16" dur="500"/>
                                        <p:tgtEl>
                                          <p:spTgt spid="9"/>
                                        </p:tgtEl>
                                        <p:attrNameLst>
                                          <p:attrName>ppt_x</p:attrName>
                                        </p:attrNameLst>
                                      </p:cBhvr>
                                      <p:tavLst>
                                        <p:tav tm="0">
                                          <p:val>
                                            <p:strVal val="ppt_x"/>
                                          </p:val>
                                        </p:tav>
                                        <p:tav tm="100000">
                                          <p:val>
                                            <p:strVal val="0-ppt_w/2"/>
                                          </p:val>
                                        </p:tav>
                                      </p:tavLst>
                                    </p:anim>
                                    <p:anim calcmode="lin" valueType="num">
                                      <p:cBhvr additive="base">
                                        <p:cTn id="17" dur="500"/>
                                        <p:tgtEl>
                                          <p:spTgt spid="9"/>
                                        </p:tgtEl>
                                        <p:attrNameLst>
                                          <p:attrName>ppt_y</p:attrName>
                                        </p:attrNameLst>
                                      </p:cBhvr>
                                      <p:tavLst>
                                        <p:tav tm="0">
                                          <p:val>
                                            <p:strVal val="ppt_y"/>
                                          </p:val>
                                        </p:tav>
                                        <p:tav tm="100000">
                                          <p:val>
                                            <p:strVal val="ppt_y"/>
                                          </p:val>
                                        </p:tav>
                                      </p:tavLst>
                                    </p:anim>
                                    <p:set>
                                      <p:cBhvr>
                                        <p:cTn id="18" dur="1" fill="hold">
                                          <p:stCondLst>
                                            <p:cond delay="499"/>
                                          </p:stCondLst>
                                        </p:cTn>
                                        <p:tgtEl>
                                          <p:spTgt spid="9"/>
                                        </p:tgtEl>
                                        <p:attrNameLst>
                                          <p:attrName>style.visibility</p:attrName>
                                        </p:attrNameLst>
                                      </p:cBhvr>
                                      <p:to>
                                        <p:strVal val="hidden"/>
                                      </p:to>
                                    </p:set>
                                  </p:childTnLst>
                                </p:cTn>
                              </p:par>
                              <p:par>
                                <p:cTn id="19" presetID="2" presetClass="exit" presetSubtype="4" fill="hold" grpId="1" nodeType="withEffect">
                                  <p:stCondLst>
                                    <p:cond delay="0"/>
                                  </p:stCondLst>
                                  <p:childTnLst>
                                    <p:anim calcmode="lin" valueType="num">
                                      <p:cBhvr additive="base">
                                        <p:cTn id="20" dur="500"/>
                                        <p:tgtEl>
                                          <p:spTgt spid="12"/>
                                        </p:tgtEl>
                                        <p:attrNameLst>
                                          <p:attrName>ppt_x</p:attrName>
                                        </p:attrNameLst>
                                      </p:cBhvr>
                                      <p:tavLst>
                                        <p:tav tm="0">
                                          <p:val>
                                            <p:strVal val="ppt_x"/>
                                          </p:val>
                                        </p:tav>
                                        <p:tav tm="100000">
                                          <p:val>
                                            <p:strVal val="ppt_x"/>
                                          </p:val>
                                        </p:tav>
                                      </p:tavLst>
                                    </p:anim>
                                    <p:anim calcmode="lin" valueType="num">
                                      <p:cBhvr additive="base">
                                        <p:cTn id="21" dur="500"/>
                                        <p:tgtEl>
                                          <p:spTgt spid="12"/>
                                        </p:tgtEl>
                                        <p:attrNameLst>
                                          <p:attrName>ppt_y</p:attrName>
                                        </p:attrNameLst>
                                      </p:cBhvr>
                                      <p:tavLst>
                                        <p:tav tm="0">
                                          <p:val>
                                            <p:strVal val="ppt_y"/>
                                          </p:val>
                                        </p:tav>
                                        <p:tav tm="100000">
                                          <p:val>
                                            <p:strVal val="1+ppt_h/2"/>
                                          </p:val>
                                        </p:tav>
                                      </p:tavLst>
                                    </p:anim>
                                    <p:set>
                                      <p:cBhvr>
                                        <p:cTn id="22" dur="1" fill="hold">
                                          <p:stCondLst>
                                            <p:cond delay="499"/>
                                          </p:stCondLst>
                                        </p:cTn>
                                        <p:tgtEl>
                                          <p:spTgt spid="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CC29B23D-F203-E278-77AC-688135752261}"/>
              </a:ext>
            </a:extLst>
          </p:cNvPr>
          <p:cNvSpPr>
            <a:spLocks noGrp="1"/>
          </p:cNvSpPr>
          <p:nvPr>
            <p:ph type="body" idx="1"/>
          </p:nvPr>
        </p:nvSpPr>
        <p:spPr>
          <a:xfrm>
            <a:off x="1101993" y="1176117"/>
            <a:ext cx="10515600" cy="924754"/>
          </a:xfrm>
        </p:spPr>
        <p:txBody>
          <a:bodyPr/>
          <a:lstStyle/>
          <a:p>
            <a:pPr marL="0" indent="0">
              <a:buNone/>
            </a:pPr>
            <a:r>
              <a:rPr lang="zh-TW" altLang="en-US" dirty="0">
                <a:latin typeface="標楷體" panose="03000509000000000000" pitchFamily="65" charset="-120"/>
                <a:ea typeface="標楷體" panose="03000509000000000000" pitchFamily="65" charset="-120"/>
              </a:rPr>
              <a:t>本系統以「關聯式資料庫」為核心，管理資工系所有具財產編號設備的完整生命週期，提供高安全、高效率的管理方案。</a:t>
            </a:r>
          </a:p>
          <a:p>
            <a:pPr marL="0" indent="0">
              <a:buNone/>
            </a:pPr>
            <a:endParaRPr lang="zh-TW" altLang="en-US" dirty="0"/>
          </a:p>
        </p:txBody>
      </p:sp>
      <p:grpSp>
        <p:nvGrpSpPr>
          <p:cNvPr id="4" name="群組 3">
            <a:extLst>
              <a:ext uri="{FF2B5EF4-FFF2-40B4-BE49-F238E27FC236}">
                <a16:creationId xmlns:a16="http://schemas.microsoft.com/office/drawing/2014/main" id="{9D928E55-49D3-ECA4-8063-CB64AE307E9D}"/>
              </a:ext>
            </a:extLst>
          </p:cNvPr>
          <p:cNvGrpSpPr/>
          <p:nvPr/>
        </p:nvGrpSpPr>
        <p:grpSpPr>
          <a:xfrm>
            <a:off x="-1200151" y="58142"/>
            <a:ext cx="5206093" cy="1200329"/>
            <a:chOff x="368300" y="1419930"/>
            <a:chExt cx="4622800" cy="1200329"/>
          </a:xfrm>
        </p:grpSpPr>
        <p:sp>
          <p:nvSpPr>
            <p:cNvPr id="5" name="矩形 4">
              <a:extLst>
                <a:ext uri="{FF2B5EF4-FFF2-40B4-BE49-F238E27FC236}">
                  <a16:creationId xmlns:a16="http://schemas.microsoft.com/office/drawing/2014/main" id="{6F6A3C55-BF3E-C35A-5DF6-38A9F5DA18A3}"/>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3A716147-FCBA-6BA1-286E-1CE0DB7FF434}"/>
                </a:ext>
              </a:extLst>
            </p:cNvPr>
            <p:cNvSpPr txBox="1"/>
            <p:nvPr/>
          </p:nvSpPr>
          <p:spPr>
            <a:xfrm>
              <a:off x="4254500" y="141993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3</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FF9CAB57-9C0E-9A45-E50F-B7673338AEE0}"/>
              </a:ext>
            </a:extLst>
          </p:cNvPr>
          <p:cNvSpPr txBox="1"/>
          <p:nvPr/>
        </p:nvSpPr>
        <p:spPr>
          <a:xfrm>
            <a:off x="172811" y="323971"/>
            <a:ext cx="3171825"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系統需求概述</a:t>
            </a:r>
          </a:p>
        </p:txBody>
      </p:sp>
      <p:sp>
        <p:nvSpPr>
          <p:cNvPr id="10" name="矩形: 圓角 9">
            <a:extLst>
              <a:ext uri="{FF2B5EF4-FFF2-40B4-BE49-F238E27FC236}">
                <a16:creationId xmlns:a16="http://schemas.microsoft.com/office/drawing/2014/main" id="{C87CDA37-0480-D7C3-C154-5D1EA9AACE44}"/>
              </a:ext>
            </a:extLst>
          </p:cNvPr>
          <p:cNvSpPr/>
          <p:nvPr/>
        </p:nvSpPr>
        <p:spPr>
          <a:xfrm>
            <a:off x="172811" y="2280948"/>
            <a:ext cx="11952514" cy="1416935"/>
          </a:xfrm>
          <a:prstGeom prst="roundRect">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矩形: 圓角 10">
            <a:extLst>
              <a:ext uri="{FF2B5EF4-FFF2-40B4-BE49-F238E27FC236}">
                <a16:creationId xmlns:a16="http://schemas.microsoft.com/office/drawing/2014/main" id="{ABAB0BD7-4651-6737-3EE0-E64BD4630DD1}"/>
              </a:ext>
            </a:extLst>
          </p:cNvPr>
          <p:cNvSpPr/>
          <p:nvPr/>
        </p:nvSpPr>
        <p:spPr>
          <a:xfrm>
            <a:off x="387013" y="2358226"/>
            <a:ext cx="11319212" cy="777146"/>
          </a:xfrm>
          <a:prstGeom prst="roundRect">
            <a:avLst>
              <a:gd name="adj" fmla="val 35245"/>
            </a:avLst>
          </a:prstGeom>
          <a:solidFill>
            <a:schemeClr val="tx2">
              <a:lumMod val="90000"/>
              <a:lumOff val="1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800" dirty="0">
                <a:latin typeface="標楷體" panose="03000509000000000000" pitchFamily="65" charset="-120"/>
                <a:ea typeface="標楷體" panose="03000509000000000000" pitchFamily="65" charset="-120"/>
              </a:rPr>
              <a:t>全生命週期</a:t>
            </a:r>
          </a:p>
        </p:txBody>
      </p:sp>
      <p:sp>
        <p:nvSpPr>
          <p:cNvPr id="12" name="矩形: 圓角 11">
            <a:extLst>
              <a:ext uri="{FF2B5EF4-FFF2-40B4-BE49-F238E27FC236}">
                <a16:creationId xmlns:a16="http://schemas.microsoft.com/office/drawing/2014/main" id="{EE32B915-D515-26F6-EFF4-8093343D0E7A}"/>
              </a:ext>
            </a:extLst>
          </p:cNvPr>
          <p:cNvSpPr/>
          <p:nvPr/>
        </p:nvSpPr>
        <p:spPr>
          <a:xfrm>
            <a:off x="172811" y="3814261"/>
            <a:ext cx="11888467" cy="1367340"/>
          </a:xfrm>
          <a:prstGeom prst="roundRect">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矩形: 圓角 12">
            <a:extLst>
              <a:ext uri="{FF2B5EF4-FFF2-40B4-BE49-F238E27FC236}">
                <a16:creationId xmlns:a16="http://schemas.microsoft.com/office/drawing/2014/main" id="{A96D0BB1-EE0A-3ADB-3086-47EF0F532C74}"/>
              </a:ext>
            </a:extLst>
          </p:cNvPr>
          <p:cNvSpPr/>
          <p:nvPr/>
        </p:nvSpPr>
        <p:spPr>
          <a:xfrm>
            <a:off x="387013" y="3875628"/>
            <a:ext cx="11319212" cy="604410"/>
          </a:xfrm>
          <a:prstGeom prst="roundRect">
            <a:avLst>
              <a:gd name="adj" fmla="val 35245"/>
            </a:avLst>
          </a:prstGeom>
          <a:solidFill>
            <a:schemeClr val="tx2">
              <a:lumMod val="90000"/>
              <a:lumOff val="1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800" dirty="0">
                <a:latin typeface="標楷體" panose="03000509000000000000" pitchFamily="65" charset="-120"/>
                <a:ea typeface="標楷體" panose="03000509000000000000" pitchFamily="65" charset="-120"/>
              </a:rPr>
              <a:t>存取控制 </a:t>
            </a:r>
            <a:r>
              <a:rPr lang="en-US" altLang="zh-TW" sz="2800" dirty="0">
                <a:latin typeface="標楷體" panose="03000509000000000000" pitchFamily="65" charset="-120"/>
                <a:ea typeface="標楷體" panose="03000509000000000000" pitchFamily="65" charset="-120"/>
              </a:rPr>
              <a:t>(RBAC)</a:t>
            </a:r>
            <a:endParaRPr lang="zh-TW" altLang="en-US" sz="2800" dirty="0">
              <a:latin typeface="標楷體" panose="03000509000000000000" pitchFamily="65" charset="-120"/>
              <a:ea typeface="標楷體" panose="03000509000000000000" pitchFamily="65" charset="-120"/>
            </a:endParaRPr>
          </a:p>
        </p:txBody>
      </p:sp>
      <p:sp>
        <p:nvSpPr>
          <p:cNvPr id="14" name="矩形: 圓角 13">
            <a:extLst>
              <a:ext uri="{FF2B5EF4-FFF2-40B4-BE49-F238E27FC236}">
                <a16:creationId xmlns:a16="http://schemas.microsoft.com/office/drawing/2014/main" id="{97CE4C22-B8A4-B7BE-3CFA-28AF787A7B26}"/>
              </a:ext>
            </a:extLst>
          </p:cNvPr>
          <p:cNvSpPr/>
          <p:nvPr/>
        </p:nvSpPr>
        <p:spPr>
          <a:xfrm>
            <a:off x="172811" y="5297592"/>
            <a:ext cx="11888467" cy="1317741"/>
          </a:xfrm>
          <a:prstGeom prst="roundRect">
            <a:avLst/>
          </a:prstGeom>
          <a:no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矩形: 圓角 14">
            <a:extLst>
              <a:ext uri="{FF2B5EF4-FFF2-40B4-BE49-F238E27FC236}">
                <a16:creationId xmlns:a16="http://schemas.microsoft.com/office/drawing/2014/main" id="{74DE8F76-3611-EA3F-D394-85E691AFD5D2}"/>
              </a:ext>
            </a:extLst>
          </p:cNvPr>
          <p:cNvSpPr/>
          <p:nvPr/>
        </p:nvSpPr>
        <p:spPr>
          <a:xfrm>
            <a:off x="387013" y="5414040"/>
            <a:ext cx="11333217" cy="523220"/>
          </a:xfrm>
          <a:prstGeom prst="roundRect">
            <a:avLst>
              <a:gd name="adj" fmla="val 35245"/>
            </a:avLst>
          </a:prstGeom>
          <a:solidFill>
            <a:schemeClr val="tx2">
              <a:lumMod val="90000"/>
              <a:lumOff val="10000"/>
            </a:schemeClr>
          </a:solidFill>
          <a:l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2800" dirty="0">
                <a:latin typeface="標楷體" panose="03000509000000000000" pitchFamily="65" charset="-120"/>
                <a:ea typeface="標楷體" panose="03000509000000000000" pitchFamily="65" charset="-120"/>
              </a:rPr>
              <a:t>操作稽核</a:t>
            </a:r>
          </a:p>
        </p:txBody>
      </p:sp>
      <p:sp>
        <p:nvSpPr>
          <p:cNvPr id="19" name="文字方塊 18">
            <a:extLst>
              <a:ext uri="{FF2B5EF4-FFF2-40B4-BE49-F238E27FC236}">
                <a16:creationId xmlns:a16="http://schemas.microsoft.com/office/drawing/2014/main" id="{D14023D1-8D4A-6D48-2F34-6BEAFA85F8A5}"/>
              </a:ext>
            </a:extLst>
          </p:cNvPr>
          <p:cNvSpPr txBox="1"/>
          <p:nvPr/>
        </p:nvSpPr>
        <p:spPr>
          <a:xfrm>
            <a:off x="3344636" y="3135372"/>
            <a:ext cx="8375595" cy="523220"/>
          </a:xfrm>
          <a:prstGeom prst="rect">
            <a:avLst/>
          </a:prstGeom>
          <a:noFill/>
        </p:spPr>
        <p:txBody>
          <a:bodyPr wrap="square">
            <a:spAutoFit/>
          </a:bodyPr>
          <a:lstStyle/>
          <a:p>
            <a:r>
              <a:rPr lang="zh-TW" altLang="en-US" sz="2800" dirty="0">
                <a:solidFill>
                  <a:schemeClr val="tx2">
                    <a:lumMod val="90000"/>
                    <a:lumOff val="10000"/>
                  </a:schemeClr>
                </a:solidFill>
                <a:latin typeface="標楷體" panose="03000509000000000000" pitchFamily="65" charset="-120"/>
                <a:ea typeface="標楷體" panose="03000509000000000000" pitchFamily="65" charset="-120"/>
              </a:rPr>
              <a:t>涵蓋登錄、借用、維護及報廢作業。</a:t>
            </a:r>
          </a:p>
        </p:txBody>
      </p:sp>
      <p:sp>
        <p:nvSpPr>
          <p:cNvPr id="20" name="文字方塊 19">
            <a:extLst>
              <a:ext uri="{FF2B5EF4-FFF2-40B4-BE49-F238E27FC236}">
                <a16:creationId xmlns:a16="http://schemas.microsoft.com/office/drawing/2014/main" id="{98B393FA-3A2F-0EAD-09A3-2D83E5724BBD}"/>
              </a:ext>
            </a:extLst>
          </p:cNvPr>
          <p:cNvSpPr txBox="1"/>
          <p:nvPr/>
        </p:nvSpPr>
        <p:spPr>
          <a:xfrm>
            <a:off x="3344636" y="4552307"/>
            <a:ext cx="10150541" cy="523220"/>
          </a:xfrm>
          <a:prstGeom prst="rect">
            <a:avLst/>
          </a:prstGeom>
          <a:noFill/>
        </p:spPr>
        <p:txBody>
          <a:bodyPr wrap="square">
            <a:spAutoFit/>
          </a:bodyPr>
          <a:lstStyle/>
          <a:p>
            <a:r>
              <a:rPr lang="zh-TW" altLang="en-US" sz="2800" dirty="0">
                <a:solidFill>
                  <a:schemeClr val="tx2">
                    <a:lumMod val="90000"/>
                    <a:lumOff val="10000"/>
                  </a:schemeClr>
                </a:solidFill>
                <a:latin typeface="標楷體" panose="03000509000000000000" pitchFamily="65" charset="-120"/>
                <a:ea typeface="標楷體" panose="03000509000000000000" pitchFamily="65" charset="-120"/>
              </a:rPr>
              <a:t>依身份嚴格劃分管理員與師生權限。</a:t>
            </a:r>
          </a:p>
        </p:txBody>
      </p:sp>
      <p:sp>
        <p:nvSpPr>
          <p:cNvPr id="21" name="文字方塊 20">
            <a:extLst>
              <a:ext uri="{FF2B5EF4-FFF2-40B4-BE49-F238E27FC236}">
                <a16:creationId xmlns:a16="http://schemas.microsoft.com/office/drawing/2014/main" id="{AA0ED61D-1E8B-CA36-8D71-0BBE74AAD765}"/>
              </a:ext>
            </a:extLst>
          </p:cNvPr>
          <p:cNvSpPr txBox="1"/>
          <p:nvPr/>
        </p:nvSpPr>
        <p:spPr>
          <a:xfrm>
            <a:off x="2486232" y="5929951"/>
            <a:ext cx="10398152" cy="523220"/>
          </a:xfrm>
          <a:prstGeom prst="rect">
            <a:avLst/>
          </a:prstGeom>
          <a:noFill/>
        </p:spPr>
        <p:txBody>
          <a:bodyPr wrap="square">
            <a:spAutoFit/>
          </a:bodyPr>
          <a:lstStyle/>
          <a:p>
            <a:r>
              <a:rPr lang="zh-TW" altLang="en-US" sz="2800" dirty="0">
                <a:solidFill>
                  <a:schemeClr val="tx2">
                    <a:lumMod val="90000"/>
                    <a:lumOff val="10000"/>
                  </a:schemeClr>
                </a:solidFill>
                <a:latin typeface="標楷體" panose="03000509000000000000" pitchFamily="65" charset="-120"/>
                <a:ea typeface="標楷體" panose="03000509000000000000" pitchFamily="65" charset="-120"/>
              </a:rPr>
              <a:t>保留完整操作歷史與審核軌跡，責任清晰可查。</a:t>
            </a:r>
          </a:p>
        </p:txBody>
      </p:sp>
      <p:sp>
        <p:nvSpPr>
          <p:cNvPr id="22" name="標題 1">
            <a:extLst>
              <a:ext uri="{FF2B5EF4-FFF2-40B4-BE49-F238E27FC236}">
                <a16:creationId xmlns:a16="http://schemas.microsoft.com/office/drawing/2014/main" id="{B196DBF6-810F-4B2C-A93A-2771175CEEC7}"/>
              </a:ext>
            </a:extLst>
          </p:cNvPr>
          <p:cNvSpPr>
            <a:spLocks noGrp="1"/>
          </p:cNvSpPr>
          <p:nvPr>
            <p:ph type="title"/>
          </p:nvPr>
        </p:nvSpPr>
        <p:spPr>
          <a:xfrm>
            <a:off x="3159125" y="-7170310"/>
            <a:ext cx="4324350" cy="1325563"/>
          </a:xfrm>
        </p:spPr>
        <p:txBody>
          <a:bodyPr>
            <a:noAutofit/>
          </a:bodyPr>
          <a:lstStyle/>
          <a:p>
            <a:r>
              <a:rPr lang="zh-TW" altLang="en-US" sz="7200" dirty="0">
                <a:latin typeface="標楷體" panose="03000509000000000000" pitchFamily="65" charset="-120"/>
                <a:ea typeface="標楷體" panose="03000509000000000000" pitchFamily="65" charset="-120"/>
              </a:rPr>
              <a:t>專題急需</a:t>
            </a:r>
          </a:p>
        </p:txBody>
      </p:sp>
      <p:sp>
        <p:nvSpPr>
          <p:cNvPr id="23" name="內容版面配置區 2">
            <a:extLst>
              <a:ext uri="{FF2B5EF4-FFF2-40B4-BE49-F238E27FC236}">
                <a16:creationId xmlns:a16="http://schemas.microsoft.com/office/drawing/2014/main" id="{D4F44EE3-1271-033E-E20D-FC23A6F7D495}"/>
              </a:ext>
            </a:extLst>
          </p:cNvPr>
          <p:cNvSpPr txBox="1">
            <a:spLocks/>
          </p:cNvSpPr>
          <p:nvPr/>
        </p:nvSpPr>
        <p:spPr>
          <a:xfrm>
            <a:off x="479425" y="-5486258"/>
            <a:ext cx="5010149"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zh-TW" altLang="en-US" sz="2400" b="1">
                <a:latin typeface="標楷體" panose="03000509000000000000" pitchFamily="65" charset="-120"/>
                <a:ea typeface="標楷體" panose="03000509000000000000" pitchFamily="65" charset="-120"/>
              </a:rPr>
              <a:t>學生器材借用與通報</a:t>
            </a:r>
            <a:r>
              <a:rPr lang="en-US" altLang="zh-TW" sz="2400" b="1">
                <a:latin typeface="標楷體" panose="03000509000000000000" pitchFamily="65" charset="-120"/>
                <a:ea typeface="標楷體" panose="03000509000000000000" pitchFamily="65" charset="-120"/>
              </a:rPr>
              <a:t>:</a:t>
            </a:r>
          </a:p>
          <a:p>
            <a:pPr marL="0" indent="0">
              <a:buFont typeface="Arial" panose="020B0604020202020204" pitchFamily="34" charset="0"/>
              <a:buNone/>
            </a:pPr>
            <a:endParaRPr lang="en-US" altLang="zh-TW" sz="2400" b="1">
              <a:latin typeface="標楷體" panose="03000509000000000000" pitchFamily="65" charset="-120"/>
              <a:ea typeface="標楷體" panose="03000509000000000000" pitchFamily="65" charset="-120"/>
            </a:endParaRPr>
          </a:p>
          <a:p>
            <a:pPr marL="0" indent="0">
              <a:buFont typeface="Arial" panose="020B0604020202020204" pitchFamily="34" charset="0"/>
              <a:buNone/>
            </a:pPr>
            <a:r>
              <a:rPr lang="zh-TW" altLang="en-US" sz="2400">
                <a:latin typeface="標楷體" panose="03000509000000000000" pitchFamily="65" charset="-120"/>
                <a:ea typeface="標楷體" panose="03000509000000000000" pitchFamily="65" charset="-120"/>
              </a:rPr>
              <a:t>學生小明最近在趕專題展演，急需</a:t>
            </a:r>
            <a:r>
              <a:rPr lang="zh-TW" altLang="en-US" sz="2400">
                <a:solidFill>
                  <a:schemeClr val="tx2">
                    <a:lumMod val="75000"/>
                    <a:lumOff val="25000"/>
                  </a:schemeClr>
                </a:solidFill>
                <a:latin typeface="標楷體" panose="03000509000000000000" pitchFamily="65" charset="-120"/>
                <a:ea typeface="標楷體" panose="03000509000000000000" pitchFamily="65" charset="-120"/>
              </a:rPr>
              <a:t>借用</a:t>
            </a:r>
            <a:r>
              <a:rPr lang="zh-TW" altLang="en-US" sz="2400">
                <a:latin typeface="標楷體" panose="03000509000000000000" pitchFamily="65" charset="-120"/>
                <a:ea typeface="標楷體" panose="03000509000000000000" pitchFamily="65" charset="-120"/>
              </a:rPr>
              <a:t>特定的投影機與實驗器材。</a:t>
            </a:r>
          </a:p>
          <a:p>
            <a:pPr marL="0" indent="0">
              <a:buFont typeface="Arial" panose="020B0604020202020204" pitchFamily="34" charset="0"/>
              <a:buNone/>
            </a:pPr>
            <a:r>
              <a:rPr lang="zh-TW" altLang="en-US" sz="2400">
                <a:latin typeface="標楷體" panose="03000509000000000000" pitchFamily="65" charset="-120"/>
                <a:ea typeface="標楷體" panose="03000509000000000000" pitchFamily="65" charset="-120"/>
              </a:rPr>
              <a:t>同時，他發現實驗室的一台電腦故障了，需要即時向系辦發出</a:t>
            </a:r>
            <a:r>
              <a:rPr lang="zh-TW" altLang="en-US" sz="2400">
                <a:solidFill>
                  <a:schemeClr val="tx2">
                    <a:lumMod val="75000"/>
                    <a:lumOff val="25000"/>
                  </a:schemeClr>
                </a:solidFill>
                <a:latin typeface="標楷體" panose="03000509000000000000" pitchFamily="65" charset="-120"/>
                <a:ea typeface="標楷體" panose="03000509000000000000" pitchFamily="65" charset="-120"/>
              </a:rPr>
              <a:t>維修通報</a:t>
            </a:r>
            <a:r>
              <a:rPr lang="zh-TW" altLang="en-US" sz="2400">
                <a:latin typeface="標楷體" panose="03000509000000000000" pitchFamily="65" charset="-120"/>
                <a:ea typeface="標楷體" panose="03000509000000000000" pitchFamily="65" charset="-120"/>
              </a:rPr>
              <a:t>。</a:t>
            </a:r>
            <a:endParaRPr lang="zh-TW" altLang="en-US" sz="2400" dirty="0">
              <a:latin typeface="標楷體" panose="03000509000000000000" pitchFamily="65" charset="-120"/>
              <a:ea typeface="標楷體" panose="03000509000000000000" pitchFamily="65" charset="-120"/>
            </a:endParaRPr>
          </a:p>
        </p:txBody>
      </p:sp>
      <p:sp>
        <p:nvSpPr>
          <p:cNvPr id="24" name="內容版面配置區 3">
            <a:extLst>
              <a:ext uri="{FF2B5EF4-FFF2-40B4-BE49-F238E27FC236}">
                <a16:creationId xmlns:a16="http://schemas.microsoft.com/office/drawing/2014/main" id="{901181A8-FB22-15E6-26AA-6C00E8D4D13A}"/>
              </a:ext>
            </a:extLst>
          </p:cNvPr>
          <p:cNvSpPr txBox="1">
            <a:spLocks/>
          </p:cNvSpPr>
          <p:nvPr/>
        </p:nvSpPr>
        <p:spPr>
          <a:xfrm>
            <a:off x="5594360" y="-5704956"/>
            <a:ext cx="6597640" cy="168469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2">
                  <a:lumMod val="75000"/>
                  <a:lumOff val="25000"/>
                </a:schemeClr>
              </a:buClr>
              <a:buFont typeface="Arial" panose="020B0604020202020204" pitchFamily="34" charset="0"/>
              <a:buNone/>
            </a:pPr>
            <a:r>
              <a:rPr lang="zh-TW" altLang="en-US" sz="2400" b="1">
                <a:latin typeface="標楷體" panose="03000509000000000000" pitchFamily="65" charset="-120"/>
                <a:ea typeface="標楷體" panose="03000509000000000000" pitchFamily="65" charset="-120"/>
              </a:rPr>
              <a:t>操作流程</a:t>
            </a:r>
            <a:r>
              <a:rPr lang="en-US" altLang="zh-TW" sz="2400" b="1">
                <a:latin typeface="標楷體" panose="03000509000000000000" pitchFamily="65" charset="-120"/>
                <a:ea typeface="標楷體" panose="03000509000000000000" pitchFamily="65" charset="-120"/>
              </a:rPr>
              <a:t>(</a:t>
            </a:r>
            <a:r>
              <a:rPr lang="zh-TW" altLang="en-US" sz="2400" b="1">
                <a:latin typeface="標楷體" panose="03000509000000000000" pitchFamily="65" charset="-120"/>
                <a:ea typeface="標楷體" panose="03000509000000000000" pitchFamily="65" charset="-120"/>
              </a:rPr>
              <a:t>借用</a:t>
            </a:r>
            <a:r>
              <a:rPr lang="en-US" altLang="zh-TW" sz="2400" b="1">
                <a:latin typeface="標楷體" panose="03000509000000000000" pitchFamily="65" charset="-120"/>
                <a:ea typeface="標楷體" panose="03000509000000000000" pitchFamily="65" charset="-120"/>
              </a:rPr>
              <a:t>):</a:t>
            </a:r>
          </a:p>
          <a:p>
            <a:pPr marL="457200" indent="-457200">
              <a:buClr>
                <a:schemeClr val="tx2">
                  <a:lumMod val="75000"/>
                  <a:lumOff val="25000"/>
                </a:schemeClr>
              </a:buClr>
              <a:buFont typeface="Wingdings" panose="05000000000000000000" pitchFamily="2" charset="2"/>
              <a:buAutoNum type="circleNumWdWhitePlain"/>
            </a:pPr>
            <a:r>
              <a:rPr lang="zh-TW" altLang="en-US" sz="2000">
                <a:latin typeface="標楷體" panose="03000509000000000000" pitchFamily="65" charset="-120"/>
                <a:ea typeface="標楷體" panose="03000509000000000000" pitchFamily="65" charset="-120"/>
              </a:rPr>
              <a:t>條件篩選：依「投影機」與「可用」狀態找尋。</a:t>
            </a:r>
          </a:p>
          <a:p>
            <a:pPr marL="514350" indent="-514350">
              <a:buClr>
                <a:schemeClr val="tx2">
                  <a:lumMod val="75000"/>
                  <a:lumOff val="25000"/>
                </a:schemeClr>
              </a:buClr>
              <a:buFont typeface="Wingdings" panose="05000000000000000000" pitchFamily="2" charset="2"/>
              <a:buAutoNum type="circleNumWdWhitePlain"/>
            </a:pPr>
            <a:r>
              <a:rPr lang="zh-TW" altLang="en-US" sz="2000">
                <a:latin typeface="標楷體" panose="03000509000000000000" pitchFamily="65" charset="-120"/>
                <a:ea typeface="標楷體" panose="03000509000000000000" pitchFamily="65" charset="-120"/>
              </a:rPr>
              <a:t>提出申請單：填寫借用起迄日，或填寫損壞描述。</a:t>
            </a:r>
          </a:p>
          <a:p>
            <a:pPr marL="514350" indent="-514350">
              <a:buClr>
                <a:schemeClr val="tx2">
                  <a:lumMod val="75000"/>
                  <a:lumOff val="25000"/>
                </a:schemeClr>
              </a:buClr>
              <a:buFont typeface="Wingdings" panose="05000000000000000000" pitchFamily="2" charset="2"/>
              <a:buAutoNum type="circleNumWdWhitePlain"/>
            </a:pPr>
            <a:r>
              <a:rPr lang="zh-TW" altLang="en-US" sz="2000">
                <a:latin typeface="標楷體" panose="03000509000000000000" pitchFamily="65" charset="-120"/>
                <a:ea typeface="標楷體" panose="03000509000000000000" pitchFamily="65" charset="-120"/>
              </a:rPr>
              <a:t>後台審核聯動：管理員核准後，自動變更為</a:t>
            </a:r>
            <a:r>
              <a:rPr lang="zh-TW" altLang="en-US" sz="2000">
                <a:solidFill>
                  <a:schemeClr val="tx2">
                    <a:lumMod val="75000"/>
                    <a:lumOff val="25000"/>
                  </a:schemeClr>
                </a:solidFill>
                <a:latin typeface="標楷體" panose="03000509000000000000" pitchFamily="65" charset="-120"/>
                <a:ea typeface="標楷體" panose="03000509000000000000" pitchFamily="65" charset="-120"/>
              </a:rPr>
              <a:t>借出中</a:t>
            </a:r>
            <a:r>
              <a:rPr lang="zh-TW" altLang="en-US" sz="2000">
                <a:latin typeface="標楷體" panose="03000509000000000000" pitchFamily="65" charset="-120"/>
                <a:ea typeface="標楷體" panose="03000509000000000000" pitchFamily="65" charset="-120"/>
              </a:rPr>
              <a:t>。</a:t>
            </a:r>
            <a:endParaRPr lang="zh-TW" altLang="en-US" sz="2000" dirty="0">
              <a:latin typeface="標楷體" panose="03000509000000000000" pitchFamily="65" charset="-120"/>
              <a:ea typeface="標楷體" panose="03000509000000000000" pitchFamily="65" charset="-120"/>
            </a:endParaRPr>
          </a:p>
        </p:txBody>
      </p:sp>
      <p:grpSp>
        <p:nvGrpSpPr>
          <p:cNvPr id="25" name="群組 24">
            <a:extLst>
              <a:ext uri="{FF2B5EF4-FFF2-40B4-BE49-F238E27FC236}">
                <a16:creationId xmlns:a16="http://schemas.microsoft.com/office/drawing/2014/main" id="{07A1F1A8-51B7-1524-36F3-8D42D693FFAC}"/>
              </a:ext>
            </a:extLst>
          </p:cNvPr>
          <p:cNvGrpSpPr/>
          <p:nvPr/>
        </p:nvGrpSpPr>
        <p:grpSpPr>
          <a:xfrm>
            <a:off x="-1095375" y="-8460926"/>
            <a:ext cx="4622800" cy="1200329"/>
            <a:chOff x="368300" y="1419930"/>
            <a:chExt cx="4622800" cy="1200329"/>
          </a:xfrm>
        </p:grpSpPr>
        <p:sp>
          <p:nvSpPr>
            <p:cNvPr id="26" name="矩形 25">
              <a:extLst>
                <a:ext uri="{FF2B5EF4-FFF2-40B4-BE49-F238E27FC236}">
                  <a16:creationId xmlns:a16="http://schemas.microsoft.com/office/drawing/2014/main" id="{C4AD3276-C00D-5ACC-5B2E-F4FD1EDF24D0}"/>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7" name="文字方塊 26">
              <a:extLst>
                <a:ext uri="{FF2B5EF4-FFF2-40B4-BE49-F238E27FC236}">
                  <a16:creationId xmlns:a16="http://schemas.microsoft.com/office/drawing/2014/main" id="{28384212-B0C1-954C-8891-90826EEBF368}"/>
                </a:ext>
              </a:extLst>
            </p:cNvPr>
            <p:cNvSpPr txBox="1"/>
            <p:nvPr/>
          </p:nvSpPr>
          <p:spPr>
            <a:xfrm>
              <a:off x="4254500" y="141993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2</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28" name="文字方塊 27">
            <a:extLst>
              <a:ext uri="{FF2B5EF4-FFF2-40B4-BE49-F238E27FC236}">
                <a16:creationId xmlns:a16="http://schemas.microsoft.com/office/drawing/2014/main" id="{D5D1E5C9-EC50-904A-07E3-EC23DEA5D877}"/>
              </a:ext>
            </a:extLst>
          </p:cNvPr>
          <p:cNvSpPr txBox="1"/>
          <p:nvPr/>
        </p:nvSpPr>
        <p:spPr>
          <a:xfrm>
            <a:off x="479425" y="-8228784"/>
            <a:ext cx="2482850"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應用情境</a:t>
            </a:r>
          </a:p>
        </p:txBody>
      </p:sp>
      <p:cxnSp>
        <p:nvCxnSpPr>
          <p:cNvPr id="29" name="直線接點 28">
            <a:extLst>
              <a:ext uri="{FF2B5EF4-FFF2-40B4-BE49-F238E27FC236}">
                <a16:creationId xmlns:a16="http://schemas.microsoft.com/office/drawing/2014/main" id="{1012BFE7-426F-2211-780F-BA3D09B87413}"/>
              </a:ext>
            </a:extLst>
          </p:cNvPr>
          <p:cNvCxnSpPr>
            <a:cxnSpLocks/>
          </p:cNvCxnSpPr>
          <p:nvPr/>
        </p:nvCxnSpPr>
        <p:spPr>
          <a:xfrm>
            <a:off x="5489576" y="-5670476"/>
            <a:ext cx="0" cy="3680508"/>
          </a:xfrm>
          <a:prstGeom prst="line">
            <a:avLst/>
          </a:prstGeom>
          <a:ln>
            <a:solidFill>
              <a:schemeClr val="bg2">
                <a:lumMod val="75000"/>
              </a:schemeClr>
            </a:solidFill>
          </a:ln>
        </p:spPr>
        <p:style>
          <a:lnRef idx="2">
            <a:schemeClr val="accent1"/>
          </a:lnRef>
          <a:fillRef idx="0">
            <a:schemeClr val="accent1"/>
          </a:fillRef>
          <a:effectRef idx="1">
            <a:schemeClr val="accent1"/>
          </a:effectRef>
          <a:fontRef idx="minor">
            <a:schemeClr val="tx1"/>
          </a:fontRef>
        </p:style>
      </p:cxnSp>
      <p:pic>
        <p:nvPicPr>
          <p:cNvPr id="30" name="Picture 2">
            <a:extLst>
              <a:ext uri="{FF2B5EF4-FFF2-40B4-BE49-F238E27FC236}">
                <a16:creationId xmlns:a16="http://schemas.microsoft.com/office/drawing/2014/main" id="{F7A037FE-70A2-1A18-524C-65F55B9A0CC6}"/>
              </a:ext>
            </a:extLst>
          </p:cNvPr>
          <p:cNvPicPr>
            <a:picLocks noChangeAspect="1"/>
          </p:cNvPicPr>
          <p:nvPr/>
        </p:nvPicPr>
        <p:blipFill>
          <a:blip r:embed="rId2"/>
          <a:srcRect l="16523" t="19527" r="16250" b="18428"/>
          <a:stretch>
            <a:fillRect/>
          </a:stretch>
        </p:blipFill>
        <p:spPr>
          <a:xfrm>
            <a:off x="6988181" y="-8355674"/>
            <a:ext cx="5073649" cy="2612001"/>
          </a:xfrm>
          <a:prstGeom prst="rect">
            <a:avLst/>
          </a:prstGeom>
        </p:spPr>
      </p:pic>
      <p:sp>
        <p:nvSpPr>
          <p:cNvPr id="31" name="內容版面配置區 3">
            <a:extLst>
              <a:ext uri="{FF2B5EF4-FFF2-40B4-BE49-F238E27FC236}">
                <a16:creationId xmlns:a16="http://schemas.microsoft.com/office/drawing/2014/main" id="{DF6DA1EF-F13C-BE44-436F-31A2EA3D67FF}"/>
              </a:ext>
            </a:extLst>
          </p:cNvPr>
          <p:cNvSpPr txBox="1">
            <a:spLocks/>
          </p:cNvSpPr>
          <p:nvPr/>
        </p:nvSpPr>
        <p:spPr>
          <a:xfrm>
            <a:off x="5594360" y="-3763724"/>
            <a:ext cx="6597640" cy="16846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Clr>
                <a:schemeClr val="tx2">
                  <a:lumMod val="75000"/>
                  <a:lumOff val="25000"/>
                </a:schemeClr>
              </a:buClr>
              <a:buFont typeface="Arial" panose="020B0604020202020204" pitchFamily="34" charset="0"/>
              <a:buNone/>
            </a:pPr>
            <a:r>
              <a:rPr lang="zh-TW" altLang="en-US" sz="2400" b="1" dirty="0">
                <a:latin typeface="標楷體" panose="03000509000000000000" pitchFamily="65" charset="-120"/>
                <a:ea typeface="標楷體" panose="03000509000000000000" pitchFamily="65" charset="-120"/>
              </a:rPr>
              <a:t>操作流程</a:t>
            </a:r>
            <a:r>
              <a:rPr lang="en-US" altLang="zh-TW" sz="2400" b="1" dirty="0">
                <a:latin typeface="標楷體" panose="03000509000000000000" pitchFamily="65" charset="-120"/>
                <a:ea typeface="標楷體" panose="03000509000000000000" pitchFamily="65" charset="-120"/>
              </a:rPr>
              <a:t>(</a:t>
            </a:r>
            <a:r>
              <a:rPr lang="zh-TW" altLang="en-US" sz="2400" b="1" dirty="0">
                <a:latin typeface="標楷體" panose="03000509000000000000" pitchFamily="65" charset="-120"/>
                <a:ea typeface="標楷體" panose="03000509000000000000" pitchFamily="65" charset="-120"/>
              </a:rPr>
              <a:t>維修</a:t>
            </a:r>
            <a:r>
              <a:rPr lang="en-US" altLang="zh-TW" sz="2400" b="1" dirty="0">
                <a:latin typeface="標楷體" panose="03000509000000000000" pitchFamily="65" charset="-120"/>
                <a:ea typeface="標楷體" panose="03000509000000000000" pitchFamily="65" charset="-120"/>
              </a:rPr>
              <a:t>):</a:t>
            </a:r>
          </a:p>
          <a:p>
            <a:pPr marL="457200" indent="-457200">
              <a:buClr>
                <a:schemeClr val="tx2">
                  <a:lumMod val="75000"/>
                  <a:lumOff val="25000"/>
                </a:schemeClr>
              </a:buClr>
              <a:buFont typeface="Wingdings" panose="05000000000000000000" pitchFamily="2" charset="2"/>
              <a:buAutoNum type="circleNumWdWhitePlain"/>
            </a:pPr>
            <a:r>
              <a:rPr lang="zh-TW" altLang="en-US" sz="2000" dirty="0">
                <a:latin typeface="標楷體" panose="03000509000000000000" pitchFamily="65" charset="-120"/>
                <a:ea typeface="標楷體" panose="03000509000000000000" pitchFamily="65" charset="-120"/>
              </a:rPr>
              <a:t>條件篩選：依「電腦」與「可用」狀態找尋。</a:t>
            </a:r>
          </a:p>
          <a:p>
            <a:pPr marL="514350" indent="-514350">
              <a:buClr>
                <a:schemeClr val="tx2">
                  <a:lumMod val="75000"/>
                  <a:lumOff val="25000"/>
                </a:schemeClr>
              </a:buClr>
              <a:buFont typeface="Wingdings" panose="05000000000000000000" pitchFamily="2" charset="2"/>
              <a:buAutoNum type="circleNumWdWhitePlain"/>
            </a:pPr>
            <a:r>
              <a:rPr lang="zh-TW" altLang="en-US" sz="2000" dirty="0">
                <a:latin typeface="標楷體" panose="03000509000000000000" pitchFamily="65" charset="-120"/>
                <a:ea typeface="標楷體" panose="03000509000000000000" pitchFamily="65" charset="-120"/>
              </a:rPr>
              <a:t>提交設備損壞通報。</a:t>
            </a:r>
            <a:endParaRPr lang="en-US" altLang="zh-TW" sz="2000" dirty="0">
              <a:latin typeface="標楷體" panose="03000509000000000000" pitchFamily="65" charset="-120"/>
              <a:ea typeface="標楷體" panose="03000509000000000000" pitchFamily="65" charset="-120"/>
            </a:endParaRPr>
          </a:p>
          <a:p>
            <a:pPr marL="514350" indent="-514350">
              <a:buClr>
                <a:schemeClr val="tx2">
                  <a:lumMod val="75000"/>
                  <a:lumOff val="25000"/>
                </a:schemeClr>
              </a:buClr>
              <a:buFont typeface="Wingdings" panose="05000000000000000000" pitchFamily="2" charset="2"/>
              <a:buAutoNum type="circleNumWdWhitePlain"/>
            </a:pPr>
            <a:r>
              <a:rPr lang="zh-TW" altLang="en-US" sz="2000" dirty="0">
                <a:latin typeface="標楷體" panose="03000509000000000000" pitchFamily="65" charset="-120"/>
                <a:ea typeface="標楷體" panose="03000509000000000000" pitchFamily="65" charset="-120"/>
              </a:rPr>
              <a:t>後台審核聯動：管理員建立維護紀錄並追蹤處理進度。</a:t>
            </a:r>
          </a:p>
        </p:txBody>
      </p:sp>
    </p:spTree>
    <p:extLst>
      <p:ext uri="{BB962C8B-B14F-4D97-AF65-F5344CB8AC3E}">
        <p14:creationId xmlns:p14="http://schemas.microsoft.com/office/powerpoint/2010/main" val="24347862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1000"/>
                                        <p:tgtEl>
                                          <p:spTgt spid="10"/>
                                        </p:tgtEl>
                                      </p:cBhvr>
                                    </p:animEffect>
                                    <p:anim calcmode="lin" valueType="num">
                                      <p:cBhvr>
                                        <p:cTn id="17" dur="1000" fill="hold"/>
                                        <p:tgtEl>
                                          <p:spTgt spid="10"/>
                                        </p:tgtEl>
                                        <p:attrNameLst>
                                          <p:attrName>ppt_x</p:attrName>
                                        </p:attrNameLst>
                                      </p:cBhvr>
                                      <p:tavLst>
                                        <p:tav tm="0">
                                          <p:val>
                                            <p:strVal val="#ppt_x"/>
                                          </p:val>
                                        </p:tav>
                                        <p:tav tm="100000">
                                          <p:val>
                                            <p:strVal val="#ppt_x"/>
                                          </p:val>
                                        </p:tav>
                                      </p:tavLst>
                                    </p:anim>
                                    <p:anim calcmode="lin" valueType="num">
                                      <p:cBhvr>
                                        <p:cTn id="18" dur="1000" fill="hold"/>
                                        <p:tgtEl>
                                          <p:spTgt spid="10"/>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1000"/>
                                        <p:tgtEl>
                                          <p:spTgt spid="11"/>
                                        </p:tgtEl>
                                      </p:cBhvr>
                                    </p:animEffect>
                                    <p:anim calcmode="lin" valueType="num">
                                      <p:cBhvr>
                                        <p:cTn id="22" dur="1000" fill="hold"/>
                                        <p:tgtEl>
                                          <p:spTgt spid="11"/>
                                        </p:tgtEl>
                                        <p:attrNameLst>
                                          <p:attrName>ppt_x</p:attrName>
                                        </p:attrNameLst>
                                      </p:cBhvr>
                                      <p:tavLst>
                                        <p:tav tm="0">
                                          <p:val>
                                            <p:strVal val="#ppt_x"/>
                                          </p:val>
                                        </p:tav>
                                        <p:tav tm="100000">
                                          <p:val>
                                            <p:strVal val="#ppt_x"/>
                                          </p:val>
                                        </p:tav>
                                      </p:tavLst>
                                    </p:anim>
                                    <p:anim calcmode="lin" valueType="num">
                                      <p:cBhvr>
                                        <p:cTn id="23" dur="1000" fill="hold"/>
                                        <p:tgtEl>
                                          <p:spTgt spid="11"/>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1000"/>
                                        <p:tgtEl>
                                          <p:spTgt spid="12"/>
                                        </p:tgtEl>
                                      </p:cBhvr>
                                    </p:animEffect>
                                    <p:anim calcmode="lin" valueType="num">
                                      <p:cBhvr>
                                        <p:cTn id="27" dur="1000" fill="hold"/>
                                        <p:tgtEl>
                                          <p:spTgt spid="12"/>
                                        </p:tgtEl>
                                        <p:attrNameLst>
                                          <p:attrName>ppt_x</p:attrName>
                                        </p:attrNameLst>
                                      </p:cBhvr>
                                      <p:tavLst>
                                        <p:tav tm="0">
                                          <p:val>
                                            <p:strVal val="#ppt_x"/>
                                          </p:val>
                                        </p:tav>
                                        <p:tav tm="100000">
                                          <p:val>
                                            <p:strVal val="#ppt_x"/>
                                          </p:val>
                                        </p:tav>
                                      </p:tavLst>
                                    </p:anim>
                                    <p:anim calcmode="lin" valueType="num">
                                      <p:cBhvr>
                                        <p:cTn id="28" dur="1000" fill="hold"/>
                                        <p:tgtEl>
                                          <p:spTgt spid="12"/>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anim calcmode="lin" valueType="num">
                                      <p:cBhvr>
                                        <p:cTn id="37" dur="1000" fill="hold"/>
                                        <p:tgtEl>
                                          <p:spTgt spid="14"/>
                                        </p:tgtEl>
                                        <p:attrNameLst>
                                          <p:attrName>ppt_x</p:attrName>
                                        </p:attrNameLst>
                                      </p:cBhvr>
                                      <p:tavLst>
                                        <p:tav tm="0">
                                          <p:val>
                                            <p:strVal val="#ppt_x"/>
                                          </p:val>
                                        </p:tav>
                                        <p:tav tm="100000">
                                          <p:val>
                                            <p:strVal val="#ppt_x"/>
                                          </p:val>
                                        </p:tav>
                                      </p:tavLst>
                                    </p:anim>
                                    <p:anim calcmode="lin" valueType="num">
                                      <p:cBhvr>
                                        <p:cTn id="38" dur="1000" fill="hold"/>
                                        <p:tgtEl>
                                          <p:spTgt spid="14"/>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1000"/>
                                        <p:tgtEl>
                                          <p:spTgt spid="15"/>
                                        </p:tgtEl>
                                      </p:cBhvr>
                                    </p:animEffect>
                                    <p:anim calcmode="lin" valueType="num">
                                      <p:cBhvr>
                                        <p:cTn id="42" dur="1000" fill="hold"/>
                                        <p:tgtEl>
                                          <p:spTgt spid="15"/>
                                        </p:tgtEl>
                                        <p:attrNameLst>
                                          <p:attrName>ppt_x</p:attrName>
                                        </p:attrNameLst>
                                      </p:cBhvr>
                                      <p:tavLst>
                                        <p:tav tm="0">
                                          <p:val>
                                            <p:strVal val="#ppt_x"/>
                                          </p:val>
                                        </p:tav>
                                        <p:tav tm="100000">
                                          <p:val>
                                            <p:strVal val="#ppt_x"/>
                                          </p:val>
                                        </p:tav>
                                      </p:tavLst>
                                    </p:anim>
                                    <p:anim calcmode="lin" valueType="num">
                                      <p:cBhvr>
                                        <p:cTn id="43" dur="1000" fill="hold"/>
                                        <p:tgtEl>
                                          <p:spTgt spid="15"/>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1000"/>
                                        <p:tgtEl>
                                          <p:spTgt spid="19"/>
                                        </p:tgtEl>
                                      </p:cBhvr>
                                    </p:animEffect>
                                    <p:anim calcmode="lin" valueType="num">
                                      <p:cBhvr>
                                        <p:cTn id="47" dur="1000" fill="hold"/>
                                        <p:tgtEl>
                                          <p:spTgt spid="19"/>
                                        </p:tgtEl>
                                        <p:attrNameLst>
                                          <p:attrName>ppt_x</p:attrName>
                                        </p:attrNameLst>
                                      </p:cBhvr>
                                      <p:tavLst>
                                        <p:tav tm="0">
                                          <p:val>
                                            <p:strVal val="#ppt_x"/>
                                          </p:val>
                                        </p:tav>
                                        <p:tav tm="100000">
                                          <p:val>
                                            <p:strVal val="#ppt_x"/>
                                          </p:val>
                                        </p:tav>
                                      </p:tavLst>
                                    </p:anim>
                                    <p:anim calcmode="lin" valueType="num">
                                      <p:cBhvr>
                                        <p:cTn id="48" dur="1000" fill="hold"/>
                                        <p:tgtEl>
                                          <p:spTgt spid="19"/>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fade">
                                      <p:cBhvr>
                                        <p:cTn id="51" dur="1000"/>
                                        <p:tgtEl>
                                          <p:spTgt spid="21"/>
                                        </p:tgtEl>
                                      </p:cBhvr>
                                    </p:animEffect>
                                    <p:anim calcmode="lin" valueType="num">
                                      <p:cBhvr>
                                        <p:cTn id="52" dur="1000" fill="hold"/>
                                        <p:tgtEl>
                                          <p:spTgt spid="21"/>
                                        </p:tgtEl>
                                        <p:attrNameLst>
                                          <p:attrName>ppt_x</p:attrName>
                                        </p:attrNameLst>
                                      </p:cBhvr>
                                      <p:tavLst>
                                        <p:tav tm="0">
                                          <p:val>
                                            <p:strVal val="#ppt_x"/>
                                          </p:val>
                                        </p:tav>
                                        <p:tav tm="100000">
                                          <p:val>
                                            <p:strVal val="#ppt_x"/>
                                          </p:val>
                                        </p:tav>
                                      </p:tavLst>
                                    </p:anim>
                                    <p:anim calcmode="lin" valueType="num">
                                      <p:cBhvr>
                                        <p:cTn id="53" dur="1000" fill="hold"/>
                                        <p:tgtEl>
                                          <p:spTgt spid="21"/>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1000"/>
                                        <p:tgtEl>
                                          <p:spTgt spid="20"/>
                                        </p:tgtEl>
                                      </p:cBhvr>
                                    </p:animEffect>
                                    <p:anim calcmode="lin" valueType="num">
                                      <p:cBhvr>
                                        <p:cTn id="57" dur="1000" fill="hold"/>
                                        <p:tgtEl>
                                          <p:spTgt spid="20"/>
                                        </p:tgtEl>
                                        <p:attrNameLst>
                                          <p:attrName>ppt_x</p:attrName>
                                        </p:attrNameLst>
                                      </p:cBhvr>
                                      <p:tavLst>
                                        <p:tav tm="0">
                                          <p:val>
                                            <p:strVal val="#ppt_x"/>
                                          </p:val>
                                        </p:tav>
                                        <p:tav tm="100000">
                                          <p:val>
                                            <p:strVal val="#ppt_x"/>
                                          </p:val>
                                        </p:tav>
                                      </p:tavLst>
                                    </p:anim>
                                    <p:anim calcmode="lin" valueType="num">
                                      <p:cBhvr>
                                        <p:cTn id="58"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xit" presetSubtype="8" fill="hold" nodeType="clickEffect">
                                  <p:stCondLst>
                                    <p:cond delay="0"/>
                                  </p:stCondLst>
                                  <p:childTnLst>
                                    <p:anim calcmode="lin" valueType="num">
                                      <p:cBhvr additive="base">
                                        <p:cTn id="62" dur="500"/>
                                        <p:tgtEl>
                                          <p:spTgt spid="4"/>
                                        </p:tgtEl>
                                        <p:attrNameLst>
                                          <p:attrName>ppt_x</p:attrName>
                                        </p:attrNameLst>
                                      </p:cBhvr>
                                      <p:tavLst>
                                        <p:tav tm="0">
                                          <p:val>
                                            <p:strVal val="ppt_x"/>
                                          </p:val>
                                        </p:tav>
                                        <p:tav tm="100000">
                                          <p:val>
                                            <p:strVal val="0-ppt_w/2"/>
                                          </p:val>
                                        </p:tav>
                                      </p:tavLst>
                                    </p:anim>
                                    <p:anim calcmode="lin" valueType="num">
                                      <p:cBhvr additive="base">
                                        <p:cTn id="63" dur="500"/>
                                        <p:tgtEl>
                                          <p:spTgt spid="4"/>
                                        </p:tgtEl>
                                        <p:attrNameLst>
                                          <p:attrName>ppt_y</p:attrName>
                                        </p:attrNameLst>
                                      </p:cBhvr>
                                      <p:tavLst>
                                        <p:tav tm="0">
                                          <p:val>
                                            <p:strVal val="ppt_y"/>
                                          </p:val>
                                        </p:tav>
                                        <p:tav tm="100000">
                                          <p:val>
                                            <p:strVal val="ppt_y"/>
                                          </p:val>
                                        </p:tav>
                                      </p:tavLst>
                                    </p:anim>
                                    <p:set>
                                      <p:cBhvr>
                                        <p:cTn id="64" dur="1" fill="hold">
                                          <p:stCondLst>
                                            <p:cond delay="499"/>
                                          </p:stCondLst>
                                        </p:cTn>
                                        <p:tgtEl>
                                          <p:spTgt spid="4"/>
                                        </p:tgtEl>
                                        <p:attrNameLst>
                                          <p:attrName>style.visibility</p:attrName>
                                        </p:attrNameLst>
                                      </p:cBhvr>
                                      <p:to>
                                        <p:strVal val="hidden"/>
                                      </p:to>
                                    </p:set>
                                  </p:childTnLst>
                                </p:cTn>
                              </p:par>
                              <p:par>
                                <p:cTn id="65" presetID="2" presetClass="exit" presetSubtype="8" fill="hold" grpId="1" nodeType="withEffect">
                                  <p:stCondLst>
                                    <p:cond delay="0"/>
                                  </p:stCondLst>
                                  <p:childTnLst>
                                    <p:anim calcmode="lin" valueType="num">
                                      <p:cBhvr additive="base">
                                        <p:cTn id="66" dur="500"/>
                                        <p:tgtEl>
                                          <p:spTgt spid="7"/>
                                        </p:tgtEl>
                                        <p:attrNameLst>
                                          <p:attrName>ppt_x</p:attrName>
                                        </p:attrNameLst>
                                      </p:cBhvr>
                                      <p:tavLst>
                                        <p:tav tm="0">
                                          <p:val>
                                            <p:strVal val="ppt_x"/>
                                          </p:val>
                                        </p:tav>
                                        <p:tav tm="100000">
                                          <p:val>
                                            <p:strVal val="0-ppt_w/2"/>
                                          </p:val>
                                        </p:tav>
                                      </p:tavLst>
                                    </p:anim>
                                    <p:anim calcmode="lin" valueType="num">
                                      <p:cBhvr additive="base">
                                        <p:cTn id="67" dur="500"/>
                                        <p:tgtEl>
                                          <p:spTgt spid="7"/>
                                        </p:tgtEl>
                                        <p:attrNameLst>
                                          <p:attrName>ppt_y</p:attrName>
                                        </p:attrNameLst>
                                      </p:cBhvr>
                                      <p:tavLst>
                                        <p:tav tm="0">
                                          <p:val>
                                            <p:strVal val="ppt_y"/>
                                          </p:val>
                                        </p:tav>
                                        <p:tav tm="100000">
                                          <p:val>
                                            <p:strVal val="ppt_y"/>
                                          </p:val>
                                        </p:tav>
                                      </p:tavLst>
                                    </p:anim>
                                    <p:set>
                                      <p:cBhvr>
                                        <p:cTn id="68"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7" grpId="1"/>
      <p:bldP spid="10" grpId="0" animBg="1"/>
      <p:bldP spid="11" grpId="0" animBg="1"/>
      <p:bldP spid="12" grpId="0" animBg="1"/>
      <p:bldP spid="13" grpId="0" animBg="1"/>
      <p:bldP spid="14" grpId="0" animBg="1"/>
      <p:bldP spid="15" grpId="0" animBg="1"/>
      <p:bldP spid="19" grpId="0"/>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圖片 15">
            <a:extLst>
              <a:ext uri="{FF2B5EF4-FFF2-40B4-BE49-F238E27FC236}">
                <a16:creationId xmlns:a16="http://schemas.microsoft.com/office/drawing/2014/main" id="{5FE1AD28-F716-3466-6E0F-31FB24154015}"/>
              </a:ext>
            </a:extLst>
          </p:cNvPr>
          <p:cNvPicPr>
            <a:picLocks noChangeAspect="1"/>
          </p:cNvPicPr>
          <p:nvPr/>
        </p:nvPicPr>
        <p:blipFill>
          <a:blip r:embed="rId2"/>
          <a:srcRect l="17968" r="18359"/>
          <a:stretch>
            <a:fillRect/>
          </a:stretch>
        </p:blipFill>
        <p:spPr>
          <a:xfrm>
            <a:off x="-114300" y="1689941"/>
            <a:ext cx="5644243" cy="4839159"/>
          </a:xfrm>
          <a:prstGeom prst="rect">
            <a:avLst/>
          </a:prstGeom>
        </p:spPr>
      </p:pic>
      <p:sp>
        <p:nvSpPr>
          <p:cNvPr id="3" name="內容版面配置區 2">
            <a:extLst>
              <a:ext uri="{FF2B5EF4-FFF2-40B4-BE49-F238E27FC236}">
                <a16:creationId xmlns:a16="http://schemas.microsoft.com/office/drawing/2014/main" id="{C873F7F1-0F9B-FF33-E9AE-A972CB996F7D}"/>
              </a:ext>
            </a:extLst>
          </p:cNvPr>
          <p:cNvSpPr>
            <a:spLocks noGrp="1"/>
          </p:cNvSpPr>
          <p:nvPr>
            <p:ph sz="half" idx="1"/>
          </p:nvPr>
        </p:nvSpPr>
        <p:spPr>
          <a:xfrm>
            <a:off x="5529943" y="1154091"/>
            <a:ext cx="7302500" cy="2159922"/>
          </a:xfrm>
        </p:spPr>
        <p:txBody>
          <a:bodyPr>
            <a:normAutofit/>
          </a:bodyPr>
          <a:lstStyle/>
          <a:p>
            <a:pPr marL="0" indent="0">
              <a:buNone/>
            </a:pPr>
            <a:r>
              <a:rPr lang="zh-TW" altLang="en-US" b="1" dirty="0">
                <a:latin typeface="標楷體" panose="03000509000000000000" pitchFamily="65" charset="-120"/>
                <a:ea typeface="標楷體" panose="03000509000000000000" pitchFamily="65" charset="-120"/>
              </a:rPr>
              <a:t>使用者管理：</a:t>
            </a:r>
          </a:p>
          <a:p>
            <a:pPr marL="0" indent="0">
              <a:buNone/>
            </a:pP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新帳號註冊及登入驗證</a:t>
            </a:r>
          </a:p>
          <a:p>
            <a:pPr marL="0" indent="0">
              <a:buNone/>
            </a:pP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忘記密碼與重設功能</a:t>
            </a:r>
          </a:p>
          <a:p>
            <a:pPr marL="0" indent="0">
              <a:buNone/>
            </a:pP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角色權限控管 </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管理員</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教師</a:t>
            </a:r>
            <a:r>
              <a:rPr lang="en-US" altLang="zh-TW" dirty="0">
                <a:latin typeface="標楷體" panose="03000509000000000000" pitchFamily="65" charset="-120"/>
                <a:ea typeface="標楷體" panose="03000509000000000000" pitchFamily="65" charset="-120"/>
              </a:rPr>
              <a:t>/</a:t>
            </a:r>
            <a:r>
              <a:rPr lang="zh-TW" altLang="en-US" dirty="0">
                <a:latin typeface="標楷體" panose="03000509000000000000" pitchFamily="65" charset="-120"/>
                <a:ea typeface="標楷體" panose="03000509000000000000" pitchFamily="65" charset="-120"/>
              </a:rPr>
              <a:t>學生</a:t>
            </a:r>
            <a:r>
              <a:rPr lang="en-US" altLang="zh-TW" dirty="0">
                <a:latin typeface="標楷體" panose="03000509000000000000" pitchFamily="65" charset="-120"/>
                <a:ea typeface="標楷體" panose="03000509000000000000" pitchFamily="65" charset="-120"/>
              </a:rPr>
              <a:t>)</a:t>
            </a:r>
          </a:p>
          <a:p>
            <a:pPr marL="0" indent="0">
              <a:buNone/>
            </a:pPr>
            <a:endParaRPr lang="en-US" altLang="zh-TW" dirty="0">
              <a:latin typeface="標楷體" panose="03000509000000000000" pitchFamily="65" charset="-120"/>
              <a:ea typeface="標楷體" panose="03000509000000000000" pitchFamily="65" charset="-120"/>
            </a:endParaRPr>
          </a:p>
        </p:txBody>
      </p:sp>
      <p:sp>
        <p:nvSpPr>
          <p:cNvPr id="4" name="內容版面配置區 3">
            <a:extLst>
              <a:ext uri="{FF2B5EF4-FFF2-40B4-BE49-F238E27FC236}">
                <a16:creationId xmlns:a16="http://schemas.microsoft.com/office/drawing/2014/main" id="{C9CE87ED-0627-DFB1-8777-C8C06FC3D9EC}"/>
              </a:ext>
            </a:extLst>
          </p:cNvPr>
          <p:cNvSpPr>
            <a:spLocks noGrp="1"/>
          </p:cNvSpPr>
          <p:nvPr>
            <p:ph sz="half" idx="2"/>
          </p:nvPr>
        </p:nvSpPr>
        <p:spPr>
          <a:xfrm>
            <a:off x="5613198" y="4646872"/>
            <a:ext cx="8813800" cy="4351338"/>
          </a:xfrm>
        </p:spPr>
        <p:txBody>
          <a:bodyPr>
            <a:normAutofit/>
          </a:bodyPr>
          <a:lstStyle/>
          <a:p>
            <a:pPr marL="0" indent="0">
              <a:buNone/>
            </a:pPr>
            <a:r>
              <a:rPr lang="zh-TW" altLang="en-US" b="1" dirty="0">
                <a:latin typeface="標楷體" panose="03000509000000000000" pitchFamily="65" charset="-120"/>
                <a:ea typeface="標楷體" panose="03000509000000000000" pitchFamily="65" charset="-120"/>
              </a:rPr>
              <a:t>設備管理：</a:t>
            </a:r>
          </a:p>
          <a:p>
            <a:pPr marL="0" indent="0">
              <a:buNone/>
            </a:pP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管理員新增、修改、刪除</a:t>
            </a:r>
          </a:p>
          <a:p>
            <a:pPr marL="0" indent="0">
              <a:buNone/>
            </a:pP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依類別、狀態、地點瀏覽與搜尋</a:t>
            </a:r>
          </a:p>
          <a:p>
            <a:pPr marL="0" indent="0">
              <a:buNone/>
            </a:pPr>
            <a:r>
              <a:rPr lang="en-US" altLang="zh-TW" dirty="0">
                <a:latin typeface="標楷體" panose="03000509000000000000" pitchFamily="65" charset="-120"/>
                <a:ea typeface="標楷體" panose="03000509000000000000" pitchFamily="65" charset="-120"/>
              </a:rPr>
              <a:t>‧ </a:t>
            </a:r>
            <a:r>
              <a:rPr lang="zh-TW" altLang="en-US" dirty="0">
                <a:latin typeface="標楷體" panose="03000509000000000000" pitchFamily="65" charset="-120"/>
                <a:ea typeface="標楷體" panose="03000509000000000000" pitchFamily="65" charset="-120"/>
              </a:rPr>
              <a:t>設備狀態隨流程自動更新</a:t>
            </a:r>
          </a:p>
        </p:txBody>
      </p:sp>
      <p:grpSp>
        <p:nvGrpSpPr>
          <p:cNvPr id="5" name="群組 4">
            <a:extLst>
              <a:ext uri="{FF2B5EF4-FFF2-40B4-BE49-F238E27FC236}">
                <a16:creationId xmlns:a16="http://schemas.microsoft.com/office/drawing/2014/main" id="{4D844D11-2321-057E-94D5-221356A5A30D}"/>
              </a:ext>
            </a:extLst>
          </p:cNvPr>
          <p:cNvGrpSpPr/>
          <p:nvPr/>
        </p:nvGrpSpPr>
        <p:grpSpPr>
          <a:xfrm>
            <a:off x="-1200150" y="51900"/>
            <a:ext cx="7733595" cy="1200329"/>
            <a:chOff x="368300" y="1413688"/>
            <a:chExt cx="4703473" cy="1200329"/>
          </a:xfrm>
        </p:grpSpPr>
        <p:sp>
          <p:nvSpPr>
            <p:cNvPr id="6" name="矩形 5">
              <a:extLst>
                <a:ext uri="{FF2B5EF4-FFF2-40B4-BE49-F238E27FC236}">
                  <a16:creationId xmlns:a16="http://schemas.microsoft.com/office/drawing/2014/main" id="{98703ACA-22DC-C3C9-AFC9-C4E70FBC32E2}"/>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8A439A37-4F5A-9FD4-4DEE-21DC1764B964}"/>
                </a:ext>
              </a:extLst>
            </p:cNvPr>
            <p:cNvSpPr txBox="1"/>
            <p:nvPr/>
          </p:nvSpPr>
          <p:spPr>
            <a:xfrm>
              <a:off x="4335173" y="1413688"/>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4</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8" name="文字方塊 7">
            <a:extLst>
              <a:ext uri="{FF2B5EF4-FFF2-40B4-BE49-F238E27FC236}">
                <a16:creationId xmlns:a16="http://schemas.microsoft.com/office/drawing/2014/main" id="{E9E091AE-900C-5A70-835E-4343F546E6F3}"/>
              </a:ext>
            </a:extLst>
          </p:cNvPr>
          <p:cNvSpPr txBox="1"/>
          <p:nvPr/>
        </p:nvSpPr>
        <p:spPr>
          <a:xfrm>
            <a:off x="114754" y="328900"/>
            <a:ext cx="5415189"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功能需求：基礎管理模組</a:t>
            </a:r>
          </a:p>
        </p:txBody>
      </p:sp>
      <p:sp>
        <p:nvSpPr>
          <p:cNvPr id="14" name="文字方塊 13">
            <a:extLst>
              <a:ext uri="{FF2B5EF4-FFF2-40B4-BE49-F238E27FC236}">
                <a16:creationId xmlns:a16="http://schemas.microsoft.com/office/drawing/2014/main" id="{196BF995-FAE2-A71C-58F0-CA25E4E3F2E1}"/>
              </a:ext>
            </a:extLst>
          </p:cNvPr>
          <p:cNvSpPr txBox="1"/>
          <p:nvPr/>
        </p:nvSpPr>
        <p:spPr>
          <a:xfrm>
            <a:off x="5613198" y="3212692"/>
            <a:ext cx="6699250" cy="1384995"/>
          </a:xfrm>
          <a:prstGeom prst="rect">
            <a:avLst/>
          </a:prstGeom>
          <a:noFill/>
        </p:spPr>
        <p:txBody>
          <a:bodyPr wrap="square">
            <a:spAutoFit/>
          </a:bodyPr>
          <a:lstStyle/>
          <a:p>
            <a:r>
              <a:rPr lang="zh-TW" altLang="en-US" sz="2800" b="1" dirty="0">
                <a:latin typeface="標楷體" panose="03000509000000000000" pitchFamily="65" charset="-120"/>
                <a:ea typeface="標楷體" panose="03000509000000000000" pitchFamily="65" charset="-120"/>
              </a:rPr>
              <a:t>類別管理：</a:t>
            </a:r>
          </a:p>
          <a:p>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建立清晰的資產分類目錄</a:t>
            </a:r>
          </a:p>
          <a:p>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管理員專屬：新增、修改、刪除</a:t>
            </a:r>
          </a:p>
        </p:txBody>
      </p:sp>
    </p:spTree>
    <p:extLst>
      <p:ext uri="{BB962C8B-B14F-4D97-AF65-F5344CB8AC3E}">
        <p14:creationId xmlns:p14="http://schemas.microsoft.com/office/powerpoint/2010/main" val="195793823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660DD408-F672-FCC0-E1F4-FE623D9533D6}"/>
              </a:ext>
            </a:extLst>
          </p:cNvPr>
          <p:cNvSpPr>
            <a:spLocks noGrp="1"/>
          </p:cNvSpPr>
          <p:nvPr>
            <p:ph sz="half" idx="1"/>
          </p:nvPr>
        </p:nvSpPr>
        <p:spPr>
          <a:xfrm>
            <a:off x="261936" y="1803400"/>
            <a:ext cx="5872163" cy="4351338"/>
          </a:xfrm>
        </p:spPr>
        <p:txBody>
          <a:bodyPr>
            <a:normAutofit/>
          </a:bodyPr>
          <a:lstStyle/>
          <a:p>
            <a:pPr marL="0" indent="0">
              <a:buNone/>
            </a:pPr>
            <a:r>
              <a:rPr lang="zh-TW" altLang="en-US" b="1" dirty="0">
                <a:latin typeface="標楷體" panose="03000509000000000000" pitchFamily="65" charset="-120"/>
                <a:ea typeface="標楷體" panose="03000509000000000000" pitchFamily="65" charset="-120"/>
              </a:rPr>
              <a:t>借用管理：</a:t>
            </a:r>
          </a:p>
          <a:p>
            <a:r>
              <a:rPr lang="zh-TW" altLang="en-US" dirty="0">
                <a:latin typeface="標楷體" panose="03000509000000000000" pitchFamily="65" charset="-120"/>
                <a:ea typeface="標楷體" panose="03000509000000000000" pitchFamily="65" charset="-120"/>
              </a:rPr>
              <a:t>提交申請，管理員審核並更新狀態</a:t>
            </a:r>
          </a:p>
          <a:p>
            <a:r>
              <a:rPr lang="zh-TW" altLang="en-US" dirty="0">
                <a:latin typeface="標楷體" panose="03000509000000000000" pitchFamily="65" charset="-120"/>
                <a:ea typeface="標楷體" panose="03000509000000000000" pitchFamily="65" charset="-120"/>
              </a:rPr>
              <a:t>系統內建自動偵測逾期功能</a:t>
            </a:r>
          </a:p>
          <a:p>
            <a:endParaRPr lang="zh-TW" altLang="en-US" dirty="0">
              <a:latin typeface="標楷體" panose="03000509000000000000" pitchFamily="65" charset="-120"/>
              <a:ea typeface="標楷體" panose="03000509000000000000" pitchFamily="65" charset="-120"/>
            </a:endParaRPr>
          </a:p>
          <a:p>
            <a:pPr marL="0" indent="0">
              <a:buNone/>
            </a:pPr>
            <a:r>
              <a:rPr lang="zh-TW" altLang="en-US" b="1" dirty="0">
                <a:latin typeface="標楷體" panose="03000509000000000000" pitchFamily="65" charset="-120"/>
                <a:ea typeface="標楷體" panose="03000509000000000000" pitchFamily="65" charset="-120"/>
              </a:rPr>
              <a:t>維護管理：</a:t>
            </a:r>
          </a:p>
          <a:p>
            <a:r>
              <a:rPr lang="zh-TW" altLang="en-US" dirty="0">
                <a:latin typeface="標楷體" panose="03000509000000000000" pitchFamily="65" charset="-120"/>
                <a:ea typeface="標楷體" panose="03000509000000000000" pitchFamily="65" charset="-120"/>
              </a:rPr>
              <a:t>提供設備故障通報機制</a:t>
            </a:r>
          </a:p>
          <a:p>
            <a:r>
              <a:rPr lang="zh-TW" altLang="en-US" dirty="0">
                <a:latin typeface="標楷體" panose="03000509000000000000" pitchFamily="65" charset="-120"/>
                <a:ea typeface="標楷體" panose="03000509000000000000" pitchFamily="65" charset="-120"/>
              </a:rPr>
              <a:t>追蹤進度，完成後自動恢復「可用」</a:t>
            </a:r>
          </a:p>
        </p:txBody>
      </p:sp>
      <p:sp>
        <p:nvSpPr>
          <p:cNvPr id="4" name="內容版面配置區 3">
            <a:extLst>
              <a:ext uri="{FF2B5EF4-FFF2-40B4-BE49-F238E27FC236}">
                <a16:creationId xmlns:a16="http://schemas.microsoft.com/office/drawing/2014/main" id="{0CA034FB-9855-43AE-D67B-6048049209CB}"/>
              </a:ext>
            </a:extLst>
          </p:cNvPr>
          <p:cNvSpPr>
            <a:spLocks noGrp="1"/>
          </p:cNvSpPr>
          <p:nvPr>
            <p:ph sz="half" idx="2"/>
          </p:nvPr>
        </p:nvSpPr>
        <p:spPr>
          <a:xfrm>
            <a:off x="6302832" y="1803400"/>
            <a:ext cx="6019800" cy="4351338"/>
          </a:xfrm>
        </p:spPr>
        <p:txBody>
          <a:bodyPr>
            <a:normAutofit/>
          </a:bodyPr>
          <a:lstStyle/>
          <a:p>
            <a:pPr marL="0" indent="0">
              <a:buNone/>
            </a:pPr>
            <a:r>
              <a:rPr lang="zh-TW" altLang="en-US" b="1" dirty="0">
                <a:latin typeface="標楷體" panose="03000509000000000000" pitchFamily="65" charset="-120"/>
                <a:ea typeface="標楷體" panose="03000509000000000000" pitchFamily="65" charset="-120"/>
              </a:rPr>
              <a:t>報廢管理：</a:t>
            </a:r>
          </a:p>
          <a:p>
            <a:r>
              <a:rPr lang="zh-TW" altLang="en-US" dirty="0">
                <a:latin typeface="標楷體" panose="03000509000000000000" pitchFamily="65" charset="-120"/>
                <a:ea typeface="標楷體" panose="03000509000000000000" pitchFamily="65" charset="-120"/>
              </a:rPr>
              <a:t>申請設備報廢並附上原因</a:t>
            </a:r>
          </a:p>
          <a:p>
            <a:r>
              <a:rPr lang="zh-TW" altLang="en-US" dirty="0">
                <a:latin typeface="標楷體" panose="03000509000000000000" pitchFamily="65" charset="-120"/>
                <a:ea typeface="標楷體" panose="03000509000000000000" pitchFamily="65" charset="-120"/>
              </a:rPr>
              <a:t>審核後鎖定設備狀態為「報廢」</a:t>
            </a:r>
          </a:p>
          <a:p>
            <a:endParaRPr lang="zh-TW" altLang="en-US" dirty="0">
              <a:latin typeface="標楷體" panose="03000509000000000000" pitchFamily="65" charset="-120"/>
              <a:ea typeface="標楷體" panose="03000509000000000000" pitchFamily="65" charset="-120"/>
            </a:endParaRPr>
          </a:p>
          <a:p>
            <a:pPr marL="0" indent="0">
              <a:buNone/>
            </a:pPr>
            <a:r>
              <a:rPr lang="zh-TW" altLang="en-US" b="1" dirty="0">
                <a:latin typeface="標楷體" panose="03000509000000000000" pitchFamily="65" charset="-120"/>
                <a:ea typeface="標楷體" panose="03000509000000000000" pitchFamily="65" charset="-120"/>
              </a:rPr>
              <a:t>安全性設計：</a:t>
            </a:r>
          </a:p>
          <a:p>
            <a:r>
              <a:rPr lang="zh-TW" altLang="en-US" dirty="0">
                <a:latin typeface="標楷體" panose="03000509000000000000" pitchFamily="65" charset="-120"/>
                <a:ea typeface="標楷體" panose="03000509000000000000" pitchFamily="65" charset="-120"/>
              </a:rPr>
              <a:t>採學校 SSO 單一登入，系統不儲存密碼，降低資料外洩風險</a:t>
            </a:r>
            <a:r>
              <a:rPr lang="en-US" altLang="zh-TW" dirty="0">
                <a:latin typeface="標楷體" panose="03000509000000000000" pitchFamily="65" charset="-120"/>
                <a:ea typeface="標楷體" panose="03000509000000000000" pitchFamily="65" charset="-120"/>
              </a:rPr>
              <a:t> </a:t>
            </a:r>
          </a:p>
          <a:p>
            <a:r>
              <a:rPr lang="zh-TW" altLang="en-US" dirty="0">
                <a:latin typeface="標楷體" panose="03000509000000000000" pitchFamily="65" charset="-120"/>
                <a:ea typeface="標楷體" panose="03000509000000000000" pitchFamily="65" charset="-120"/>
              </a:rPr>
              <a:t>落實角色操作存取控制</a:t>
            </a:r>
          </a:p>
        </p:txBody>
      </p:sp>
      <p:grpSp>
        <p:nvGrpSpPr>
          <p:cNvPr id="5" name="群組 4">
            <a:extLst>
              <a:ext uri="{FF2B5EF4-FFF2-40B4-BE49-F238E27FC236}">
                <a16:creationId xmlns:a16="http://schemas.microsoft.com/office/drawing/2014/main" id="{A1192A55-B082-18CF-ADBA-5048790FD9FB}"/>
              </a:ext>
            </a:extLst>
          </p:cNvPr>
          <p:cNvGrpSpPr/>
          <p:nvPr/>
        </p:nvGrpSpPr>
        <p:grpSpPr>
          <a:xfrm>
            <a:off x="-1200150" y="58142"/>
            <a:ext cx="8152494" cy="1200329"/>
            <a:chOff x="368300" y="1419930"/>
            <a:chExt cx="4622800" cy="1200329"/>
          </a:xfrm>
        </p:grpSpPr>
        <p:sp>
          <p:nvSpPr>
            <p:cNvPr id="6" name="矩形 5">
              <a:extLst>
                <a:ext uri="{FF2B5EF4-FFF2-40B4-BE49-F238E27FC236}">
                  <a16:creationId xmlns:a16="http://schemas.microsoft.com/office/drawing/2014/main" id="{74A199EE-D957-E035-C13A-0B7609F9486E}"/>
                </a:ext>
              </a:extLst>
            </p:cNvPr>
            <p:cNvSpPr/>
            <p:nvPr/>
          </p:nvSpPr>
          <p:spPr>
            <a:xfrm>
              <a:off x="368300" y="1690688"/>
              <a:ext cx="4180426"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文字方塊 6">
              <a:extLst>
                <a:ext uri="{FF2B5EF4-FFF2-40B4-BE49-F238E27FC236}">
                  <a16:creationId xmlns:a16="http://schemas.microsoft.com/office/drawing/2014/main" id="{E9F17B1E-127E-7F60-5AC2-5C9F1AEEFD4B}"/>
                </a:ext>
              </a:extLst>
            </p:cNvPr>
            <p:cNvSpPr txBox="1"/>
            <p:nvPr/>
          </p:nvSpPr>
          <p:spPr>
            <a:xfrm>
              <a:off x="4254500" y="141993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5</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8" name="文字方塊 7">
            <a:extLst>
              <a:ext uri="{FF2B5EF4-FFF2-40B4-BE49-F238E27FC236}">
                <a16:creationId xmlns:a16="http://schemas.microsoft.com/office/drawing/2014/main" id="{BD353555-052C-3ED2-5041-63AEC5B02E1F}"/>
              </a:ext>
            </a:extLst>
          </p:cNvPr>
          <p:cNvSpPr txBox="1"/>
          <p:nvPr/>
        </p:nvSpPr>
        <p:spPr>
          <a:xfrm>
            <a:off x="0" y="328900"/>
            <a:ext cx="5705475"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功能需求：流程與資安模組</a:t>
            </a:r>
          </a:p>
        </p:txBody>
      </p:sp>
      <p:pic>
        <p:nvPicPr>
          <p:cNvPr id="12" name="圖片 11">
            <a:extLst>
              <a:ext uri="{FF2B5EF4-FFF2-40B4-BE49-F238E27FC236}">
                <a16:creationId xmlns:a16="http://schemas.microsoft.com/office/drawing/2014/main" id="{7CAB8FF1-8CA2-CF26-DAB1-410CB9FFAEC0}"/>
              </a:ext>
            </a:extLst>
          </p:cNvPr>
          <p:cNvPicPr>
            <a:picLocks noChangeAspect="1"/>
          </p:cNvPicPr>
          <p:nvPr/>
        </p:nvPicPr>
        <p:blipFill>
          <a:blip r:embed="rId2">
            <a:alphaModFix amt="9000"/>
          </a:blip>
          <a:stretch>
            <a:fillRect/>
          </a:stretch>
        </p:blipFill>
        <p:spPr>
          <a:xfrm>
            <a:off x="-57150" y="-1327"/>
            <a:ext cx="12458700" cy="6801185"/>
          </a:xfrm>
          <a:prstGeom prst="rect">
            <a:avLst/>
          </a:prstGeom>
        </p:spPr>
      </p:pic>
    </p:spTree>
    <p:extLst>
      <p:ext uri="{BB962C8B-B14F-4D97-AF65-F5344CB8AC3E}">
        <p14:creationId xmlns:p14="http://schemas.microsoft.com/office/powerpoint/2010/main" val="369196350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圖片 12">
            <a:extLst>
              <a:ext uri="{FF2B5EF4-FFF2-40B4-BE49-F238E27FC236}">
                <a16:creationId xmlns:a16="http://schemas.microsoft.com/office/drawing/2014/main" id="{389DC2D8-BA5D-4616-5B10-8156E681766B}"/>
              </a:ext>
            </a:extLst>
          </p:cNvPr>
          <p:cNvPicPr>
            <a:picLocks noChangeAspect="1"/>
          </p:cNvPicPr>
          <p:nvPr/>
        </p:nvPicPr>
        <p:blipFill>
          <a:blip r:embed="rId2"/>
          <a:stretch>
            <a:fillRect/>
          </a:stretch>
        </p:blipFill>
        <p:spPr>
          <a:xfrm>
            <a:off x="6019800" y="2614052"/>
            <a:ext cx="6234545" cy="2873736"/>
          </a:xfrm>
          <a:prstGeom prst="rect">
            <a:avLst/>
          </a:prstGeom>
        </p:spPr>
      </p:pic>
      <p:sp>
        <p:nvSpPr>
          <p:cNvPr id="2" name="標題 1">
            <a:extLst>
              <a:ext uri="{FF2B5EF4-FFF2-40B4-BE49-F238E27FC236}">
                <a16:creationId xmlns:a16="http://schemas.microsoft.com/office/drawing/2014/main" id="{5715A9AE-5671-1F7E-65B8-DC8E99C6D886}"/>
              </a:ext>
            </a:extLst>
          </p:cNvPr>
          <p:cNvSpPr>
            <a:spLocks noGrp="1"/>
          </p:cNvSpPr>
          <p:nvPr>
            <p:ph type="title"/>
          </p:nvPr>
        </p:nvSpPr>
        <p:spPr/>
        <p:txBody>
          <a:bodyPr/>
          <a:lstStyle/>
          <a:p>
            <a:endParaRPr lang="zh-TW" altLang="en-US"/>
          </a:p>
        </p:txBody>
      </p:sp>
      <p:grpSp>
        <p:nvGrpSpPr>
          <p:cNvPr id="9" name="群組 8">
            <a:extLst>
              <a:ext uri="{FF2B5EF4-FFF2-40B4-BE49-F238E27FC236}">
                <a16:creationId xmlns:a16="http://schemas.microsoft.com/office/drawing/2014/main" id="{F83F1D7C-421E-A9C5-8DDA-9127F54A21B7}"/>
              </a:ext>
            </a:extLst>
          </p:cNvPr>
          <p:cNvGrpSpPr/>
          <p:nvPr/>
        </p:nvGrpSpPr>
        <p:grpSpPr>
          <a:xfrm>
            <a:off x="-1069521" y="687341"/>
            <a:ext cx="8152494" cy="1200329"/>
            <a:chOff x="368300" y="1419930"/>
            <a:chExt cx="4622800" cy="1200329"/>
          </a:xfrm>
        </p:grpSpPr>
        <p:sp>
          <p:nvSpPr>
            <p:cNvPr id="10" name="矩形 9">
              <a:extLst>
                <a:ext uri="{FF2B5EF4-FFF2-40B4-BE49-F238E27FC236}">
                  <a16:creationId xmlns:a16="http://schemas.microsoft.com/office/drawing/2014/main" id="{E4163951-A541-478D-66E1-5B0F7EBA3678}"/>
                </a:ext>
              </a:extLst>
            </p:cNvPr>
            <p:cNvSpPr/>
            <p:nvPr/>
          </p:nvSpPr>
          <p:spPr>
            <a:xfrm>
              <a:off x="368300" y="1690688"/>
              <a:ext cx="4180426"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文字方塊 10">
              <a:extLst>
                <a:ext uri="{FF2B5EF4-FFF2-40B4-BE49-F238E27FC236}">
                  <a16:creationId xmlns:a16="http://schemas.microsoft.com/office/drawing/2014/main" id="{3B132383-70F2-05AA-02A5-E79683ABC8DE}"/>
                </a:ext>
              </a:extLst>
            </p:cNvPr>
            <p:cNvSpPr txBox="1"/>
            <p:nvPr/>
          </p:nvSpPr>
          <p:spPr>
            <a:xfrm>
              <a:off x="4254500" y="141993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5</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12" name="文字方塊 11">
            <a:extLst>
              <a:ext uri="{FF2B5EF4-FFF2-40B4-BE49-F238E27FC236}">
                <a16:creationId xmlns:a16="http://schemas.microsoft.com/office/drawing/2014/main" id="{7398870C-D56A-5D8B-E870-DD915AEA8462}"/>
              </a:ext>
            </a:extLst>
          </p:cNvPr>
          <p:cNvSpPr txBox="1"/>
          <p:nvPr/>
        </p:nvSpPr>
        <p:spPr>
          <a:xfrm>
            <a:off x="130629" y="958099"/>
            <a:ext cx="5705475"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功能需求：流程與資安模組</a:t>
            </a:r>
          </a:p>
        </p:txBody>
      </p:sp>
      <p:pic>
        <p:nvPicPr>
          <p:cNvPr id="16" name="圖片 15">
            <a:extLst>
              <a:ext uri="{FF2B5EF4-FFF2-40B4-BE49-F238E27FC236}">
                <a16:creationId xmlns:a16="http://schemas.microsoft.com/office/drawing/2014/main" id="{B7F45B2E-40F6-FC6C-927C-FC5A02A4C9C5}"/>
              </a:ext>
            </a:extLst>
          </p:cNvPr>
          <p:cNvPicPr>
            <a:picLocks noChangeAspect="1"/>
          </p:cNvPicPr>
          <p:nvPr/>
        </p:nvPicPr>
        <p:blipFill>
          <a:blip r:embed="rId3"/>
          <a:srcRect r="1874"/>
          <a:stretch>
            <a:fillRect/>
          </a:stretch>
        </p:blipFill>
        <p:spPr>
          <a:xfrm>
            <a:off x="359230" y="2748989"/>
            <a:ext cx="5943599" cy="2821505"/>
          </a:xfrm>
          <a:prstGeom prst="rect">
            <a:avLst/>
          </a:prstGeom>
        </p:spPr>
      </p:pic>
      <p:sp>
        <p:nvSpPr>
          <p:cNvPr id="4" name="內容版面配置區 3">
            <a:extLst>
              <a:ext uri="{FF2B5EF4-FFF2-40B4-BE49-F238E27FC236}">
                <a16:creationId xmlns:a16="http://schemas.microsoft.com/office/drawing/2014/main" id="{1830318E-0459-6003-426A-25FD1C52D823}"/>
              </a:ext>
            </a:extLst>
          </p:cNvPr>
          <p:cNvSpPr>
            <a:spLocks noGrp="1"/>
          </p:cNvSpPr>
          <p:nvPr>
            <p:ph sz="half" idx="1"/>
          </p:nvPr>
        </p:nvSpPr>
        <p:spPr/>
        <p:txBody>
          <a:bodyPr/>
          <a:lstStyle/>
          <a:p>
            <a:endParaRPr lang="zh-TW" altLang="en-US"/>
          </a:p>
        </p:txBody>
      </p:sp>
    </p:spTree>
    <p:extLst>
      <p:ext uri="{BB962C8B-B14F-4D97-AF65-F5344CB8AC3E}">
        <p14:creationId xmlns:p14="http://schemas.microsoft.com/office/powerpoint/2010/main" val="21568139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15D53-1505-AEA7-F6EB-6AB291B5C661}"/>
            </a:ext>
          </a:extLst>
        </p:cNvPr>
        <p:cNvGrpSpPr/>
        <p:nvPr/>
      </p:nvGrpSpPr>
      <p:grpSpPr>
        <a:xfrm>
          <a:off x="0" y="0"/>
          <a:ext cx="0" cy="0"/>
          <a:chOff x="0" y="0"/>
          <a:chExt cx="0" cy="0"/>
        </a:xfrm>
      </p:grpSpPr>
      <p:grpSp>
        <p:nvGrpSpPr>
          <p:cNvPr id="9" name="群組 8">
            <a:extLst>
              <a:ext uri="{FF2B5EF4-FFF2-40B4-BE49-F238E27FC236}">
                <a16:creationId xmlns:a16="http://schemas.microsoft.com/office/drawing/2014/main" id="{6DFF0353-BDF1-EF8F-0160-6723E1A29D7F}"/>
              </a:ext>
            </a:extLst>
          </p:cNvPr>
          <p:cNvGrpSpPr/>
          <p:nvPr/>
        </p:nvGrpSpPr>
        <p:grpSpPr>
          <a:xfrm>
            <a:off x="-2562121" y="242709"/>
            <a:ext cx="8152494" cy="1200329"/>
            <a:chOff x="368300" y="1419930"/>
            <a:chExt cx="4622800" cy="1200329"/>
          </a:xfrm>
        </p:grpSpPr>
        <p:sp>
          <p:nvSpPr>
            <p:cNvPr id="10" name="矩形 9">
              <a:extLst>
                <a:ext uri="{FF2B5EF4-FFF2-40B4-BE49-F238E27FC236}">
                  <a16:creationId xmlns:a16="http://schemas.microsoft.com/office/drawing/2014/main" id="{80AF2B56-B4BA-1FE6-E55B-8A41049F1AAE}"/>
                </a:ext>
              </a:extLst>
            </p:cNvPr>
            <p:cNvSpPr/>
            <p:nvPr/>
          </p:nvSpPr>
          <p:spPr>
            <a:xfrm>
              <a:off x="368300" y="1690688"/>
              <a:ext cx="4180426"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1" name="文字方塊 10">
              <a:extLst>
                <a:ext uri="{FF2B5EF4-FFF2-40B4-BE49-F238E27FC236}">
                  <a16:creationId xmlns:a16="http://schemas.microsoft.com/office/drawing/2014/main" id="{0801EC89-8510-B8C4-9BF2-78E3C086768C}"/>
                </a:ext>
              </a:extLst>
            </p:cNvPr>
            <p:cNvSpPr txBox="1"/>
            <p:nvPr/>
          </p:nvSpPr>
          <p:spPr>
            <a:xfrm>
              <a:off x="4254500" y="141993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6</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12" name="文字方塊 11">
            <a:extLst>
              <a:ext uri="{FF2B5EF4-FFF2-40B4-BE49-F238E27FC236}">
                <a16:creationId xmlns:a16="http://schemas.microsoft.com/office/drawing/2014/main" id="{2652C257-6C2D-6C51-D97D-BA449D4BECAD}"/>
              </a:ext>
            </a:extLst>
          </p:cNvPr>
          <p:cNvSpPr txBox="1"/>
          <p:nvPr/>
        </p:nvSpPr>
        <p:spPr>
          <a:xfrm>
            <a:off x="977964" y="490359"/>
            <a:ext cx="364127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實體關係摘要 </a:t>
            </a:r>
          </a:p>
        </p:txBody>
      </p:sp>
      <p:pic>
        <p:nvPicPr>
          <p:cNvPr id="7" name="圖片 6">
            <a:extLst>
              <a:ext uri="{FF2B5EF4-FFF2-40B4-BE49-F238E27FC236}">
                <a16:creationId xmlns:a16="http://schemas.microsoft.com/office/drawing/2014/main" id="{CBC3181F-3528-BB50-3967-DBF7DBAC28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83667" y="314439"/>
            <a:ext cx="5908334" cy="6339456"/>
          </a:xfrm>
          <a:prstGeom prst="rect">
            <a:avLst/>
          </a:prstGeom>
        </p:spPr>
      </p:pic>
      <p:graphicFrame>
        <p:nvGraphicFramePr>
          <p:cNvPr id="8" name="表格 7">
            <a:extLst>
              <a:ext uri="{FF2B5EF4-FFF2-40B4-BE49-F238E27FC236}">
                <a16:creationId xmlns:a16="http://schemas.microsoft.com/office/drawing/2014/main" id="{3436280E-70E5-C0AF-3C7A-83F04B870F5E}"/>
              </a:ext>
            </a:extLst>
          </p:cNvPr>
          <p:cNvGraphicFramePr>
            <a:graphicFrameLocks noGrp="1"/>
          </p:cNvGraphicFramePr>
          <p:nvPr>
            <p:extLst>
              <p:ext uri="{D42A27DB-BD31-4B8C-83A1-F6EECF244321}">
                <p14:modId xmlns:p14="http://schemas.microsoft.com/office/powerpoint/2010/main" val="94393777"/>
              </p:ext>
            </p:extLst>
          </p:nvPr>
        </p:nvGraphicFramePr>
        <p:xfrm>
          <a:off x="310718" y="1713796"/>
          <a:ext cx="6136906" cy="3890413"/>
        </p:xfrm>
        <a:graphic>
          <a:graphicData uri="http://schemas.openxmlformats.org/drawingml/2006/table">
            <a:tbl>
              <a:tblPr firstRow="1" firstCol="1" bandRow="1">
                <a:tableStyleId>{5C22544A-7EE6-4342-B048-85BDC9FD1C3A}</a:tableStyleId>
              </a:tblPr>
              <a:tblGrid>
                <a:gridCol w="2518385">
                  <a:extLst>
                    <a:ext uri="{9D8B030D-6E8A-4147-A177-3AD203B41FA5}">
                      <a16:colId xmlns:a16="http://schemas.microsoft.com/office/drawing/2014/main" val="4206831313"/>
                    </a:ext>
                  </a:extLst>
                </a:gridCol>
                <a:gridCol w="3618521">
                  <a:extLst>
                    <a:ext uri="{9D8B030D-6E8A-4147-A177-3AD203B41FA5}">
                      <a16:colId xmlns:a16="http://schemas.microsoft.com/office/drawing/2014/main" val="4205606413"/>
                    </a:ext>
                  </a:extLst>
                </a:gridCol>
              </a:tblGrid>
              <a:tr h="416271">
                <a:tc>
                  <a:txBody>
                    <a:bodyPr/>
                    <a:lstStyle/>
                    <a:p>
                      <a:pPr algn="ctr">
                        <a:buNone/>
                      </a:pPr>
                      <a:r>
                        <a:rPr lang="zh-TW" sz="1400" dirty="0">
                          <a:effectLst/>
                        </a:rPr>
                        <a:t>關係描述</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400" dirty="0">
                          <a:effectLst/>
                        </a:rPr>
                        <a:t>基數與說明</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extLst>
                  <a:ext uri="{0D108BD9-81ED-4DB2-BD59-A6C34878D82A}">
                    <a16:rowId xmlns:a16="http://schemas.microsoft.com/office/drawing/2014/main" val="2444792351"/>
                  </a:ext>
                </a:extLst>
              </a:tr>
              <a:tr h="416271">
                <a:tc>
                  <a:txBody>
                    <a:bodyPr/>
                    <a:lstStyle/>
                    <a:p>
                      <a:pPr>
                        <a:buNone/>
                      </a:pPr>
                      <a:r>
                        <a:rPr lang="en-US" sz="1400" dirty="0">
                          <a:effectLst/>
                        </a:rPr>
                        <a:t>Member ─── </a:t>
                      </a:r>
                      <a:r>
                        <a:rPr lang="en-US" sz="1400" dirty="0" err="1">
                          <a:effectLst/>
                        </a:rPr>
                        <a:t>BorrowRecord</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dirty="0">
                          <a:effectLst/>
                        </a:rPr>
                        <a:t>1:N</a:t>
                      </a:r>
                      <a:r>
                        <a:rPr lang="zh-TW" sz="1400" dirty="0">
                          <a:effectLst/>
                        </a:rPr>
                        <a:t>　　一位使用者可申請多筆借用紀錄</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extLst>
                  <a:ext uri="{0D108BD9-81ED-4DB2-BD59-A6C34878D82A}">
                    <a16:rowId xmlns:a16="http://schemas.microsoft.com/office/drawing/2014/main" val="3018353799"/>
                  </a:ext>
                </a:extLst>
              </a:tr>
              <a:tr h="416271">
                <a:tc>
                  <a:txBody>
                    <a:bodyPr/>
                    <a:lstStyle/>
                    <a:p>
                      <a:pPr>
                        <a:buNone/>
                      </a:pPr>
                      <a:r>
                        <a:rPr lang="en-US" sz="1400">
                          <a:effectLst/>
                        </a:rPr>
                        <a:t>Equipment ─── BorrowRecord</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dirty="0">
                          <a:effectLst/>
                        </a:rPr>
                        <a:t>1:N</a:t>
                      </a:r>
                      <a:r>
                        <a:rPr lang="zh-TW" sz="1400" dirty="0">
                          <a:effectLst/>
                        </a:rPr>
                        <a:t>　　一項設備可有多筆借用紀錄</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extLst>
                  <a:ext uri="{0D108BD9-81ED-4DB2-BD59-A6C34878D82A}">
                    <a16:rowId xmlns:a16="http://schemas.microsoft.com/office/drawing/2014/main" val="1826983945"/>
                  </a:ext>
                </a:extLst>
              </a:tr>
              <a:tr h="416271">
                <a:tc>
                  <a:txBody>
                    <a:bodyPr/>
                    <a:lstStyle/>
                    <a:p>
                      <a:pPr>
                        <a:buNone/>
                      </a:pPr>
                      <a:r>
                        <a:rPr lang="en-US" sz="1400">
                          <a:effectLst/>
                        </a:rPr>
                        <a:t>Member ─── MaintenanceRecord</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dirty="0">
                          <a:effectLst/>
                        </a:rPr>
                        <a:t>1:N</a:t>
                      </a:r>
                      <a:r>
                        <a:rPr lang="zh-TW" sz="1400" dirty="0">
                          <a:effectLst/>
                        </a:rPr>
                        <a:t>　　一位使用者可申報多筆維護</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extLst>
                  <a:ext uri="{0D108BD9-81ED-4DB2-BD59-A6C34878D82A}">
                    <a16:rowId xmlns:a16="http://schemas.microsoft.com/office/drawing/2014/main" val="1082421016"/>
                  </a:ext>
                </a:extLst>
              </a:tr>
              <a:tr h="416271">
                <a:tc>
                  <a:txBody>
                    <a:bodyPr/>
                    <a:lstStyle/>
                    <a:p>
                      <a:pPr>
                        <a:buNone/>
                      </a:pPr>
                      <a:r>
                        <a:rPr lang="en-US" sz="1400">
                          <a:effectLst/>
                        </a:rPr>
                        <a:t>Equipment ─── MaintenanceRecord</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dirty="0">
                          <a:effectLst/>
                        </a:rPr>
                        <a:t>1:N</a:t>
                      </a:r>
                      <a:r>
                        <a:rPr lang="zh-TW" sz="1400" dirty="0">
                          <a:effectLst/>
                        </a:rPr>
                        <a:t>　　一項設備可累積多筆維護紀錄</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extLst>
                  <a:ext uri="{0D108BD9-81ED-4DB2-BD59-A6C34878D82A}">
                    <a16:rowId xmlns:a16="http://schemas.microsoft.com/office/drawing/2014/main" val="2410327589"/>
                  </a:ext>
                </a:extLst>
              </a:tr>
              <a:tr h="416271">
                <a:tc>
                  <a:txBody>
                    <a:bodyPr/>
                    <a:lstStyle/>
                    <a:p>
                      <a:pPr>
                        <a:buNone/>
                      </a:pPr>
                      <a:r>
                        <a:rPr lang="en-US" sz="1400">
                          <a:effectLst/>
                        </a:rPr>
                        <a:t>Member ─── RetirementRequest</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dirty="0">
                          <a:effectLst/>
                        </a:rPr>
                        <a:t>1:N</a:t>
                      </a:r>
                      <a:r>
                        <a:rPr lang="zh-TW" sz="1400" dirty="0">
                          <a:effectLst/>
                        </a:rPr>
                        <a:t>　　一位使用者可提出多筆報廢申請</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extLst>
                  <a:ext uri="{0D108BD9-81ED-4DB2-BD59-A6C34878D82A}">
                    <a16:rowId xmlns:a16="http://schemas.microsoft.com/office/drawing/2014/main" val="783499293"/>
                  </a:ext>
                </a:extLst>
              </a:tr>
              <a:tr h="416271">
                <a:tc>
                  <a:txBody>
                    <a:bodyPr/>
                    <a:lstStyle/>
                    <a:p>
                      <a:pPr>
                        <a:buNone/>
                      </a:pPr>
                      <a:r>
                        <a:rPr lang="en-US" sz="1400" dirty="0">
                          <a:effectLst/>
                        </a:rPr>
                        <a:t>Equipment ─── </a:t>
                      </a:r>
                      <a:r>
                        <a:rPr lang="en-US" sz="1400" dirty="0" err="1">
                          <a:effectLst/>
                        </a:rPr>
                        <a:t>RetirementRequest</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dirty="0">
                          <a:effectLst/>
                        </a:rPr>
                        <a:t>1:N</a:t>
                      </a:r>
                      <a:r>
                        <a:rPr lang="zh-TW" sz="1400" dirty="0">
                          <a:effectLst/>
                        </a:rPr>
                        <a:t>　　一項設備可被多筆報廢申請請求將其進行報廢</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extLst>
                  <a:ext uri="{0D108BD9-81ED-4DB2-BD59-A6C34878D82A}">
                    <a16:rowId xmlns:a16="http://schemas.microsoft.com/office/drawing/2014/main" val="3754639047"/>
                  </a:ext>
                </a:extLst>
              </a:tr>
              <a:tr h="416271">
                <a:tc>
                  <a:txBody>
                    <a:bodyPr/>
                    <a:lstStyle/>
                    <a:p>
                      <a:pPr>
                        <a:buNone/>
                      </a:pPr>
                      <a:r>
                        <a:rPr lang="en-US" sz="1400">
                          <a:effectLst/>
                        </a:rPr>
                        <a:t>Category ─── Equipment</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dirty="0">
                          <a:effectLst/>
                        </a:rPr>
                        <a:t>1:N</a:t>
                      </a:r>
                      <a:r>
                        <a:rPr lang="zh-TW" sz="1400" dirty="0">
                          <a:effectLst/>
                        </a:rPr>
                        <a:t>　　一個類別下包含多項設備</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extLst>
                  <a:ext uri="{0D108BD9-81ED-4DB2-BD59-A6C34878D82A}">
                    <a16:rowId xmlns:a16="http://schemas.microsoft.com/office/drawing/2014/main" val="111322830"/>
                  </a:ext>
                </a:extLst>
              </a:tr>
            </a:tbl>
          </a:graphicData>
        </a:graphic>
      </p:graphicFrame>
      <p:sp>
        <p:nvSpPr>
          <p:cNvPr id="14" name="文字方塊 13">
            <a:extLst>
              <a:ext uri="{FF2B5EF4-FFF2-40B4-BE49-F238E27FC236}">
                <a16:creationId xmlns:a16="http://schemas.microsoft.com/office/drawing/2014/main" id="{50C5353B-2926-C233-B98A-60DFF4D9DAE7}"/>
              </a:ext>
            </a:extLst>
          </p:cNvPr>
          <p:cNvSpPr txBox="1"/>
          <p:nvPr/>
        </p:nvSpPr>
        <p:spPr>
          <a:xfrm>
            <a:off x="403566" y="5772566"/>
            <a:ext cx="5880100" cy="646331"/>
          </a:xfrm>
          <a:prstGeom prst="rect">
            <a:avLst/>
          </a:prstGeom>
          <a:noFill/>
        </p:spPr>
        <p:txBody>
          <a:bodyPr wrap="square">
            <a:spAutoFit/>
          </a:bodyPr>
          <a:lstStyle/>
          <a:p>
            <a:pPr>
              <a:spcBef>
                <a:spcPts val="400"/>
              </a:spcBef>
              <a:spcAft>
                <a:spcPts val="400"/>
              </a:spcAft>
              <a:buNone/>
            </a:pP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＊本系統採學校</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SSO </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單一登入驗證，不自行儲存密碼，故無</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Password </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資料表。</a:t>
            </a:r>
            <a:endParaRPr lang="zh-TW" altLang="zh-TW" sz="2800" dirty="0">
              <a:effectLst/>
              <a:latin typeface="標楷體" panose="03000509000000000000" pitchFamily="65" charset="-120"/>
              <a:ea typeface="標楷體" panose="03000509000000000000" pitchFamily="65" charset="-120"/>
              <a:cs typeface="標楷體" panose="03000509000000000000" pitchFamily="65" charset="-120"/>
            </a:endParaRPr>
          </a:p>
        </p:txBody>
      </p:sp>
    </p:spTree>
    <p:extLst>
      <p:ext uri="{BB962C8B-B14F-4D97-AF65-F5344CB8AC3E}">
        <p14:creationId xmlns:p14="http://schemas.microsoft.com/office/powerpoint/2010/main" val="3636164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0-#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A74A24C7-D8F7-A73E-4AEF-F97B7498F865}"/>
              </a:ext>
            </a:extLst>
          </p:cNvPr>
          <p:cNvGrpSpPr/>
          <p:nvPr/>
        </p:nvGrpSpPr>
        <p:grpSpPr>
          <a:xfrm>
            <a:off x="-1200150" y="80872"/>
            <a:ext cx="7913284" cy="1200329"/>
            <a:chOff x="368300" y="1442660"/>
            <a:chExt cx="4722578" cy="1200329"/>
          </a:xfrm>
        </p:grpSpPr>
        <p:sp>
          <p:nvSpPr>
            <p:cNvPr id="5" name="矩形 4">
              <a:extLst>
                <a:ext uri="{FF2B5EF4-FFF2-40B4-BE49-F238E27FC236}">
                  <a16:creationId xmlns:a16="http://schemas.microsoft.com/office/drawing/2014/main" id="{E1A36DB9-54FB-BE2E-C975-C0638787E256}"/>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790B9DC8-263E-8181-D411-460A0EBEA513}"/>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6</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925F6F65-3223-1AF7-22FA-2D537FB1FEF4}"/>
              </a:ext>
            </a:extLst>
          </p:cNvPr>
          <p:cNvSpPr txBox="1"/>
          <p:nvPr/>
        </p:nvSpPr>
        <p:spPr>
          <a:xfrm>
            <a:off x="49716" y="341381"/>
            <a:ext cx="5429150"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實體表：</a:t>
            </a:r>
            <a:r>
              <a:rPr lang="en-US" altLang="zh-TW" sz="3600" dirty="0">
                <a:solidFill>
                  <a:schemeClr val="bg1"/>
                </a:solidFill>
                <a:latin typeface="標楷體" panose="03000509000000000000" pitchFamily="65" charset="-120"/>
                <a:ea typeface="標楷體" panose="03000509000000000000" pitchFamily="65" charset="-120"/>
              </a:rPr>
              <a:t>Member (</a:t>
            </a:r>
            <a:r>
              <a:rPr lang="zh-TW" altLang="en-US" sz="3600" dirty="0">
                <a:solidFill>
                  <a:schemeClr val="bg1"/>
                </a:solidFill>
                <a:latin typeface="標楷體" panose="03000509000000000000" pitchFamily="65" charset="-120"/>
                <a:ea typeface="標楷體" panose="03000509000000000000" pitchFamily="65" charset="-120"/>
              </a:rPr>
              <a:t>使用者</a:t>
            </a:r>
            <a:r>
              <a:rPr lang="en-US" altLang="zh-TW" sz="3600" dirty="0">
                <a:solidFill>
                  <a:schemeClr val="bg1"/>
                </a:solidFill>
                <a:latin typeface="標楷體" panose="03000509000000000000" pitchFamily="65" charset="-120"/>
                <a:ea typeface="標楷體" panose="03000509000000000000" pitchFamily="65" charset="-120"/>
              </a:rPr>
              <a:t>)</a:t>
            </a:r>
            <a:endParaRPr lang="zh-TW" altLang="en-US" sz="3600" dirty="0">
              <a:solidFill>
                <a:schemeClr val="bg1"/>
              </a:solidFill>
              <a:latin typeface="標楷體" panose="03000509000000000000" pitchFamily="65" charset="-120"/>
              <a:ea typeface="標楷體" panose="03000509000000000000" pitchFamily="65" charset="-120"/>
            </a:endParaRPr>
          </a:p>
        </p:txBody>
      </p:sp>
      <p:pic>
        <p:nvPicPr>
          <p:cNvPr id="3" name="圖片 2">
            <a:extLst>
              <a:ext uri="{FF2B5EF4-FFF2-40B4-BE49-F238E27FC236}">
                <a16:creationId xmlns:a16="http://schemas.microsoft.com/office/drawing/2014/main" id="{4CE6C16E-BB63-750A-16DE-0FBEF24E7A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048644"/>
            <a:ext cx="5818715" cy="3422774"/>
          </a:xfrm>
          <a:prstGeom prst="rect">
            <a:avLst/>
          </a:prstGeom>
        </p:spPr>
      </p:pic>
      <p:graphicFrame>
        <p:nvGraphicFramePr>
          <p:cNvPr id="16" name="表格 15">
            <a:extLst>
              <a:ext uri="{FF2B5EF4-FFF2-40B4-BE49-F238E27FC236}">
                <a16:creationId xmlns:a16="http://schemas.microsoft.com/office/drawing/2014/main" id="{AC419BF6-983F-E516-3E0E-2832AB870793}"/>
              </a:ext>
            </a:extLst>
          </p:cNvPr>
          <p:cNvGraphicFramePr>
            <a:graphicFrameLocks noGrp="1"/>
          </p:cNvGraphicFramePr>
          <p:nvPr>
            <p:extLst>
              <p:ext uri="{D42A27DB-BD31-4B8C-83A1-F6EECF244321}">
                <p14:modId xmlns:p14="http://schemas.microsoft.com/office/powerpoint/2010/main" val="3258440353"/>
              </p:ext>
            </p:extLst>
          </p:nvPr>
        </p:nvGraphicFramePr>
        <p:xfrm>
          <a:off x="5590094" y="1162527"/>
          <a:ext cx="6457360" cy="5445760"/>
        </p:xfrm>
        <a:graphic>
          <a:graphicData uri="http://schemas.openxmlformats.org/drawingml/2006/table">
            <a:tbl>
              <a:tblPr firstRow="1" firstCol="1" bandRow="1">
                <a:tableStyleId>{5C22544A-7EE6-4342-B048-85BDC9FD1C3A}</a:tableStyleId>
              </a:tblPr>
              <a:tblGrid>
                <a:gridCol w="1310038">
                  <a:extLst>
                    <a:ext uri="{9D8B030D-6E8A-4147-A177-3AD203B41FA5}">
                      <a16:colId xmlns:a16="http://schemas.microsoft.com/office/drawing/2014/main" val="2670266609"/>
                    </a:ext>
                  </a:extLst>
                </a:gridCol>
                <a:gridCol w="1385938">
                  <a:extLst>
                    <a:ext uri="{9D8B030D-6E8A-4147-A177-3AD203B41FA5}">
                      <a16:colId xmlns:a16="http://schemas.microsoft.com/office/drawing/2014/main" val="1993058790"/>
                    </a:ext>
                  </a:extLst>
                </a:gridCol>
                <a:gridCol w="1472557">
                  <a:extLst>
                    <a:ext uri="{9D8B030D-6E8A-4147-A177-3AD203B41FA5}">
                      <a16:colId xmlns:a16="http://schemas.microsoft.com/office/drawing/2014/main" val="780937139"/>
                    </a:ext>
                  </a:extLst>
                </a:gridCol>
                <a:gridCol w="2288827">
                  <a:extLst>
                    <a:ext uri="{9D8B030D-6E8A-4147-A177-3AD203B41FA5}">
                      <a16:colId xmlns:a16="http://schemas.microsoft.com/office/drawing/2014/main" val="2470827280"/>
                    </a:ext>
                  </a:extLst>
                </a:gridCol>
              </a:tblGrid>
              <a:tr h="306326">
                <a:tc>
                  <a:txBody>
                    <a:bodyPr/>
                    <a:lstStyle/>
                    <a:p>
                      <a:pPr algn="ctr">
                        <a:buNone/>
                      </a:pPr>
                      <a:r>
                        <a:rPr lang="zh-TW" sz="16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屬性名稱</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6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說明</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6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值域</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6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完整性限制</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nchor="ctr"/>
                </a:tc>
                <a:extLst>
                  <a:ext uri="{0D108BD9-81ED-4DB2-BD59-A6C34878D82A}">
                    <a16:rowId xmlns:a16="http://schemas.microsoft.com/office/drawing/2014/main" val="105630465"/>
                  </a:ext>
                </a:extLst>
              </a:tr>
              <a:tr h="955016">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mId</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使用者</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整數，從</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 </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開始遞增（</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AUTO_INCREMENT</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PK</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495667654"/>
                  </a:ext>
                </a:extLst>
              </a:tr>
              <a:tr h="522556">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mAccount</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帳號</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長度</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6~20 </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英數字混合</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UNIQUE</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415568972"/>
                  </a:ext>
                </a:extLst>
              </a:tr>
              <a:tr h="522556">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mName</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姓名</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長度</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2~12 </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的文字</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2995146673"/>
                  </a:ext>
                </a:extLst>
              </a:tr>
              <a:tr h="522556">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mEmail</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電子郵件</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需含</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與網域</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UNIQUE</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952586079"/>
                  </a:ext>
                </a:extLst>
              </a:tr>
              <a:tr h="738785">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mPhone</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連絡電話</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09xxxxxxxx </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格式（</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10 </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位數字）</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effectLst/>
                          <a:latin typeface="標楷體" panose="03000509000000000000" pitchFamily="65" charset="-120"/>
                          <a:ea typeface="標楷體" panose="03000509000000000000" pitchFamily="65" charset="-120"/>
                          <a:cs typeface="標楷體" panose="03000509000000000000" pitchFamily="65" charset="-120"/>
                        </a:rPr>
                        <a:t> </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4033490188"/>
                  </a:ext>
                </a:extLst>
              </a:tr>
              <a:tr h="522556">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mRole</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角色</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管理員</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教師</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學生</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711287352"/>
                  </a:ext>
                </a:extLst>
              </a:tr>
              <a:tr h="738785">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mCreateDate</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建立日期</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日期格式，建立時自動填入當日</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025864300"/>
                  </a:ext>
                </a:extLst>
              </a:tr>
            </a:tbl>
          </a:graphicData>
        </a:graphic>
      </p:graphicFrame>
    </p:spTree>
    <p:extLst>
      <p:ext uri="{BB962C8B-B14F-4D97-AF65-F5344CB8AC3E}">
        <p14:creationId xmlns:p14="http://schemas.microsoft.com/office/powerpoint/2010/main" val="163713621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6BC4A04C-7088-6B01-711F-37EAB6CAA7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509" y="2269383"/>
            <a:ext cx="5503956" cy="3136445"/>
          </a:xfrm>
          <a:prstGeom prst="rect">
            <a:avLst/>
          </a:prstGeom>
        </p:spPr>
      </p:pic>
      <p:graphicFrame>
        <p:nvGraphicFramePr>
          <p:cNvPr id="12" name="表格 11">
            <a:extLst>
              <a:ext uri="{FF2B5EF4-FFF2-40B4-BE49-F238E27FC236}">
                <a16:creationId xmlns:a16="http://schemas.microsoft.com/office/drawing/2014/main" id="{23B05EA3-1DDE-EB8C-AAD1-3F1BE06E4D09}"/>
              </a:ext>
            </a:extLst>
          </p:cNvPr>
          <p:cNvGraphicFramePr>
            <a:graphicFrameLocks noGrp="1"/>
          </p:cNvGraphicFramePr>
          <p:nvPr>
            <p:extLst>
              <p:ext uri="{D42A27DB-BD31-4B8C-83A1-F6EECF244321}">
                <p14:modId xmlns:p14="http://schemas.microsoft.com/office/powerpoint/2010/main" val="2227726550"/>
              </p:ext>
            </p:extLst>
          </p:nvPr>
        </p:nvGraphicFramePr>
        <p:xfrm>
          <a:off x="5430689" y="1281201"/>
          <a:ext cx="6433764" cy="5303520"/>
        </p:xfrm>
        <a:graphic>
          <a:graphicData uri="http://schemas.openxmlformats.org/drawingml/2006/table">
            <a:tbl>
              <a:tblPr firstRow="1" firstCol="1" bandRow="1">
                <a:tableStyleId>{5C22544A-7EE6-4342-B048-85BDC9FD1C3A}</a:tableStyleId>
              </a:tblPr>
              <a:tblGrid>
                <a:gridCol w="1240202">
                  <a:extLst>
                    <a:ext uri="{9D8B030D-6E8A-4147-A177-3AD203B41FA5}">
                      <a16:colId xmlns:a16="http://schemas.microsoft.com/office/drawing/2014/main" val="2636085727"/>
                    </a:ext>
                  </a:extLst>
                </a:gridCol>
                <a:gridCol w="1417368">
                  <a:extLst>
                    <a:ext uri="{9D8B030D-6E8A-4147-A177-3AD203B41FA5}">
                      <a16:colId xmlns:a16="http://schemas.microsoft.com/office/drawing/2014/main" val="1111709749"/>
                    </a:ext>
                  </a:extLst>
                </a:gridCol>
                <a:gridCol w="2030282">
                  <a:extLst>
                    <a:ext uri="{9D8B030D-6E8A-4147-A177-3AD203B41FA5}">
                      <a16:colId xmlns:a16="http://schemas.microsoft.com/office/drawing/2014/main" val="1310703435"/>
                    </a:ext>
                  </a:extLst>
                </a:gridCol>
                <a:gridCol w="1745912">
                  <a:extLst>
                    <a:ext uri="{9D8B030D-6E8A-4147-A177-3AD203B41FA5}">
                      <a16:colId xmlns:a16="http://schemas.microsoft.com/office/drawing/2014/main" val="1852199078"/>
                    </a:ext>
                  </a:extLst>
                </a:gridCol>
              </a:tblGrid>
              <a:tr h="252127">
                <a:tc>
                  <a:txBody>
                    <a:bodyPr/>
                    <a:lstStyle/>
                    <a:p>
                      <a:pPr algn="ctr">
                        <a:buNone/>
                      </a:pPr>
                      <a:r>
                        <a:rPr lang="zh-TW" sz="16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屬性名稱</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600" b="1">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說明</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6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值域</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6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完整性限制</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nchor="ctr"/>
                </a:tc>
                <a:extLst>
                  <a:ext uri="{0D108BD9-81ED-4DB2-BD59-A6C34878D82A}">
                    <a16:rowId xmlns:a16="http://schemas.microsoft.com/office/drawing/2014/main" val="2551030245"/>
                  </a:ext>
                </a:extLst>
              </a:tr>
              <a:tr h="564757">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eId</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設備</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從</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 </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開始遞增（</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AUTO_INCREMENT</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PK</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054195829"/>
                  </a:ext>
                </a:extLst>
              </a:tr>
              <a:tr h="430099">
                <a:tc>
                  <a:txBody>
                    <a:bodyPr/>
                    <a:lstStyle/>
                    <a:p>
                      <a:pPr>
                        <a:buNone/>
                      </a:pPr>
                      <a:r>
                        <a:rPr lang="en-US"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ePropertyNo</a:t>
                      </a:r>
                      <a:endParaRPr lang="zh-TW"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財產編號</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財產編號格式</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(EQ</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開頭</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UNIQUE</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822735172"/>
                  </a:ext>
                </a:extLst>
              </a:tr>
              <a:tr h="312419">
                <a:tc>
                  <a:txBody>
                    <a:bodyPr/>
                    <a:lstStyle/>
                    <a:p>
                      <a:pPr>
                        <a:buNone/>
                      </a:pPr>
                      <a:r>
                        <a:rPr lang="en-US"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eName</a:t>
                      </a:r>
                      <a:endParaRPr lang="zh-TW"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設備名稱</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長度</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1~40 </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的文字</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889003790"/>
                  </a:ext>
                </a:extLst>
              </a:tr>
              <a:tr h="533916">
                <a:tc>
                  <a:txBody>
                    <a:bodyPr/>
                    <a:lstStyle/>
                    <a:p>
                      <a:pPr>
                        <a:buNone/>
                      </a:pPr>
                      <a:r>
                        <a:rPr lang="en-US"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cId</a:t>
                      </a:r>
                      <a:endParaRPr lang="zh-TW"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類別</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FK → </a:t>
                      </a:r>
                      <a:r>
                        <a:rPr lang="en-US" sz="1600" dirty="0" err="1">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Category.cId</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791087976"/>
                  </a:ext>
                </a:extLst>
              </a:tr>
              <a:tr h="438588">
                <a:tc>
                  <a:txBody>
                    <a:bodyPr/>
                    <a:lstStyle/>
                    <a:p>
                      <a:pPr>
                        <a:buNone/>
                      </a:pPr>
                      <a:r>
                        <a:rPr lang="en-US"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eStatus</a:t>
                      </a:r>
                      <a:endParaRPr lang="zh-TW"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設備狀態</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可用</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借出中</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維修中</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報廢</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83556048"/>
                  </a:ext>
                </a:extLst>
              </a:tr>
              <a:tr h="438588">
                <a:tc>
                  <a:txBody>
                    <a:bodyPr/>
                    <a:lstStyle/>
                    <a:p>
                      <a:pPr>
                        <a:buNone/>
                      </a:pPr>
                      <a:r>
                        <a:rPr lang="en-US"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eLocation</a:t>
                      </a:r>
                      <a:endParaRPr lang="zh-TW"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存放地點</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如「</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B</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棟</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307</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室」；長度</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1~64</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4194371425"/>
                  </a:ext>
                </a:extLst>
              </a:tr>
              <a:tr h="430099">
                <a:tc>
                  <a:txBody>
                    <a:bodyPr/>
                    <a:lstStyle/>
                    <a:p>
                      <a:pPr>
                        <a:buNone/>
                      </a:pPr>
                      <a:r>
                        <a:rPr lang="en-US"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ePurchaseDate</a:t>
                      </a:r>
                      <a:endParaRPr lang="zh-TW"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購入日期</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日期格式，不得為未來日期</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2647029497"/>
                  </a:ext>
                </a:extLst>
              </a:tr>
              <a:tr h="564757">
                <a:tc>
                  <a:txBody>
                    <a:bodyPr/>
                    <a:lstStyle/>
                    <a:p>
                      <a:pPr>
                        <a:buNone/>
                      </a:pPr>
                      <a:r>
                        <a:rPr lang="en-US"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eWarrantyDate</a:t>
                      </a:r>
                      <a:endParaRPr lang="zh-TW" sz="16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保固到期日</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日期格式，需</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&gt;= ePurchaseDate</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effectLst/>
                          <a:latin typeface="標楷體" panose="03000509000000000000" pitchFamily="65" charset="-120"/>
                          <a:ea typeface="標楷體" panose="03000509000000000000" pitchFamily="65" charset="-120"/>
                          <a:cs typeface="標楷體" panose="03000509000000000000" pitchFamily="65" charset="-120"/>
                        </a:rPr>
                        <a:t> </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48093402"/>
                  </a:ext>
                </a:extLst>
              </a:tr>
              <a:tr h="312419">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eNote</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備註</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長度</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1~256 </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的文字</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effectLst/>
                          <a:latin typeface="標楷體" panose="03000509000000000000" pitchFamily="65" charset="-120"/>
                          <a:ea typeface="標楷體" panose="03000509000000000000" pitchFamily="65" charset="-120"/>
                          <a:cs typeface="標楷體" panose="03000509000000000000" pitchFamily="65" charset="-120"/>
                        </a:rPr>
                        <a:t> </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2299455092"/>
                  </a:ext>
                </a:extLst>
              </a:tr>
            </a:tbl>
          </a:graphicData>
        </a:graphic>
      </p:graphicFrame>
      <p:grpSp>
        <p:nvGrpSpPr>
          <p:cNvPr id="13" name="群組 12">
            <a:extLst>
              <a:ext uri="{FF2B5EF4-FFF2-40B4-BE49-F238E27FC236}">
                <a16:creationId xmlns:a16="http://schemas.microsoft.com/office/drawing/2014/main" id="{56542EB4-1FFB-17EF-102D-693D60EF7B97}"/>
              </a:ext>
            </a:extLst>
          </p:cNvPr>
          <p:cNvGrpSpPr/>
          <p:nvPr/>
        </p:nvGrpSpPr>
        <p:grpSpPr>
          <a:xfrm>
            <a:off x="-1200151" y="80872"/>
            <a:ext cx="9095921" cy="1200329"/>
            <a:chOff x="368300" y="1442660"/>
            <a:chExt cx="4722578" cy="1200329"/>
          </a:xfrm>
        </p:grpSpPr>
        <p:sp>
          <p:nvSpPr>
            <p:cNvPr id="14" name="矩形 13">
              <a:extLst>
                <a:ext uri="{FF2B5EF4-FFF2-40B4-BE49-F238E27FC236}">
                  <a16:creationId xmlns:a16="http://schemas.microsoft.com/office/drawing/2014/main" id="{C01688BC-F35F-C4F2-ABE1-292EE275C86C}"/>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a:extLst>
                <a:ext uri="{FF2B5EF4-FFF2-40B4-BE49-F238E27FC236}">
                  <a16:creationId xmlns:a16="http://schemas.microsoft.com/office/drawing/2014/main" id="{B7C92D44-A635-1156-D6D5-D93AE5141E77}"/>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6</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16" name="文字方塊 15">
            <a:extLst>
              <a:ext uri="{FF2B5EF4-FFF2-40B4-BE49-F238E27FC236}">
                <a16:creationId xmlns:a16="http://schemas.microsoft.com/office/drawing/2014/main" id="{3BC78263-AD0E-4730-E75D-B91664D22BCF}"/>
              </a:ext>
            </a:extLst>
          </p:cNvPr>
          <p:cNvSpPr txBox="1"/>
          <p:nvPr/>
        </p:nvSpPr>
        <p:spPr>
          <a:xfrm>
            <a:off x="49716" y="341381"/>
            <a:ext cx="6655884"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實體表：</a:t>
            </a:r>
            <a:r>
              <a:rPr lang="en-US" altLang="zh-TW" sz="3600" dirty="0">
                <a:solidFill>
                  <a:schemeClr val="bg1"/>
                </a:solidFill>
                <a:latin typeface="標楷體" panose="03000509000000000000" pitchFamily="65" charset="-120"/>
                <a:ea typeface="標楷體" panose="03000509000000000000" pitchFamily="65" charset="-120"/>
              </a:rPr>
              <a:t>Equipment</a:t>
            </a:r>
            <a:r>
              <a:rPr lang="zh-TW" altLang="en-US" sz="3600" dirty="0">
                <a:solidFill>
                  <a:schemeClr val="bg1"/>
                </a:solidFill>
                <a:latin typeface="標楷體" panose="03000509000000000000" pitchFamily="65" charset="-120"/>
                <a:ea typeface="標楷體" panose="03000509000000000000" pitchFamily="65" charset="-120"/>
              </a:rPr>
              <a:t>（設備資料）</a:t>
            </a:r>
          </a:p>
        </p:txBody>
      </p:sp>
    </p:spTree>
    <p:extLst>
      <p:ext uri="{BB962C8B-B14F-4D97-AF65-F5344CB8AC3E}">
        <p14:creationId xmlns:p14="http://schemas.microsoft.com/office/powerpoint/2010/main" val="31008197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0-#ppt_w/2"/>
                                          </p:val>
                                        </p:tav>
                                        <p:tav tm="100000">
                                          <p:val>
                                            <p:strVal val="#ppt_x"/>
                                          </p:val>
                                        </p:tav>
                                      </p:tavLst>
                                    </p:anim>
                                    <p:anim calcmode="lin" valueType="num">
                                      <p:cBhvr additive="base">
                                        <p:cTn id="12"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表格 9">
            <a:extLst>
              <a:ext uri="{FF2B5EF4-FFF2-40B4-BE49-F238E27FC236}">
                <a16:creationId xmlns:a16="http://schemas.microsoft.com/office/drawing/2014/main" id="{F3C384B6-40CD-1C39-CCBD-80FD4C00B4AA}"/>
              </a:ext>
            </a:extLst>
          </p:cNvPr>
          <p:cNvGraphicFramePr>
            <a:graphicFrameLocks noGrp="1"/>
          </p:cNvGraphicFramePr>
          <p:nvPr>
            <p:extLst>
              <p:ext uri="{D42A27DB-BD31-4B8C-83A1-F6EECF244321}">
                <p14:modId xmlns:p14="http://schemas.microsoft.com/office/powerpoint/2010/main" val="2523909930"/>
              </p:ext>
            </p:extLst>
          </p:nvPr>
        </p:nvGraphicFramePr>
        <p:xfrm>
          <a:off x="5278990" y="2299295"/>
          <a:ext cx="6268824" cy="3359960"/>
        </p:xfrm>
        <a:graphic>
          <a:graphicData uri="http://schemas.openxmlformats.org/drawingml/2006/table">
            <a:tbl>
              <a:tblPr firstRow="1" firstCol="1" bandRow="1">
                <a:tableStyleId>{5C22544A-7EE6-4342-B048-85BDC9FD1C3A}</a:tableStyleId>
              </a:tblPr>
              <a:tblGrid>
                <a:gridCol w="1143243">
                  <a:extLst>
                    <a:ext uri="{9D8B030D-6E8A-4147-A177-3AD203B41FA5}">
                      <a16:colId xmlns:a16="http://schemas.microsoft.com/office/drawing/2014/main" val="1920340815"/>
                    </a:ext>
                  </a:extLst>
                </a:gridCol>
                <a:gridCol w="1292837">
                  <a:extLst>
                    <a:ext uri="{9D8B030D-6E8A-4147-A177-3AD203B41FA5}">
                      <a16:colId xmlns:a16="http://schemas.microsoft.com/office/drawing/2014/main" val="2661460474"/>
                    </a:ext>
                  </a:extLst>
                </a:gridCol>
                <a:gridCol w="2145346">
                  <a:extLst>
                    <a:ext uri="{9D8B030D-6E8A-4147-A177-3AD203B41FA5}">
                      <a16:colId xmlns:a16="http://schemas.microsoft.com/office/drawing/2014/main" val="2659979923"/>
                    </a:ext>
                  </a:extLst>
                </a:gridCol>
                <a:gridCol w="1687398">
                  <a:extLst>
                    <a:ext uri="{9D8B030D-6E8A-4147-A177-3AD203B41FA5}">
                      <a16:colId xmlns:a16="http://schemas.microsoft.com/office/drawing/2014/main" val="490782694"/>
                    </a:ext>
                  </a:extLst>
                </a:gridCol>
              </a:tblGrid>
              <a:tr h="549968">
                <a:tc>
                  <a:txBody>
                    <a:bodyPr/>
                    <a:lstStyle/>
                    <a:p>
                      <a:pPr algn="ctr">
                        <a:buNone/>
                      </a:pPr>
                      <a:r>
                        <a:rPr lang="zh-TW" sz="1800" b="1">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屬性名稱</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8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說明</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8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值域</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TW" altLang="zh-TW" sz="18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完整性限制</a:t>
                      </a:r>
                      <a:endParaRPr lang="zh-TW" alt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nchor="ctr"/>
                </a:tc>
                <a:extLst>
                  <a:ext uri="{0D108BD9-81ED-4DB2-BD59-A6C34878D82A}">
                    <a16:rowId xmlns:a16="http://schemas.microsoft.com/office/drawing/2014/main" val="2277161510"/>
                  </a:ext>
                </a:extLst>
              </a:tr>
              <a:tr h="1246021">
                <a:tc>
                  <a:txBody>
                    <a:bodyPr/>
                    <a:lstStyle/>
                    <a:p>
                      <a:pPr>
                        <a:buNone/>
                      </a:pPr>
                      <a:r>
                        <a:rPr lang="en-US" sz="18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cId</a:t>
                      </a:r>
                      <a:endParaRPr lang="zh-TW" sz="18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類別</a:t>
                      </a:r>
                      <a:r>
                        <a:rPr lang="en-US"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整數，從</a:t>
                      </a:r>
                      <a:r>
                        <a:rPr lang="en-US"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 </a:t>
                      </a:r>
                      <a:r>
                        <a:rPr lang="zh-TW"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開始遞增（</a:t>
                      </a:r>
                      <a:r>
                        <a:rPr lang="en-US"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AUTO_INCREMENT</a:t>
                      </a:r>
                      <a:r>
                        <a:rPr lang="zh-TW"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8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PK</a:t>
                      </a:r>
                      <a:r>
                        <a:rPr lang="zh-TW" sz="18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r>
                        <a:rPr lang="en-US" sz="18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141214976"/>
                  </a:ext>
                </a:extLst>
              </a:tr>
              <a:tr h="1014003">
                <a:tc>
                  <a:txBody>
                    <a:bodyPr/>
                    <a:lstStyle/>
                    <a:p>
                      <a:pPr>
                        <a:buNone/>
                      </a:pPr>
                      <a:r>
                        <a:rPr lang="en-US" sz="18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cName</a:t>
                      </a:r>
                      <a:endParaRPr lang="zh-TW" sz="18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類別名稱</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長度</a:t>
                      </a:r>
                      <a:r>
                        <a:rPr lang="en-US"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1~16</a:t>
                      </a:r>
                      <a:r>
                        <a:rPr lang="zh-TW"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；如電腦、投影機、網路設備</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134834281"/>
                  </a:ext>
                </a:extLst>
              </a:tr>
              <a:tr h="549968">
                <a:tc>
                  <a:txBody>
                    <a:bodyPr/>
                    <a:lstStyle/>
                    <a:p>
                      <a:pPr>
                        <a:buNone/>
                      </a:pPr>
                      <a:r>
                        <a:rPr lang="en-US" sz="18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cOutline</a:t>
                      </a:r>
                      <a:endParaRPr lang="zh-TW" sz="18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類別概述</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長度</a:t>
                      </a:r>
                      <a:r>
                        <a:rPr lang="en-US"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1~64 </a:t>
                      </a:r>
                      <a:r>
                        <a:rPr lang="zh-TW" sz="18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的文字</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800" dirty="0">
                          <a:effectLst/>
                          <a:latin typeface="標楷體" panose="03000509000000000000" pitchFamily="65" charset="-120"/>
                          <a:ea typeface="標楷體" panose="03000509000000000000" pitchFamily="65" charset="-120"/>
                          <a:cs typeface="標楷體" panose="03000509000000000000" pitchFamily="65" charset="-120"/>
                        </a:rPr>
                        <a:t> </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310967228"/>
                  </a:ext>
                </a:extLst>
              </a:tr>
            </a:tbl>
          </a:graphicData>
        </a:graphic>
      </p:graphicFrame>
      <p:grpSp>
        <p:nvGrpSpPr>
          <p:cNvPr id="13" name="群組 12">
            <a:extLst>
              <a:ext uri="{FF2B5EF4-FFF2-40B4-BE49-F238E27FC236}">
                <a16:creationId xmlns:a16="http://schemas.microsoft.com/office/drawing/2014/main" id="{F0A24BB4-098C-CF83-2BF9-DC0D8A825527}"/>
              </a:ext>
            </a:extLst>
          </p:cNvPr>
          <p:cNvGrpSpPr/>
          <p:nvPr/>
        </p:nvGrpSpPr>
        <p:grpSpPr>
          <a:xfrm>
            <a:off x="-1200151" y="80872"/>
            <a:ext cx="10426701" cy="1200329"/>
            <a:chOff x="368300" y="1442660"/>
            <a:chExt cx="4722578" cy="1200329"/>
          </a:xfrm>
        </p:grpSpPr>
        <p:sp>
          <p:nvSpPr>
            <p:cNvPr id="14" name="矩形 13">
              <a:extLst>
                <a:ext uri="{FF2B5EF4-FFF2-40B4-BE49-F238E27FC236}">
                  <a16:creationId xmlns:a16="http://schemas.microsoft.com/office/drawing/2014/main" id="{D6288395-EE1E-0CA8-F08A-498CEE88D5BD}"/>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a:extLst>
                <a:ext uri="{FF2B5EF4-FFF2-40B4-BE49-F238E27FC236}">
                  <a16:creationId xmlns:a16="http://schemas.microsoft.com/office/drawing/2014/main" id="{9A921029-DA28-90B7-B15E-EF3782400D2F}"/>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6</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16" name="文字方塊 15">
            <a:extLst>
              <a:ext uri="{FF2B5EF4-FFF2-40B4-BE49-F238E27FC236}">
                <a16:creationId xmlns:a16="http://schemas.microsoft.com/office/drawing/2014/main" id="{66067953-8833-B051-17B6-E07EE4DB4FA6}"/>
              </a:ext>
            </a:extLst>
          </p:cNvPr>
          <p:cNvSpPr txBox="1"/>
          <p:nvPr/>
        </p:nvSpPr>
        <p:spPr>
          <a:xfrm>
            <a:off x="49716" y="341381"/>
            <a:ext cx="7629674"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實體表：</a:t>
            </a:r>
            <a:r>
              <a:rPr lang="en-US" altLang="zh-TW" sz="3600" dirty="0">
                <a:solidFill>
                  <a:schemeClr val="bg1"/>
                </a:solidFill>
                <a:latin typeface="標楷體" panose="03000509000000000000" pitchFamily="65" charset="-120"/>
                <a:ea typeface="標楷體" panose="03000509000000000000" pitchFamily="65" charset="-120"/>
              </a:rPr>
              <a:t>Category</a:t>
            </a:r>
            <a:r>
              <a:rPr lang="zh-TW" altLang="en-US" sz="3600" dirty="0">
                <a:solidFill>
                  <a:schemeClr val="bg1"/>
                </a:solidFill>
                <a:latin typeface="標楷體" panose="03000509000000000000" pitchFamily="65" charset="-120"/>
                <a:ea typeface="標楷體" panose="03000509000000000000" pitchFamily="65" charset="-120"/>
              </a:rPr>
              <a:t>（設備類別）</a:t>
            </a:r>
          </a:p>
        </p:txBody>
      </p:sp>
      <p:pic>
        <p:nvPicPr>
          <p:cNvPr id="3" name="圖片 2">
            <a:extLst>
              <a:ext uri="{FF2B5EF4-FFF2-40B4-BE49-F238E27FC236}">
                <a16:creationId xmlns:a16="http://schemas.microsoft.com/office/drawing/2014/main" id="{713E8221-328C-143A-0B1E-D2AA29A714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456" y="2393141"/>
            <a:ext cx="3886742" cy="3172268"/>
          </a:xfrm>
          <a:prstGeom prst="rect">
            <a:avLst/>
          </a:prstGeom>
        </p:spPr>
      </p:pic>
    </p:spTree>
    <p:extLst>
      <p:ext uri="{BB962C8B-B14F-4D97-AF65-F5344CB8AC3E}">
        <p14:creationId xmlns:p14="http://schemas.microsoft.com/office/powerpoint/2010/main" val="182894543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0-#ppt_w/2"/>
                                          </p:val>
                                        </p:tav>
                                        <p:tav tm="100000">
                                          <p:val>
                                            <p:strVal val="#ppt_x"/>
                                          </p:val>
                                        </p:tav>
                                      </p:tavLst>
                                    </p:anim>
                                    <p:anim calcmode="lin" valueType="num">
                                      <p:cBhvr additive="base">
                                        <p:cTn id="12"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DC0BB44-F84F-B22B-AE34-7E1069FD62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16" y="2180456"/>
            <a:ext cx="5140182" cy="3937540"/>
          </a:xfrm>
          <a:prstGeom prst="rect">
            <a:avLst/>
          </a:prstGeom>
        </p:spPr>
      </p:pic>
      <p:graphicFrame>
        <p:nvGraphicFramePr>
          <p:cNvPr id="13" name="表格 12">
            <a:extLst>
              <a:ext uri="{FF2B5EF4-FFF2-40B4-BE49-F238E27FC236}">
                <a16:creationId xmlns:a16="http://schemas.microsoft.com/office/drawing/2014/main" id="{2FDCFE7A-0660-17F1-914F-D5343D19E074}"/>
              </a:ext>
            </a:extLst>
          </p:cNvPr>
          <p:cNvGraphicFramePr>
            <a:graphicFrameLocks noGrp="1"/>
          </p:cNvGraphicFramePr>
          <p:nvPr>
            <p:extLst>
              <p:ext uri="{D42A27DB-BD31-4B8C-83A1-F6EECF244321}">
                <p14:modId xmlns:p14="http://schemas.microsoft.com/office/powerpoint/2010/main" val="2078133687"/>
              </p:ext>
            </p:extLst>
          </p:nvPr>
        </p:nvGraphicFramePr>
        <p:xfrm>
          <a:off x="5189898" y="1187190"/>
          <a:ext cx="6922197" cy="5616217"/>
        </p:xfrm>
        <a:graphic>
          <a:graphicData uri="http://schemas.openxmlformats.org/drawingml/2006/table">
            <a:tbl>
              <a:tblPr firstRow="1" firstCol="1" bandRow="1">
                <a:tableStyleId>{5C22544A-7EE6-4342-B048-85BDC9FD1C3A}</a:tableStyleId>
              </a:tblPr>
              <a:tblGrid>
                <a:gridCol w="1545024">
                  <a:extLst>
                    <a:ext uri="{9D8B030D-6E8A-4147-A177-3AD203B41FA5}">
                      <a16:colId xmlns:a16="http://schemas.microsoft.com/office/drawing/2014/main" val="1938562011"/>
                    </a:ext>
                  </a:extLst>
                </a:gridCol>
                <a:gridCol w="1303007">
                  <a:extLst>
                    <a:ext uri="{9D8B030D-6E8A-4147-A177-3AD203B41FA5}">
                      <a16:colId xmlns:a16="http://schemas.microsoft.com/office/drawing/2014/main" val="3097408967"/>
                    </a:ext>
                  </a:extLst>
                </a:gridCol>
                <a:gridCol w="2018189">
                  <a:extLst>
                    <a:ext uri="{9D8B030D-6E8A-4147-A177-3AD203B41FA5}">
                      <a16:colId xmlns:a16="http://schemas.microsoft.com/office/drawing/2014/main" val="437994860"/>
                    </a:ext>
                  </a:extLst>
                </a:gridCol>
                <a:gridCol w="2055977">
                  <a:extLst>
                    <a:ext uri="{9D8B030D-6E8A-4147-A177-3AD203B41FA5}">
                      <a16:colId xmlns:a16="http://schemas.microsoft.com/office/drawing/2014/main" val="845953157"/>
                    </a:ext>
                  </a:extLst>
                </a:gridCol>
              </a:tblGrid>
              <a:tr h="324515">
                <a:tc>
                  <a:txBody>
                    <a:bodyPr/>
                    <a:lstStyle/>
                    <a:p>
                      <a:pPr algn="ctr">
                        <a:buNone/>
                      </a:pPr>
                      <a:r>
                        <a:rPr lang="zh-TW" sz="15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屬性名稱</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500" b="1">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說明</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5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值域</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5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完整性限制</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nchor="ctr"/>
                </a:tc>
                <a:extLst>
                  <a:ext uri="{0D108BD9-81ED-4DB2-BD59-A6C34878D82A}">
                    <a16:rowId xmlns:a16="http://schemas.microsoft.com/office/drawing/2014/main" val="1917633793"/>
                  </a:ext>
                </a:extLst>
              </a:tr>
              <a:tr h="553584">
                <a:tc>
                  <a:txBody>
                    <a:bodyPr/>
                    <a:lstStyle/>
                    <a:p>
                      <a:pPr>
                        <a:buNone/>
                      </a:pPr>
                      <a:r>
                        <a:rPr lang="en-US" sz="15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bId</a:t>
                      </a:r>
                      <a:endParaRPr lang="zh-TW" sz="15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借用</a:t>
                      </a: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整數，從</a:t>
                      </a: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 </a:t>
                      </a:r>
                      <a:r>
                        <a:rPr lang="zh-TW"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開始遞增（</a:t>
                      </a: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AUTO_INCREMENT</a:t>
                      </a:r>
                      <a:r>
                        <a:rPr lang="zh-TW"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PK</a:t>
                      </a: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r>
                        <a:rPr lang="en-US"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555631134"/>
                  </a:ext>
                </a:extLst>
              </a:tr>
              <a:tr h="458139">
                <a:tc>
                  <a:txBody>
                    <a:bodyPr/>
                    <a:lstStyle/>
                    <a:p>
                      <a:pPr>
                        <a:buNone/>
                      </a:pPr>
                      <a:r>
                        <a:rPr lang="en-US"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mId</a:t>
                      </a:r>
                      <a:endParaRPr lang="zh-TW"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使用者</a:t>
                      </a:r>
                      <a:r>
                        <a:rPr lang="en-US"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FK → </a:t>
                      </a:r>
                      <a:r>
                        <a:rPr lang="en-US" sz="1500" dirty="0" err="1">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Member.mId</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p>
                      <a:pPr>
                        <a:buNone/>
                      </a:pP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427382105"/>
                  </a:ext>
                </a:extLst>
              </a:tr>
              <a:tr h="458139">
                <a:tc>
                  <a:txBody>
                    <a:bodyPr/>
                    <a:lstStyle/>
                    <a:p>
                      <a:pPr>
                        <a:buNone/>
                      </a:pPr>
                      <a:r>
                        <a:rPr lang="en-US"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eId</a:t>
                      </a:r>
                      <a:endParaRPr lang="zh-TW"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設備</a:t>
                      </a:r>
                      <a:r>
                        <a:rPr lang="en-US"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FK → </a:t>
                      </a:r>
                      <a:r>
                        <a:rPr lang="en-US" sz="1500" dirty="0" err="1">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Equipment.eId</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p>
                      <a:pPr>
                        <a:buNone/>
                      </a:pP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2523498487"/>
                  </a:ext>
                </a:extLst>
              </a:tr>
              <a:tr h="553584">
                <a:tc>
                  <a:txBody>
                    <a:bodyPr/>
                    <a:lstStyle/>
                    <a:p>
                      <a:pPr>
                        <a:buNone/>
                      </a:pPr>
                      <a:r>
                        <a:rPr lang="en-US"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bApplyDate</a:t>
                      </a:r>
                      <a:endParaRPr lang="zh-TW"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申請日期</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日期格式，申請當日日期</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066961833"/>
                  </a:ext>
                </a:extLst>
              </a:tr>
              <a:tr h="458139">
                <a:tc>
                  <a:txBody>
                    <a:bodyPr/>
                    <a:lstStyle/>
                    <a:p>
                      <a:pPr>
                        <a:buNone/>
                      </a:pPr>
                      <a:r>
                        <a:rPr lang="en-US" sz="15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bApprovedBy</a:t>
                      </a:r>
                      <a:endParaRPr lang="zh-TW" sz="15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審核員 </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FK -&gt; </a:t>
                      </a:r>
                      <a:r>
                        <a:rPr lang="en-US" sz="1500" dirty="0" err="1">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Member.mId</a:t>
                      </a: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p>
                      <a:pPr>
                        <a:buNone/>
                      </a:pP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NULL</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385576629"/>
                  </a:ext>
                </a:extLst>
              </a:tr>
              <a:tr h="324515">
                <a:tc>
                  <a:txBody>
                    <a:bodyPr/>
                    <a:lstStyle/>
                    <a:p>
                      <a:pPr>
                        <a:buNone/>
                      </a:pPr>
                      <a:r>
                        <a:rPr lang="en-US"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bApprovedDate</a:t>
                      </a:r>
                      <a:endParaRPr lang="zh-TW"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審核日期</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審核通過日期</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245574243"/>
                  </a:ext>
                </a:extLst>
              </a:tr>
              <a:tr h="553584">
                <a:tc>
                  <a:txBody>
                    <a:bodyPr/>
                    <a:lstStyle/>
                    <a:p>
                      <a:pPr>
                        <a:buNone/>
                      </a:pPr>
                      <a:r>
                        <a:rPr lang="en-US"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bStartDate</a:t>
                      </a:r>
                      <a:endParaRPr lang="zh-TW"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借用開始日期</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日期格式，借用起始日</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352311691"/>
                  </a:ext>
                </a:extLst>
              </a:tr>
              <a:tr h="553584">
                <a:tc>
                  <a:txBody>
                    <a:bodyPr/>
                    <a:lstStyle/>
                    <a:p>
                      <a:pPr>
                        <a:buNone/>
                      </a:pPr>
                      <a:r>
                        <a:rPr lang="en-US"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bEndDate</a:t>
                      </a:r>
                      <a:endParaRPr lang="zh-TW"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預計歸還日期</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日期格式，需</a:t>
                      </a:r>
                      <a:r>
                        <a:rPr lang="en-US"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&gt;= bStartDate</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40907558"/>
                  </a:ext>
                </a:extLst>
              </a:tr>
              <a:tr h="782653">
                <a:tc>
                  <a:txBody>
                    <a:bodyPr/>
                    <a:lstStyle/>
                    <a:p>
                      <a:pPr>
                        <a:buNone/>
                      </a:pPr>
                      <a:r>
                        <a:rPr lang="en-US"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bReturnDate</a:t>
                      </a:r>
                      <a:endParaRPr lang="zh-TW" sz="150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實際歸還日期</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日期格式，歸還後填入；</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需</a:t>
                      </a:r>
                      <a:r>
                        <a:rPr lang="en-US"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&gt;= bStartDate</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500" dirty="0">
                          <a:effectLst/>
                          <a:latin typeface="標楷體" panose="03000509000000000000" pitchFamily="65" charset="-120"/>
                          <a:ea typeface="標楷體" panose="03000509000000000000" pitchFamily="65" charset="-120"/>
                          <a:cs typeface="標楷體" panose="03000509000000000000" pitchFamily="65" charset="-120"/>
                        </a:rPr>
                        <a:t> </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17363893"/>
                  </a:ext>
                </a:extLst>
              </a:tr>
              <a:tr h="553584">
                <a:tc>
                  <a:txBody>
                    <a:bodyPr/>
                    <a:lstStyle/>
                    <a:p>
                      <a:pPr>
                        <a:buNone/>
                      </a:pPr>
                      <a:r>
                        <a:rPr lang="en-US" sz="15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bStatus</a:t>
                      </a:r>
                      <a:endParaRPr lang="zh-TW" sz="15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借用狀態</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申請中</a:t>
                      </a:r>
                      <a:r>
                        <a:rPr lang="en-US"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核准</a:t>
                      </a:r>
                      <a:r>
                        <a:rPr lang="en-US"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已歸還</a:t>
                      </a:r>
                      <a:r>
                        <a:rPr lang="en-US"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逾期</a:t>
                      </a:r>
                      <a:r>
                        <a:rPr lang="en-US"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5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拒絕</a:t>
                      </a:r>
                      <a:endParaRPr lang="zh-TW" sz="15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5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5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4286955432"/>
                  </a:ext>
                </a:extLst>
              </a:tr>
            </a:tbl>
          </a:graphicData>
        </a:graphic>
      </p:graphicFrame>
      <p:grpSp>
        <p:nvGrpSpPr>
          <p:cNvPr id="16" name="群組 15">
            <a:extLst>
              <a:ext uri="{FF2B5EF4-FFF2-40B4-BE49-F238E27FC236}">
                <a16:creationId xmlns:a16="http://schemas.microsoft.com/office/drawing/2014/main" id="{D43A8A96-B2C2-C8D9-1A1A-99DCBAE177E8}"/>
              </a:ext>
            </a:extLst>
          </p:cNvPr>
          <p:cNvGrpSpPr/>
          <p:nvPr/>
        </p:nvGrpSpPr>
        <p:grpSpPr>
          <a:xfrm>
            <a:off x="-1416966" y="64556"/>
            <a:ext cx="10426701" cy="1200329"/>
            <a:chOff x="368300" y="1442660"/>
            <a:chExt cx="4722578" cy="1200329"/>
          </a:xfrm>
        </p:grpSpPr>
        <p:sp>
          <p:nvSpPr>
            <p:cNvPr id="17" name="矩形 16">
              <a:extLst>
                <a:ext uri="{FF2B5EF4-FFF2-40B4-BE49-F238E27FC236}">
                  <a16:creationId xmlns:a16="http://schemas.microsoft.com/office/drawing/2014/main" id="{3CC28BC1-62E8-B462-F144-07A83BA6BA5E}"/>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8" name="文字方塊 17">
              <a:extLst>
                <a:ext uri="{FF2B5EF4-FFF2-40B4-BE49-F238E27FC236}">
                  <a16:creationId xmlns:a16="http://schemas.microsoft.com/office/drawing/2014/main" id="{2EA5394C-887E-B90E-A611-D217A236CF6A}"/>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6</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19" name="文字方塊 18">
            <a:extLst>
              <a:ext uri="{FF2B5EF4-FFF2-40B4-BE49-F238E27FC236}">
                <a16:creationId xmlns:a16="http://schemas.microsoft.com/office/drawing/2014/main" id="{AC6CB38D-20BC-5C51-15CA-3EDBB3CFC403}"/>
              </a:ext>
            </a:extLst>
          </p:cNvPr>
          <p:cNvSpPr txBox="1"/>
          <p:nvPr/>
        </p:nvSpPr>
        <p:spPr>
          <a:xfrm>
            <a:off x="49716" y="341381"/>
            <a:ext cx="7629674"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實體表：</a:t>
            </a:r>
            <a:r>
              <a:rPr lang="en-US" altLang="zh-TW" sz="3600" dirty="0" err="1">
                <a:solidFill>
                  <a:schemeClr val="bg1"/>
                </a:solidFill>
                <a:latin typeface="標楷體" panose="03000509000000000000" pitchFamily="65" charset="-120"/>
                <a:ea typeface="標楷體" panose="03000509000000000000" pitchFamily="65" charset="-120"/>
              </a:rPr>
              <a:t>BorrowRecord</a:t>
            </a:r>
            <a:r>
              <a:rPr lang="zh-TW" altLang="en-US" sz="3600" dirty="0">
                <a:solidFill>
                  <a:schemeClr val="bg1"/>
                </a:solidFill>
                <a:latin typeface="標楷體" panose="03000509000000000000" pitchFamily="65" charset="-120"/>
                <a:ea typeface="標楷體" panose="03000509000000000000" pitchFamily="65" charset="-120"/>
              </a:rPr>
              <a:t>（借用紀錄）</a:t>
            </a:r>
          </a:p>
        </p:txBody>
      </p:sp>
    </p:spTree>
    <p:extLst>
      <p:ext uri="{BB962C8B-B14F-4D97-AF65-F5344CB8AC3E}">
        <p14:creationId xmlns:p14="http://schemas.microsoft.com/office/powerpoint/2010/main" val="21664987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0-#ppt_w/2"/>
                                          </p:val>
                                        </p:tav>
                                        <p:tav tm="100000">
                                          <p:val>
                                            <p:strVal val="#ppt_x"/>
                                          </p:val>
                                        </p:tav>
                                      </p:tavLst>
                                    </p:anim>
                                    <p:anim calcmode="lin" valueType="num">
                                      <p:cBhvr additive="base">
                                        <p:cTn id="12"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圖片 9">
            <a:extLst>
              <a:ext uri="{FF2B5EF4-FFF2-40B4-BE49-F238E27FC236}">
                <a16:creationId xmlns:a16="http://schemas.microsoft.com/office/drawing/2014/main" id="{3C918F17-1B7A-886A-4967-12BD68DDE8C2}"/>
              </a:ext>
            </a:extLst>
          </p:cNvPr>
          <p:cNvPicPr>
            <a:picLocks noChangeAspect="1"/>
          </p:cNvPicPr>
          <p:nvPr/>
        </p:nvPicPr>
        <p:blipFill>
          <a:blip r:embed="rId2"/>
          <a:stretch>
            <a:fillRect/>
          </a:stretch>
        </p:blipFill>
        <p:spPr>
          <a:xfrm>
            <a:off x="204597" y="1399413"/>
            <a:ext cx="5010849" cy="5458587"/>
          </a:xfrm>
          <a:prstGeom prst="rect">
            <a:avLst/>
          </a:prstGeom>
        </p:spPr>
      </p:pic>
      <p:graphicFrame>
        <p:nvGraphicFramePr>
          <p:cNvPr id="5" name="表格 4">
            <a:extLst>
              <a:ext uri="{FF2B5EF4-FFF2-40B4-BE49-F238E27FC236}">
                <a16:creationId xmlns:a16="http://schemas.microsoft.com/office/drawing/2014/main" id="{4BB9620D-AA8F-32BC-609F-953742666858}"/>
              </a:ext>
            </a:extLst>
          </p:cNvPr>
          <p:cNvGraphicFramePr>
            <a:graphicFrameLocks noGrp="1"/>
          </p:cNvGraphicFramePr>
          <p:nvPr>
            <p:extLst>
              <p:ext uri="{D42A27DB-BD31-4B8C-83A1-F6EECF244321}">
                <p14:modId xmlns:p14="http://schemas.microsoft.com/office/powerpoint/2010/main" val="3680386383"/>
              </p:ext>
            </p:extLst>
          </p:nvPr>
        </p:nvGraphicFramePr>
        <p:xfrm>
          <a:off x="4983217" y="1734147"/>
          <a:ext cx="6834287" cy="4534293"/>
        </p:xfrm>
        <a:graphic>
          <a:graphicData uri="http://schemas.openxmlformats.org/drawingml/2006/table">
            <a:tbl>
              <a:tblPr firstRow="1" firstCol="1" bandRow="1">
                <a:tableStyleId>{5C22544A-7EE6-4342-B048-85BDC9FD1C3A}</a:tableStyleId>
              </a:tblPr>
              <a:tblGrid>
                <a:gridCol w="1121026">
                  <a:extLst>
                    <a:ext uri="{9D8B030D-6E8A-4147-A177-3AD203B41FA5}">
                      <a16:colId xmlns:a16="http://schemas.microsoft.com/office/drawing/2014/main" val="3813760441"/>
                    </a:ext>
                  </a:extLst>
                </a:gridCol>
                <a:gridCol w="1613362">
                  <a:extLst>
                    <a:ext uri="{9D8B030D-6E8A-4147-A177-3AD203B41FA5}">
                      <a16:colId xmlns:a16="http://schemas.microsoft.com/office/drawing/2014/main" val="1555622788"/>
                    </a:ext>
                  </a:extLst>
                </a:gridCol>
                <a:gridCol w="2424184">
                  <a:extLst>
                    <a:ext uri="{9D8B030D-6E8A-4147-A177-3AD203B41FA5}">
                      <a16:colId xmlns:a16="http://schemas.microsoft.com/office/drawing/2014/main" val="2331807976"/>
                    </a:ext>
                  </a:extLst>
                </a:gridCol>
                <a:gridCol w="1675715">
                  <a:extLst>
                    <a:ext uri="{9D8B030D-6E8A-4147-A177-3AD203B41FA5}">
                      <a16:colId xmlns:a16="http://schemas.microsoft.com/office/drawing/2014/main" val="4184786413"/>
                    </a:ext>
                  </a:extLst>
                </a:gridCol>
              </a:tblGrid>
              <a:tr h="340377">
                <a:tc>
                  <a:txBody>
                    <a:bodyPr/>
                    <a:lstStyle/>
                    <a:p>
                      <a:pPr algn="ctr">
                        <a:buNone/>
                      </a:pPr>
                      <a:r>
                        <a:rPr lang="zh-TW" sz="14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屬性名稱</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400" b="1">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說明</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4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值域</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400" b="1">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完整性限制</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016052782"/>
                  </a:ext>
                </a:extLst>
              </a:tr>
              <a:tr h="655948">
                <a:tc>
                  <a:txBody>
                    <a:bodyPr/>
                    <a:lstStyle/>
                    <a:p>
                      <a:pPr>
                        <a:buNone/>
                      </a:pPr>
                      <a:r>
                        <a:rPr lang="en-US" sz="14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mRecId</a:t>
                      </a:r>
                      <a:endParaRPr lang="zh-TW" sz="14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維護</a:t>
                      </a:r>
                      <a:r>
                        <a:rPr lang="en-US"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整數，從</a:t>
                      </a:r>
                      <a:r>
                        <a:rPr lang="en-US" sz="14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 </a:t>
                      </a:r>
                      <a:r>
                        <a:rPr lang="zh-TW" sz="14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開始遞增（</a:t>
                      </a:r>
                      <a:r>
                        <a:rPr lang="en-US" sz="14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AUTO_INCREMENT</a:t>
                      </a:r>
                      <a:r>
                        <a:rPr lang="zh-TW" sz="14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PK</a:t>
                      </a: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r>
                        <a:rPr lang="en-US"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703305680"/>
                  </a:ext>
                </a:extLst>
              </a:tr>
              <a:tr h="665537">
                <a:tc>
                  <a:txBody>
                    <a:bodyPr/>
                    <a:lstStyle/>
                    <a:p>
                      <a:pPr>
                        <a:buNone/>
                      </a:pPr>
                      <a:r>
                        <a:rPr lang="en-US" sz="14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eId</a:t>
                      </a:r>
                      <a:endParaRPr lang="zh-TW" sz="14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設備</a:t>
                      </a:r>
                      <a:r>
                        <a:rPr lang="en-US"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FK → Equipment.eId</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p>
                      <a:pPr>
                        <a:buNone/>
                      </a:pPr>
                      <a:r>
                        <a:rPr lang="en-US"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873116233"/>
                  </a:ext>
                </a:extLst>
              </a:tr>
              <a:tr h="503402">
                <a:tc>
                  <a:txBody>
                    <a:bodyPr/>
                    <a:lstStyle/>
                    <a:p>
                      <a:pPr>
                        <a:buNone/>
                      </a:pPr>
                      <a:r>
                        <a:rPr lang="en-US" sz="14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mId</a:t>
                      </a:r>
                      <a:endParaRPr lang="zh-TW" sz="14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申報人</a:t>
                      </a:r>
                      <a:r>
                        <a:rPr lang="en-US"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FK → </a:t>
                      </a:r>
                      <a:r>
                        <a:rPr lang="en-US" sz="1400" dirty="0" err="1">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Member.mId</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p>
                      <a:pPr>
                        <a:buNone/>
                      </a:pPr>
                      <a:r>
                        <a:rPr lang="en-US" sz="14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979742838"/>
                  </a:ext>
                </a:extLst>
              </a:tr>
              <a:tr h="404247">
                <a:tc>
                  <a:txBody>
                    <a:bodyPr/>
                    <a:lstStyle/>
                    <a:p>
                      <a:pPr>
                        <a:buNone/>
                      </a:pPr>
                      <a:r>
                        <a:rPr lang="en-US" sz="14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mRecDate</a:t>
                      </a:r>
                      <a:endParaRPr lang="zh-TW" sz="14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維護日期</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日期格式</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468875566"/>
                  </a:ext>
                </a:extLst>
              </a:tr>
              <a:tr h="404247">
                <a:tc>
                  <a:txBody>
                    <a:bodyPr/>
                    <a:lstStyle/>
                    <a:p>
                      <a:pPr>
                        <a:buNone/>
                      </a:pPr>
                      <a:r>
                        <a:rPr lang="en-US" sz="14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mIssue</a:t>
                      </a:r>
                      <a:endParaRPr lang="zh-TW" sz="14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問題描述</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長度</a:t>
                      </a:r>
                      <a:r>
                        <a:rPr lang="en-US"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1~256 </a:t>
                      </a: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的文字</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981153063"/>
                  </a:ext>
                </a:extLst>
              </a:tr>
              <a:tr h="578144">
                <a:tc>
                  <a:txBody>
                    <a:bodyPr/>
                    <a:lstStyle/>
                    <a:p>
                      <a:pPr>
                        <a:buNone/>
                      </a:pPr>
                      <a:r>
                        <a:rPr lang="en-US" sz="14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mResult</a:t>
                      </a:r>
                      <a:endParaRPr lang="zh-TW" sz="14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處理結果</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完成後填入；長度</a:t>
                      </a:r>
                      <a:r>
                        <a:rPr lang="en-US"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1~256</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a:effectLst/>
                          <a:latin typeface="標楷體" panose="03000509000000000000" pitchFamily="65" charset="-120"/>
                          <a:ea typeface="標楷體" panose="03000509000000000000" pitchFamily="65" charset="-120"/>
                          <a:cs typeface="標楷體" panose="03000509000000000000" pitchFamily="65" charset="-120"/>
                        </a:rPr>
                        <a:t> </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876101738"/>
                  </a:ext>
                </a:extLst>
              </a:tr>
              <a:tr h="404247">
                <a:tc>
                  <a:txBody>
                    <a:bodyPr/>
                    <a:lstStyle/>
                    <a:p>
                      <a:pPr>
                        <a:buNone/>
                      </a:pPr>
                      <a:r>
                        <a:rPr lang="en-US" sz="14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mStaff</a:t>
                      </a:r>
                      <a:endParaRPr lang="zh-TW" sz="14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負責人員</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處理人員姓名</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a:effectLst/>
                          <a:latin typeface="標楷體" panose="03000509000000000000" pitchFamily="65" charset="-120"/>
                          <a:ea typeface="標楷體" panose="03000509000000000000" pitchFamily="65" charset="-120"/>
                          <a:cs typeface="標楷體" panose="03000509000000000000" pitchFamily="65" charset="-120"/>
                        </a:rPr>
                        <a:t> </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413722428"/>
                  </a:ext>
                </a:extLst>
              </a:tr>
              <a:tr h="578144">
                <a:tc>
                  <a:txBody>
                    <a:bodyPr/>
                    <a:lstStyle/>
                    <a:p>
                      <a:pPr>
                        <a:buNone/>
                      </a:pPr>
                      <a:r>
                        <a:rPr lang="en-US" sz="14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mStatus</a:t>
                      </a:r>
                      <a:endParaRPr lang="zh-TW" sz="14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維護狀態</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待處理</a:t>
                      </a:r>
                      <a:r>
                        <a:rPr lang="en-US"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處理中</a:t>
                      </a:r>
                      <a:r>
                        <a:rPr lang="en-US"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4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已完成</a:t>
                      </a:r>
                      <a:endParaRPr lang="zh-TW" sz="14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4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4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3988243261"/>
                  </a:ext>
                </a:extLst>
              </a:tr>
            </a:tbl>
          </a:graphicData>
        </a:graphic>
      </p:graphicFrame>
      <p:grpSp>
        <p:nvGrpSpPr>
          <p:cNvPr id="6" name="群組 5">
            <a:extLst>
              <a:ext uri="{FF2B5EF4-FFF2-40B4-BE49-F238E27FC236}">
                <a16:creationId xmlns:a16="http://schemas.microsoft.com/office/drawing/2014/main" id="{555DD0E9-DD78-F716-6FD6-E2465E953E72}"/>
              </a:ext>
            </a:extLst>
          </p:cNvPr>
          <p:cNvGrpSpPr/>
          <p:nvPr/>
        </p:nvGrpSpPr>
        <p:grpSpPr>
          <a:xfrm>
            <a:off x="-1200151" y="80872"/>
            <a:ext cx="11374665" cy="1200329"/>
            <a:chOff x="368300" y="1442660"/>
            <a:chExt cx="4722578" cy="1200329"/>
          </a:xfrm>
        </p:grpSpPr>
        <p:sp>
          <p:nvSpPr>
            <p:cNvPr id="7" name="矩形 6">
              <a:extLst>
                <a:ext uri="{FF2B5EF4-FFF2-40B4-BE49-F238E27FC236}">
                  <a16:creationId xmlns:a16="http://schemas.microsoft.com/office/drawing/2014/main" id="{C4E6EE9D-0060-CD27-1DF2-268B1D127C3C}"/>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8" name="文字方塊 7">
              <a:extLst>
                <a:ext uri="{FF2B5EF4-FFF2-40B4-BE49-F238E27FC236}">
                  <a16:creationId xmlns:a16="http://schemas.microsoft.com/office/drawing/2014/main" id="{6D46B6F4-FA39-B8EA-A06F-ECADB12E7CC1}"/>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6</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9" name="文字方塊 8">
            <a:extLst>
              <a:ext uri="{FF2B5EF4-FFF2-40B4-BE49-F238E27FC236}">
                <a16:creationId xmlns:a16="http://schemas.microsoft.com/office/drawing/2014/main" id="{6A08B60E-E4A5-C539-BF71-A44EAF0A2A06}"/>
              </a:ext>
            </a:extLst>
          </p:cNvPr>
          <p:cNvSpPr txBox="1"/>
          <p:nvPr/>
        </p:nvSpPr>
        <p:spPr>
          <a:xfrm>
            <a:off x="49716" y="341381"/>
            <a:ext cx="8673370"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實體表：</a:t>
            </a:r>
            <a:r>
              <a:rPr lang="en-US" altLang="zh-TW" sz="3600" dirty="0">
                <a:solidFill>
                  <a:schemeClr val="bg1"/>
                </a:solidFill>
                <a:latin typeface="標楷體" panose="03000509000000000000" pitchFamily="65" charset="-120"/>
                <a:ea typeface="標楷體" panose="03000509000000000000" pitchFamily="65" charset="-120"/>
              </a:rPr>
              <a:t>MaintenanceRecord</a:t>
            </a:r>
            <a:r>
              <a:rPr lang="zh-TW" altLang="en-US" sz="3600" dirty="0">
                <a:solidFill>
                  <a:schemeClr val="bg1"/>
                </a:solidFill>
                <a:latin typeface="標楷體" panose="03000509000000000000" pitchFamily="65" charset="-120"/>
                <a:ea typeface="標楷體" panose="03000509000000000000" pitchFamily="65" charset="-120"/>
              </a:rPr>
              <a:t>（維護紀錄）</a:t>
            </a:r>
          </a:p>
        </p:txBody>
      </p:sp>
    </p:spTree>
    <p:extLst>
      <p:ext uri="{BB962C8B-B14F-4D97-AF65-F5344CB8AC3E}">
        <p14:creationId xmlns:p14="http://schemas.microsoft.com/office/powerpoint/2010/main" val="18099437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5E4240CA-11BB-AD48-D1FC-3172B31A26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210" y="2295251"/>
            <a:ext cx="4410691" cy="3610479"/>
          </a:xfrm>
          <a:prstGeom prst="rect">
            <a:avLst/>
          </a:prstGeom>
        </p:spPr>
      </p:pic>
      <p:graphicFrame>
        <p:nvGraphicFramePr>
          <p:cNvPr id="4" name="表格 3">
            <a:extLst>
              <a:ext uri="{FF2B5EF4-FFF2-40B4-BE49-F238E27FC236}">
                <a16:creationId xmlns:a16="http://schemas.microsoft.com/office/drawing/2014/main" id="{70FCED24-74BC-B920-E9EB-752E01A8E242}"/>
              </a:ext>
            </a:extLst>
          </p:cNvPr>
          <p:cNvGraphicFramePr>
            <a:graphicFrameLocks noGrp="1"/>
          </p:cNvGraphicFramePr>
          <p:nvPr>
            <p:extLst>
              <p:ext uri="{D42A27DB-BD31-4B8C-83A1-F6EECF244321}">
                <p14:modId xmlns:p14="http://schemas.microsoft.com/office/powerpoint/2010/main" val="781192829"/>
              </p:ext>
            </p:extLst>
          </p:nvPr>
        </p:nvGraphicFramePr>
        <p:xfrm>
          <a:off x="4572486" y="1755370"/>
          <a:ext cx="7525732" cy="4690239"/>
        </p:xfrm>
        <a:graphic>
          <a:graphicData uri="http://schemas.openxmlformats.org/drawingml/2006/table">
            <a:tbl>
              <a:tblPr firstRow="1" firstCol="1" bandRow="1">
                <a:tableStyleId>{5C22544A-7EE6-4342-B048-85BDC9FD1C3A}</a:tableStyleId>
              </a:tblPr>
              <a:tblGrid>
                <a:gridCol w="1494808">
                  <a:extLst>
                    <a:ext uri="{9D8B030D-6E8A-4147-A177-3AD203B41FA5}">
                      <a16:colId xmlns:a16="http://schemas.microsoft.com/office/drawing/2014/main" val="3629745194"/>
                    </a:ext>
                  </a:extLst>
                </a:gridCol>
                <a:gridCol w="1708351">
                  <a:extLst>
                    <a:ext uri="{9D8B030D-6E8A-4147-A177-3AD203B41FA5}">
                      <a16:colId xmlns:a16="http://schemas.microsoft.com/office/drawing/2014/main" val="4029629007"/>
                    </a:ext>
                  </a:extLst>
                </a:gridCol>
                <a:gridCol w="2197913">
                  <a:extLst>
                    <a:ext uri="{9D8B030D-6E8A-4147-A177-3AD203B41FA5}">
                      <a16:colId xmlns:a16="http://schemas.microsoft.com/office/drawing/2014/main" val="87474195"/>
                    </a:ext>
                  </a:extLst>
                </a:gridCol>
                <a:gridCol w="2124660">
                  <a:extLst>
                    <a:ext uri="{9D8B030D-6E8A-4147-A177-3AD203B41FA5}">
                      <a16:colId xmlns:a16="http://schemas.microsoft.com/office/drawing/2014/main" val="2045914200"/>
                    </a:ext>
                  </a:extLst>
                </a:gridCol>
              </a:tblGrid>
              <a:tr h="400182">
                <a:tc>
                  <a:txBody>
                    <a:bodyPr/>
                    <a:lstStyle/>
                    <a:p>
                      <a:pPr algn="ctr">
                        <a:buNone/>
                      </a:pPr>
                      <a:r>
                        <a:rPr lang="zh-TW" sz="16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屬性名稱</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6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說明</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600" b="1">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值域</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nchor="ctr"/>
                </a:tc>
                <a:tc>
                  <a:txBody>
                    <a:bodyPr/>
                    <a:lstStyle/>
                    <a:p>
                      <a:pPr algn="ctr">
                        <a:buNone/>
                      </a:pPr>
                      <a:r>
                        <a:rPr lang="zh-TW" sz="1600" b="1" dirty="0">
                          <a:solidFill>
                            <a:srgbClr val="FFFFFF"/>
                          </a:solidFill>
                          <a:effectLst/>
                          <a:latin typeface="標楷體" panose="03000509000000000000" pitchFamily="65" charset="-120"/>
                          <a:ea typeface="標楷體" panose="03000509000000000000" pitchFamily="65" charset="-120"/>
                          <a:cs typeface="標楷體" panose="03000509000000000000" pitchFamily="65" charset="-120"/>
                        </a:rPr>
                        <a:t>完整性限制</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nchor="ctr"/>
                </a:tc>
                <a:extLst>
                  <a:ext uri="{0D108BD9-81ED-4DB2-BD59-A6C34878D82A}">
                    <a16:rowId xmlns:a16="http://schemas.microsoft.com/office/drawing/2014/main" val="3669882944"/>
                  </a:ext>
                </a:extLst>
              </a:tr>
              <a:tr h="986577">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retId</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申請</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整數，從</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 </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開始遞增（</a:t>
                      </a: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AUTO_INCREMENT</a:t>
                      </a: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PK</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2727841748"/>
                  </a:ext>
                </a:extLst>
              </a:tr>
              <a:tr h="661216">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eId</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設備</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FK → Equipment.eId</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p>
                      <a:pPr>
                        <a:buNone/>
                      </a:pP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802337068"/>
                  </a:ext>
                </a:extLst>
              </a:tr>
              <a:tr h="542182">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mId</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申請人</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ID</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整數</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FK → </a:t>
                      </a:r>
                      <a:r>
                        <a:rPr lang="en-US" sz="1600" dirty="0" err="1">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Member.mId</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910181683"/>
                  </a:ext>
                </a:extLst>
              </a:tr>
              <a:tr h="766171">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retDate</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申請日期</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日期格式，申請當日日期</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2810497024"/>
                  </a:ext>
                </a:extLst>
              </a:tr>
              <a:tr h="567740">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retReason</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報廢原因</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長度</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1~256 </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的文字</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343498852"/>
                  </a:ext>
                </a:extLst>
              </a:tr>
              <a:tr h="766171">
                <a:tc>
                  <a:txBody>
                    <a:bodyPr/>
                    <a:lstStyle/>
                    <a:p>
                      <a:pPr>
                        <a:buNone/>
                      </a:pPr>
                      <a:r>
                        <a:rPr lang="en-US" sz="1600" dirty="0" err="1">
                          <a:solidFill>
                            <a:schemeClr val="bg1"/>
                          </a:solidFill>
                          <a:effectLst/>
                          <a:latin typeface="標楷體" panose="03000509000000000000" pitchFamily="65" charset="-120"/>
                          <a:ea typeface="標楷體" panose="03000509000000000000" pitchFamily="65" charset="-120"/>
                          <a:cs typeface="標楷體" panose="03000509000000000000" pitchFamily="65" charset="-120"/>
                        </a:rPr>
                        <a:t>retStatus</a:t>
                      </a:r>
                      <a:endParaRPr lang="zh-TW" sz="1600" dirty="0">
                        <a:solidFill>
                          <a:schemeClr val="bg1"/>
                        </a:solidFill>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審核狀態</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待審核</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核准</a:t>
                      </a:r>
                      <a:r>
                        <a:rPr lang="en-US"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 / </a:t>
                      </a:r>
                      <a:r>
                        <a:rPr lang="zh-TW" sz="160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駁回</a:t>
                      </a:r>
                      <a:endParaRPr lang="zh-TW" sz="1600">
                        <a:effectLst/>
                        <a:latin typeface="標楷體" panose="03000509000000000000" pitchFamily="65" charset="-120"/>
                        <a:ea typeface="標楷體" panose="03000509000000000000" pitchFamily="65" charset="-120"/>
                        <a:cs typeface="標楷體" panose="03000509000000000000" pitchFamily="65" charset="-120"/>
                      </a:endParaRPr>
                    </a:p>
                  </a:txBody>
                  <a:tcPr marL="76200" marR="76200" marT="50800" marB="50800"/>
                </a:tc>
                <a:tc>
                  <a:txBody>
                    <a:bodyPr/>
                    <a:lstStyle/>
                    <a:p>
                      <a:pPr>
                        <a:buNone/>
                      </a:pPr>
                      <a:r>
                        <a:rPr lang="en-US" sz="1600" dirty="0">
                          <a:solidFill>
                            <a:srgbClr val="000000"/>
                          </a:solidFill>
                          <a:effectLst/>
                          <a:latin typeface="標楷體" panose="03000509000000000000" pitchFamily="65" charset="-120"/>
                          <a:ea typeface="標楷體" panose="03000509000000000000" pitchFamily="65" charset="-120"/>
                          <a:cs typeface="標楷體" panose="03000509000000000000" pitchFamily="65" charset="-120"/>
                        </a:rPr>
                        <a:t>NOT NULL</a:t>
                      </a:r>
                      <a:endParaRPr lang="zh-TW" sz="1600" dirty="0">
                        <a:effectLst/>
                        <a:latin typeface="標楷體" panose="03000509000000000000" pitchFamily="65" charset="-120"/>
                        <a:ea typeface="標楷體" panose="03000509000000000000" pitchFamily="65" charset="-120"/>
                        <a:cs typeface="標楷體" panose="03000509000000000000" pitchFamily="65" charset="-120"/>
                      </a:endParaRPr>
                    </a:p>
                  </a:txBody>
                  <a:tcPr marL="6350" marR="6350" marT="0" marB="0"/>
                </a:tc>
                <a:extLst>
                  <a:ext uri="{0D108BD9-81ED-4DB2-BD59-A6C34878D82A}">
                    <a16:rowId xmlns:a16="http://schemas.microsoft.com/office/drawing/2014/main" val="1229247603"/>
                  </a:ext>
                </a:extLst>
              </a:tr>
            </a:tbl>
          </a:graphicData>
        </a:graphic>
      </p:graphicFrame>
      <p:grpSp>
        <p:nvGrpSpPr>
          <p:cNvPr id="5" name="群組 4">
            <a:extLst>
              <a:ext uri="{FF2B5EF4-FFF2-40B4-BE49-F238E27FC236}">
                <a16:creationId xmlns:a16="http://schemas.microsoft.com/office/drawing/2014/main" id="{D677DCC6-446A-2381-D6FB-C66EB4BF79F0}"/>
              </a:ext>
            </a:extLst>
          </p:cNvPr>
          <p:cNvGrpSpPr/>
          <p:nvPr/>
        </p:nvGrpSpPr>
        <p:grpSpPr>
          <a:xfrm>
            <a:off x="-1301750" y="0"/>
            <a:ext cx="11526405" cy="1200329"/>
            <a:chOff x="368300" y="1373634"/>
            <a:chExt cx="4787588" cy="1200329"/>
          </a:xfrm>
        </p:grpSpPr>
        <p:sp>
          <p:nvSpPr>
            <p:cNvPr id="6" name="矩形 5">
              <a:extLst>
                <a:ext uri="{FF2B5EF4-FFF2-40B4-BE49-F238E27FC236}">
                  <a16:creationId xmlns:a16="http://schemas.microsoft.com/office/drawing/2014/main" id="{4F74734B-33EE-BE68-2283-70E0C7E24471}"/>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62F94417-ED7E-28D8-9257-B525587DD566}"/>
                </a:ext>
              </a:extLst>
            </p:cNvPr>
            <p:cNvSpPr txBox="1"/>
            <p:nvPr/>
          </p:nvSpPr>
          <p:spPr>
            <a:xfrm>
              <a:off x="4419288" y="1373634"/>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6</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8" name="文字方塊 7">
            <a:extLst>
              <a:ext uri="{FF2B5EF4-FFF2-40B4-BE49-F238E27FC236}">
                <a16:creationId xmlns:a16="http://schemas.microsoft.com/office/drawing/2014/main" id="{E784A299-1D5F-7121-BE92-B5816FD4D899}"/>
              </a:ext>
            </a:extLst>
          </p:cNvPr>
          <p:cNvSpPr txBox="1"/>
          <p:nvPr/>
        </p:nvSpPr>
        <p:spPr>
          <a:xfrm>
            <a:off x="-51884" y="329535"/>
            <a:ext cx="8503129"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實體表：</a:t>
            </a:r>
            <a:r>
              <a:rPr lang="en-US" altLang="zh-TW" sz="3600" dirty="0" err="1">
                <a:solidFill>
                  <a:schemeClr val="bg1"/>
                </a:solidFill>
                <a:latin typeface="標楷體" panose="03000509000000000000" pitchFamily="65" charset="-120"/>
                <a:ea typeface="標楷體" panose="03000509000000000000" pitchFamily="65" charset="-120"/>
              </a:rPr>
              <a:t>RetirementRequest</a:t>
            </a:r>
            <a:r>
              <a:rPr lang="zh-TW" altLang="en-US" sz="3600" dirty="0">
                <a:solidFill>
                  <a:schemeClr val="bg1"/>
                </a:solidFill>
                <a:latin typeface="標楷體" panose="03000509000000000000" pitchFamily="65" charset="-120"/>
                <a:ea typeface="標楷體" panose="03000509000000000000" pitchFamily="65" charset="-120"/>
              </a:rPr>
              <a:t>（報廢申請）</a:t>
            </a:r>
          </a:p>
        </p:txBody>
      </p:sp>
    </p:spTree>
    <p:extLst>
      <p:ext uri="{BB962C8B-B14F-4D97-AF65-F5344CB8AC3E}">
        <p14:creationId xmlns:p14="http://schemas.microsoft.com/office/powerpoint/2010/main" val="4435850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群組 4">
            <a:extLst>
              <a:ext uri="{FF2B5EF4-FFF2-40B4-BE49-F238E27FC236}">
                <a16:creationId xmlns:a16="http://schemas.microsoft.com/office/drawing/2014/main" id="{AD2160CF-EF2C-BE15-B650-DF971FCAFCEF}"/>
              </a:ext>
            </a:extLst>
          </p:cNvPr>
          <p:cNvGrpSpPr/>
          <p:nvPr/>
        </p:nvGrpSpPr>
        <p:grpSpPr>
          <a:xfrm>
            <a:off x="-1388837" y="806586"/>
            <a:ext cx="10426701" cy="1200329"/>
            <a:chOff x="368300" y="1442660"/>
            <a:chExt cx="4722578" cy="1200329"/>
          </a:xfrm>
        </p:grpSpPr>
        <p:sp>
          <p:nvSpPr>
            <p:cNvPr id="6" name="矩形 5">
              <a:extLst>
                <a:ext uri="{FF2B5EF4-FFF2-40B4-BE49-F238E27FC236}">
                  <a16:creationId xmlns:a16="http://schemas.microsoft.com/office/drawing/2014/main" id="{41E56BDD-F311-CC73-D08D-40DFE75A57C8}"/>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19249372-7CEE-8A07-7784-2743A2B5106E}"/>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6</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8" name="文字方塊 7">
            <a:extLst>
              <a:ext uri="{FF2B5EF4-FFF2-40B4-BE49-F238E27FC236}">
                <a16:creationId xmlns:a16="http://schemas.microsoft.com/office/drawing/2014/main" id="{CED02A04-AC32-D6CD-928F-28E1D5021D2B}"/>
              </a:ext>
            </a:extLst>
          </p:cNvPr>
          <p:cNvSpPr txBox="1"/>
          <p:nvPr/>
        </p:nvSpPr>
        <p:spPr>
          <a:xfrm>
            <a:off x="-138970" y="1067095"/>
            <a:ext cx="7629674"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資料表：</a:t>
            </a:r>
            <a:r>
              <a:rPr lang="en-US" altLang="zh-TW" sz="3600" dirty="0" err="1">
                <a:solidFill>
                  <a:schemeClr val="bg1"/>
                </a:solidFill>
                <a:latin typeface="標楷體" panose="03000509000000000000" pitchFamily="65" charset="-120"/>
                <a:ea typeface="標楷體" panose="03000509000000000000" pitchFamily="65" charset="-120"/>
              </a:rPr>
              <a:t>BorrowRecord</a:t>
            </a:r>
            <a:r>
              <a:rPr lang="zh-TW" altLang="en-US" sz="3600" dirty="0">
                <a:solidFill>
                  <a:schemeClr val="bg1"/>
                </a:solidFill>
                <a:latin typeface="標楷體" panose="03000509000000000000" pitchFamily="65" charset="-120"/>
                <a:ea typeface="標楷體" panose="03000509000000000000" pitchFamily="65" charset="-120"/>
              </a:rPr>
              <a:t>（借用紀錄）</a:t>
            </a:r>
          </a:p>
        </p:txBody>
      </p:sp>
      <p:grpSp>
        <p:nvGrpSpPr>
          <p:cNvPr id="9" name="群組 8">
            <a:extLst>
              <a:ext uri="{FF2B5EF4-FFF2-40B4-BE49-F238E27FC236}">
                <a16:creationId xmlns:a16="http://schemas.microsoft.com/office/drawing/2014/main" id="{2C83D9F3-ECED-4055-4396-2E4C995B8483}"/>
              </a:ext>
            </a:extLst>
          </p:cNvPr>
          <p:cNvGrpSpPr/>
          <p:nvPr/>
        </p:nvGrpSpPr>
        <p:grpSpPr>
          <a:xfrm>
            <a:off x="-1490436" y="794740"/>
            <a:ext cx="11374665" cy="1200329"/>
            <a:chOff x="368300" y="1442660"/>
            <a:chExt cx="4722578" cy="1200329"/>
          </a:xfrm>
        </p:grpSpPr>
        <p:sp>
          <p:nvSpPr>
            <p:cNvPr id="10" name="矩形 9">
              <a:extLst>
                <a:ext uri="{FF2B5EF4-FFF2-40B4-BE49-F238E27FC236}">
                  <a16:creationId xmlns:a16="http://schemas.microsoft.com/office/drawing/2014/main" id="{16987354-74A7-1E18-68F3-FA8E280B4ACB}"/>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DDFD4FB2-73FE-3A20-6FD2-B22119E1A9FE}"/>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6</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12" name="文字方塊 11">
            <a:extLst>
              <a:ext uri="{FF2B5EF4-FFF2-40B4-BE49-F238E27FC236}">
                <a16:creationId xmlns:a16="http://schemas.microsoft.com/office/drawing/2014/main" id="{573B5D05-4EF0-DC6A-1062-53D2339FA2AB}"/>
              </a:ext>
            </a:extLst>
          </p:cNvPr>
          <p:cNvSpPr txBox="1"/>
          <p:nvPr/>
        </p:nvSpPr>
        <p:spPr>
          <a:xfrm>
            <a:off x="-240569" y="1055249"/>
            <a:ext cx="8673370"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安全性設計：採用學校 </a:t>
            </a:r>
            <a:r>
              <a:rPr lang="en-US" altLang="zh-TW" sz="3600" dirty="0">
                <a:solidFill>
                  <a:schemeClr val="bg1"/>
                </a:solidFill>
                <a:latin typeface="標楷體" panose="03000509000000000000" pitchFamily="65" charset="-120"/>
                <a:ea typeface="標楷體" panose="03000509000000000000" pitchFamily="65" charset="-120"/>
              </a:rPr>
              <a:t>SSO </a:t>
            </a:r>
            <a:r>
              <a:rPr lang="zh-TW" altLang="en-US" sz="3600" dirty="0">
                <a:solidFill>
                  <a:schemeClr val="bg1"/>
                </a:solidFill>
                <a:latin typeface="標楷體" panose="03000509000000000000" pitchFamily="65" charset="-120"/>
                <a:ea typeface="標楷體" panose="03000509000000000000" pitchFamily="65" charset="-120"/>
              </a:rPr>
              <a:t>單一登入</a:t>
            </a:r>
          </a:p>
        </p:txBody>
      </p:sp>
      <p:sp>
        <p:nvSpPr>
          <p:cNvPr id="3" name="文字方塊 2">
            <a:extLst>
              <a:ext uri="{FF2B5EF4-FFF2-40B4-BE49-F238E27FC236}">
                <a16:creationId xmlns:a16="http://schemas.microsoft.com/office/drawing/2014/main" id="{3D82DBB2-36DD-3EC6-4DB5-24FC13BC803A}"/>
              </a:ext>
            </a:extLst>
          </p:cNvPr>
          <p:cNvSpPr txBox="1"/>
          <p:nvPr/>
        </p:nvSpPr>
        <p:spPr>
          <a:xfrm>
            <a:off x="142488" y="2834684"/>
            <a:ext cx="12191052" cy="2028248"/>
          </a:xfrm>
          <a:prstGeom prst="rect">
            <a:avLst/>
          </a:prstGeom>
          <a:noFill/>
        </p:spPr>
        <p:txBody>
          <a:bodyPr wrap="square">
            <a:spAutoFit/>
          </a:bodyPr>
          <a:lstStyle/>
          <a:p>
            <a:pPr marL="457200" indent="-457200">
              <a:lnSpc>
                <a:spcPct val="90000"/>
              </a:lnSpc>
              <a:spcBef>
                <a:spcPts val="1000"/>
              </a:spcBef>
              <a:buFont typeface="Arial" panose="020B0604020202020204" pitchFamily="34" charset="0"/>
              <a:buChar char="•"/>
            </a:pPr>
            <a:r>
              <a:rPr lang="zh-TW" altLang="en-US" sz="2800" dirty="0">
                <a:latin typeface="標楷體" panose="03000509000000000000" pitchFamily="65" charset="-120"/>
                <a:ea typeface="標楷體" panose="03000509000000000000" pitchFamily="65" charset="-120"/>
              </a:rPr>
              <a:t>本系統不自行管理密碼改採</a:t>
            </a:r>
            <a:endParaRPr lang="en-US" altLang="zh-TW" sz="2800" dirty="0">
              <a:latin typeface="標楷體" panose="03000509000000000000" pitchFamily="65" charset="-120"/>
              <a:ea typeface="標楷體" panose="03000509000000000000" pitchFamily="65" charset="-120"/>
            </a:endParaRPr>
          </a:p>
          <a:p>
            <a:pPr marL="457200" indent="-457200">
              <a:lnSpc>
                <a:spcPct val="90000"/>
              </a:lnSpc>
              <a:spcBef>
                <a:spcPts val="1000"/>
              </a:spcBef>
              <a:buFont typeface="Arial" panose="020B0604020202020204" pitchFamily="34" charset="0"/>
              <a:buChar char="•"/>
            </a:pPr>
            <a:r>
              <a:rPr lang="zh-TW" altLang="en-US" sz="2800" dirty="0">
                <a:latin typeface="標楷體" panose="03000509000000000000" pitchFamily="65" charset="-120"/>
                <a:ea typeface="標楷體" panose="03000509000000000000" pitchFamily="65" charset="-120"/>
              </a:rPr>
              <a:t>使用者以學校   （如 </a:t>
            </a:r>
            <a:r>
              <a:rPr lang="en-US" altLang="zh-TW" sz="2800" dirty="0">
                <a:latin typeface="標楷體" panose="03000509000000000000" pitchFamily="65" charset="-120"/>
                <a:ea typeface="標楷體" panose="03000509000000000000" pitchFamily="65" charset="-120"/>
              </a:rPr>
              <a:t>41243168@nfu.edu.tw</a:t>
            </a:r>
            <a:r>
              <a:rPr lang="zh-TW" altLang="en-US" sz="2800" dirty="0">
                <a:latin typeface="標楷體" panose="03000509000000000000" pitchFamily="65" charset="-120"/>
                <a:ea typeface="標楷體" panose="03000509000000000000" pitchFamily="65" charset="-120"/>
              </a:rPr>
              <a:t>）作為身份識別</a:t>
            </a:r>
            <a:endParaRPr lang="en-US" altLang="zh-TW" sz="2800" dirty="0">
              <a:latin typeface="標楷體" panose="03000509000000000000" pitchFamily="65" charset="-120"/>
              <a:ea typeface="標楷體" panose="03000509000000000000" pitchFamily="65" charset="-120"/>
            </a:endParaRPr>
          </a:p>
          <a:p>
            <a:pPr marL="457200" indent="-457200">
              <a:lnSpc>
                <a:spcPct val="90000"/>
              </a:lnSpc>
              <a:spcBef>
                <a:spcPts val="1000"/>
              </a:spcBef>
              <a:buFont typeface="Arial" panose="020B0604020202020204" pitchFamily="34" charset="0"/>
              <a:buChar char="•"/>
            </a:pPr>
            <a:r>
              <a:rPr lang="zh-TW" altLang="en-US" sz="2800" dirty="0">
                <a:latin typeface="標楷體" panose="03000509000000000000" pitchFamily="65" charset="-120"/>
                <a:ea typeface="標楷體" panose="03000509000000000000" pitchFamily="65" charset="-120"/>
              </a:rPr>
              <a:t>系統收到 </a:t>
            </a:r>
            <a:r>
              <a:rPr lang="en-US" altLang="zh-TW" sz="2800" dirty="0">
                <a:latin typeface="標楷體" panose="03000509000000000000" pitchFamily="65" charset="-120"/>
                <a:ea typeface="標楷體" panose="03000509000000000000" pitchFamily="65" charset="-120"/>
              </a:rPr>
              <a:t>SSO </a:t>
            </a:r>
            <a:r>
              <a:rPr lang="zh-TW" altLang="en-US" sz="2800" dirty="0">
                <a:latin typeface="標楷體" panose="03000509000000000000" pitchFamily="65" charset="-120"/>
                <a:ea typeface="標楷體" panose="03000509000000000000" pitchFamily="65" charset="-120"/>
              </a:rPr>
              <a:t>回傳的 </a:t>
            </a:r>
            <a:r>
              <a:rPr lang="en-US" altLang="zh-TW" sz="2800" dirty="0">
                <a:latin typeface="標楷體" panose="03000509000000000000" pitchFamily="65" charset="-120"/>
                <a:ea typeface="標楷體" panose="03000509000000000000" pitchFamily="65" charset="-120"/>
              </a:rPr>
              <a:t>Token </a:t>
            </a:r>
            <a:r>
              <a:rPr lang="zh-TW" altLang="en-US" sz="2800" dirty="0">
                <a:latin typeface="標楷體" panose="03000509000000000000" pitchFamily="65" charset="-120"/>
                <a:ea typeface="標楷體" panose="03000509000000000000" pitchFamily="65" charset="-120"/>
              </a:rPr>
              <a:t>後，比對 </a:t>
            </a:r>
            <a:r>
              <a:rPr lang="en-US" altLang="zh-TW" sz="2800" dirty="0" err="1">
                <a:latin typeface="標楷體" panose="03000509000000000000" pitchFamily="65" charset="-120"/>
                <a:ea typeface="標楷體" panose="03000509000000000000" pitchFamily="65" charset="-120"/>
              </a:rPr>
              <a:t>Member.mEmail</a:t>
            </a:r>
            <a:r>
              <a:rPr lang="en-US" altLang="zh-TW" sz="2800" dirty="0">
                <a:latin typeface="標楷體" panose="03000509000000000000" pitchFamily="65" charset="-120"/>
                <a:ea typeface="標楷體" panose="03000509000000000000" pitchFamily="65" charset="-120"/>
              </a:rPr>
              <a:t> </a:t>
            </a:r>
            <a:r>
              <a:rPr lang="zh-TW" altLang="en-US" sz="2800" dirty="0">
                <a:latin typeface="標楷體" panose="03000509000000000000" pitchFamily="65" charset="-120"/>
                <a:ea typeface="標楷體" panose="03000509000000000000" pitchFamily="65" charset="-120"/>
              </a:rPr>
              <a:t>確認使用者角色</a:t>
            </a:r>
            <a:endParaRPr lang="en-US" altLang="zh-TW" sz="2800" dirty="0">
              <a:latin typeface="標楷體" panose="03000509000000000000" pitchFamily="65" charset="-120"/>
              <a:ea typeface="標楷體" panose="03000509000000000000" pitchFamily="65" charset="-120"/>
            </a:endParaRPr>
          </a:p>
          <a:p>
            <a:pPr marL="457200" indent="-457200">
              <a:lnSpc>
                <a:spcPct val="90000"/>
              </a:lnSpc>
              <a:spcBef>
                <a:spcPts val="1000"/>
              </a:spcBef>
              <a:buFont typeface="Arial" panose="020B0604020202020204" pitchFamily="34" charset="0"/>
              <a:buChar char="•"/>
            </a:pPr>
            <a:r>
              <a:rPr lang="zh-TW" altLang="en-US" sz="2800" dirty="0">
                <a:latin typeface="標楷體" panose="03000509000000000000" pitchFamily="65" charset="-120"/>
                <a:ea typeface="標楷體" panose="03000509000000000000" pitchFamily="65" charset="-120"/>
              </a:rPr>
              <a:t>藉此避免在資料庫儲存密碼等敏感資訊，提升安全性</a:t>
            </a:r>
          </a:p>
        </p:txBody>
      </p:sp>
      <p:sp>
        <p:nvSpPr>
          <p:cNvPr id="4" name="矩形 3">
            <a:extLst>
              <a:ext uri="{FF2B5EF4-FFF2-40B4-BE49-F238E27FC236}">
                <a16:creationId xmlns:a16="http://schemas.microsoft.com/office/drawing/2014/main" id="{6FDFB843-A2A8-1AF4-EA20-54CD91C3B293}"/>
              </a:ext>
            </a:extLst>
          </p:cNvPr>
          <p:cNvSpPr/>
          <p:nvPr/>
        </p:nvSpPr>
        <p:spPr>
          <a:xfrm>
            <a:off x="4495800" y="2822838"/>
            <a:ext cx="4787123" cy="523220"/>
          </a:xfrm>
          <a:prstGeom prst="rect">
            <a:avLst/>
          </a:prstGeom>
          <a:noFill/>
        </p:spPr>
        <p:txBody>
          <a:bodyPr wrap="squar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TW" altLang="en-US" sz="2800" b="1" cap="none" spc="0" dirty="0">
                <a:ln/>
                <a:solidFill>
                  <a:schemeClr val="accent4"/>
                </a:solidFill>
                <a:effectLst/>
                <a:latin typeface="標楷體" panose="03000509000000000000" pitchFamily="65" charset="-120"/>
                <a:ea typeface="標楷體" panose="03000509000000000000" pitchFamily="65" charset="-120"/>
              </a:rPr>
              <a:t>學校 </a:t>
            </a:r>
            <a:r>
              <a:rPr lang="en-US" altLang="zh-TW" sz="2800" b="1" cap="none" spc="0" dirty="0">
                <a:ln/>
                <a:solidFill>
                  <a:schemeClr val="accent4"/>
                </a:solidFill>
                <a:effectLst/>
                <a:latin typeface="標楷體" panose="03000509000000000000" pitchFamily="65" charset="-120"/>
                <a:ea typeface="標楷體" panose="03000509000000000000" pitchFamily="65" charset="-120"/>
              </a:rPr>
              <a:t>SSO </a:t>
            </a:r>
            <a:r>
              <a:rPr lang="zh-TW" altLang="en-US" sz="2800" b="1" cap="none" spc="0" dirty="0">
                <a:ln/>
                <a:solidFill>
                  <a:schemeClr val="accent4"/>
                </a:solidFill>
                <a:effectLst/>
                <a:latin typeface="標楷體" panose="03000509000000000000" pitchFamily="65" charset="-120"/>
                <a:ea typeface="標楷體" panose="03000509000000000000" pitchFamily="65" charset="-120"/>
              </a:rPr>
              <a:t>單一登入驗證</a:t>
            </a:r>
            <a:endParaRPr lang="zh-TW" altLang="en-US" sz="2800" b="1" cap="none" spc="0" dirty="0">
              <a:ln/>
              <a:solidFill>
                <a:schemeClr val="accent4"/>
              </a:solidFill>
              <a:effectLst/>
            </a:endParaRPr>
          </a:p>
        </p:txBody>
      </p:sp>
      <p:sp>
        <p:nvSpPr>
          <p:cNvPr id="14" name="矩形 13">
            <a:extLst>
              <a:ext uri="{FF2B5EF4-FFF2-40B4-BE49-F238E27FC236}">
                <a16:creationId xmlns:a16="http://schemas.microsoft.com/office/drawing/2014/main" id="{708784DE-4158-1466-4B54-7C5AE105DC6C}"/>
              </a:ext>
            </a:extLst>
          </p:cNvPr>
          <p:cNvSpPr/>
          <p:nvPr/>
        </p:nvSpPr>
        <p:spPr>
          <a:xfrm>
            <a:off x="2730386" y="3325588"/>
            <a:ext cx="902811" cy="523220"/>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zh-TW" altLang="en-US" sz="2800" b="1" cap="none" spc="0" dirty="0">
                <a:ln/>
                <a:solidFill>
                  <a:schemeClr val="accent4"/>
                </a:solidFill>
                <a:effectLst/>
                <a:latin typeface="標楷體" panose="03000509000000000000" pitchFamily="65" charset="-120"/>
                <a:ea typeface="標楷體" panose="03000509000000000000" pitchFamily="65" charset="-120"/>
              </a:rPr>
              <a:t>信箱</a:t>
            </a:r>
            <a:endParaRPr lang="zh-TW" altLang="en-US" sz="2800" b="1" cap="none" spc="0" dirty="0">
              <a:ln/>
              <a:solidFill>
                <a:schemeClr val="accent4"/>
              </a:solidFill>
              <a:effectLst/>
            </a:endParaRPr>
          </a:p>
        </p:txBody>
      </p:sp>
      <p:pic>
        <p:nvPicPr>
          <p:cNvPr id="15" name="圖片 14">
            <a:extLst>
              <a:ext uri="{FF2B5EF4-FFF2-40B4-BE49-F238E27FC236}">
                <a16:creationId xmlns:a16="http://schemas.microsoft.com/office/drawing/2014/main" id="{54B9C090-2B76-FE8C-0AB2-3E2A750178B9}"/>
              </a:ext>
            </a:extLst>
          </p:cNvPr>
          <p:cNvPicPr>
            <a:picLocks noChangeAspect="1"/>
          </p:cNvPicPr>
          <p:nvPr/>
        </p:nvPicPr>
        <p:blipFill>
          <a:blip r:embed="rId2">
            <a:alphaModFix amt="20000"/>
          </a:blip>
          <a:srcRect l="27578" t="3723" r="26563" b="23667"/>
          <a:stretch>
            <a:fillRect/>
          </a:stretch>
        </p:blipFill>
        <p:spPr>
          <a:xfrm>
            <a:off x="8686688" y="551281"/>
            <a:ext cx="7296651" cy="6306719"/>
          </a:xfrm>
          <a:prstGeom prst="rect">
            <a:avLst/>
          </a:prstGeom>
        </p:spPr>
      </p:pic>
    </p:spTree>
    <p:extLst>
      <p:ext uri="{BB962C8B-B14F-4D97-AF65-F5344CB8AC3E}">
        <p14:creationId xmlns:p14="http://schemas.microsoft.com/office/powerpoint/2010/main" val="36440220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0-#ppt_w/2"/>
                                          </p:val>
                                        </p:tav>
                                        <p:tav tm="100000">
                                          <p:val>
                                            <p:strVal val="#ppt_x"/>
                                          </p:val>
                                        </p:tav>
                                      </p:tavLst>
                                    </p:anim>
                                    <p:anim calcmode="lin" valueType="num">
                                      <p:cBhvr additive="base">
                                        <p:cTn id="16" dur="500" fill="hold"/>
                                        <p:tgtEl>
                                          <p:spTgt spid="9"/>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 calcmode="lin" valueType="num">
                                      <p:cBhvr additive="base">
                                        <p:cTn id="19" dur="500" fill="hold"/>
                                        <p:tgtEl>
                                          <p:spTgt spid="12"/>
                                        </p:tgtEl>
                                        <p:attrNameLst>
                                          <p:attrName>ppt_x</p:attrName>
                                        </p:attrNameLst>
                                      </p:cBhvr>
                                      <p:tavLst>
                                        <p:tav tm="0">
                                          <p:val>
                                            <p:strVal val="0-#ppt_w/2"/>
                                          </p:val>
                                        </p:tav>
                                        <p:tav tm="100000">
                                          <p:val>
                                            <p:strVal val="#ppt_x"/>
                                          </p:val>
                                        </p:tav>
                                      </p:tavLst>
                                    </p:anim>
                                    <p:anim calcmode="lin" valueType="num">
                                      <p:cBhvr additive="base">
                                        <p:cTn id="20" dur="5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0B45E7-F750-00C8-7441-82C7FA1711DF}"/>
              </a:ext>
            </a:extLst>
          </p:cNvPr>
          <p:cNvSpPr>
            <a:spLocks noGrp="1"/>
          </p:cNvSpPr>
          <p:nvPr>
            <p:ph type="title"/>
          </p:nvPr>
        </p:nvSpPr>
        <p:spPr/>
        <p:txBody>
          <a:bodyPr/>
          <a:lstStyle/>
          <a:p>
            <a:endParaRPr lang="zh-TW" altLang="en-US" dirty="0"/>
          </a:p>
        </p:txBody>
      </p:sp>
      <p:pic>
        <p:nvPicPr>
          <p:cNvPr id="10" name="圖片 9">
            <a:extLst>
              <a:ext uri="{FF2B5EF4-FFF2-40B4-BE49-F238E27FC236}">
                <a16:creationId xmlns:a16="http://schemas.microsoft.com/office/drawing/2014/main" id="{009A22D0-9561-6CE1-1A9B-A7D5EBCF2B70}"/>
              </a:ext>
            </a:extLst>
          </p:cNvPr>
          <p:cNvPicPr>
            <a:picLocks noChangeAspect="1"/>
          </p:cNvPicPr>
          <p:nvPr/>
        </p:nvPicPr>
        <p:blipFill>
          <a:blip r:embed="rId2"/>
          <a:stretch>
            <a:fillRect/>
          </a:stretch>
        </p:blipFill>
        <p:spPr>
          <a:xfrm>
            <a:off x="3650732" y="0"/>
            <a:ext cx="6223634" cy="6858000"/>
          </a:xfrm>
          <a:prstGeom prst="rect">
            <a:avLst/>
          </a:prstGeom>
        </p:spPr>
      </p:pic>
      <p:sp>
        <p:nvSpPr>
          <p:cNvPr id="3" name="文字版面配置區 2">
            <a:extLst>
              <a:ext uri="{FF2B5EF4-FFF2-40B4-BE49-F238E27FC236}">
                <a16:creationId xmlns:a16="http://schemas.microsoft.com/office/drawing/2014/main" id="{06E934A8-252C-97C1-E411-8F02406CC14B}"/>
              </a:ext>
            </a:extLst>
          </p:cNvPr>
          <p:cNvSpPr>
            <a:spLocks noGrp="1"/>
          </p:cNvSpPr>
          <p:nvPr>
            <p:ph type="body" idx="1"/>
          </p:nvPr>
        </p:nvSpPr>
        <p:spPr/>
        <p:txBody>
          <a:bodyPr/>
          <a:lstStyle/>
          <a:p>
            <a:endParaRPr lang="zh-TW" altLang="en-US" dirty="0"/>
          </a:p>
        </p:txBody>
      </p:sp>
      <p:grpSp>
        <p:nvGrpSpPr>
          <p:cNvPr id="5" name="群組 4">
            <a:extLst>
              <a:ext uri="{FF2B5EF4-FFF2-40B4-BE49-F238E27FC236}">
                <a16:creationId xmlns:a16="http://schemas.microsoft.com/office/drawing/2014/main" id="{6DC2C56A-40EB-9C05-6A9B-8901A5779350}"/>
              </a:ext>
            </a:extLst>
          </p:cNvPr>
          <p:cNvGrpSpPr/>
          <p:nvPr/>
        </p:nvGrpSpPr>
        <p:grpSpPr>
          <a:xfrm>
            <a:off x="-1024495" y="109630"/>
            <a:ext cx="4581978" cy="1200329"/>
            <a:chOff x="368300" y="1419929"/>
            <a:chExt cx="4515365" cy="1200329"/>
          </a:xfrm>
        </p:grpSpPr>
        <p:sp>
          <p:nvSpPr>
            <p:cNvPr id="6" name="矩形 5">
              <a:extLst>
                <a:ext uri="{FF2B5EF4-FFF2-40B4-BE49-F238E27FC236}">
                  <a16:creationId xmlns:a16="http://schemas.microsoft.com/office/drawing/2014/main" id="{07E39F60-EDEC-51A3-B206-CC4F73B1F301}"/>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DEE7621C-FEF5-2735-C3DE-FB745B99303F}"/>
                </a:ext>
              </a:extLst>
            </p:cNvPr>
            <p:cNvSpPr txBox="1"/>
            <p:nvPr/>
          </p:nvSpPr>
          <p:spPr>
            <a:xfrm>
              <a:off x="4147065" y="1419929"/>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6</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8" name="文字方塊 7">
            <a:extLst>
              <a:ext uri="{FF2B5EF4-FFF2-40B4-BE49-F238E27FC236}">
                <a16:creationId xmlns:a16="http://schemas.microsoft.com/office/drawing/2014/main" id="{F76B2F3C-68CC-BE72-2798-78C929A0E549}"/>
              </a:ext>
            </a:extLst>
          </p:cNvPr>
          <p:cNvSpPr txBox="1"/>
          <p:nvPr/>
        </p:nvSpPr>
        <p:spPr>
          <a:xfrm>
            <a:off x="225370" y="392870"/>
            <a:ext cx="2639021" cy="646331"/>
          </a:xfrm>
          <a:prstGeom prst="rect">
            <a:avLst/>
          </a:prstGeom>
          <a:noFill/>
        </p:spPr>
        <p:txBody>
          <a:bodyPr wrap="square">
            <a:spAutoFit/>
          </a:bodyPr>
          <a:lstStyle/>
          <a:p>
            <a:r>
              <a:rPr lang="en-US" altLang="zh-TW" sz="3600" dirty="0">
                <a:solidFill>
                  <a:schemeClr val="bg1"/>
                </a:solidFill>
                <a:latin typeface="標楷體" panose="03000509000000000000" pitchFamily="65" charset="-120"/>
                <a:ea typeface="標楷體" panose="03000509000000000000" pitchFamily="65" charset="-120"/>
              </a:rPr>
              <a:t>ER Diagram</a:t>
            </a:r>
            <a:endParaRPr lang="zh-TW" altLang="en-US" sz="3600" dirty="0">
              <a:solidFill>
                <a:schemeClr val="bg1"/>
              </a:solidFill>
              <a:latin typeface="標楷體" panose="03000509000000000000" pitchFamily="65" charset="-120"/>
              <a:ea typeface="標楷體" panose="03000509000000000000" pitchFamily="65" charset="-120"/>
            </a:endParaRPr>
          </a:p>
        </p:txBody>
      </p:sp>
      <p:sp>
        <p:nvSpPr>
          <p:cNvPr id="99" name="SSO備註"/>
          <p:cNvSpPr txBox="1"/>
          <p:nvPr/>
        </p:nvSpPr>
        <p:spPr>
          <a:xfrm>
            <a:off x="448770" y="5715298"/>
            <a:ext cx="3737728" cy="461665"/>
          </a:xfrm>
          <a:prstGeom prst="rect">
            <a:avLst/>
          </a:prstGeom>
          <a:noFill/>
        </p:spPr>
        <p:txBody>
          <a:bodyPr wrap="square">
            <a:spAutoFit/>
          </a:bodyPr>
          <a:lstStyle/>
          <a:p>
            <a:r>
              <a:rPr lang="zh-TW" sz="1200" dirty="0">
                <a:latin typeface="標楷體" panose="03000509000000000000" pitchFamily="65" charset="-120"/>
                <a:ea typeface="標楷體" panose="03000509000000000000" pitchFamily="65" charset="-120"/>
              </a:rPr>
              <a:t>＊本系統採學校 SSO 單一登入驗證，不自行儲存密碼，故無 Password 資料表。</a:t>
            </a:r>
          </a:p>
        </p:txBody>
      </p:sp>
    </p:spTree>
    <p:extLst>
      <p:ext uri="{BB962C8B-B14F-4D97-AF65-F5344CB8AC3E}">
        <p14:creationId xmlns:p14="http://schemas.microsoft.com/office/powerpoint/2010/main" val="18484621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ECBE7-47AB-85B3-DCCB-AAB686826980}"/>
            </a:ext>
          </a:extLst>
        </p:cNvPr>
        <p:cNvGrpSpPr/>
        <p:nvPr/>
      </p:nvGrpSpPr>
      <p:grpSpPr>
        <a:xfrm>
          <a:off x="0" y="0"/>
          <a:ext cx="0" cy="0"/>
          <a:chOff x="0" y="0"/>
          <a:chExt cx="0" cy="0"/>
        </a:xfrm>
      </p:grpSpPr>
      <p:pic>
        <p:nvPicPr>
          <p:cNvPr id="12" name="圖片 11">
            <a:extLst>
              <a:ext uri="{FF2B5EF4-FFF2-40B4-BE49-F238E27FC236}">
                <a16:creationId xmlns:a16="http://schemas.microsoft.com/office/drawing/2014/main" id="{413518DB-F23F-95F9-FEF5-1F804267BB64}"/>
              </a:ext>
            </a:extLst>
          </p:cNvPr>
          <p:cNvPicPr>
            <a:picLocks noChangeAspect="1"/>
          </p:cNvPicPr>
          <p:nvPr/>
        </p:nvPicPr>
        <p:blipFill>
          <a:blip r:embed="rId2"/>
          <a:stretch>
            <a:fillRect/>
          </a:stretch>
        </p:blipFill>
        <p:spPr>
          <a:xfrm>
            <a:off x="8141319" y="4630057"/>
            <a:ext cx="4050681" cy="2211260"/>
          </a:xfrm>
          <a:prstGeom prst="rect">
            <a:avLst/>
          </a:prstGeom>
        </p:spPr>
      </p:pic>
      <p:grpSp>
        <p:nvGrpSpPr>
          <p:cNvPr id="4" name="群組 3">
            <a:extLst>
              <a:ext uri="{FF2B5EF4-FFF2-40B4-BE49-F238E27FC236}">
                <a16:creationId xmlns:a16="http://schemas.microsoft.com/office/drawing/2014/main" id="{5D1D5926-A490-7B8E-E40B-580818582410}"/>
              </a:ext>
            </a:extLst>
          </p:cNvPr>
          <p:cNvGrpSpPr/>
          <p:nvPr/>
        </p:nvGrpSpPr>
        <p:grpSpPr>
          <a:xfrm>
            <a:off x="-1200151" y="80872"/>
            <a:ext cx="9226551" cy="1200329"/>
            <a:chOff x="368300" y="1442660"/>
            <a:chExt cx="4722578" cy="1200329"/>
          </a:xfrm>
        </p:grpSpPr>
        <p:sp>
          <p:nvSpPr>
            <p:cNvPr id="5" name="矩形 4">
              <a:extLst>
                <a:ext uri="{FF2B5EF4-FFF2-40B4-BE49-F238E27FC236}">
                  <a16:creationId xmlns:a16="http://schemas.microsoft.com/office/drawing/2014/main" id="{4EB463B0-BE58-110E-0FA1-0CF6E6ECE4C0}"/>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F753D8C2-F958-9987-DC3D-6EFE9EE571B6}"/>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7</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4B83F6C1-D5C4-24DB-35A3-03B9FDCDD9B0}"/>
              </a:ext>
            </a:extLst>
          </p:cNvPr>
          <p:cNvSpPr txBox="1"/>
          <p:nvPr/>
        </p:nvSpPr>
        <p:spPr>
          <a:xfrm>
            <a:off x="49716" y="341381"/>
            <a:ext cx="640914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資料表</a:t>
            </a:r>
            <a:r>
              <a:rPr lang="en-US" altLang="zh-TW" sz="3600" dirty="0">
                <a:solidFill>
                  <a:schemeClr val="bg1"/>
                </a:solidFill>
                <a:latin typeface="標楷體" panose="03000509000000000000" pitchFamily="65" charset="-120"/>
                <a:ea typeface="標楷體" panose="03000509000000000000" pitchFamily="65" charset="-120"/>
              </a:rPr>
              <a:t>SQL</a:t>
            </a:r>
            <a:r>
              <a:rPr lang="zh-TW" altLang="en-US" sz="3600" dirty="0">
                <a:solidFill>
                  <a:schemeClr val="bg1"/>
                </a:solidFill>
                <a:latin typeface="標楷體" panose="03000509000000000000" pitchFamily="65" charset="-120"/>
                <a:ea typeface="標楷體" panose="03000509000000000000" pitchFamily="65" charset="-120"/>
              </a:rPr>
              <a:t>：</a:t>
            </a:r>
            <a:r>
              <a:rPr lang="en-US" altLang="zh-TW" sz="3600" dirty="0">
                <a:solidFill>
                  <a:schemeClr val="bg1"/>
                </a:solidFill>
                <a:latin typeface="標楷體" panose="03000509000000000000" pitchFamily="65" charset="-120"/>
                <a:ea typeface="標楷體" panose="03000509000000000000" pitchFamily="65" charset="-120"/>
              </a:rPr>
              <a:t>Member </a:t>
            </a:r>
            <a:r>
              <a:rPr lang="zh-TW" altLang="en-US" sz="3600" dirty="0">
                <a:solidFill>
                  <a:schemeClr val="bg1"/>
                </a:solidFill>
                <a:latin typeface="標楷體" panose="03000509000000000000" pitchFamily="65" charset="-120"/>
                <a:ea typeface="標楷體" panose="03000509000000000000" pitchFamily="65" charset="-120"/>
              </a:rPr>
              <a:t>使用者</a:t>
            </a:r>
          </a:p>
        </p:txBody>
      </p:sp>
      <p:sp>
        <p:nvSpPr>
          <p:cNvPr id="10" name="文字方塊 9">
            <a:extLst>
              <a:ext uri="{FF2B5EF4-FFF2-40B4-BE49-F238E27FC236}">
                <a16:creationId xmlns:a16="http://schemas.microsoft.com/office/drawing/2014/main" id="{21D60DE3-0589-052F-315F-35DE09C86E39}"/>
              </a:ext>
            </a:extLst>
          </p:cNvPr>
          <p:cNvSpPr txBox="1"/>
          <p:nvPr/>
        </p:nvSpPr>
        <p:spPr>
          <a:xfrm>
            <a:off x="1632857" y="1529229"/>
            <a:ext cx="7322458" cy="4278094"/>
          </a:xfrm>
          <a:prstGeom prst="rect">
            <a:avLst/>
          </a:prstGeom>
          <a:noFill/>
        </p:spPr>
        <p:txBody>
          <a:bodyPr wrap="square">
            <a:spAutoFit/>
          </a:bodyPr>
          <a:lstStyle/>
          <a:p>
            <a:pPr marL="228600">
              <a:buNone/>
            </a:pPr>
            <a:r>
              <a:rPr lang="en-US" altLang="zh-TW" sz="1600" dirty="0">
                <a:effectLst/>
                <a:ea typeface="標楷體" panose="03000509000000000000" pitchFamily="65" charset="-120"/>
                <a:cs typeface="標楷體" panose="03000509000000000000" pitchFamily="65" charset="-120"/>
              </a:rPr>
              <a:t>CREATE TABLE Member (</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mId</a:t>
            </a:r>
            <a:r>
              <a:rPr lang="en-US" altLang="zh-TW" sz="1600" dirty="0">
                <a:effectLst/>
                <a:ea typeface="標楷體" panose="03000509000000000000" pitchFamily="65" charset="-120"/>
                <a:cs typeface="標楷體" panose="03000509000000000000" pitchFamily="65" charset="-120"/>
              </a:rPr>
              <a:t>         INT          NOT NULL AUTO_INCREMENT,</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mAccount</a:t>
            </a:r>
            <a:r>
              <a:rPr lang="en-US" altLang="zh-TW" sz="1600" dirty="0">
                <a:effectLst/>
                <a:ea typeface="標楷體" panose="03000509000000000000" pitchFamily="65" charset="-120"/>
                <a:cs typeface="標楷體" panose="03000509000000000000" pitchFamily="65" charset="-120"/>
              </a:rPr>
              <a:t>    VARCHAR(20)  NOT NULL,</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mName</a:t>
            </a:r>
            <a:r>
              <a:rPr lang="en-US" altLang="zh-TW" sz="1600" dirty="0">
                <a:effectLst/>
                <a:ea typeface="標楷體" panose="03000509000000000000" pitchFamily="65" charset="-120"/>
                <a:cs typeface="標楷體" panose="03000509000000000000" pitchFamily="65" charset="-120"/>
              </a:rPr>
              <a:t>       VARCHAR(12)  NOT NULL,</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mEmail</a:t>
            </a:r>
            <a:r>
              <a:rPr lang="en-US" altLang="zh-TW" sz="1600" dirty="0">
                <a:effectLst/>
                <a:ea typeface="標楷體" panose="03000509000000000000" pitchFamily="65" charset="-120"/>
                <a:cs typeface="標楷體" panose="03000509000000000000" pitchFamily="65" charset="-120"/>
              </a:rPr>
              <a:t>      VARCHAR(50)  NOT NULL,</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mPhone</a:t>
            </a:r>
            <a:r>
              <a:rPr lang="en-US" altLang="zh-TW" sz="1600" dirty="0">
                <a:effectLst/>
                <a:ea typeface="標楷體" panose="03000509000000000000" pitchFamily="65" charset="-120"/>
                <a:cs typeface="標楷體" panose="03000509000000000000" pitchFamily="65" charset="-120"/>
              </a:rPr>
              <a:t>      CHAR(10)     NULL,</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mRole</a:t>
            </a:r>
            <a:r>
              <a:rPr lang="en-US" altLang="zh-TW" sz="1600" dirty="0">
                <a:effectLst/>
                <a:ea typeface="標楷體" panose="03000509000000000000" pitchFamily="65" charset="-120"/>
                <a:cs typeface="標楷體" panose="03000509000000000000" pitchFamily="65" charset="-120"/>
              </a:rPr>
              <a:t>       VARCHAR(6)   NOT NULL,</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mCreateDate</a:t>
            </a:r>
            <a:r>
              <a:rPr lang="en-US" altLang="zh-TW" sz="1600" dirty="0">
                <a:effectLst/>
                <a:ea typeface="標楷體" panose="03000509000000000000" pitchFamily="65" charset="-120"/>
                <a:cs typeface="標楷體" panose="03000509000000000000" pitchFamily="65" charset="-120"/>
              </a:rPr>
              <a:t> DATE         NOT NULL DEFAULT CURRENT_DATE,</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PRIMARY KEY (</a:t>
            </a:r>
            <a:r>
              <a:rPr lang="en-US" altLang="zh-TW" sz="1600" dirty="0" err="1">
                <a:effectLst/>
                <a:ea typeface="標楷體" panose="03000509000000000000" pitchFamily="65" charset="-120"/>
                <a:cs typeface="標楷體" panose="03000509000000000000" pitchFamily="65" charset="-120"/>
              </a:rPr>
              <a:t>mId</a:t>
            </a:r>
            <a:r>
              <a:rPr lang="en-US" altLang="zh-TW" sz="1600" dirty="0">
                <a:effectLst/>
                <a:ea typeface="標楷體" panose="03000509000000000000" pitchFamily="65" charset="-120"/>
                <a:cs typeface="標楷體" panose="03000509000000000000" pitchFamily="65" charset="-120"/>
              </a:rPr>
              <a:t>),</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UNIQUE KEY </a:t>
            </a:r>
            <a:r>
              <a:rPr lang="en-US" altLang="zh-TW" sz="1600" dirty="0" err="1">
                <a:effectLst/>
                <a:ea typeface="標楷體" panose="03000509000000000000" pitchFamily="65" charset="-120"/>
                <a:cs typeface="標楷體" panose="03000509000000000000" pitchFamily="65" charset="-120"/>
              </a:rPr>
              <a:t>uq_mAccount</a:t>
            </a: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mAccount</a:t>
            </a:r>
            <a:r>
              <a:rPr lang="en-US" altLang="zh-TW" sz="1600" dirty="0">
                <a:effectLst/>
                <a:ea typeface="標楷體" panose="03000509000000000000" pitchFamily="65" charset="-120"/>
                <a:cs typeface="標楷體" panose="03000509000000000000" pitchFamily="65" charset="-120"/>
              </a:rPr>
              <a:t>),</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UNIQUE KEY </a:t>
            </a:r>
            <a:r>
              <a:rPr lang="en-US" altLang="zh-TW" sz="1600" dirty="0" err="1">
                <a:effectLst/>
                <a:ea typeface="標楷體" panose="03000509000000000000" pitchFamily="65" charset="-120"/>
                <a:cs typeface="標楷體" panose="03000509000000000000" pitchFamily="65" charset="-120"/>
              </a:rPr>
              <a:t>uq_mEmail</a:t>
            </a: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mEmail</a:t>
            </a:r>
            <a:r>
              <a:rPr lang="en-US" altLang="zh-TW" sz="1600" dirty="0">
                <a:effectLst/>
                <a:ea typeface="標楷體" panose="03000509000000000000" pitchFamily="65" charset="-120"/>
                <a:cs typeface="標楷體" panose="03000509000000000000" pitchFamily="65" charset="-120"/>
              </a:rPr>
              <a:t>),</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CONSTRAINT </a:t>
            </a:r>
            <a:r>
              <a:rPr lang="en-US" altLang="zh-TW" sz="1600" dirty="0" err="1">
                <a:effectLst/>
                <a:ea typeface="標楷體" panose="03000509000000000000" pitchFamily="65" charset="-120"/>
                <a:cs typeface="標楷體" panose="03000509000000000000" pitchFamily="65" charset="-120"/>
              </a:rPr>
              <a:t>chk_mEmail</a:t>
            </a:r>
            <a:r>
              <a:rPr lang="en-US" altLang="zh-TW" sz="1600" dirty="0">
                <a:effectLst/>
                <a:ea typeface="標楷體" panose="03000509000000000000" pitchFamily="65" charset="-120"/>
                <a:cs typeface="標楷體" panose="03000509000000000000" pitchFamily="65" charset="-120"/>
              </a:rPr>
              <a:t> CHECK (</a:t>
            </a:r>
            <a:r>
              <a:rPr lang="en-US" altLang="zh-TW" sz="1600" dirty="0" err="1">
                <a:effectLst/>
                <a:ea typeface="標楷體" panose="03000509000000000000" pitchFamily="65" charset="-120"/>
                <a:cs typeface="標楷體" panose="03000509000000000000" pitchFamily="65" charset="-120"/>
              </a:rPr>
              <a:t>mEmail</a:t>
            </a:r>
            <a:r>
              <a:rPr lang="en-US" altLang="zh-TW" sz="1600" dirty="0">
                <a:effectLst/>
                <a:ea typeface="標楷體" panose="03000509000000000000" pitchFamily="65" charset="-120"/>
                <a:cs typeface="標楷體" panose="03000509000000000000" pitchFamily="65" charset="-120"/>
              </a:rPr>
              <a:t> LIKE '%@%'),</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CONSTRAINT </a:t>
            </a:r>
            <a:r>
              <a:rPr lang="en-US" altLang="zh-TW" sz="1600" dirty="0" err="1">
                <a:effectLst/>
                <a:ea typeface="標楷體" panose="03000509000000000000" pitchFamily="65" charset="-120"/>
                <a:cs typeface="標楷體" panose="03000509000000000000" pitchFamily="65" charset="-120"/>
              </a:rPr>
              <a:t>chk_mRole</a:t>
            </a:r>
            <a:r>
              <a:rPr lang="en-US" altLang="zh-TW" sz="1600" dirty="0">
                <a:effectLst/>
                <a:ea typeface="標楷體" panose="03000509000000000000" pitchFamily="65" charset="-120"/>
                <a:cs typeface="標楷體" panose="03000509000000000000" pitchFamily="65" charset="-120"/>
              </a:rPr>
              <a:t>  CHECK (</a:t>
            </a:r>
            <a:r>
              <a:rPr lang="en-US" altLang="zh-TW" sz="1600" dirty="0" err="1">
                <a:effectLst/>
                <a:ea typeface="標楷體" panose="03000509000000000000" pitchFamily="65" charset="-120"/>
                <a:cs typeface="標楷體" panose="03000509000000000000" pitchFamily="65" charset="-120"/>
              </a:rPr>
              <a:t>mRole</a:t>
            </a:r>
            <a:r>
              <a:rPr lang="en-US" altLang="zh-TW" sz="1600" dirty="0">
                <a:effectLst/>
                <a:ea typeface="標楷體" panose="03000509000000000000" pitchFamily="65" charset="-120"/>
                <a:cs typeface="標楷體" panose="03000509000000000000" pitchFamily="65" charset="-120"/>
              </a:rPr>
              <a:t> IN ('</a:t>
            </a:r>
            <a:r>
              <a:rPr lang="zh-TW" altLang="zh-TW" sz="1600" dirty="0">
                <a:effectLst/>
                <a:ea typeface="標楷體" panose="03000509000000000000" pitchFamily="65" charset="-120"/>
                <a:cs typeface="Courier New" panose="02070309020205020404" pitchFamily="49" charset="0"/>
              </a:rPr>
              <a:t>管理員</a:t>
            </a:r>
            <a:r>
              <a:rPr lang="en-US" altLang="zh-TW" sz="1600" dirty="0">
                <a:effectLst/>
                <a:ea typeface="標楷體" panose="03000509000000000000" pitchFamily="65" charset="-120"/>
                <a:cs typeface="標楷體" panose="03000509000000000000" pitchFamily="65" charset="-120"/>
              </a:rPr>
              <a:t>','</a:t>
            </a:r>
            <a:r>
              <a:rPr lang="zh-TW" altLang="zh-TW" sz="1600" dirty="0">
                <a:effectLst/>
                <a:ea typeface="標楷體" panose="03000509000000000000" pitchFamily="65" charset="-120"/>
                <a:cs typeface="Courier New" panose="02070309020205020404" pitchFamily="49" charset="0"/>
              </a:rPr>
              <a:t>教師</a:t>
            </a:r>
            <a:r>
              <a:rPr lang="en-US" altLang="zh-TW" sz="1600" dirty="0">
                <a:effectLst/>
                <a:ea typeface="標楷體" panose="03000509000000000000" pitchFamily="65" charset="-120"/>
                <a:cs typeface="標楷體" panose="03000509000000000000" pitchFamily="65" charset="-120"/>
              </a:rPr>
              <a:t>','</a:t>
            </a:r>
            <a:r>
              <a:rPr lang="zh-TW" altLang="zh-TW" sz="1600" dirty="0">
                <a:effectLst/>
                <a:ea typeface="標楷體" panose="03000509000000000000" pitchFamily="65" charset="-120"/>
                <a:cs typeface="Courier New" panose="02070309020205020404" pitchFamily="49" charset="0"/>
              </a:rPr>
              <a:t>學生</a:t>
            </a:r>
            <a:r>
              <a:rPr lang="en-US" altLang="zh-TW" sz="1600" dirty="0">
                <a:effectLst/>
                <a:ea typeface="標楷體" panose="03000509000000000000" pitchFamily="65" charset="-120"/>
                <a:cs typeface="標楷體" panose="03000509000000000000" pitchFamily="65" charset="-120"/>
              </a:rPr>
              <a:t>')),</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CONSTRAINT </a:t>
            </a:r>
            <a:r>
              <a:rPr lang="en-US" altLang="zh-TW" sz="1600" dirty="0" err="1">
                <a:effectLst/>
                <a:ea typeface="標楷體" panose="03000509000000000000" pitchFamily="65" charset="-120"/>
                <a:cs typeface="標楷體" panose="03000509000000000000" pitchFamily="65" charset="-120"/>
              </a:rPr>
              <a:t>chk_mPhone</a:t>
            </a:r>
            <a:r>
              <a:rPr lang="en-US" altLang="zh-TW" sz="1600" dirty="0">
                <a:effectLst/>
                <a:ea typeface="標楷體" panose="03000509000000000000" pitchFamily="65" charset="-120"/>
                <a:cs typeface="標楷體" panose="03000509000000000000" pitchFamily="65" charset="-120"/>
              </a:rPr>
              <a:t> CHECK (</a:t>
            </a:r>
            <a:r>
              <a:rPr lang="en-US" altLang="zh-TW" sz="1600" dirty="0" err="1">
                <a:effectLst/>
                <a:ea typeface="標楷體" panose="03000509000000000000" pitchFamily="65" charset="-120"/>
                <a:cs typeface="標楷體" panose="03000509000000000000" pitchFamily="65" charset="-120"/>
              </a:rPr>
              <a:t>mPhone</a:t>
            </a:r>
            <a:r>
              <a:rPr lang="en-US" altLang="zh-TW" sz="1600" dirty="0">
                <a:effectLst/>
                <a:ea typeface="標楷體" panose="03000509000000000000" pitchFamily="65" charset="-120"/>
                <a:cs typeface="標楷體" panose="03000509000000000000" pitchFamily="65" charset="-120"/>
              </a:rPr>
              <a:t> IS NULL OR </a:t>
            </a:r>
            <a:r>
              <a:rPr lang="en-US" altLang="zh-TW" sz="1600" dirty="0" err="1">
                <a:effectLst/>
                <a:ea typeface="標楷體" panose="03000509000000000000" pitchFamily="65" charset="-120"/>
                <a:cs typeface="標楷體" panose="03000509000000000000" pitchFamily="65" charset="-120"/>
              </a:rPr>
              <a:t>mPhone</a:t>
            </a:r>
            <a:r>
              <a:rPr lang="en-US" altLang="zh-TW" sz="1600" dirty="0">
                <a:effectLst/>
                <a:ea typeface="標楷體" panose="03000509000000000000" pitchFamily="65" charset="-120"/>
                <a:cs typeface="標楷體" panose="03000509000000000000" pitchFamily="65" charset="-120"/>
              </a:rPr>
              <a:t> REGEXP '^09[0-9]{8}$')</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ENGINE=</a:t>
            </a:r>
            <a:r>
              <a:rPr lang="en-US" altLang="zh-TW" sz="1600" dirty="0" err="1">
                <a:effectLst/>
                <a:ea typeface="標楷體" panose="03000509000000000000" pitchFamily="65" charset="-120"/>
                <a:cs typeface="標楷體" panose="03000509000000000000" pitchFamily="65" charset="-120"/>
              </a:rPr>
              <a:t>InnoDB</a:t>
            </a:r>
            <a:r>
              <a:rPr lang="en-US" altLang="zh-TW" sz="1600" dirty="0">
                <a:effectLst/>
                <a:ea typeface="標楷體" panose="03000509000000000000" pitchFamily="65" charset="-120"/>
                <a:cs typeface="標楷體" panose="03000509000000000000" pitchFamily="65" charset="-120"/>
              </a:rPr>
              <a:t> DEFAULT CHARSET=utf8mb4;</a:t>
            </a:r>
            <a:endParaRPr lang="zh-TW"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a:t>
            </a:r>
            <a:endParaRPr lang="zh-TW" altLang="zh-TW" sz="1600" dirty="0">
              <a:effectLst/>
              <a:ea typeface="標楷體" panose="03000509000000000000" pitchFamily="65" charset="-120"/>
              <a:cs typeface="標楷體" panose="03000509000000000000" pitchFamily="65" charset="-120"/>
            </a:endParaRPr>
          </a:p>
        </p:txBody>
      </p:sp>
    </p:spTree>
    <p:extLst>
      <p:ext uri="{BB962C8B-B14F-4D97-AF65-F5344CB8AC3E}">
        <p14:creationId xmlns:p14="http://schemas.microsoft.com/office/powerpoint/2010/main" val="22414075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Freeform: Shape 12">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1" name="Isosceles Triangle 20">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Isosceles Triangle 22">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表格 3">
            <a:extLst>
              <a:ext uri="{FF2B5EF4-FFF2-40B4-BE49-F238E27FC236}">
                <a16:creationId xmlns:a16="http://schemas.microsoft.com/office/drawing/2014/main" id="{D573942E-F65A-4E41-1147-1506AA3616B3}"/>
              </a:ext>
            </a:extLst>
          </p:cNvPr>
          <p:cNvGraphicFramePr>
            <a:graphicFrameLocks noGrp="1"/>
          </p:cNvGraphicFramePr>
          <p:nvPr>
            <p:extLst>
              <p:ext uri="{D42A27DB-BD31-4B8C-83A1-F6EECF244321}">
                <p14:modId xmlns:p14="http://schemas.microsoft.com/office/powerpoint/2010/main" val="174978510"/>
              </p:ext>
            </p:extLst>
          </p:nvPr>
        </p:nvGraphicFramePr>
        <p:xfrm>
          <a:off x="643464" y="1481726"/>
          <a:ext cx="10905071" cy="4619062"/>
        </p:xfrm>
        <a:graphic>
          <a:graphicData uri="http://schemas.openxmlformats.org/drawingml/2006/table">
            <a:tbl>
              <a:tblPr firstRow="1" firstCol="1" bandRow="1">
                <a:tableStyleId>{5C22544A-7EE6-4342-B048-85BDC9FD1C3A}</a:tableStyleId>
              </a:tblPr>
              <a:tblGrid>
                <a:gridCol w="753362">
                  <a:extLst>
                    <a:ext uri="{9D8B030D-6E8A-4147-A177-3AD203B41FA5}">
                      <a16:colId xmlns:a16="http://schemas.microsoft.com/office/drawing/2014/main" val="3973718663"/>
                    </a:ext>
                  </a:extLst>
                </a:gridCol>
                <a:gridCol w="1536079">
                  <a:extLst>
                    <a:ext uri="{9D8B030D-6E8A-4147-A177-3AD203B41FA5}">
                      <a16:colId xmlns:a16="http://schemas.microsoft.com/office/drawing/2014/main" val="4275360382"/>
                    </a:ext>
                  </a:extLst>
                </a:gridCol>
                <a:gridCol w="1214055">
                  <a:extLst>
                    <a:ext uri="{9D8B030D-6E8A-4147-A177-3AD203B41FA5}">
                      <a16:colId xmlns:a16="http://schemas.microsoft.com/office/drawing/2014/main" val="2898808935"/>
                    </a:ext>
                  </a:extLst>
                </a:gridCol>
                <a:gridCol w="2791026">
                  <a:extLst>
                    <a:ext uri="{9D8B030D-6E8A-4147-A177-3AD203B41FA5}">
                      <a16:colId xmlns:a16="http://schemas.microsoft.com/office/drawing/2014/main" val="3017347893"/>
                    </a:ext>
                  </a:extLst>
                </a:gridCol>
                <a:gridCol w="1594720">
                  <a:extLst>
                    <a:ext uri="{9D8B030D-6E8A-4147-A177-3AD203B41FA5}">
                      <a16:colId xmlns:a16="http://schemas.microsoft.com/office/drawing/2014/main" val="3643731036"/>
                    </a:ext>
                  </a:extLst>
                </a:gridCol>
                <a:gridCol w="1214055">
                  <a:extLst>
                    <a:ext uri="{9D8B030D-6E8A-4147-A177-3AD203B41FA5}">
                      <a16:colId xmlns:a16="http://schemas.microsoft.com/office/drawing/2014/main" val="4257618707"/>
                    </a:ext>
                  </a:extLst>
                </a:gridCol>
                <a:gridCol w="1801774">
                  <a:extLst>
                    <a:ext uri="{9D8B030D-6E8A-4147-A177-3AD203B41FA5}">
                      <a16:colId xmlns:a16="http://schemas.microsoft.com/office/drawing/2014/main" val="3665625958"/>
                    </a:ext>
                  </a:extLst>
                </a:gridCol>
              </a:tblGrid>
              <a:tr h="391232">
                <a:tc>
                  <a:txBody>
                    <a:bodyPr/>
                    <a:lstStyle/>
                    <a:p>
                      <a:pPr algn="ctr">
                        <a:buNone/>
                      </a:pPr>
                      <a:r>
                        <a:rPr lang="en-US" sz="2100">
                          <a:effectLst/>
                        </a:rPr>
                        <a:t>mId</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100">
                          <a:effectLst/>
                        </a:rPr>
                        <a:t>mAccount</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100">
                          <a:effectLst/>
                        </a:rPr>
                        <a:t>mName</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100">
                          <a:effectLst/>
                        </a:rPr>
                        <a:t>mEmail</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100">
                          <a:effectLst/>
                        </a:rPr>
                        <a:t>mPhone</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100">
                          <a:effectLst/>
                        </a:rPr>
                        <a:t>mRole</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100">
                          <a:effectLst/>
                        </a:rPr>
                        <a:t>mCreateDate</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extLst>
                  <a:ext uri="{0D108BD9-81ED-4DB2-BD59-A6C34878D82A}">
                    <a16:rowId xmlns:a16="http://schemas.microsoft.com/office/drawing/2014/main" val="2974417554"/>
                  </a:ext>
                </a:extLst>
              </a:tr>
              <a:tr h="422783">
                <a:tc>
                  <a:txBody>
                    <a:bodyPr/>
                    <a:lstStyle/>
                    <a:p>
                      <a:pPr algn="ctr">
                        <a:buNone/>
                      </a:pPr>
                      <a:r>
                        <a:rPr lang="en-US" sz="2300">
                          <a:effectLst/>
                        </a:rPr>
                        <a:t>1</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admin001</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王小明</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u="sng">
                          <a:effectLst/>
                          <a:hlinkClick r:id="rId2"/>
                        </a:rPr>
                        <a:t>admin001@mail.com</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912345678</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管理員</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2026/5/1</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extLst>
                  <a:ext uri="{0D108BD9-81ED-4DB2-BD59-A6C34878D82A}">
                    <a16:rowId xmlns:a16="http://schemas.microsoft.com/office/drawing/2014/main" val="4115041146"/>
                  </a:ext>
                </a:extLst>
              </a:tr>
              <a:tr h="422783">
                <a:tc>
                  <a:txBody>
                    <a:bodyPr/>
                    <a:lstStyle/>
                    <a:p>
                      <a:pPr algn="ctr">
                        <a:buNone/>
                      </a:pPr>
                      <a:r>
                        <a:rPr lang="en-US" sz="2300">
                          <a:effectLst/>
                        </a:rPr>
                        <a:t>2</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teach002</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李佳玲</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u="sng">
                          <a:effectLst/>
                          <a:hlinkClick r:id="rId3"/>
                        </a:rPr>
                        <a:t>teach002@mail.com</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922333444</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教師</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2026/5/2</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extLst>
                  <a:ext uri="{0D108BD9-81ED-4DB2-BD59-A6C34878D82A}">
                    <a16:rowId xmlns:a16="http://schemas.microsoft.com/office/drawing/2014/main" val="1082375847"/>
                  </a:ext>
                </a:extLst>
              </a:tr>
              <a:tr h="422783">
                <a:tc>
                  <a:txBody>
                    <a:bodyPr/>
                    <a:lstStyle/>
                    <a:p>
                      <a:pPr algn="ctr">
                        <a:buNone/>
                      </a:pPr>
                      <a:r>
                        <a:rPr lang="en-US" sz="2300">
                          <a:effectLst/>
                        </a:rPr>
                        <a:t>3</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stud003</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陳冠宇</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u="sng">
                          <a:effectLst/>
                          <a:hlinkClick r:id="rId4"/>
                        </a:rPr>
                        <a:t>stud003@mail.com</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933444555</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學生</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2026/5/2</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extLst>
                  <a:ext uri="{0D108BD9-81ED-4DB2-BD59-A6C34878D82A}">
                    <a16:rowId xmlns:a16="http://schemas.microsoft.com/office/drawing/2014/main" val="2047504514"/>
                  </a:ext>
                </a:extLst>
              </a:tr>
              <a:tr h="422783">
                <a:tc>
                  <a:txBody>
                    <a:bodyPr/>
                    <a:lstStyle/>
                    <a:p>
                      <a:pPr algn="ctr">
                        <a:buNone/>
                      </a:pPr>
                      <a:r>
                        <a:rPr lang="en-US" sz="2300">
                          <a:effectLst/>
                        </a:rPr>
                        <a:t>4</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stud004</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林怡君</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u="sng">
                          <a:effectLst/>
                          <a:hlinkClick r:id="rId5"/>
                        </a:rPr>
                        <a:t>stud004@mail.com</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944555666</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學生</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2026/5/3</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extLst>
                  <a:ext uri="{0D108BD9-81ED-4DB2-BD59-A6C34878D82A}">
                    <a16:rowId xmlns:a16="http://schemas.microsoft.com/office/drawing/2014/main" val="1524692359"/>
                  </a:ext>
                </a:extLst>
              </a:tr>
              <a:tr h="422783">
                <a:tc>
                  <a:txBody>
                    <a:bodyPr/>
                    <a:lstStyle/>
                    <a:p>
                      <a:pPr algn="ctr">
                        <a:buNone/>
                      </a:pPr>
                      <a:r>
                        <a:rPr lang="en-US" sz="2300">
                          <a:effectLst/>
                        </a:rPr>
                        <a:t>5</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teach005</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張志豪</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u="sng">
                          <a:effectLst/>
                          <a:hlinkClick r:id="rId6"/>
                        </a:rPr>
                        <a:t>teach005@mail.com</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955666777</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教師</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2026/5/3</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extLst>
                  <a:ext uri="{0D108BD9-81ED-4DB2-BD59-A6C34878D82A}">
                    <a16:rowId xmlns:a16="http://schemas.microsoft.com/office/drawing/2014/main" val="1377119097"/>
                  </a:ext>
                </a:extLst>
              </a:tr>
              <a:tr h="422783">
                <a:tc>
                  <a:txBody>
                    <a:bodyPr/>
                    <a:lstStyle/>
                    <a:p>
                      <a:pPr algn="ctr">
                        <a:buNone/>
                      </a:pPr>
                      <a:r>
                        <a:rPr lang="en-US" sz="2300">
                          <a:effectLst/>
                        </a:rPr>
                        <a:t>6</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stud006</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吳柏翰</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u="sng">
                          <a:effectLst/>
                        </a:rPr>
                        <a:t>stud006@mail.com</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967112233</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學生</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2026/5/4</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extLst>
                  <a:ext uri="{0D108BD9-81ED-4DB2-BD59-A6C34878D82A}">
                    <a16:rowId xmlns:a16="http://schemas.microsoft.com/office/drawing/2014/main" val="4136510914"/>
                  </a:ext>
                </a:extLst>
              </a:tr>
              <a:tr h="422783">
                <a:tc>
                  <a:txBody>
                    <a:bodyPr/>
                    <a:lstStyle/>
                    <a:p>
                      <a:pPr algn="ctr">
                        <a:buNone/>
                      </a:pPr>
                      <a:r>
                        <a:rPr lang="en-US" sz="2300">
                          <a:effectLst/>
                        </a:rPr>
                        <a:t>7</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teach007</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黃雅婷</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u="sng">
                          <a:effectLst/>
                        </a:rPr>
                        <a:t>teach007@mail.com</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978223344</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教師</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2026/5/4</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extLst>
                  <a:ext uri="{0D108BD9-81ED-4DB2-BD59-A6C34878D82A}">
                    <a16:rowId xmlns:a16="http://schemas.microsoft.com/office/drawing/2014/main" val="1446355982"/>
                  </a:ext>
                </a:extLst>
              </a:tr>
              <a:tr h="422783">
                <a:tc>
                  <a:txBody>
                    <a:bodyPr/>
                    <a:lstStyle/>
                    <a:p>
                      <a:pPr algn="ctr">
                        <a:buNone/>
                      </a:pPr>
                      <a:r>
                        <a:rPr lang="en-US" sz="2300">
                          <a:effectLst/>
                        </a:rPr>
                        <a:t>8</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stud008</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劉冠廷</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u="sng">
                          <a:effectLst/>
                        </a:rPr>
                        <a:t>stud008@mail.com</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981334455</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學生</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2026/5/5</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extLst>
                  <a:ext uri="{0D108BD9-81ED-4DB2-BD59-A6C34878D82A}">
                    <a16:rowId xmlns:a16="http://schemas.microsoft.com/office/drawing/2014/main" val="1177757569"/>
                  </a:ext>
                </a:extLst>
              </a:tr>
              <a:tr h="422783">
                <a:tc>
                  <a:txBody>
                    <a:bodyPr/>
                    <a:lstStyle/>
                    <a:p>
                      <a:pPr algn="ctr">
                        <a:buNone/>
                      </a:pPr>
                      <a:r>
                        <a:rPr lang="en-US" sz="2300">
                          <a:effectLst/>
                        </a:rPr>
                        <a:t>9</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admin009</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陳怡蓁</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u="sng">
                          <a:effectLst/>
                        </a:rPr>
                        <a:t>admin009@mail.com</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992445566</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管理員</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2026/5/5</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extLst>
                  <a:ext uri="{0D108BD9-81ED-4DB2-BD59-A6C34878D82A}">
                    <a16:rowId xmlns:a16="http://schemas.microsoft.com/office/drawing/2014/main" val="2949359182"/>
                  </a:ext>
                </a:extLst>
              </a:tr>
              <a:tr h="422783">
                <a:tc>
                  <a:txBody>
                    <a:bodyPr/>
                    <a:lstStyle/>
                    <a:p>
                      <a:pPr algn="ctr">
                        <a:buNone/>
                      </a:pPr>
                      <a:r>
                        <a:rPr lang="en-US" sz="2300">
                          <a:effectLst/>
                        </a:rPr>
                        <a:t>10</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stud010</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許家豪</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u="sng">
                          <a:effectLst/>
                        </a:rPr>
                        <a:t>stud010@mail.com</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a:effectLst/>
                        </a:rPr>
                        <a:t>903556677</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zh-TW" sz="2300">
                          <a:effectLst/>
                        </a:rPr>
                        <a:t>學生</a:t>
                      </a:r>
                      <a:endParaRPr lang="zh-TW" sz="230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tc>
                  <a:txBody>
                    <a:bodyPr/>
                    <a:lstStyle/>
                    <a:p>
                      <a:pPr algn="ctr">
                        <a:buNone/>
                      </a:pPr>
                      <a:r>
                        <a:rPr lang="en-US" sz="2300" dirty="0">
                          <a:effectLst/>
                        </a:rPr>
                        <a:t>2026/5/6</a:t>
                      </a:r>
                      <a:endParaRPr lang="zh-TW" sz="2300" dirty="0">
                        <a:effectLst/>
                        <a:latin typeface="標楷體" panose="03000509000000000000" pitchFamily="65" charset="-120"/>
                        <a:ea typeface="標楷體" panose="03000509000000000000" pitchFamily="65" charset="-120"/>
                        <a:cs typeface="標楷體" panose="03000509000000000000" pitchFamily="65" charset="-120"/>
                      </a:endParaRPr>
                    </a:p>
                  </a:txBody>
                  <a:tcPr marL="32907" marR="32907" marT="0" marB="0" anchor="ctr"/>
                </a:tc>
                <a:extLst>
                  <a:ext uri="{0D108BD9-81ED-4DB2-BD59-A6C34878D82A}">
                    <a16:rowId xmlns:a16="http://schemas.microsoft.com/office/drawing/2014/main" val="3911744004"/>
                  </a:ext>
                </a:extLst>
              </a:tr>
            </a:tbl>
          </a:graphicData>
        </a:graphic>
      </p:graphicFrame>
      <p:sp>
        <p:nvSpPr>
          <p:cNvPr id="6" name="文字方塊 5">
            <a:extLst>
              <a:ext uri="{FF2B5EF4-FFF2-40B4-BE49-F238E27FC236}">
                <a16:creationId xmlns:a16="http://schemas.microsoft.com/office/drawing/2014/main" id="{B02CDEDD-F394-CC50-E768-9480FAE6AEB3}"/>
              </a:ext>
            </a:extLst>
          </p:cNvPr>
          <p:cNvSpPr txBox="1"/>
          <p:nvPr/>
        </p:nvSpPr>
        <p:spPr>
          <a:xfrm>
            <a:off x="3129901" y="767613"/>
            <a:ext cx="6096000" cy="1107996"/>
          </a:xfrm>
          <a:prstGeom prst="rect">
            <a:avLst/>
          </a:prstGeom>
          <a:noFill/>
        </p:spPr>
        <p:txBody>
          <a:bodyPr wrap="square">
            <a:spAutoFit/>
          </a:bodyPr>
          <a:lstStyle/>
          <a:p>
            <a:pPr algn="ctr">
              <a:spcBef>
                <a:spcPts val="800"/>
              </a:spcBef>
              <a:spcAft>
                <a:spcPts val="400"/>
              </a:spcAft>
              <a:buNone/>
            </a:pPr>
            <a:r>
              <a:rPr lang="zh-TW" altLang="zh-TW" sz="2800" b="1" dirty="0">
                <a:solidFill>
                  <a:srgbClr val="1F3A6B"/>
                </a:solidFill>
                <a:effectLst/>
                <a:latin typeface="標楷體" panose="03000509000000000000" pitchFamily="65" charset="-120"/>
                <a:ea typeface="標楷體" panose="03000509000000000000" pitchFamily="65" charset="-120"/>
                <a:cs typeface="標楷體" panose="03000509000000000000" pitchFamily="65" charset="-120"/>
              </a:rPr>
              <a:t>使用者實例</a:t>
            </a:r>
            <a:endParaRPr lang="zh-TW" altLang="zh-TW" sz="2800" dirty="0">
              <a:effectLst/>
              <a:latin typeface="標楷體" panose="03000509000000000000" pitchFamily="65" charset="-120"/>
              <a:ea typeface="標楷體" panose="03000509000000000000" pitchFamily="65" charset="-120"/>
              <a:cs typeface="標楷體" panose="03000509000000000000" pitchFamily="65" charset="-120"/>
            </a:endParaRPr>
          </a:p>
          <a:p>
            <a:pPr algn="ctr">
              <a:spcBef>
                <a:spcPts val="800"/>
              </a:spcBef>
              <a:spcAft>
                <a:spcPts val="400"/>
              </a:spcAft>
              <a:buNone/>
            </a:pPr>
            <a:r>
              <a:rPr lang="en-US" altLang="zh-TW" sz="2800" b="1" dirty="0">
                <a:solidFill>
                  <a:srgbClr val="1F3A6B"/>
                </a:solidFill>
                <a:effectLst/>
                <a:latin typeface="標楷體" panose="03000509000000000000" pitchFamily="65" charset="-120"/>
                <a:ea typeface="標楷體" panose="03000509000000000000" pitchFamily="65" charset="-120"/>
                <a:cs typeface="標楷體" panose="03000509000000000000" pitchFamily="65" charset="-120"/>
              </a:rPr>
              <a:t> </a:t>
            </a:r>
            <a:endParaRPr lang="zh-TW" altLang="zh-TW" sz="2800" dirty="0">
              <a:effectLst/>
              <a:latin typeface="標楷體" panose="03000509000000000000" pitchFamily="65" charset="-120"/>
              <a:ea typeface="標楷體" panose="03000509000000000000" pitchFamily="65" charset="-120"/>
              <a:cs typeface="標楷體" panose="03000509000000000000" pitchFamily="65" charset="-120"/>
            </a:endParaRPr>
          </a:p>
        </p:txBody>
      </p:sp>
    </p:spTree>
    <p:extLst>
      <p:ext uri="{BB962C8B-B14F-4D97-AF65-F5344CB8AC3E}">
        <p14:creationId xmlns:p14="http://schemas.microsoft.com/office/powerpoint/2010/main" val="32265418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759AF-5BB9-979B-0E06-EB306A50C8DD}"/>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F81E1E7A-C186-A50C-4BA2-62010920BE2D}"/>
              </a:ext>
            </a:extLst>
          </p:cNvPr>
          <p:cNvGrpSpPr/>
          <p:nvPr/>
        </p:nvGrpSpPr>
        <p:grpSpPr>
          <a:xfrm>
            <a:off x="-1200150" y="80872"/>
            <a:ext cx="6018893" cy="1200329"/>
            <a:chOff x="368300" y="1442660"/>
            <a:chExt cx="4722578" cy="1200329"/>
          </a:xfrm>
        </p:grpSpPr>
        <p:sp>
          <p:nvSpPr>
            <p:cNvPr id="5" name="矩形 4">
              <a:extLst>
                <a:ext uri="{FF2B5EF4-FFF2-40B4-BE49-F238E27FC236}">
                  <a16:creationId xmlns:a16="http://schemas.microsoft.com/office/drawing/2014/main" id="{78DF7D3E-DBD1-88B0-58EA-7510152E6528}"/>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246CE53C-FD65-EE3C-DD46-CF8111DB3754}"/>
                </a:ext>
              </a:extLst>
            </p:cNvPr>
            <p:cNvSpPr txBox="1"/>
            <p:nvPr/>
          </p:nvSpPr>
          <p:spPr>
            <a:xfrm>
              <a:off x="4354278" y="1442660"/>
              <a:ext cx="736600" cy="1200329"/>
            </a:xfrm>
            <a:prstGeom prst="rect">
              <a:avLst/>
            </a:prstGeom>
            <a:noFill/>
          </p:spPr>
          <p:txBody>
            <a:bodyPr wrap="square">
              <a:spAutoFit/>
            </a:bodyPr>
            <a:lstStyle/>
            <a:p>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3486DFEC-B4A3-2D6E-F538-5FF3D662A4DF}"/>
              </a:ext>
            </a:extLst>
          </p:cNvPr>
          <p:cNvSpPr txBox="1"/>
          <p:nvPr/>
        </p:nvSpPr>
        <p:spPr>
          <a:xfrm>
            <a:off x="246742" y="357870"/>
            <a:ext cx="640914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插入範例資料</a:t>
            </a:r>
            <a:r>
              <a:rPr lang="en-US" altLang="zh-TW" sz="3600" dirty="0">
                <a:solidFill>
                  <a:schemeClr val="bg1"/>
                </a:solidFill>
                <a:latin typeface="標楷體" panose="03000509000000000000" pitchFamily="65" charset="-120"/>
                <a:ea typeface="標楷體" panose="03000509000000000000" pitchFamily="65" charset="-120"/>
              </a:rPr>
              <a:t>SQL</a:t>
            </a:r>
            <a:endParaRPr lang="zh-TW" altLang="en-US" sz="3600" dirty="0">
              <a:solidFill>
                <a:schemeClr val="bg1"/>
              </a:solidFill>
              <a:latin typeface="標楷體" panose="03000509000000000000" pitchFamily="65" charset="-120"/>
              <a:ea typeface="標楷體" panose="03000509000000000000" pitchFamily="65" charset="-120"/>
            </a:endParaRPr>
          </a:p>
        </p:txBody>
      </p:sp>
      <p:sp>
        <p:nvSpPr>
          <p:cNvPr id="3" name="文字方塊 2">
            <a:extLst>
              <a:ext uri="{FF2B5EF4-FFF2-40B4-BE49-F238E27FC236}">
                <a16:creationId xmlns:a16="http://schemas.microsoft.com/office/drawing/2014/main" id="{A74F63FD-DB03-B17F-8A50-EF4D1CD125D0}"/>
              </a:ext>
            </a:extLst>
          </p:cNvPr>
          <p:cNvSpPr txBox="1"/>
          <p:nvPr/>
        </p:nvSpPr>
        <p:spPr>
          <a:xfrm>
            <a:off x="606961" y="1712537"/>
            <a:ext cx="11554691" cy="2031325"/>
          </a:xfrm>
          <a:prstGeom prst="rect">
            <a:avLst/>
          </a:prstGeom>
          <a:noFill/>
        </p:spPr>
        <p:txBody>
          <a:bodyPr wrap="square">
            <a:spAutoFit/>
          </a:bodyPr>
          <a:lstStyle/>
          <a:p>
            <a:pPr marL="228600">
              <a:buNone/>
            </a:pPr>
            <a:r>
              <a:rPr lang="en-US" altLang="zh-TW" sz="1800" dirty="0">
                <a:effectLst/>
                <a:ea typeface="標楷體" panose="03000509000000000000" pitchFamily="65" charset="-120"/>
                <a:cs typeface="標楷體" panose="03000509000000000000" pitchFamily="65" charset="-120"/>
              </a:rPr>
              <a:t>INSERT INTO Member (</a:t>
            </a:r>
            <a:r>
              <a:rPr lang="en-US" altLang="zh-TW" sz="1800" dirty="0" err="1">
                <a:effectLst/>
                <a:ea typeface="標楷體" panose="03000509000000000000" pitchFamily="65" charset="-120"/>
                <a:cs typeface="標楷體" panose="03000509000000000000" pitchFamily="65" charset="-120"/>
              </a:rPr>
              <a:t>mId</a:t>
            </a: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mAccount</a:t>
            </a: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mName</a:t>
            </a: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mEmail</a:t>
            </a: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mPhone</a:t>
            </a: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mRole</a:t>
            </a: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mCreateDate</a:t>
            </a:r>
            <a:r>
              <a:rPr lang="en-US" altLang="zh-TW" sz="1800" dirty="0">
                <a:effectLst/>
                <a:ea typeface="標楷體" panose="03000509000000000000" pitchFamily="65" charset="-120"/>
                <a:cs typeface="標楷體" panose="03000509000000000000" pitchFamily="65" charset="-120"/>
              </a:rPr>
              <a:t>) VALUES</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(1,'admin001','</a:t>
            </a:r>
            <a:r>
              <a:rPr lang="zh-TW" altLang="zh-TW" sz="1800" dirty="0">
                <a:effectLst/>
                <a:ea typeface="標楷體" panose="03000509000000000000" pitchFamily="65" charset="-120"/>
                <a:cs typeface="Courier New" panose="02070309020205020404" pitchFamily="49" charset="0"/>
              </a:rPr>
              <a:t>王小明</a:t>
            </a:r>
            <a:r>
              <a:rPr lang="en-US" altLang="zh-TW" sz="1800" dirty="0">
                <a:effectLst/>
                <a:ea typeface="標楷體" panose="03000509000000000000" pitchFamily="65" charset="-120"/>
                <a:cs typeface="標楷體" panose="03000509000000000000" pitchFamily="65" charset="-120"/>
              </a:rPr>
              <a:t>','admin001@mail.com','0912345678','</a:t>
            </a:r>
            <a:r>
              <a:rPr lang="zh-TW" altLang="zh-TW" sz="1800" dirty="0">
                <a:effectLst/>
                <a:ea typeface="標楷體" panose="03000509000000000000" pitchFamily="65" charset="-120"/>
                <a:cs typeface="Courier New" panose="02070309020205020404" pitchFamily="49" charset="0"/>
              </a:rPr>
              <a:t>管理員</a:t>
            </a:r>
            <a:r>
              <a:rPr lang="en-US" altLang="zh-TW" sz="1800" dirty="0">
                <a:effectLst/>
                <a:ea typeface="標楷體" panose="03000509000000000000" pitchFamily="65" charset="-120"/>
                <a:cs typeface="標楷體" panose="03000509000000000000" pitchFamily="65" charset="-120"/>
              </a:rPr>
              <a:t>','2026-05-01'),</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(2,'teach002','</a:t>
            </a:r>
            <a:r>
              <a:rPr lang="zh-TW" altLang="zh-TW" sz="1800" dirty="0">
                <a:effectLst/>
                <a:ea typeface="標楷體" panose="03000509000000000000" pitchFamily="65" charset="-120"/>
                <a:cs typeface="Courier New" panose="02070309020205020404" pitchFamily="49" charset="0"/>
              </a:rPr>
              <a:t>李佳玲</a:t>
            </a:r>
            <a:r>
              <a:rPr lang="en-US" altLang="zh-TW" sz="1800" dirty="0">
                <a:effectLst/>
                <a:ea typeface="標楷體" panose="03000509000000000000" pitchFamily="65" charset="-120"/>
                <a:cs typeface="標楷體" panose="03000509000000000000" pitchFamily="65" charset="-120"/>
              </a:rPr>
              <a:t>','teach002@mail.com','0922333444','</a:t>
            </a:r>
            <a:r>
              <a:rPr lang="zh-TW" altLang="zh-TW" sz="1800" dirty="0">
                <a:effectLst/>
                <a:ea typeface="標楷體" panose="03000509000000000000" pitchFamily="65" charset="-120"/>
                <a:cs typeface="Courier New" panose="02070309020205020404" pitchFamily="49" charset="0"/>
              </a:rPr>
              <a:t>教師</a:t>
            </a:r>
            <a:r>
              <a:rPr lang="en-US" altLang="zh-TW" sz="1800" dirty="0">
                <a:effectLst/>
                <a:ea typeface="標楷體" panose="03000509000000000000" pitchFamily="65" charset="-120"/>
                <a:cs typeface="標楷體" panose="03000509000000000000" pitchFamily="65" charset="-120"/>
              </a:rPr>
              <a:t>',  '2026-05-02'),</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(3,'stud003', '</a:t>
            </a:r>
            <a:r>
              <a:rPr lang="zh-TW" altLang="zh-TW" sz="1800" dirty="0">
                <a:effectLst/>
                <a:ea typeface="標楷體" panose="03000509000000000000" pitchFamily="65" charset="-120"/>
                <a:cs typeface="Courier New" panose="02070309020205020404" pitchFamily="49" charset="0"/>
              </a:rPr>
              <a:t>陳冠宇</a:t>
            </a:r>
            <a:r>
              <a:rPr lang="en-US" altLang="zh-TW" sz="1800" dirty="0">
                <a:effectLst/>
                <a:ea typeface="標楷體" panose="03000509000000000000" pitchFamily="65" charset="-120"/>
                <a:cs typeface="標楷體" panose="03000509000000000000" pitchFamily="65" charset="-120"/>
              </a:rPr>
              <a:t>','stud003@mail.com', '0933444555','</a:t>
            </a:r>
            <a:r>
              <a:rPr lang="zh-TW" altLang="zh-TW" sz="1800" dirty="0">
                <a:effectLst/>
                <a:ea typeface="標楷體" panose="03000509000000000000" pitchFamily="65" charset="-120"/>
                <a:cs typeface="Courier New" panose="02070309020205020404" pitchFamily="49" charset="0"/>
              </a:rPr>
              <a:t>學生</a:t>
            </a:r>
            <a:r>
              <a:rPr lang="en-US" altLang="zh-TW" sz="1800" dirty="0">
                <a:effectLst/>
                <a:ea typeface="標楷體" panose="03000509000000000000" pitchFamily="65" charset="-120"/>
                <a:cs typeface="標楷體" panose="03000509000000000000" pitchFamily="65" charset="-120"/>
              </a:rPr>
              <a:t>',  '2026-05-02'),</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(4,'stud004', '</a:t>
            </a:r>
            <a:r>
              <a:rPr lang="zh-TW" altLang="zh-TW" sz="1800" dirty="0">
                <a:effectLst/>
                <a:ea typeface="標楷體" panose="03000509000000000000" pitchFamily="65" charset="-120"/>
                <a:cs typeface="Courier New" panose="02070309020205020404" pitchFamily="49" charset="0"/>
              </a:rPr>
              <a:t>林怡君</a:t>
            </a:r>
            <a:r>
              <a:rPr lang="en-US" altLang="zh-TW" sz="1800" dirty="0">
                <a:effectLst/>
                <a:ea typeface="標楷體" panose="03000509000000000000" pitchFamily="65" charset="-120"/>
                <a:cs typeface="標楷體" panose="03000509000000000000" pitchFamily="65" charset="-120"/>
              </a:rPr>
              <a:t>','stud004@mail.com', '0944555666','</a:t>
            </a:r>
            <a:r>
              <a:rPr lang="zh-TW" altLang="zh-TW" sz="1800" dirty="0">
                <a:effectLst/>
                <a:ea typeface="標楷體" panose="03000509000000000000" pitchFamily="65" charset="-120"/>
                <a:cs typeface="Courier New" panose="02070309020205020404" pitchFamily="49" charset="0"/>
              </a:rPr>
              <a:t>學生</a:t>
            </a:r>
            <a:r>
              <a:rPr lang="en-US" altLang="zh-TW" sz="1800" dirty="0">
                <a:effectLst/>
                <a:ea typeface="標楷體" panose="03000509000000000000" pitchFamily="65" charset="-120"/>
                <a:cs typeface="標楷體" panose="03000509000000000000" pitchFamily="65" charset="-120"/>
              </a:rPr>
              <a:t>',  '2026-05-03'),</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(5,'teach005','</a:t>
            </a:r>
            <a:r>
              <a:rPr lang="zh-TW" altLang="zh-TW" sz="1800" dirty="0">
                <a:effectLst/>
                <a:ea typeface="標楷體" panose="03000509000000000000" pitchFamily="65" charset="-120"/>
                <a:cs typeface="Courier New" panose="02070309020205020404" pitchFamily="49" charset="0"/>
              </a:rPr>
              <a:t>張志豪</a:t>
            </a:r>
            <a:r>
              <a:rPr lang="en-US" altLang="zh-TW" sz="1800" dirty="0">
                <a:effectLst/>
                <a:ea typeface="標楷體" panose="03000509000000000000" pitchFamily="65" charset="-120"/>
                <a:cs typeface="標楷體" panose="03000509000000000000" pitchFamily="65" charset="-120"/>
              </a:rPr>
              <a:t>','teach005@mail.com','0955666777','</a:t>
            </a:r>
            <a:r>
              <a:rPr lang="zh-TW" altLang="zh-TW" sz="1800" dirty="0">
                <a:effectLst/>
                <a:ea typeface="標楷體" panose="03000509000000000000" pitchFamily="65" charset="-120"/>
                <a:cs typeface="Courier New" panose="02070309020205020404" pitchFamily="49" charset="0"/>
              </a:rPr>
              <a:t>教師</a:t>
            </a:r>
            <a:r>
              <a:rPr lang="en-US" altLang="zh-TW" sz="1800" dirty="0">
                <a:effectLst/>
                <a:ea typeface="標楷體" panose="03000509000000000000" pitchFamily="65" charset="-120"/>
                <a:cs typeface="標楷體" panose="03000509000000000000" pitchFamily="65" charset="-120"/>
              </a:rPr>
              <a:t>',  '2026-05-03');</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a:t>
            </a:r>
            <a:endParaRPr lang="zh-TW" altLang="zh-TW" sz="3200" dirty="0">
              <a:effectLst/>
              <a:ea typeface="標楷體" panose="03000509000000000000" pitchFamily="65" charset="-120"/>
              <a:cs typeface="標楷體" panose="03000509000000000000" pitchFamily="65" charset="-120"/>
            </a:endParaRPr>
          </a:p>
        </p:txBody>
      </p:sp>
      <p:pic>
        <p:nvPicPr>
          <p:cNvPr id="9" name="圖片 8">
            <a:extLst>
              <a:ext uri="{FF2B5EF4-FFF2-40B4-BE49-F238E27FC236}">
                <a16:creationId xmlns:a16="http://schemas.microsoft.com/office/drawing/2014/main" id="{888EAD2C-89A0-FCEC-A390-E8A8E21104B7}"/>
              </a:ext>
            </a:extLst>
          </p:cNvPr>
          <p:cNvPicPr>
            <a:picLocks noChangeAspect="1"/>
          </p:cNvPicPr>
          <p:nvPr/>
        </p:nvPicPr>
        <p:blipFill>
          <a:blip r:embed="rId2"/>
          <a:stretch>
            <a:fillRect/>
          </a:stretch>
        </p:blipFill>
        <p:spPr>
          <a:xfrm>
            <a:off x="1001486" y="3743862"/>
            <a:ext cx="9579428" cy="2483878"/>
          </a:xfrm>
          <a:prstGeom prst="rect">
            <a:avLst/>
          </a:prstGeom>
        </p:spPr>
      </p:pic>
    </p:spTree>
    <p:extLst>
      <p:ext uri="{BB962C8B-B14F-4D97-AF65-F5344CB8AC3E}">
        <p14:creationId xmlns:p14="http://schemas.microsoft.com/office/powerpoint/2010/main" val="23108300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829DE-C896-23B3-511A-C7D3C76FFE69}"/>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9FB6E79F-066D-FBE0-D0A2-09B20C993B8F}"/>
              </a:ext>
            </a:extLst>
          </p:cNvPr>
          <p:cNvGrpSpPr/>
          <p:nvPr/>
        </p:nvGrpSpPr>
        <p:grpSpPr>
          <a:xfrm>
            <a:off x="-1200151" y="80872"/>
            <a:ext cx="9226551" cy="1200329"/>
            <a:chOff x="368300" y="1442660"/>
            <a:chExt cx="4722578" cy="1200329"/>
          </a:xfrm>
        </p:grpSpPr>
        <p:sp>
          <p:nvSpPr>
            <p:cNvPr id="5" name="矩形 4">
              <a:extLst>
                <a:ext uri="{FF2B5EF4-FFF2-40B4-BE49-F238E27FC236}">
                  <a16:creationId xmlns:a16="http://schemas.microsoft.com/office/drawing/2014/main" id="{AE49E15F-EA26-0D5F-E84D-C4CC6B8FCA0C}"/>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919FD7CE-1B81-A198-9365-F3033FE2933D}"/>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7</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3AC6887D-CC46-FEAB-5035-FB31DE9E61D4}"/>
              </a:ext>
            </a:extLst>
          </p:cNvPr>
          <p:cNvSpPr txBox="1"/>
          <p:nvPr/>
        </p:nvSpPr>
        <p:spPr>
          <a:xfrm>
            <a:off x="49716" y="341381"/>
            <a:ext cx="640914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資料表</a:t>
            </a:r>
            <a:r>
              <a:rPr lang="en-US" altLang="zh-TW" sz="3600" dirty="0">
                <a:solidFill>
                  <a:schemeClr val="bg1"/>
                </a:solidFill>
                <a:latin typeface="標楷體" panose="03000509000000000000" pitchFamily="65" charset="-120"/>
                <a:ea typeface="標楷體" panose="03000509000000000000" pitchFamily="65" charset="-120"/>
              </a:rPr>
              <a:t>SQL</a:t>
            </a:r>
            <a:r>
              <a:rPr lang="zh-TW" altLang="en-US" sz="3600" dirty="0">
                <a:solidFill>
                  <a:schemeClr val="bg1"/>
                </a:solidFill>
                <a:latin typeface="標楷體" panose="03000509000000000000" pitchFamily="65" charset="-120"/>
                <a:ea typeface="標楷體" panose="03000509000000000000" pitchFamily="65" charset="-120"/>
              </a:rPr>
              <a:t>：</a:t>
            </a:r>
            <a:r>
              <a:rPr lang="en-US" altLang="zh-TW" sz="3600" dirty="0">
                <a:solidFill>
                  <a:schemeClr val="bg1"/>
                </a:solidFill>
                <a:latin typeface="標楷體" panose="03000509000000000000" pitchFamily="65" charset="-120"/>
                <a:ea typeface="標楷體" panose="03000509000000000000" pitchFamily="65" charset="-120"/>
              </a:rPr>
              <a:t>Equipment </a:t>
            </a:r>
            <a:r>
              <a:rPr lang="zh-TW" altLang="en-US" sz="3600" dirty="0">
                <a:solidFill>
                  <a:schemeClr val="bg1"/>
                </a:solidFill>
                <a:latin typeface="標楷體" panose="03000509000000000000" pitchFamily="65" charset="-120"/>
                <a:ea typeface="標楷體" panose="03000509000000000000" pitchFamily="65" charset="-120"/>
              </a:rPr>
              <a:t>設備</a:t>
            </a:r>
          </a:p>
        </p:txBody>
      </p:sp>
      <p:sp>
        <p:nvSpPr>
          <p:cNvPr id="3" name="文字方塊 2">
            <a:extLst>
              <a:ext uri="{FF2B5EF4-FFF2-40B4-BE49-F238E27FC236}">
                <a16:creationId xmlns:a16="http://schemas.microsoft.com/office/drawing/2014/main" id="{5B238AF2-94AA-0842-0D6D-843FC4027194}"/>
              </a:ext>
            </a:extLst>
          </p:cNvPr>
          <p:cNvSpPr txBox="1"/>
          <p:nvPr/>
        </p:nvSpPr>
        <p:spPr>
          <a:xfrm>
            <a:off x="148580" y="2038581"/>
            <a:ext cx="6696362" cy="3293209"/>
          </a:xfrm>
          <a:prstGeom prst="rect">
            <a:avLst/>
          </a:prstGeom>
          <a:noFill/>
        </p:spPr>
        <p:txBody>
          <a:bodyPr wrap="square">
            <a:spAutoFit/>
          </a:bodyPr>
          <a:lstStyle/>
          <a:p>
            <a:r>
              <a:rPr lang="zh-TW" altLang="en-US" sz="1600" dirty="0"/>
              <a:t>CREATE TABLE Equipment (</a:t>
            </a:r>
          </a:p>
          <a:p>
            <a:r>
              <a:rPr lang="zh-TW" altLang="en-US" sz="1600" dirty="0"/>
              <a:t>    eId           INT           NOT NULL AUTO_INCREMENT,</a:t>
            </a:r>
          </a:p>
          <a:p>
            <a:r>
              <a:rPr lang="zh-TW" altLang="en-US" sz="1600" dirty="0"/>
              <a:t>    ePropertyNo   VARCHAR(20)   NOT NULL,</a:t>
            </a:r>
          </a:p>
          <a:p>
            <a:r>
              <a:rPr lang="zh-TW" altLang="en-US" sz="1600" dirty="0"/>
              <a:t>    eName         VARCHAR(40)   NOT NULL,</a:t>
            </a:r>
          </a:p>
          <a:p>
            <a:r>
              <a:rPr lang="zh-TW" altLang="en-US" sz="1600" dirty="0"/>
              <a:t>    cId           INT           NOT NULL,</a:t>
            </a:r>
          </a:p>
          <a:p>
            <a:r>
              <a:rPr lang="zh-TW" altLang="en-US" sz="1600" dirty="0"/>
              <a:t>    eStatus       VARCHAR(6)    NOT NULL DEFAULT '可用',</a:t>
            </a:r>
          </a:p>
          <a:p>
            <a:r>
              <a:rPr lang="zh-TW" altLang="en-US" sz="1600" dirty="0"/>
              <a:t>    eLocation     VARCHAR(64)   NOT NULL,</a:t>
            </a:r>
          </a:p>
          <a:p>
            <a:r>
              <a:rPr lang="zh-TW" altLang="en-US" sz="1600" dirty="0"/>
              <a:t>    ePurchaseDate DATE          NOT NULL,</a:t>
            </a:r>
          </a:p>
          <a:p>
            <a:r>
              <a:rPr lang="zh-TW" altLang="en-US" sz="1600" dirty="0"/>
              <a:t>    eWarrantyDate DATE          NULL,</a:t>
            </a:r>
          </a:p>
          <a:p>
            <a:r>
              <a:rPr lang="zh-TW" altLang="en-US" sz="1600" dirty="0"/>
              <a:t>    eNote         VARCHAR(256)  NULL,</a:t>
            </a:r>
          </a:p>
          <a:p>
            <a:endParaRPr lang="zh-TW" altLang="en-US" sz="1600" dirty="0"/>
          </a:p>
          <a:p>
            <a:r>
              <a:rPr lang="zh-TW" altLang="en-US" sz="1600" dirty="0"/>
              <a:t>    PRIMARY KEY (eId),</a:t>
            </a:r>
          </a:p>
          <a:p>
            <a:r>
              <a:rPr lang="zh-TW" altLang="en-US" sz="1600" dirty="0"/>
              <a:t>    UNIQUE KEY uq_ePropertyNo (ePropertyNo),</a:t>
            </a:r>
          </a:p>
        </p:txBody>
      </p:sp>
      <p:sp>
        <p:nvSpPr>
          <p:cNvPr id="9" name="文字方塊 8">
            <a:extLst>
              <a:ext uri="{FF2B5EF4-FFF2-40B4-BE49-F238E27FC236}">
                <a16:creationId xmlns:a16="http://schemas.microsoft.com/office/drawing/2014/main" id="{6219C915-1211-66BF-91C8-971856783FC0}"/>
              </a:ext>
            </a:extLst>
          </p:cNvPr>
          <p:cNvSpPr txBox="1"/>
          <p:nvPr/>
        </p:nvSpPr>
        <p:spPr>
          <a:xfrm>
            <a:off x="5495638" y="2063635"/>
            <a:ext cx="6696362" cy="3046988"/>
          </a:xfrm>
          <a:prstGeom prst="rect">
            <a:avLst/>
          </a:prstGeom>
          <a:noFill/>
        </p:spPr>
        <p:txBody>
          <a:bodyPr wrap="square">
            <a:spAutoFit/>
          </a:bodyPr>
          <a:lstStyle/>
          <a:p>
            <a:endParaRPr lang="zh-TW" altLang="en-US" sz="1600" dirty="0"/>
          </a:p>
          <a:p>
            <a:r>
              <a:rPr lang="zh-TW" altLang="en-US" sz="1600" dirty="0"/>
              <a:t>    CONSTRAINT fk_equipment_category</a:t>
            </a:r>
          </a:p>
          <a:p>
            <a:r>
              <a:rPr lang="zh-TW" altLang="en-US" sz="1600" dirty="0"/>
              <a:t>        FOREIGN KEY (cId) REFERENCES Category(cId)</a:t>
            </a:r>
          </a:p>
          <a:p>
            <a:r>
              <a:rPr lang="zh-TW" altLang="en-US" sz="1600" dirty="0"/>
              <a:t>        ON UPDATE RESTRICT ON DELETE RESTRICT,</a:t>
            </a:r>
          </a:p>
          <a:p>
            <a:endParaRPr lang="zh-TW" altLang="en-US" sz="1600" dirty="0"/>
          </a:p>
          <a:p>
            <a:r>
              <a:rPr lang="zh-TW" altLang="en-US" sz="1600" dirty="0"/>
              <a:t>    CONSTRAINT chk_ePropertyNo</a:t>
            </a:r>
          </a:p>
          <a:p>
            <a:r>
              <a:rPr lang="zh-TW" altLang="en-US" sz="1600" dirty="0"/>
              <a:t>        CHECK (ePropertyNo LIKE 'EQ%'),</a:t>
            </a:r>
          </a:p>
          <a:p>
            <a:r>
              <a:rPr lang="zh-TW" altLang="en-US" sz="1600" dirty="0"/>
              <a:t>    CONSTRAINT chk_eStatus</a:t>
            </a:r>
          </a:p>
          <a:p>
            <a:r>
              <a:rPr lang="zh-TW" altLang="en-US" sz="1600" dirty="0"/>
              <a:t>        CHECK (eStatus IN ('可用', '借出中', '維修中', '報廢')),</a:t>
            </a:r>
          </a:p>
          <a:p>
            <a:r>
              <a:rPr lang="zh-TW" altLang="en-US" sz="1600" dirty="0"/>
              <a:t>    CONSTRAINT chk_eWarrantyDate</a:t>
            </a:r>
          </a:p>
          <a:p>
            <a:r>
              <a:rPr lang="zh-TW" altLang="en-US" sz="1600" dirty="0"/>
              <a:t>        CHECK (eWarrantyDate IS NULL OR eWarrantyDate &gt;= ePurchaseDate)</a:t>
            </a:r>
          </a:p>
          <a:p>
            <a:r>
              <a:rPr lang="zh-TW" altLang="en-US" sz="1600" dirty="0"/>
              <a:t>) ENGINE=InnoDB DEFAULT CHARSET=utf8mb4;</a:t>
            </a:r>
          </a:p>
        </p:txBody>
      </p:sp>
      <p:cxnSp>
        <p:nvCxnSpPr>
          <p:cNvPr id="12" name="直線接點 11">
            <a:extLst>
              <a:ext uri="{FF2B5EF4-FFF2-40B4-BE49-F238E27FC236}">
                <a16:creationId xmlns:a16="http://schemas.microsoft.com/office/drawing/2014/main" id="{C04C49A6-7245-74DF-B894-6E5A2491C2C5}"/>
              </a:ext>
            </a:extLst>
          </p:cNvPr>
          <p:cNvCxnSpPr/>
          <p:nvPr/>
        </p:nvCxnSpPr>
        <p:spPr>
          <a:xfrm>
            <a:off x="5403273" y="2063635"/>
            <a:ext cx="0" cy="382916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943982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6FF76B9-219D-4469-AF87-0236D2903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3" name="Group 12">
            <a:extLst>
              <a:ext uri="{FF2B5EF4-FFF2-40B4-BE49-F238E27FC236}">
                <a16:creationId xmlns:a16="http://schemas.microsoft.com/office/drawing/2014/main" id="{DB88BD78-87E1-424D-B479-C37D8E41B12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0964637" y="2358"/>
            <a:ext cx="1876653" cy="1766008"/>
            <a:chOff x="-648769" y="2358"/>
            <a:chExt cx="1876653" cy="1766008"/>
          </a:xfrm>
        </p:grpSpPr>
        <p:sp>
          <p:nvSpPr>
            <p:cNvPr id="14" name="Freeform: Shape 13">
              <a:extLst>
                <a:ext uri="{FF2B5EF4-FFF2-40B4-BE49-F238E27FC236}">
                  <a16:creationId xmlns:a16="http://schemas.microsoft.com/office/drawing/2014/main" id="{C05EB894-9410-4B20-95E4-7A25101AB8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415188" y="-231223"/>
              <a:ext cx="1409491" cy="1876653"/>
            </a:xfrm>
            <a:custGeom>
              <a:avLst/>
              <a:gdLst>
                <a:gd name="connsiteX0" fmla="*/ 0 w 1409491"/>
                <a:gd name="connsiteY0" fmla="*/ 643075 h 1876653"/>
                <a:gd name="connsiteX1" fmla="*/ 643075 w 1409491"/>
                <a:gd name="connsiteY1" fmla="*/ 0 h 1876653"/>
                <a:gd name="connsiteX2" fmla="*/ 1409491 w 1409491"/>
                <a:gd name="connsiteY2" fmla="*/ 0 h 1876653"/>
                <a:gd name="connsiteX3" fmla="*/ 1409491 w 1409491"/>
                <a:gd name="connsiteY3" fmla="*/ 1876653 h 1876653"/>
                <a:gd name="connsiteX4" fmla="*/ 1233578 w 1409491"/>
                <a:gd name="connsiteY4" fmla="*/ 1876653 h 18766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491" h="1876653">
                  <a:moveTo>
                    <a:pt x="0" y="643075"/>
                  </a:moveTo>
                  <a:lnTo>
                    <a:pt x="643075" y="0"/>
                  </a:lnTo>
                  <a:lnTo>
                    <a:pt x="1409491" y="0"/>
                  </a:lnTo>
                  <a:lnTo>
                    <a:pt x="1409491" y="1876653"/>
                  </a:lnTo>
                  <a:lnTo>
                    <a:pt x="1233578" y="1876653"/>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66E38B6-B050-4340-8E8F-3A971DADC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2700000">
              <a:off x="301285" y="128278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37196" y="6033666"/>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Isosceles Triangle 18">
            <a:extLst>
              <a:ext uri="{FF2B5EF4-FFF2-40B4-BE49-F238E27FC236}">
                <a16:creationId xmlns:a16="http://schemas.microsoft.com/office/drawing/2014/main" id="{633C5E46-DAC5-4661-9C87-22B08E2A51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43436" y="5721108"/>
            <a:ext cx="2261965" cy="1136891"/>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表格 3">
            <a:extLst>
              <a:ext uri="{FF2B5EF4-FFF2-40B4-BE49-F238E27FC236}">
                <a16:creationId xmlns:a16="http://schemas.microsoft.com/office/drawing/2014/main" id="{550398C0-F730-3E13-97E1-EC2F8632E568}"/>
              </a:ext>
            </a:extLst>
          </p:cNvPr>
          <p:cNvGraphicFramePr>
            <a:graphicFrameLocks noGrp="1"/>
          </p:cNvGraphicFramePr>
          <p:nvPr>
            <p:extLst>
              <p:ext uri="{D42A27DB-BD31-4B8C-83A1-F6EECF244321}">
                <p14:modId xmlns:p14="http://schemas.microsoft.com/office/powerpoint/2010/main" val="3758048193"/>
              </p:ext>
            </p:extLst>
          </p:nvPr>
        </p:nvGraphicFramePr>
        <p:xfrm>
          <a:off x="643463" y="1018574"/>
          <a:ext cx="10905071" cy="5363071"/>
        </p:xfrm>
        <a:graphic>
          <a:graphicData uri="http://schemas.openxmlformats.org/drawingml/2006/table">
            <a:tbl>
              <a:tblPr firstRow="1" firstCol="1" bandRow="1"/>
              <a:tblGrid>
                <a:gridCol w="514381">
                  <a:extLst>
                    <a:ext uri="{9D8B030D-6E8A-4147-A177-3AD203B41FA5}">
                      <a16:colId xmlns:a16="http://schemas.microsoft.com/office/drawing/2014/main" val="1879514495"/>
                    </a:ext>
                  </a:extLst>
                </a:gridCol>
                <a:gridCol w="1486442">
                  <a:extLst>
                    <a:ext uri="{9D8B030D-6E8A-4147-A177-3AD203B41FA5}">
                      <a16:colId xmlns:a16="http://schemas.microsoft.com/office/drawing/2014/main" val="1116635405"/>
                    </a:ext>
                  </a:extLst>
                </a:gridCol>
                <a:gridCol w="1607949">
                  <a:extLst>
                    <a:ext uri="{9D8B030D-6E8A-4147-A177-3AD203B41FA5}">
                      <a16:colId xmlns:a16="http://schemas.microsoft.com/office/drawing/2014/main" val="3865019488"/>
                    </a:ext>
                  </a:extLst>
                </a:gridCol>
                <a:gridCol w="500882">
                  <a:extLst>
                    <a:ext uri="{9D8B030D-6E8A-4147-A177-3AD203B41FA5}">
                      <a16:colId xmlns:a16="http://schemas.microsoft.com/office/drawing/2014/main" val="4162282757"/>
                    </a:ext>
                  </a:extLst>
                </a:gridCol>
                <a:gridCol w="937407">
                  <a:extLst>
                    <a:ext uri="{9D8B030D-6E8A-4147-A177-3AD203B41FA5}">
                      <a16:colId xmlns:a16="http://schemas.microsoft.com/office/drawing/2014/main" val="2670693846"/>
                    </a:ext>
                  </a:extLst>
                </a:gridCol>
                <a:gridCol w="1169172">
                  <a:extLst>
                    <a:ext uri="{9D8B030D-6E8A-4147-A177-3AD203B41FA5}">
                      <a16:colId xmlns:a16="http://schemas.microsoft.com/office/drawing/2014/main" val="74492075"/>
                    </a:ext>
                  </a:extLst>
                </a:gridCol>
                <a:gridCol w="1682203">
                  <a:extLst>
                    <a:ext uri="{9D8B030D-6E8A-4147-A177-3AD203B41FA5}">
                      <a16:colId xmlns:a16="http://schemas.microsoft.com/office/drawing/2014/main" val="1581734957"/>
                    </a:ext>
                  </a:extLst>
                </a:gridCol>
                <a:gridCol w="1718205">
                  <a:extLst>
                    <a:ext uri="{9D8B030D-6E8A-4147-A177-3AD203B41FA5}">
                      <a16:colId xmlns:a16="http://schemas.microsoft.com/office/drawing/2014/main" val="4010113443"/>
                    </a:ext>
                  </a:extLst>
                </a:gridCol>
                <a:gridCol w="1288430">
                  <a:extLst>
                    <a:ext uri="{9D8B030D-6E8A-4147-A177-3AD203B41FA5}">
                      <a16:colId xmlns:a16="http://schemas.microsoft.com/office/drawing/2014/main" val="3734163041"/>
                    </a:ext>
                  </a:extLst>
                </a:gridCol>
              </a:tblGrid>
              <a:tr h="302959">
                <a:tc>
                  <a:txBody>
                    <a:bodyPr/>
                    <a:lstStyle/>
                    <a:p>
                      <a:pPr algn="ctr" fontAlgn="ctr">
                        <a:buNone/>
                      </a:pPr>
                      <a:r>
                        <a:rPr lang="en-US" sz="1600" b="1" i="0" u="none" strike="noStrike">
                          <a:solidFill>
                            <a:srgbClr val="FFFFFF"/>
                          </a:solidFill>
                          <a:effectLst/>
                          <a:latin typeface="標楷體" panose="03000509000000000000"/>
                          <a:ea typeface="標楷體" panose="03000509000000000000"/>
                          <a:cs typeface="新細明體" panose="02020500000000000000" pitchFamily="18" charset="-120"/>
                        </a:rPr>
                        <a:t>eId</a:t>
                      </a:r>
                      <a:endParaRPr lang="zh-TW" sz="2600" b="0" i="0" u="none" strike="noStrike">
                        <a:effectLst/>
                        <a:latin typeface="Arial" panose="020B0604020202020204" pitchFamily="34" charset="0"/>
                      </a:endParaRPr>
                    </a:p>
                  </a:txBody>
                  <a:tcPr marL="25202" marR="25202" marT="13501"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algn="ctr" fontAlgn="ctr">
                        <a:buNone/>
                      </a:pPr>
                      <a:r>
                        <a:rPr lang="en-US" sz="1600" b="1" i="0" u="none" strike="noStrike">
                          <a:solidFill>
                            <a:srgbClr val="FFFFFF"/>
                          </a:solidFill>
                          <a:effectLst/>
                          <a:latin typeface="標楷體" panose="03000509000000000000"/>
                          <a:ea typeface="標楷體" panose="03000509000000000000"/>
                          <a:cs typeface="新細明體" panose="02020500000000000000" pitchFamily="18" charset="-120"/>
                        </a:rPr>
                        <a:t>ePropertyNo</a:t>
                      </a:r>
                      <a:endParaRPr lang="zh-TW" sz="2600" b="0" i="0" u="none" strike="noStrike">
                        <a:effectLst/>
                        <a:latin typeface="Arial" panose="020B0604020202020204" pitchFamily="34" charset="0"/>
                      </a:endParaRPr>
                    </a:p>
                  </a:txBody>
                  <a:tcPr marL="25202" marR="25202" marT="13501"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algn="ctr" fontAlgn="ctr">
                        <a:buNone/>
                      </a:pPr>
                      <a:r>
                        <a:rPr lang="en-US" sz="1600" b="1" i="0" u="none" strike="noStrike">
                          <a:solidFill>
                            <a:srgbClr val="FFFFFF"/>
                          </a:solidFill>
                          <a:effectLst/>
                          <a:latin typeface="標楷體" panose="03000509000000000000"/>
                          <a:ea typeface="標楷體" panose="03000509000000000000"/>
                          <a:cs typeface="新細明體" panose="02020500000000000000" pitchFamily="18" charset="-120"/>
                        </a:rPr>
                        <a:t>eName</a:t>
                      </a:r>
                      <a:endParaRPr lang="zh-TW" sz="2600" b="0" i="0" u="none" strike="noStrike">
                        <a:effectLst/>
                        <a:latin typeface="Arial" panose="020B0604020202020204" pitchFamily="34" charset="0"/>
                      </a:endParaRPr>
                    </a:p>
                  </a:txBody>
                  <a:tcPr marL="25202" marR="25202" marT="13501"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algn="ctr" fontAlgn="ctr">
                        <a:buNone/>
                      </a:pPr>
                      <a:r>
                        <a:rPr lang="en-US" sz="1600" b="1" i="0" u="none" strike="noStrike">
                          <a:solidFill>
                            <a:srgbClr val="FFFFFF"/>
                          </a:solidFill>
                          <a:effectLst/>
                          <a:latin typeface="標楷體" panose="03000509000000000000"/>
                          <a:ea typeface="標楷體" panose="03000509000000000000"/>
                          <a:cs typeface="新細明體" panose="02020500000000000000" pitchFamily="18" charset="-120"/>
                        </a:rPr>
                        <a:t>cId</a:t>
                      </a:r>
                      <a:endParaRPr lang="zh-TW" sz="2600" b="0" i="0" u="none" strike="noStrike">
                        <a:effectLst/>
                        <a:latin typeface="Arial" panose="020B0604020202020204" pitchFamily="34" charset="0"/>
                      </a:endParaRPr>
                    </a:p>
                  </a:txBody>
                  <a:tcPr marL="25202" marR="25202" marT="13501"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algn="ctr" fontAlgn="ctr">
                        <a:buNone/>
                      </a:pPr>
                      <a:r>
                        <a:rPr lang="en-US" sz="1600" b="1" i="0" u="none" strike="noStrike">
                          <a:solidFill>
                            <a:srgbClr val="FFFFFF"/>
                          </a:solidFill>
                          <a:effectLst/>
                          <a:latin typeface="標楷體" panose="03000509000000000000"/>
                          <a:ea typeface="標楷體" panose="03000509000000000000"/>
                          <a:cs typeface="新細明體" panose="02020500000000000000" pitchFamily="18" charset="-120"/>
                        </a:rPr>
                        <a:t>eStatus</a:t>
                      </a:r>
                      <a:endParaRPr lang="zh-TW" sz="2600" b="0" i="0" u="none" strike="noStrike">
                        <a:effectLst/>
                        <a:latin typeface="Arial" panose="020B0604020202020204" pitchFamily="34" charset="0"/>
                      </a:endParaRPr>
                    </a:p>
                  </a:txBody>
                  <a:tcPr marL="25202" marR="25202" marT="13501"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algn="ctr" fontAlgn="ctr">
                        <a:buNone/>
                      </a:pPr>
                      <a:r>
                        <a:rPr lang="en-US" sz="1600" b="1" i="0" u="none" strike="noStrike">
                          <a:solidFill>
                            <a:srgbClr val="FFFFFF"/>
                          </a:solidFill>
                          <a:effectLst/>
                          <a:latin typeface="標楷體" panose="03000509000000000000"/>
                          <a:ea typeface="標楷體" panose="03000509000000000000"/>
                          <a:cs typeface="新細明體" panose="02020500000000000000" pitchFamily="18" charset="-120"/>
                        </a:rPr>
                        <a:t>eLocation</a:t>
                      </a:r>
                      <a:endParaRPr lang="zh-TW" sz="2600" b="0" i="0" u="none" strike="noStrike">
                        <a:effectLst/>
                        <a:latin typeface="Arial" panose="020B0604020202020204" pitchFamily="34" charset="0"/>
                      </a:endParaRPr>
                    </a:p>
                  </a:txBody>
                  <a:tcPr marL="25202" marR="25202" marT="13501"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algn="ctr" fontAlgn="ctr">
                        <a:buNone/>
                      </a:pPr>
                      <a:r>
                        <a:rPr lang="en-US" sz="1600" b="1" i="0" u="none" strike="noStrike">
                          <a:solidFill>
                            <a:srgbClr val="FFFFFF"/>
                          </a:solidFill>
                          <a:effectLst/>
                          <a:latin typeface="標楷體" panose="03000509000000000000"/>
                          <a:ea typeface="標楷體" panose="03000509000000000000"/>
                          <a:cs typeface="新細明體" panose="02020500000000000000" pitchFamily="18" charset="-120"/>
                        </a:rPr>
                        <a:t>ePurchaseDate</a:t>
                      </a:r>
                      <a:endParaRPr lang="zh-TW" sz="2600" b="0" i="0" u="none" strike="noStrike">
                        <a:effectLst/>
                        <a:latin typeface="Arial" panose="020B0604020202020204" pitchFamily="34" charset="0"/>
                      </a:endParaRPr>
                    </a:p>
                  </a:txBody>
                  <a:tcPr marL="25202" marR="25202" marT="13501"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algn="ctr" fontAlgn="ctr">
                        <a:buNone/>
                      </a:pPr>
                      <a:r>
                        <a:rPr lang="en-US" sz="1600" b="1" i="0" u="none" strike="noStrike">
                          <a:solidFill>
                            <a:srgbClr val="FFFFFF"/>
                          </a:solidFill>
                          <a:effectLst/>
                          <a:latin typeface="標楷體" panose="03000509000000000000"/>
                          <a:ea typeface="標楷體" panose="03000509000000000000"/>
                          <a:cs typeface="新細明體" panose="02020500000000000000" pitchFamily="18" charset="-120"/>
                        </a:rPr>
                        <a:t>eWarrantyDate</a:t>
                      </a:r>
                      <a:endParaRPr lang="zh-TW" sz="2600" b="0" i="0" u="none" strike="noStrike">
                        <a:effectLst/>
                        <a:latin typeface="Arial" panose="020B0604020202020204" pitchFamily="34" charset="0"/>
                      </a:endParaRPr>
                    </a:p>
                  </a:txBody>
                  <a:tcPr marL="25202" marR="25202" marT="13501"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tc>
                  <a:txBody>
                    <a:bodyPr/>
                    <a:lstStyle/>
                    <a:p>
                      <a:pPr algn="ctr" fontAlgn="ctr">
                        <a:buNone/>
                      </a:pPr>
                      <a:r>
                        <a:rPr lang="en-US" sz="1600" b="1" i="0" u="none" strike="noStrike">
                          <a:solidFill>
                            <a:srgbClr val="FFFFFF"/>
                          </a:solidFill>
                          <a:effectLst/>
                          <a:latin typeface="標楷體" panose="03000509000000000000"/>
                          <a:ea typeface="標楷體" panose="03000509000000000000"/>
                          <a:cs typeface="新細明體" panose="02020500000000000000" pitchFamily="18" charset="-120"/>
                        </a:rPr>
                        <a:t>eNote</a:t>
                      </a:r>
                      <a:endParaRPr lang="zh-TW" sz="2600" b="0" i="0" u="none" strike="noStrike">
                        <a:effectLst/>
                        <a:latin typeface="Arial" panose="020B0604020202020204" pitchFamily="34" charset="0"/>
                      </a:endParaRPr>
                    </a:p>
                  </a:txBody>
                  <a:tcPr marL="25202" marR="25202" marT="13501"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53D63"/>
                    </a:solidFill>
                  </a:tcPr>
                </a:tc>
                <a:extLst>
                  <a:ext uri="{0D108BD9-81ED-4DB2-BD59-A6C34878D82A}">
                    <a16:rowId xmlns:a16="http://schemas.microsoft.com/office/drawing/2014/main" val="174301391"/>
                  </a:ext>
                </a:extLst>
              </a:tr>
              <a:tr h="324560">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1</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EQ2026001</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ASUS</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筆電</a:t>
                      </a: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A15</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1</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可用</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B</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棟</a:t>
                      </a: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307</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室</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2025/1/10</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2028/1/10</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資訊課使用</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022254263"/>
                  </a:ext>
                </a:extLst>
              </a:tr>
              <a:tr h="324560">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EQ2026002</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EPSON</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投影機</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借出中</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A</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棟</a:t>
                      </a: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201</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室</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2024/8/1</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2027/8/1</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教室設備</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51909096"/>
                  </a:ext>
                </a:extLst>
              </a:tr>
              <a:tr h="324560">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3</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EQ2026003</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Cisco</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交換器</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3</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維修中</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機房</a:t>
                      </a: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A</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2023/6/15</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2026/6/15</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網路異常</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767423027"/>
                  </a:ext>
                </a:extLst>
              </a:tr>
              <a:tr h="583776">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4</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EQ2026004</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Canon EOS R50</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4</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可用</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媒體教室</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2025/3/12</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2028/3/12</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攝影課程</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3550317490"/>
                  </a:ext>
                </a:extLst>
              </a:tr>
              <a:tr h="324560">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5</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EQ2026005</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iPad Air</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5</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報廢</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D</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棟</a:t>
                      </a: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101</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室</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2021/2/1</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2024/2/1</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螢幕故障</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2478916629"/>
                  </a:ext>
                </a:extLst>
              </a:tr>
              <a:tr h="583776">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6</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EQ2026006</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Dell 27</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吋螢幕</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6</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可用</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B</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棟</a:t>
                      </a: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305</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室</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dirty="0">
                          <a:solidFill>
                            <a:srgbClr val="000000"/>
                          </a:solidFill>
                          <a:effectLst/>
                          <a:latin typeface="標楷體" panose="03000509000000000000"/>
                          <a:ea typeface="標楷體" panose="03000509000000000000"/>
                          <a:cs typeface="新細明體" panose="02020500000000000000" pitchFamily="18" charset="-120"/>
                        </a:rPr>
                        <a:t>2024/9/1</a:t>
                      </a:r>
                      <a:endParaRPr lang="zh-TW" sz="2600" b="0" i="0" u="none" strike="noStrike" dirty="0">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2027/9/1</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程式設計教室</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877642831"/>
                  </a:ext>
                </a:extLst>
              </a:tr>
              <a:tr h="842992">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7</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EQ2026007</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Dell PowerEdge R550</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7</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可用</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機房</a:t>
                      </a: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B</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2024/3/15</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2029/3/15</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虛擬化主機</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984568293"/>
                  </a:ext>
                </a:extLst>
              </a:tr>
              <a:tr h="583776">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8</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EQ2026008</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Logitech MX Keys</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8</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借出中</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系辦公室</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2025/2/10</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2027/2/10</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教師借用</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639048308"/>
                  </a:ext>
                </a:extLst>
              </a:tr>
              <a:tr h="583776">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9</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EQ2026009</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Synology DS923+</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9</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可用</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機房</a:t>
                      </a: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A</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2023/11/20</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2026/11/20</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備份儲存</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1046163694"/>
                  </a:ext>
                </a:extLst>
              </a:tr>
              <a:tr h="583776">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10</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EQ2026010</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STM32</a:t>
                      </a: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開發板組</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10</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維修中</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zh-TW" sz="1700" b="0" i="0" u="none" strike="noStrike">
                          <a:solidFill>
                            <a:srgbClr val="000000"/>
                          </a:solidFill>
                          <a:effectLst/>
                          <a:latin typeface="標楷體" panose="03000509000000000000"/>
                          <a:ea typeface="標楷體" panose="03000509000000000000"/>
                          <a:cs typeface="新細明體" panose="02020500000000000000" pitchFamily="18" charset="-120"/>
                        </a:rPr>
                        <a:t>實驗室</a:t>
                      </a: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2025/4/5</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a:solidFill>
                            <a:srgbClr val="000000"/>
                          </a:solidFill>
                          <a:effectLst/>
                          <a:latin typeface="標楷體" panose="03000509000000000000"/>
                          <a:ea typeface="標楷體" panose="03000509000000000000"/>
                          <a:cs typeface="新細明體" panose="02020500000000000000" pitchFamily="18" charset="-120"/>
                        </a:rPr>
                        <a:t>2028/4/5</a:t>
                      </a:r>
                      <a:endParaRPr lang="zh-TW" sz="2600" b="0" i="0" u="none" strike="noStrike">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tc>
                  <a:txBody>
                    <a:bodyPr/>
                    <a:lstStyle/>
                    <a:p>
                      <a:pPr algn="ctr" fontAlgn="ctr">
                        <a:buNone/>
                      </a:pPr>
                      <a:r>
                        <a:rPr lang="en-US" sz="1700" b="0" i="0" u="none" strike="noStrike" dirty="0">
                          <a:solidFill>
                            <a:srgbClr val="000000"/>
                          </a:solidFill>
                          <a:effectLst/>
                          <a:latin typeface="標楷體" panose="03000509000000000000"/>
                          <a:ea typeface="標楷體" panose="03000509000000000000"/>
                          <a:cs typeface="新細明體" panose="02020500000000000000" pitchFamily="18" charset="-120"/>
                        </a:rPr>
                        <a:t>USB</a:t>
                      </a:r>
                      <a:r>
                        <a:rPr lang="zh-TW" sz="1700" b="0" i="0" u="none" strike="noStrike" dirty="0">
                          <a:solidFill>
                            <a:srgbClr val="000000"/>
                          </a:solidFill>
                          <a:effectLst/>
                          <a:latin typeface="標楷體" panose="03000509000000000000"/>
                          <a:ea typeface="標楷體" panose="03000509000000000000"/>
                          <a:cs typeface="新細明體" panose="02020500000000000000" pitchFamily="18" charset="-120"/>
                        </a:rPr>
                        <a:t>介面異常</a:t>
                      </a:r>
                      <a:endParaRPr lang="zh-TW" sz="2600" b="0" i="0" u="none" strike="noStrike" dirty="0">
                        <a:effectLst/>
                        <a:latin typeface="Arial" panose="020B0604020202020204" pitchFamily="34" charset="0"/>
                      </a:endParaRPr>
                    </a:p>
                  </a:txBody>
                  <a:tcPr marL="25202" marR="25202" marT="13501" marB="0" anchor="ctr">
                    <a:lnL w="12700" cap="flat" cmpd="sng" algn="ctr">
                      <a:solidFill>
                        <a:srgbClr val="666666"/>
                      </a:solidFill>
                      <a:prstDash val="solid"/>
                      <a:round/>
                      <a:headEnd type="none" w="med" len="med"/>
                      <a:tailEnd type="none" w="med" len="med"/>
                    </a:lnL>
                    <a:lnR w="12700" cap="flat" cmpd="sng" algn="ctr">
                      <a:solidFill>
                        <a:srgbClr val="666666"/>
                      </a:solidFill>
                      <a:prstDash val="solid"/>
                      <a:round/>
                      <a:headEnd type="none" w="med" len="med"/>
                      <a:tailEnd type="none" w="med" len="med"/>
                    </a:lnR>
                    <a:lnT w="12700" cap="flat" cmpd="sng" algn="ctr">
                      <a:solidFill>
                        <a:srgbClr val="666666"/>
                      </a:solidFill>
                      <a:prstDash val="solid"/>
                      <a:round/>
                      <a:headEnd type="none" w="med" len="med"/>
                      <a:tailEnd type="none" w="med" len="med"/>
                    </a:lnT>
                    <a:lnB w="12700" cap="flat" cmpd="sng" algn="ctr">
                      <a:solidFill>
                        <a:srgbClr val="666666"/>
                      </a:solidFill>
                      <a:prstDash val="solid"/>
                      <a:round/>
                      <a:headEnd type="none" w="med" len="med"/>
                      <a:tailEnd type="none" w="med" len="med"/>
                    </a:lnB>
                    <a:noFill/>
                  </a:tcPr>
                </a:tc>
                <a:extLst>
                  <a:ext uri="{0D108BD9-81ED-4DB2-BD59-A6C34878D82A}">
                    <a16:rowId xmlns:a16="http://schemas.microsoft.com/office/drawing/2014/main" val="91495076"/>
                  </a:ext>
                </a:extLst>
              </a:tr>
            </a:tbl>
          </a:graphicData>
        </a:graphic>
      </p:graphicFrame>
      <p:sp>
        <p:nvSpPr>
          <p:cNvPr id="6" name="文字方塊 5">
            <a:extLst>
              <a:ext uri="{FF2B5EF4-FFF2-40B4-BE49-F238E27FC236}">
                <a16:creationId xmlns:a16="http://schemas.microsoft.com/office/drawing/2014/main" id="{56B81EBD-FB0C-EBD2-D81A-66E68D4BE895}"/>
              </a:ext>
            </a:extLst>
          </p:cNvPr>
          <p:cNvSpPr txBox="1"/>
          <p:nvPr/>
        </p:nvSpPr>
        <p:spPr>
          <a:xfrm>
            <a:off x="3017654" y="279697"/>
            <a:ext cx="6156691" cy="1031051"/>
          </a:xfrm>
          <a:prstGeom prst="rect">
            <a:avLst/>
          </a:prstGeom>
          <a:noFill/>
        </p:spPr>
        <p:txBody>
          <a:bodyPr wrap="square">
            <a:spAutoFit/>
          </a:bodyPr>
          <a:lstStyle/>
          <a:p>
            <a:pPr algn="ctr">
              <a:spcBef>
                <a:spcPts val="800"/>
              </a:spcBef>
              <a:spcAft>
                <a:spcPts val="400"/>
              </a:spcAft>
              <a:buNone/>
            </a:pPr>
            <a:r>
              <a:rPr lang="zh-TW" altLang="zh-TW" sz="2800" b="1" dirty="0">
                <a:solidFill>
                  <a:srgbClr val="1F3A6B"/>
                </a:solidFill>
                <a:effectLst/>
                <a:latin typeface="標楷體" panose="03000509000000000000" pitchFamily="65" charset="-120"/>
                <a:ea typeface="標楷體" panose="03000509000000000000" pitchFamily="65" charset="-120"/>
                <a:cs typeface="標楷體" panose="03000509000000000000" pitchFamily="65" charset="-120"/>
              </a:rPr>
              <a:t>設備實例</a:t>
            </a:r>
            <a:endParaRPr lang="zh-TW" altLang="zh-TW" sz="28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200"/>
              </a:spcBef>
              <a:spcAft>
                <a:spcPts val="200"/>
              </a:spcAft>
              <a:buNone/>
            </a:pPr>
            <a:r>
              <a:rPr lang="en-US" altLang="zh-TW" sz="2800" dirty="0">
                <a:effectLst/>
                <a:latin typeface="標楷體" panose="03000509000000000000" pitchFamily="65" charset="-120"/>
                <a:ea typeface="標楷體" panose="03000509000000000000" pitchFamily="65" charset="-120"/>
                <a:cs typeface="標楷體" panose="03000509000000000000" pitchFamily="65" charset="-120"/>
              </a:rPr>
              <a:t> </a:t>
            </a:r>
            <a:endParaRPr lang="zh-TW" altLang="zh-TW" sz="2800" dirty="0">
              <a:effectLst/>
              <a:latin typeface="標楷體" panose="03000509000000000000" pitchFamily="65" charset="-120"/>
              <a:ea typeface="標楷體" panose="03000509000000000000" pitchFamily="65" charset="-120"/>
              <a:cs typeface="標楷體" panose="03000509000000000000" pitchFamily="65" charset="-120"/>
            </a:endParaRPr>
          </a:p>
        </p:txBody>
      </p:sp>
    </p:spTree>
    <p:extLst>
      <p:ext uri="{BB962C8B-B14F-4D97-AF65-F5344CB8AC3E}">
        <p14:creationId xmlns:p14="http://schemas.microsoft.com/office/powerpoint/2010/main" val="11590096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35E2C-83AF-E9B6-815B-EBA3FD269362}"/>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71EE7802-60A3-3961-14C0-804CA215DE67}"/>
              </a:ext>
            </a:extLst>
          </p:cNvPr>
          <p:cNvGrpSpPr/>
          <p:nvPr/>
        </p:nvGrpSpPr>
        <p:grpSpPr>
          <a:xfrm>
            <a:off x="-1200150" y="80872"/>
            <a:ext cx="6018893" cy="1200329"/>
            <a:chOff x="368300" y="1442660"/>
            <a:chExt cx="4722578" cy="1200329"/>
          </a:xfrm>
        </p:grpSpPr>
        <p:sp>
          <p:nvSpPr>
            <p:cNvPr id="5" name="矩形 4">
              <a:extLst>
                <a:ext uri="{FF2B5EF4-FFF2-40B4-BE49-F238E27FC236}">
                  <a16:creationId xmlns:a16="http://schemas.microsoft.com/office/drawing/2014/main" id="{7FA95276-606F-4FBC-DD42-C7B574056058}"/>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7BC0F21B-4E57-3B5B-D45C-60A1778AC689}"/>
                </a:ext>
              </a:extLst>
            </p:cNvPr>
            <p:cNvSpPr txBox="1"/>
            <p:nvPr/>
          </p:nvSpPr>
          <p:spPr>
            <a:xfrm>
              <a:off x="4354278" y="1442660"/>
              <a:ext cx="736600" cy="1200329"/>
            </a:xfrm>
            <a:prstGeom prst="rect">
              <a:avLst/>
            </a:prstGeom>
            <a:noFill/>
          </p:spPr>
          <p:txBody>
            <a:bodyPr wrap="square">
              <a:spAutoFit/>
            </a:bodyPr>
            <a:lstStyle/>
            <a:p>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0C54046D-4196-BF08-670E-C5085CD9CE2C}"/>
              </a:ext>
            </a:extLst>
          </p:cNvPr>
          <p:cNvSpPr txBox="1"/>
          <p:nvPr/>
        </p:nvSpPr>
        <p:spPr>
          <a:xfrm>
            <a:off x="246742" y="357870"/>
            <a:ext cx="640914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插入範例資料</a:t>
            </a:r>
            <a:r>
              <a:rPr lang="en-US" altLang="zh-TW" sz="3600" dirty="0">
                <a:solidFill>
                  <a:schemeClr val="bg1"/>
                </a:solidFill>
                <a:latin typeface="標楷體" panose="03000509000000000000" pitchFamily="65" charset="-120"/>
                <a:ea typeface="標楷體" panose="03000509000000000000" pitchFamily="65" charset="-120"/>
              </a:rPr>
              <a:t>SQL</a:t>
            </a:r>
            <a:endParaRPr lang="zh-TW" altLang="en-US" sz="3600" dirty="0">
              <a:solidFill>
                <a:schemeClr val="bg1"/>
              </a:solidFill>
              <a:latin typeface="標楷體" panose="03000509000000000000" pitchFamily="65" charset="-120"/>
              <a:ea typeface="標楷體" panose="03000509000000000000" pitchFamily="65" charset="-120"/>
            </a:endParaRPr>
          </a:p>
        </p:txBody>
      </p:sp>
      <p:sp>
        <p:nvSpPr>
          <p:cNvPr id="3" name="文字方塊 2">
            <a:extLst>
              <a:ext uri="{FF2B5EF4-FFF2-40B4-BE49-F238E27FC236}">
                <a16:creationId xmlns:a16="http://schemas.microsoft.com/office/drawing/2014/main" id="{814D98E1-1F81-488E-51ED-DBD395332241}"/>
              </a:ext>
            </a:extLst>
          </p:cNvPr>
          <p:cNvSpPr txBox="1"/>
          <p:nvPr/>
        </p:nvSpPr>
        <p:spPr>
          <a:xfrm>
            <a:off x="812799" y="1500142"/>
            <a:ext cx="10566401" cy="2862322"/>
          </a:xfrm>
          <a:prstGeom prst="rect">
            <a:avLst/>
          </a:prstGeom>
          <a:noFill/>
        </p:spPr>
        <p:txBody>
          <a:bodyPr wrap="square">
            <a:spAutoFit/>
          </a:bodyPr>
          <a:lstStyle/>
          <a:p>
            <a:r>
              <a:rPr lang="en-US" altLang="zh-TW" sz="2000" dirty="0"/>
              <a:t>INSERT INTO Equipment</a:t>
            </a:r>
            <a:endParaRPr lang="zh-TW" altLang="zh-TW" sz="2000" dirty="0"/>
          </a:p>
          <a:p>
            <a:r>
              <a:rPr lang="en-US" altLang="zh-TW" sz="2000" dirty="0"/>
              <a:t>  (eId,ePropertyNo,eName,cId,eStatus,eLocation,ePurchaseDate,eWarrantyDate,eNote)</a:t>
            </a:r>
            <a:endParaRPr lang="zh-TW" altLang="zh-TW" sz="2000" dirty="0"/>
          </a:p>
          <a:p>
            <a:r>
              <a:rPr lang="en-US" altLang="zh-TW" sz="2000" dirty="0"/>
              <a:t>VALUES</a:t>
            </a:r>
            <a:endParaRPr lang="zh-TW" altLang="zh-TW" sz="2000" dirty="0"/>
          </a:p>
          <a:p>
            <a:r>
              <a:rPr lang="en-US" altLang="zh-TW" sz="2000" dirty="0"/>
              <a:t>(1,'EQ2026001','ASUS</a:t>
            </a:r>
            <a:r>
              <a:rPr lang="zh-TW" altLang="zh-TW" sz="2000" dirty="0"/>
              <a:t>筆電</a:t>
            </a:r>
            <a:r>
              <a:rPr lang="en-US" altLang="zh-TW" sz="2000" dirty="0"/>
              <a:t>A15',   1,'</a:t>
            </a:r>
            <a:r>
              <a:rPr lang="zh-TW" altLang="zh-TW" sz="2000" dirty="0"/>
              <a:t>可用</a:t>
            </a:r>
            <a:r>
              <a:rPr lang="en-US" altLang="zh-TW" sz="2000" dirty="0"/>
              <a:t>',  'B</a:t>
            </a:r>
            <a:r>
              <a:rPr lang="zh-TW" altLang="zh-TW" sz="2000" dirty="0"/>
              <a:t>棟</a:t>
            </a:r>
            <a:r>
              <a:rPr lang="en-US" altLang="zh-TW" sz="2000" dirty="0"/>
              <a:t>307</a:t>
            </a:r>
            <a:r>
              <a:rPr lang="zh-TW" altLang="zh-TW" sz="2000" dirty="0"/>
              <a:t>室</a:t>
            </a:r>
            <a:r>
              <a:rPr lang="en-US" altLang="zh-TW" sz="2000" dirty="0"/>
              <a:t>','2025-01-10','2028-01-10','</a:t>
            </a:r>
            <a:r>
              <a:rPr lang="zh-TW" altLang="zh-TW" sz="2000" dirty="0"/>
              <a:t>資訊課使用</a:t>
            </a:r>
            <a:r>
              <a:rPr lang="en-US" altLang="zh-TW" sz="2000" dirty="0"/>
              <a:t>'),</a:t>
            </a:r>
            <a:endParaRPr lang="zh-TW" altLang="zh-TW" sz="2000" dirty="0"/>
          </a:p>
          <a:p>
            <a:r>
              <a:rPr lang="en-US" altLang="zh-TW" sz="2000" dirty="0"/>
              <a:t>(2,'EQ2026002','EPSON</a:t>
            </a:r>
            <a:r>
              <a:rPr lang="zh-TW" altLang="zh-TW" sz="2000" dirty="0"/>
              <a:t>投影機</a:t>
            </a:r>
            <a:r>
              <a:rPr lang="en-US" altLang="zh-TW" sz="2000" dirty="0"/>
              <a:t>',   2,'</a:t>
            </a:r>
            <a:r>
              <a:rPr lang="zh-TW" altLang="zh-TW" sz="2000" dirty="0"/>
              <a:t>借出中</a:t>
            </a:r>
            <a:r>
              <a:rPr lang="en-US" altLang="zh-TW" sz="2000" dirty="0"/>
              <a:t>','A</a:t>
            </a:r>
            <a:r>
              <a:rPr lang="zh-TW" altLang="zh-TW" sz="2000" dirty="0"/>
              <a:t>棟</a:t>
            </a:r>
            <a:r>
              <a:rPr lang="en-US" altLang="zh-TW" sz="2000" dirty="0"/>
              <a:t>201</a:t>
            </a:r>
            <a:r>
              <a:rPr lang="zh-TW" altLang="zh-TW" sz="2000" dirty="0"/>
              <a:t>室</a:t>
            </a:r>
            <a:r>
              <a:rPr lang="en-US" altLang="zh-TW" sz="2000" dirty="0"/>
              <a:t>','2024-08-01','2027-08-01','</a:t>
            </a:r>
            <a:r>
              <a:rPr lang="zh-TW" altLang="zh-TW" sz="2000" dirty="0"/>
              <a:t>教室設備</a:t>
            </a:r>
            <a:r>
              <a:rPr lang="en-US" altLang="zh-TW" sz="2000" dirty="0"/>
              <a:t>'),</a:t>
            </a:r>
            <a:endParaRPr lang="zh-TW" altLang="zh-TW" sz="2000" dirty="0"/>
          </a:p>
          <a:p>
            <a:r>
              <a:rPr lang="en-US" altLang="zh-TW" sz="2000" dirty="0"/>
              <a:t>(3,'EQ2026003','Cisco</a:t>
            </a:r>
            <a:r>
              <a:rPr lang="zh-TW" altLang="zh-TW" sz="2000" dirty="0"/>
              <a:t>交換器</a:t>
            </a:r>
            <a:r>
              <a:rPr lang="en-US" altLang="zh-TW" sz="2000" dirty="0"/>
              <a:t>',   3,'</a:t>
            </a:r>
            <a:r>
              <a:rPr lang="zh-TW" altLang="zh-TW" sz="2000" dirty="0"/>
              <a:t>維修中</a:t>
            </a:r>
            <a:r>
              <a:rPr lang="en-US" altLang="zh-TW" sz="2000" dirty="0"/>
              <a:t>','</a:t>
            </a:r>
            <a:r>
              <a:rPr lang="zh-TW" altLang="zh-TW" sz="2000" dirty="0"/>
              <a:t>機房</a:t>
            </a:r>
            <a:r>
              <a:rPr lang="en-US" altLang="zh-TW" sz="2000" dirty="0"/>
              <a:t>A',   '2023-06-15','2026-06-15','</a:t>
            </a:r>
            <a:r>
              <a:rPr lang="zh-TW" altLang="zh-TW" sz="2000" dirty="0"/>
              <a:t>網路異常</a:t>
            </a:r>
            <a:r>
              <a:rPr lang="en-US" altLang="zh-TW" sz="2000" dirty="0"/>
              <a:t>'),</a:t>
            </a:r>
            <a:endParaRPr lang="zh-TW" altLang="zh-TW" sz="2000" dirty="0"/>
          </a:p>
          <a:p>
            <a:r>
              <a:rPr lang="en-US" altLang="zh-TW" sz="2000" dirty="0"/>
              <a:t>(4,'EQ2026004','Canon EOS R50',4,'</a:t>
            </a:r>
            <a:r>
              <a:rPr lang="zh-TW" altLang="zh-TW" sz="2000" dirty="0"/>
              <a:t>可用</a:t>
            </a:r>
            <a:r>
              <a:rPr lang="en-US" altLang="zh-TW" sz="2000" dirty="0"/>
              <a:t>',  '</a:t>
            </a:r>
            <a:r>
              <a:rPr lang="zh-TW" altLang="zh-TW" sz="2000" dirty="0"/>
              <a:t>媒體教室</a:t>
            </a:r>
            <a:r>
              <a:rPr lang="en-US" altLang="zh-TW" sz="2000" dirty="0"/>
              <a:t>','2025-03-12','2028-03-12','</a:t>
            </a:r>
            <a:r>
              <a:rPr lang="zh-TW" altLang="zh-TW" sz="2000" dirty="0"/>
              <a:t>攝影課程</a:t>
            </a:r>
            <a:r>
              <a:rPr lang="en-US" altLang="zh-TW" sz="2000" dirty="0"/>
              <a:t>'),</a:t>
            </a:r>
            <a:endParaRPr lang="zh-TW" altLang="zh-TW" sz="2000" dirty="0"/>
          </a:p>
          <a:p>
            <a:r>
              <a:rPr lang="en-US" altLang="zh-TW" sz="2000" dirty="0"/>
              <a:t>(5,'EQ2026005','iPad Air',      5,'</a:t>
            </a:r>
            <a:r>
              <a:rPr lang="zh-TW" altLang="zh-TW" sz="2000" dirty="0"/>
              <a:t>報廢</a:t>
            </a:r>
            <a:r>
              <a:rPr lang="en-US" altLang="zh-TW" sz="2000" dirty="0"/>
              <a:t>',  'D</a:t>
            </a:r>
            <a:r>
              <a:rPr lang="zh-TW" altLang="zh-TW" sz="2000" dirty="0"/>
              <a:t>棟</a:t>
            </a:r>
            <a:r>
              <a:rPr lang="en-US" altLang="zh-TW" sz="2000" dirty="0"/>
              <a:t>101</a:t>
            </a:r>
            <a:r>
              <a:rPr lang="zh-TW" altLang="zh-TW" sz="2000" dirty="0"/>
              <a:t>室</a:t>
            </a:r>
            <a:r>
              <a:rPr lang="en-US" altLang="zh-TW" sz="2000" dirty="0"/>
              <a:t>','2021-02-01','2024-02-01','</a:t>
            </a:r>
            <a:r>
              <a:rPr lang="zh-TW" altLang="zh-TW" sz="2000" dirty="0"/>
              <a:t>螢幕故障</a:t>
            </a:r>
            <a:r>
              <a:rPr lang="en-US" altLang="zh-TW" sz="2000" dirty="0"/>
              <a:t>');</a:t>
            </a:r>
            <a:endParaRPr lang="zh-TW" altLang="zh-TW" sz="2000" dirty="0"/>
          </a:p>
          <a:p>
            <a:endParaRPr lang="zh-TW" altLang="zh-TW" sz="2000" dirty="0"/>
          </a:p>
        </p:txBody>
      </p:sp>
      <p:pic>
        <p:nvPicPr>
          <p:cNvPr id="8" name="圖片 7">
            <a:extLst>
              <a:ext uri="{FF2B5EF4-FFF2-40B4-BE49-F238E27FC236}">
                <a16:creationId xmlns:a16="http://schemas.microsoft.com/office/drawing/2014/main" id="{51200863-3FED-8BB1-6226-1E70226AEABF}"/>
              </a:ext>
            </a:extLst>
          </p:cNvPr>
          <p:cNvPicPr>
            <a:picLocks noChangeAspect="1"/>
          </p:cNvPicPr>
          <p:nvPr/>
        </p:nvPicPr>
        <p:blipFill>
          <a:blip r:embed="rId2"/>
          <a:stretch>
            <a:fillRect/>
          </a:stretch>
        </p:blipFill>
        <p:spPr>
          <a:xfrm>
            <a:off x="812799" y="4143522"/>
            <a:ext cx="10660020" cy="2039564"/>
          </a:xfrm>
          <a:prstGeom prst="rect">
            <a:avLst/>
          </a:prstGeom>
        </p:spPr>
      </p:pic>
    </p:spTree>
    <p:extLst>
      <p:ext uri="{BB962C8B-B14F-4D97-AF65-F5344CB8AC3E}">
        <p14:creationId xmlns:p14="http://schemas.microsoft.com/office/powerpoint/2010/main" val="5074843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906B16-B181-E10F-F890-B829BFCCD9BF}"/>
            </a:ext>
          </a:extLst>
        </p:cNvPr>
        <p:cNvGrpSpPr/>
        <p:nvPr/>
      </p:nvGrpSpPr>
      <p:grpSpPr>
        <a:xfrm>
          <a:off x="0" y="0"/>
          <a:ext cx="0" cy="0"/>
          <a:chOff x="0" y="0"/>
          <a:chExt cx="0" cy="0"/>
        </a:xfrm>
      </p:grpSpPr>
      <p:pic>
        <p:nvPicPr>
          <p:cNvPr id="11" name="圖片 10">
            <a:extLst>
              <a:ext uri="{FF2B5EF4-FFF2-40B4-BE49-F238E27FC236}">
                <a16:creationId xmlns:a16="http://schemas.microsoft.com/office/drawing/2014/main" id="{B0018A0F-68C7-F439-B0FA-FDA45EBFCAF0}"/>
              </a:ext>
            </a:extLst>
          </p:cNvPr>
          <p:cNvPicPr>
            <a:picLocks noChangeAspect="1"/>
          </p:cNvPicPr>
          <p:nvPr/>
        </p:nvPicPr>
        <p:blipFill>
          <a:blip r:embed="rId2"/>
          <a:stretch>
            <a:fillRect/>
          </a:stretch>
        </p:blipFill>
        <p:spPr>
          <a:xfrm>
            <a:off x="8040914" y="2937993"/>
            <a:ext cx="4571853" cy="3920007"/>
          </a:xfrm>
          <a:prstGeom prst="rect">
            <a:avLst/>
          </a:prstGeom>
        </p:spPr>
      </p:pic>
      <p:grpSp>
        <p:nvGrpSpPr>
          <p:cNvPr id="4" name="群組 3">
            <a:extLst>
              <a:ext uri="{FF2B5EF4-FFF2-40B4-BE49-F238E27FC236}">
                <a16:creationId xmlns:a16="http://schemas.microsoft.com/office/drawing/2014/main" id="{7B80B328-EDDA-8FB9-8110-035FEDE596D3}"/>
              </a:ext>
            </a:extLst>
          </p:cNvPr>
          <p:cNvGrpSpPr/>
          <p:nvPr/>
        </p:nvGrpSpPr>
        <p:grpSpPr>
          <a:xfrm>
            <a:off x="-1185637" y="922700"/>
            <a:ext cx="9226551" cy="1200329"/>
            <a:chOff x="368300" y="1442660"/>
            <a:chExt cx="4722578" cy="1200329"/>
          </a:xfrm>
        </p:grpSpPr>
        <p:sp>
          <p:nvSpPr>
            <p:cNvPr id="5" name="矩形 4">
              <a:extLst>
                <a:ext uri="{FF2B5EF4-FFF2-40B4-BE49-F238E27FC236}">
                  <a16:creationId xmlns:a16="http://schemas.microsoft.com/office/drawing/2014/main" id="{EAE51DDF-1D9F-838D-1C79-FA09497502B1}"/>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64FB9CC5-7A00-16BC-A3FA-EDE19EDC9F7A}"/>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7</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01561266-3295-3199-3776-A442166ADDEA}"/>
              </a:ext>
            </a:extLst>
          </p:cNvPr>
          <p:cNvSpPr txBox="1"/>
          <p:nvPr/>
        </p:nvSpPr>
        <p:spPr>
          <a:xfrm>
            <a:off x="64230" y="1183209"/>
            <a:ext cx="7062195"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資料表</a:t>
            </a:r>
            <a:r>
              <a:rPr lang="en-US" altLang="zh-TW" sz="3600" dirty="0">
                <a:solidFill>
                  <a:schemeClr val="bg1"/>
                </a:solidFill>
                <a:latin typeface="標楷體" panose="03000509000000000000" pitchFamily="65" charset="-120"/>
                <a:ea typeface="標楷體" panose="03000509000000000000" pitchFamily="65" charset="-120"/>
              </a:rPr>
              <a:t>SQL</a:t>
            </a:r>
            <a:r>
              <a:rPr lang="zh-TW" altLang="en-US" sz="3600" dirty="0">
                <a:solidFill>
                  <a:schemeClr val="bg1"/>
                </a:solidFill>
                <a:latin typeface="標楷體" panose="03000509000000000000" pitchFamily="65" charset="-120"/>
                <a:ea typeface="標楷體" panose="03000509000000000000" pitchFamily="65" charset="-120"/>
              </a:rPr>
              <a:t>：</a:t>
            </a:r>
            <a:r>
              <a:rPr lang="en-US" altLang="zh-TW" sz="3600" dirty="0">
                <a:solidFill>
                  <a:schemeClr val="bg1"/>
                </a:solidFill>
                <a:latin typeface="標楷體" panose="03000509000000000000" pitchFamily="65" charset="-120"/>
                <a:ea typeface="標楷體" panose="03000509000000000000" pitchFamily="65" charset="-120"/>
              </a:rPr>
              <a:t>Category </a:t>
            </a:r>
            <a:r>
              <a:rPr lang="zh-TW" altLang="en-US" sz="3600" dirty="0">
                <a:solidFill>
                  <a:schemeClr val="bg1"/>
                </a:solidFill>
                <a:latin typeface="標楷體" panose="03000509000000000000" pitchFamily="65" charset="-120"/>
                <a:ea typeface="標楷體" panose="03000509000000000000" pitchFamily="65" charset="-120"/>
              </a:rPr>
              <a:t>設備類別</a:t>
            </a:r>
          </a:p>
        </p:txBody>
      </p:sp>
      <p:sp>
        <p:nvSpPr>
          <p:cNvPr id="10" name="文字方塊 9">
            <a:extLst>
              <a:ext uri="{FF2B5EF4-FFF2-40B4-BE49-F238E27FC236}">
                <a16:creationId xmlns:a16="http://schemas.microsoft.com/office/drawing/2014/main" id="{D5FE16F7-FED3-C4C2-6ECC-D214B344BAB3}"/>
              </a:ext>
            </a:extLst>
          </p:cNvPr>
          <p:cNvSpPr txBox="1"/>
          <p:nvPr/>
        </p:nvSpPr>
        <p:spPr>
          <a:xfrm>
            <a:off x="2489311" y="3015165"/>
            <a:ext cx="7213377" cy="2246769"/>
          </a:xfrm>
          <a:prstGeom prst="rect">
            <a:avLst/>
          </a:prstGeom>
          <a:noFill/>
        </p:spPr>
        <p:txBody>
          <a:bodyPr wrap="square">
            <a:spAutoFit/>
          </a:bodyPr>
          <a:lstStyle/>
          <a:p>
            <a:pPr marL="228600">
              <a:buNone/>
            </a:pPr>
            <a:r>
              <a:rPr lang="en-US" altLang="zh-TW" sz="2000" dirty="0">
                <a:effectLst/>
                <a:ea typeface="標楷體" panose="03000509000000000000" pitchFamily="65" charset="-120"/>
                <a:cs typeface="標楷體" panose="03000509000000000000" pitchFamily="65" charset="-120"/>
              </a:rPr>
              <a:t> CREATE TABLE Category (</a:t>
            </a:r>
          </a:p>
          <a:p>
            <a:pPr marL="228600">
              <a:buNone/>
            </a:pPr>
            <a:r>
              <a:rPr lang="en-US" altLang="zh-TW" sz="2000" dirty="0">
                <a:effectLst/>
                <a:ea typeface="標楷體" panose="03000509000000000000" pitchFamily="65" charset="-120"/>
                <a:cs typeface="標楷體" panose="03000509000000000000" pitchFamily="65" charset="-120"/>
              </a:rPr>
              <a:t>    </a:t>
            </a:r>
            <a:r>
              <a:rPr lang="en-US" altLang="zh-TW" sz="2000" dirty="0" err="1">
                <a:effectLst/>
                <a:ea typeface="標楷體" panose="03000509000000000000" pitchFamily="65" charset="-120"/>
                <a:cs typeface="標楷體" panose="03000509000000000000" pitchFamily="65" charset="-120"/>
              </a:rPr>
              <a:t>cId</a:t>
            </a:r>
            <a:r>
              <a:rPr lang="en-US" altLang="zh-TW" sz="2000" dirty="0">
                <a:effectLst/>
                <a:ea typeface="標楷體" panose="03000509000000000000" pitchFamily="65" charset="-120"/>
                <a:cs typeface="標楷體" panose="03000509000000000000" pitchFamily="65" charset="-120"/>
              </a:rPr>
              <a:t>      INT         NOT NULL AUTO_INCREMENT,</a:t>
            </a:r>
          </a:p>
          <a:p>
            <a:pPr marL="228600">
              <a:buNone/>
            </a:pPr>
            <a:r>
              <a:rPr lang="en-US" altLang="zh-TW" sz="2000" dirty="0">
                <a:effectLst/>
                <a:ea typeface="標楷體" panose="03000509000000000000" pitchFamily="65" charset="-120"/>
                <a:cs typeface="標楷體" panose="03000509000000000000" pitchFamily="65" charset="-120"/>
              </a:rPr>
              <a:t>    </a:t>
            </a:r>
            <a:r>
              <a:rPr lang="en-US" altLang="zh-TW" sz="2000" dirty="0" err="1">
                <a:effectLst/>
                <a:ea typeface="標楷體" panose="03000509000000000000" pitchFamily="65" charset="-120"/>
                <a:cs typeface="標楷體" panose="03000509000000000000" pitchFamily="65" charset="-120"/>
              </a:rPr>
              <a:t>cName</a:t>
            </a:r>
            <a:r>
              <a:rPr lang="en-US" altLang="zh-TW" sz="2000" dirty="0">
                <a:effectLst/>
                <a:ea typeface="標楷體" panose="03000509000000000000" pitchFamily="65" charset="-120"/>
                <a:cs typeface="標楷體" panose="03000509000000000000" pitchFamily="65" charset="-120"/>
              </a:rPr>
              <a:t>    VARCHAR(16) NOT NULL,</a:t>
            </a:r>
          </a:p>
          <a:p>
            <a:pPr marL="228600">
              <a:buNone/>
            </a:pPr>
            <a:r>
              <a:rPr lang="en-US" altLang="zh-TW" sz="2000" dirty="0">
                <a:effectLst/>
                <a:ea typeface="標楷體" panose="03000509000000000000" pitchFamily="65" charset="-120"/>
                <a:cs typeface="標楷體" panose="03000509000000000000" pitchFamily="65" charset="-120"/>
              </a:rPr>
              <a:t>    </a:t>
            </a:r>
            <a:r>
              <a:rPr lang="en-US" altLang="zh-TW" sz="2000" dirty="0" err="1">
                <a:effectLst/>
                <a:ea typeface="標楷體" panose="03000509000000000000" pitchFamily="65" charset="-120"/>
                <a:cs typeface="標楷體" panose="03000509000000000000" pitchFamily="65" charset="-120"/>
              </a:rPr>
              <a:t>cOutline</a:t>
            </a:r>
            <a:r>
              <a:rPr lang="en-US" altLang="zh-TW" sz="2000" dirty="0">
                <a:effectLst/>
                <a:ea typeface="標楷體" panose="03000509000000000000" pitchFamily="65" charset="-120"/>
                <a:cs typeface="標楷體" panose="03000509000000000000" pitchFamily="65" charset="-120"/>
              </a:rPr>
              <a:t> VARCHAR(64) NULL,</a:t>
            </a:r>
          </a:p>
          <a:p>
            <a:pPr marL="228600">
              <a:buNone/>
            </a:pPr>
            <a:r>
              <a:rPr lang="en-US" altLang="zh-TW" sz="2000" dirty="0">
                <a:effectLst/>
                <a:ea typeface="標楷體" panose="03000509000000000000" pitchFamily="65" charset="-120"/>
                <a:cs typeface="標楷體" panose="03000509000000000000" pitchFamily="65" charset="-120"/>
              </a:rPr>
              <a:t>    PRIMARY KEY (</a:t>
            </a:r>
            <a:r>
              <a:rPr lang="en-US" altLang="zh-TW" sz="2000" dirty="0" err="1">
                <a:effectLst/>
                <a:ea typeface="標楷體" panose="03000509000000000000" pitchFamily="65" charset="-120"/>
                <a:cs typeface="標楷體" panose="03000509000000000000" pitchFamily="65" charset="-120"/>
              </a:rPr>
              <a:t>cId</a:t>
            </a:r>
            <a:r>
              <a:rPr lang="en-US" altLang="zh-TW" sz="2000" dirty="0">
                <a:effectLst/>
                <a:ea typeface="標楷體" panose="03000509000000000000" pitchFamily="65" charset="-120"/>
                <a:cs typeface="標楷體" panose="03000509000000000000" pitchFamily="65" charset="-120"/>
              </a:rPr>
              <a:t>)</a:t>
            </a:r>
          </a:p>
          <a:p>
            <a:pPr marL="228600">
              <a:buNone/>
            </a:pPr>
            <a:r>
              <a:rPr lang="en-US" altLang="zh-TW" sz="2000" dirty="0">
                <a:effectLst/>
                <a:ea typeface="標楷體" panose="03000509000000000000" pitchFamily="65" charset="-120"/>
                <a:cs typeface="標楷體" panose="03000509000000000000" pitchFamily="65" charset="-120"/>
              </a:rPr>
              <a:t>) ENGINE=</a:t>
            </a:r>
            <a:r>
              <a:rPr lang="en-US" altLang="zh-TW" sz="2000" dirty="0" err="1">
                <a:effectLst/>
                <a:ea typeface="標楷體" panose="03000509000000000000" pitchFamily="65" charset="-120"/>
                <a:cs typeface="標楷體" panose="03000509000000000000" pitchFamily="65" charset="-120"/>
              </a:rPr>
              <a:t>InnoDB</a:t>
            </a:r>
            <a:r>
              <a:rPr lang="en-US" altLang="zh-TW" sz="2000" dirty="0">
                <a:effectLst/>
                <a:ea typeface="標楷體" panose="03000509000000000000" pitchFamily="65" charset="-120"/>
                <a:cs typeface="標楷體" panose="03000509000000000000" pitchFamily="65" charset="-120"/>
              </a:rPr>
              <a:t> DEFAULT CHARSET=utf8mb4;</a:t>
            </a:r>
          </a:p>
          <a:p>
            <a:pPr marL="228600">
              <a:buNone/>
            </a:pPr>
            <a:endParaRPr lang="zh-TW" altLang="zh-TW" sz="2000" dirty="0">
              <a:effectLst/>
              <a:ea typeface="標楷體" panose="03000509000000000000" pitchFamily="65" charset="-120"/>
              <a:cs typeface="標楷體" panose="03000509000000000000" pitchFamily="65" charset="-120"/>
            </a:endParaRPr>
          </a:p>
        </p:txBody>
      </p:sp>
    </p:spTree>
    <p:extLst>
      <p:ext uri="{BB962C8B-B14F-4D97-AF65-F5344CB8AC3E}">
        <p14:creationId xmlns:p14="http://schemas.microsoft.com/office/powerpoint/2010/main" val="4401906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63E160B-417A-B1D6-C796-F3D426B7A618}"/>
              </a:ext>
            </a:extLst>
          </p:cNvPr>
          <p:cNvSpPr>
            <a:spLocks noGrp="1"/>
          </p:cNvSpPr>
          <p:nvPr>
            <p:ph type="title"/>
          </p:nvPr>
        </p:nvSpPr>
        <p:spPr/>
        <p:txBody>
          <a:bodyPr/>
          <a:lstStyle/>
          <a:p>
            <a:endParaRPr lang="zh-TW" altLang="en-US" dirty="0"/>
          </a:p>
        </p:txBody>
      </p:sp>
      <p:graphicFrame>
        <p:nvGraphicFramePr>
          <p:cNvPr id="4" name="表格 3">
            <a:extLst>
              <a:ext uri="{FF2B5EF4-FFF2-40B4-BE49-F238E27FC236}">
                <a16:creationId xmlns:a16="http://schemas.microsoft.com/office/drawing/2014/main" id="{0AFFE0C0-8DCD-545F-8F9D-EEE175B7573B}"/>
              </a:ext>
            </a:extLst>
          </p:cNvPr>
          <p:cNvGraphicFramePr>
            <a:graphicFrameLocks noGrp="1"/>
          </p:cNvGraphicFramePr>
          <p:nvPr>
            <p:extLst>
              <p:ext uri="{D42A27DB-BD31-4B8C-83A1-F6EECF244321}">
                <p14:modId xmlns:p14="http://schemas.microsoft.com/office/powerpoint/2010/main" val="4065219953"/>
              </p:ext>
            </p:extLst>
          </p:nvPr>
        </p:nvGraphicFramePr>
        <p:xfrm>
          <a:off x="3546763" y="988290"/>
          <a:ext cx="4747491" cy="5493043"/>
        </p:xfrm>
        <a:graphic>
          <a:graphicData uri="http://schemas.openxmlformats.org/drawingml/2006/table">
            <a:tbl>
              <a:tblPr firstRow="1" firstCol="1" bandRow="1">
                <a:tableStyleId>{5C22544A-7EE6-4342-B048-85BDC9FD1C3A}</a:tableStyleId>
              </a:tblPr>
              <a:tblGrid>
                <a:gridCol w="703332">
                  <a:extLst>
                    <a:ext uri="{9D8B030D-6E8A-4147-A177-3AD203B41FA5}">
                      <a16:colId xmlns:a16="http://schemas.microsoft.com/office/drawing/2014/main" val="1053619711"/>
                    </a:ext>
                  </a:extLst>
                </a:gridCol>
                <a:gridCol w="1431783">
                  <a:extLst>
                    <a:ext uri="{9D8B030D-6E8A-4147-A177-3AD203B41FA5}">
                      <a16:colId xmlns:a16="http://schemas.microsoft.com/office/drawing/2014/main" val="3653374396"/>
                    </a:ext>
                  </a:extLst>
                </a:gridCol>
                <a:gridCol w="2612376">
                  <a:extLst>
                    <a:ext uri="{9D8B030D-6E8A-4147-A177-3AD203B41FA5}">
                      <a16:colId xmlns:a16="http://schemas.microsoft.com/office/drawing/2014/main" val="3663312569"/>
                    </a:ext>
                  </a:extLst>
                </a:gridCol>
              </a:tblGrid>
              <a:tr h="462233">
                <a:tc>
                  <a:txBody>
                    <a:bodyPr/>
                    <a:lstStyle/>
                    <a:p>
                      <a:pPr algn="ctr">
                        <a:buNone/>
                      </a:pPr>
                      <a:r>
                        <a:rPr lang="en-US" sz="1800" dirty="0" err="1">
                          <a:effectLst/>
                        </a:rPr>
                        <a:t>cId</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800">
                          <a:effectLst/>
                        </a:rPr>
                        <a:t>cName</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800">
                          <a:effectLst/>
                        </a:rPr>
                        <a:t>cOutline</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1921794347"/>
                  </a:ext>
                </a:extLst>
              </a:tr>
              <a:tr h="503081">
                <a:tc>
                  <a:txBody>
                    <a:bodyPr/>
                    <a:lstStyle/>
                    <a:p>
                      <a:pPr algn="ctr">
                        <a:buNone/>
                      </a:pPr>
                      <a:r>
                        <a:rPr lang="en-US" sz="1800">
                          <a:effectLst/>
                        </a:rPr>
                        <a:t>1</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dirty="0">
                          <a:effectLst/>
                        </a:rPr>
                        <a:t>電腦</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a:effectLst/>
                        </a:rPr>
                        <a:t>桌機與筆電設備</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201644746"/>
                  </a:ext>
                </a:extLst>
              </a:tr>
              <a:tr h="503081">
                <a:tc>
                  <a:txBody>
                    <a:bodyPr/>
                    <a:lstStyle/>
                    <a:p>
                      <a:pPr algn="ctr">
                        <a:buNone/>
                      </a:pPr>
                      <a:r>
                        <a:rPr lang="en-US" sz="1800">
                          <a:effectLst/>
                        </a:rPr>
                        <a:t>2</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a:effectLst/>
                        </a:rPr>
                        <a:t>投影機</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dirty="0">
                          <a:effectLst/>
                        </a:rPr>
                        <a:t>教室投影設備</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4250230468"/>
                  </a:ext>
                </a:extLst>
              </a:tr>
              <a:tr h="503081">
                <a:tc>
                  <a:txBody>
                    <a:bodyPr/>
                    <a:lstStyle/>
                    <a:p>
                      <a:pPr algn="ctr">
                        <a:buNone/>
                      </a:pPr>
                      <a:r>
                        <a:rPr lang="en-US" sz="1800">
                          <a:effectLst/>
                        </a:rPr>
                        <a:t>3</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a:effectLst/>
                        </a:rPr>
                        <a:t>網路設備</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a:effectLst/>
                        </a:rPr>
                        <a:t>路由器與交換器</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3695077471"/>
                  </a:ext>
                </a:extLst>
              </a:tr>
              <a:tr h="503081">
                <a:tc>
                  <a:txBody>
                    <a:bodyPr/>
                    <a:lstStyle/>
                    <a:p>
                      <a:pPr algn="ctr">
                        <a:buNone/>
                      </a:pPr>
                      <a:r>
                        <a:rPr lang="en-US" sz="1800">
                          <a:effectLst/>
                        </a:rPr>
                        <a:t>4</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a:effectLst/>
                        </a:rPr>
                        <a:t>攝影設備</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dirty="0">
                          <a:effectLst/>
                        </a:rPr>
                        <a:t>相機與攝影器材</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1895081720"/>
                  </a:ext>
                </a:extLst>
              </a:tr>
              <a:tr h="503081">
                <a:tc>
                  <a:txBody>
                    <a:bodyPr/>
                    <a:lstStyle/>
                    <a:p>
                      <a:pPr algn="ctr">
                        <a:buNone/>
                      </a:pPr>
                      <a:r>
                        <a:rPr lang="en-US" sz="1800">
                          <a:effectLst/>
                        </a:rPr>
                        <a:t>5</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a:effectLst/>
                        </a:rPr>
                        <a:t>平板設備</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dirty="0">
                          <a:effectLst/>
                        </a:rPr>
                        <a:t>平板與行動裝置</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33611173"/>
                  </a:ext>
                </a:extLst>
              </a:tr>
              <a:tr h="503081">
                <a:tc>
                  <a:txBody>
                    <a:bodyPr/>
                    <a:lstStyle/>
                    <a:p>
                      <a:pPr algn="ctr">
                        <a:buNone/>
                      </a:pPr>
                      <a:r>
                        <a:rPr lang="en-US" sz="1800">
                          <a:effectLst/>
                        </a:rPr>
                        <a:t>6</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a:effectLst/>
                        </a:rPr>
                        <a:t>顯示設備</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dirty="0">
                          <a:effectLst/>
                        </a:rPr>
                        <a:t>螢幕與顯示器設備</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796534265"/>
                  </a:ext>
                </a:extLst>
              </a:tr>
              <a:tr h="503081">
                <a:tc>
                  <a:txBody>
                    <a:bodyPr/>
                    <a:lstStyle/>
                    <a:p>
                      <a:pPr algn="ctr">
                        <a:buNone/>
                      </a:pPr>
                      <a:r>
                        <a:rPr lang="en-US" sz="1800">
                          <a:effectLst/>
                        </a:rPr>
                        <a:t>7</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a:effectLst/>
                        </a:rPr>
                        <a:t>伺服器</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dirty="0">
                          <a:effectLst/>
                        </a:rPr>
                        <a:t>機房伺服器設備</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1028265133"/>
                  </a:ext>
                </a:extLst>
              </a:tr>
              <a:tr h="503081">
                <a:tc>
                  <a:txBody>
                    <a:bodyPr/>
                    <a:lstStyle/>
                    <a:p>
                      <a:pPr algn="ctr">
                        <a:buNone/>
                      </a:pPr>
                      <a:r>
                        <a:rPr lang="en-US" sz="1800">
                          <a:effectLst/>
                        </a:rPr>
                        <a:t>8</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a:effectLst/>
                        </a:rPr>
                        <a:t>周邊設備</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dirty="0">
                          <a:effectLst/>
                        </a:rPr>
                        <a:t>鍵盤滑鼠等周邊</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042234012"/>
                  </a:ext>
                </a:extLst>
              </a:tr>
              <a:tr h="503081">
                <a:tc>
                  <a:txBody>
                    <a:bodyPr/>
                    <a:lstStyle/>
                    <a:p>
                      <a:pPr algn="ctr">
                        <a:buNone/>
                      </a:pPr>
                      <a:r>
                        <a:rPr lang="en-US" sz="1800">
                          <a:effectLst/>
                        </a:rPr>
                        <a:t>9</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a:effectLst/>
                        </a:rPr>
                        <a:t>儲存設備</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800" dirty="0">
                          <a:effectLst/>
                        </a:rPr>
                        <a:t>NAS</a:t>
                      </a:r>
                      <a:r>
                        <a:rPr lang="zh-TW" sz="1800" dirty="0">
                          <a:effectLst/>
                        </a:rPr>
                        <a:t>與外接儲存</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1334884253"/>
                  </a:ext>
                </a:extLst>
              </a:tr>
              <a:tr h="503081">
                <a:tc>
                  <a:txBody>
                    <a:bodyPr/>
                    <a:lstStyle/>
                    <a:p>
                      <a:pPr algn="ctr">
                        <a:buNone/>
                      </a:pPr>
                      <a:r>
                        <a:rPr lang="en-US" sz="1800">
                          <a:effectLst/>
                        </a:rPr>
                        <a:t>10</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a:effectLst/>
                        </a:rPr>
                        <a:t>實驗設備</a:t>
                      </a:r>
                      <a:endParaRPr lang="zh-TW" sz="18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800" dirty="0">
                          <a:effectLst/>
                        </a:rPr>
                        <a:t>嵌入式開發設備</a:t>
                      </a:r>
                      <a:endParaRPr lang="zh-TW" sz="18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678645330"/>
                  </a:ext>
                </a:extLst>
              </a:tr>
            </a:tbl>
          </a:graphicData>
        </a:graphic>
      </p:graphicFrame>
      <p:sp>
        <p:nvSpPr>
          <p:cNvPr id="6" name="文字方塊 5">
            <a:extLst>
              <a:ext uri="{FF2B5EF4-FFF2-40B4-BE49-F238E27FC236}">
                <a16:creationId xmlns:a16="http://schemas.microsoft.com/office/drawing/2014/main" id="{7D16C5F4-84EA-D568-FBF8-189ADCADFF4A}"/>
              </a:ext>
            </a:extLst>
          </p:cNvPr>
          <p:cNvSpPr txBox="1"/>
          <p:nvPr/>
        </p:nvSpPr>
        <p:spPr>
          <a:xfrm>
            <a:off x="3048000" y="479213"/>
            <a:ext cx="6096000" cy="523220"/>
          </a:xfrm>
          <a:prstGeom prst="rect">
            <a:avLst/>
          </a:prstGeom>
          <a:noFill/>
        </p:spPr>
        <p:txBody>
          <a:bodyPr wrap="square">
            <a:spAutoFit/>
          </a:bodyPr>
          <a:lstStyle/>
          <a:p>
            <a:pPr algn="ctr">
              <a:spcBef>
                <a:spcPts val="800"/>
              </a:spcBef>
              <a:spcAft>
                <a:spcPts val="400"/>
              </a:spcAft>
              <a:buNone/>
            </a:pPr>
            <a:r>
              <a:rPr lang="zh-TW" altLang="zh-TW" sz="2800" b="1" dirty="0">
                <a:solidFill>
                  <a:srgbClr val="1F3A6B"/>
                </a:solidFill>
                <a:effectLst/>
                <a:latin typeface="標楷體" panose="03000509000000000000" pitchFamily="65" charset="-120"/>
                <a:ea typeface="標楷體" panose="03000509000000000000" pitchFamily="65" charset="-120"/>
                <a:cs typeface="標楷體" panose="03000509000000000000" pitchFamily="65" charset="-120"/>
              </a:rPr>
              <a:t>設備類別實例</a:t>
            </a:r>
            <a:endParaRPr lang="zh-TW" altLang="zh-TW" sz="2800" dirty="0">
              <a:effectLst/>
              <a:latin typeface="標楷體" panose="03000509000000000000" pitchFamily="65" charset="-120"/>
              <a:ea typeface="標楷體" panose="03000509000000000000" pitchFamily="65" charset="-120"/>
              <a:cs typeface="標楷體" panose="03000509000000000000" pitchFamily="65" charset="-120"/>
            </a:endParaRPr>
          </a:p>
        </p:txBody>
      </p:sp>
    </p:spTree>
    <p:extLst>
      <p:ext uri="{BB962C8B-B14F-4D97-AF65-F5344CB8AC3E}">
        <p14:creationId xmlns:p14="http://schemas.microsoft.com/office/powerpoint/2010/main" val="23672778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CD55A-DBA8-DF11-BB72-8BADF32BFEFE}"/>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466AEEDC-F0C1-BFCB-205B-1A7CB99A5842}"/>
              </a:ext>
            </a:extLst>
          </p:cNvPr>
          <p:cNvGrpSpPr/>
          <p:nvPr/>
        </p:nvGrpSpPr>
        <p:grpSpPr>
          <a:xfrm>
            <a:off x="-1127579" y="681035"/>
            <a:ext cx="6018893" cy="1200329"/>
            <a:chOff x="368300" y="1442660"/>
            <a:chExt cx="4722578" cy="1200329"/>
          </a:xfrm>
        </p:grpSpPr>
        <p:sp>
          <p:nvSpPr>
            <p:cNvPr id="5" name="矩形 4">
              <a:extLst>
                <a:ext uri="{FF2B5EF4-FFF2-40B4-BE49-F238E27FC236}">
                  <a16:creationId xmlns:a16="http://schemas.microsoft.com/office/drawing/2014/main" id="{A89C81BC-A0CF-BD1A-9CA8-06E0F12DF2D5}"/>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AE932DA6-1B27-8D3F-C52E-DD148D86A872}"/>
                </a:ext>
              </a:extLst>
            </p:cNvPr>
            <p:cNvSpPr txBox="1"/>
            <p:nvPr/>
          </p:nvSpPr>
          <p:spPr>
            <a:xfrm>
              <a:off x="4354278" y="1442660"/>
              <a:ext cx="736600" cy="1200329"/>
            </a:xfrm>
            <a:prstGeom prst="rect">
              <a:avLst/>
            </a:prstGeom>
            <a:noFill/>
          </p:spPr>
          <p:txBody>
            <a:bodyPr wrap="square">
              <a:spAutoFit/>
            </a:bodyPr>
            <a:lstStyle/>
            <a:p>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9F04AA51-4B29-2611-1519-B3987986E550}"/>
              </a:ext>
            </a:extLst>
          </p:cNvPr>
          <p:cNvSpPr txBox="1"/>
          <p:nvPr/>
        </p:nvSpPr>
        <p:spPr>
          <a:xfrm>
            <a:off x="362856" y="929063"/>
            <a:ext cx="640914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插入範例資料</a:t>
            </a:r>
            <a:r>
              <a:rPr lang="en-US" altLang="zh-TW" sz="3600" dirty="0">
                <a:solidFill>
                  <a:schemeClr val="bg1"/>
                </a:solidFill>
                <a:latin typeface="標楷體" panose="03000509000000000000" pitchFamily="65" charset="-120"/>
                <a:ea typeface="標楷體" panose="03000509000000000000" pitchFamily="65" charset="-120"/>
              </a:rPr>
              <a:t>SQL</a:t>
            </a:r>
            <a:endParaRPr lang="zh-TW" altLang="en-US" sz="3600" dirty="0">
              <a:solidFill>
                <a:schemeClr val="bg1"/>
              </a:solidFill>
              <a:latin typeface="標楷體" panose="03000509000000000000" pitchFamily="65" charset="-120"/>
              <a:ea typeface="標楷體" panose="03000509000000000000" pitchFamily="65" charset="-120"/>
            </a:endParaRPr>
          </a:p>
        </p:txBody>
      </p:sp>
      <p:sp>
        <p:nvSpPr>
          <p:cNvPr id="3" name="文字方塊 2">
            <a:extLst>
              <a:ext uri="{FF2B5EF4-FFF2-40B4-BE49-F238E27FC236}">
                <a16:creationId xmlns:a16="http://schemas.microsoft.com/office/drawing/2014/main" id="{BD409E1D-F2D8-FD87-05CB-361E21E17377}"/>
              </a:ext>
            </a:extLst>
          </p:cNvPr>
          <p:cNvSpPr txBox="1"/>
          <p:nvPr/>
        </p:nvSpPr>
        <p:spPr>
          <a:xfrm>
            <a:off x="246742" y="2875057"/>
            <a:ext cx="6724045" cy="1938992"/>
          </a:xfrm>
          <a:prstGeom prst="rect">
            <a:avLst/>
          </a:prstGeom>
          <a:noFill/>
        </p:spPr>
        <p:txBody>
          <a:bodyPr wrap="square">
            <a:spAutoFit/>
          </a:bodyPr>
          <a:lstStyle/>
          <a:p>
            <a:r>
              <a:rPr lang="en-US" altLang="zh-TW" sz="2000" dirty="0"/>
              <a:t>INSERT INTO Category (</a:t>
            </a:r>
            <a:r>
              <a:rPr lang="en-US" altLang="zh-TW" sz="2000" dirty="0" err="1"/>
              <a:t>cId</a:t>
            </a:r>
            <a:r>
              <a:rPr lang="en-US" altLang="zh-TW" sz="2000" dirty="0"/>
              <a:t>, </a:t>
            </a:r>
            <a:r>
              <a:rPr lang="en-US" altLang="zh-TW" sz="2000" dirty="0" err="1"/>
              <a:t>cName</a:t>
            </a:r>
            <a:r>
              <a:rPr lang="en-US" altLang="zh-TW" sz="2000" dirty="0"/>
              <a:t>, </a:t>
            </a:r>
            <a:r>
              <a:rPr lang="en-US" altLang="zh-TW" sz="2000" dirty="0" err="1"/>
              <a:t>cOutline</a:t>
            </a:r>
            <a:r>
              <a:rPr lang="en-US" altLang="zh-TW" sz="2000" dirty="0"/>
              <a:t>) VALUES</a:t>
            </a:r>
            <a:endParaRPr lang="zh-TW" altLang="zh-TW" sz="2000" dirty="0"/>
          </a:p>
          <a:p>
            <a:r>
              <a:rPr lang="en-US" altLang="zh-TW" sz="2000" dirty="0"/>
              <a:t>(1,'</a:t>
            </a:r>
            <a:r>
              <a:rPr lang="zh-TW" altLang="zh-TW" sz="2000" dirty="0"/>
              <a:t>電腦</a:t>
            </a:r>
            <a:r>
              <a:rPr lang="en-US" altLang="zh-TW" sz="2000" dirty="0"/>
              <a:t>',    '</a:t>
            </a:r>
            <a:r>
              <a:rPr lang="zh-TW" altLang="zh-TW" sz="2000" dirty="0"/>
              <a:t>桌機與筆電設備</a:t>
            </a:r>
            <a:r>
              <a:rPr lang="en-US" altLang="zh-TW" sz="2000" dirty="0"/>
              <a:t>'),</a:t>
            </a:r>
            <a:endParaRPr lang="zh-TW" altLang="zh-TW" sz="2000" dirty="0"/>
          </a:p>
          <a:p>
            <a:r>
              <a:rPr lang="en-US" altLang="zh-TW" sz="2000" dirty="0"/>
              <a:t>(2,'</a:t>
            </a:r>
            <a:r>
              <a:rPr lang="zh-TW" altLang="zh-TW" sz="2000" dirty="0"/>
              <a:t>投影機</a:t>
            </a:r>
            <a:r>
              <a:rPr lang="en-US" altLang="zh-TW" sz="2000" dirty="0"/>
              <a:t>',  '</a:t>
            </a:r>
            <a:r>
              <a:rPr lang="zh-TW" altLang="zh-TW" sz="2000" dirty="0"/>
              <a:t>教室投影設備</a:t>
            </a:r>
            <a:r>
              <a:rPr lang="en-US" altLang="zh-TW" sz="2000" dirty="0"/>
              <a:t>'),</a:t>
            </a:r>
            <a:endParaRPr lang="zh-TW" altLang="zh-TW" sz="2000" dirty="0"/>
          </a:p>
          <a:p>
            <a:r>
              <a:rPr lang="en-US" altLang="zh-TW" sz="2000" dirty="0"/>
              <a:t>(3,'</a:t>
            </a:r>
            <a:r>
              <a:rPr lang="zh-TW" altLang="zh-TW" sz="2000" dirty="0"/>
              <a:t>網路設備</a:t>
            </a:r>
            <a:r>
              <a:rPr lang="en-US" altLang="zh-TW" sz="2000" dirty="0"/>
              <a:t>','</a:t>
            </a:r>
            <a:r>
              <a:rPr lang="zh-TW" altLang="zh-TW" sz="2000" dirty="0"/>
              <a:t>路由器與交換器</a:t>
            </a:r>
            <a:r>
              <a:rPr lang="en-US" altLang="zh-TW" sz="2000" dirty="0"/>
              <a:t>'),</a:t>
            </a:r>
            <a:endParaRPr lang="zh-TW" altLang="zh-TW" sz="2000" dirty="0"/>
          </a:p>
          <a:p>
            <a:r>
              <a:rPr lang="en-US" altLang="zh-TW" sz="2000" dirty="0"/>
              <a:t>(4,'</a:t>
            </a:r>
            <a:r>
              <a:rPr lang="zh-TW" altLang="zh-TW" sz="2000" dirty="0"/>
              <a:t>攝影設備</a:t>
            </a:r>
            <a:r>
              <a:rPr lang="en-US" altLang="zh-TW" sz="2000" dirty="0"/>
              <a:t>','</a:t>
            </a:r>
            <a:r>
              <a:rPr lang="zh-TW" altLang="zh-TW" sz="2000" dirty="0"/>
              <a:t>相機與攝影器材</a:t>
            </a:r>
            <a:r>
              <a:rPr lang="en-US" altLang="zh-TW" sz="2000" dirty="0"/>
              <a:t>'),</a:t>
            </a:r>
            <a:endParaRPr lang="zh-TW" altLang="zh-TW" sz="2000" dirty="0"/>
          </a:p>
          <a:p>
            <a:r>
              <a:rPr lang="en-US" altLang="zh-TW" sz="2000" dirty="0"/>
              <a:t>(5,'</a:t>
            </a:r>
            <a:r>
              <a:rPr lang="zh-TW" altLang="zh-TW" sz="2000" dirty="0"/>
              <a:t>平板設備</a:t>
            </a:r>
            <a:r>
              <a:rPr lang="en-US" altLang="zh-TW" sz="2000" dirty="0"/>
              <a:t>','</a:t>
            </a:r>
            <a:r>
              <a:rPr lang="zh-TW" altLang="zh-TW" sz="2000" dirty="0"/>
              <a:t>平板與行動裝置</a:t>
            </a:r>
            <a:r>
              <a:rPr lang="en-US" altLang="zh-TW" sz="2000" dirty="0"/>
              <a:t>');</a:t>
            </a:r>
            <a:endParaRPr lang="zh-TW" altLang="zh-TW" sz="2000" dirty="0"/>
          </a:p>
        </p:txBody>
      </p:sp>
      <p:pic>
        <p:nvPicPr>
          <p:cNvPr id="8" name="圖片 7">
            <a:extLst>
              <a:ext uri="{FF2B5EF4-FFF2-40B4-BE49-F238E27FC236}">
                <a16:creationId xmlns:a16="http://schemas.microsoft.com/office/drawing/2014/main" id="{C0A0B1F5-FB9F-6239-D01C-80B9B09241F4}"/>
              </a:ext>
            </a:extLst>
          </p:cNvPr>
          <p:cNvPicPr>
            <a:picLocks noChangeAspect="1"/>
          </p:cNvPicPr>
          <p:nvPr/>
        </p:nvPicPr>
        <p:blipFill>
          <a:blip r:embed="rId2"/>
          <a:stretch>
            <a:fillRect/>
          </a:stretch>
        </p:blipFill>
        <p:spPr>
          <a:xfrm>
            <a:off x="6771997" y="2627086"/>
            <a:ext cx="4963441" cy="2881362"/>
          </a:xfrm>
          <a:prstGeom prst="rect">
            <a:avLst/>
          </a:prstGeom>
        </p:spPr>
      </p:pic>
    </p:spTree>
    <p:extLst>
      <p:ext uri="{BB962C8B-B14F-4D97-AF65-F5344CB8AC3E}">
        <p14:creationId xmlns:p14="http://schemas.microsoft.com/office/powerpoint/2010/main" val="34365242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569D8-ACAF-B65D-09EE-13E78715DE76}"/>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3AE4B44C-F12B-29A4-3FC5-701201F1D0B0}"/>
              </a:ext>
            </a:extLst>
          </p:cNvPr>
          <p:cNvGrpSpPr/>
          <p:nvPr/>
        </p:nvGrpSpPr>
        <p:grpSpPr>
          <a:xfrm>
            <a:off x="-350247" y="58141"/>
            <a:ext cx="9226551" cy="1200329"/>
            <a:chOff x="368300" y="1442660"/>
            <a:chExt cx="4722578" cy="1200329"/>
          </a:xfrm>
        </p:grpSpPr>
        <p:sp>
          <p:nvSpPr>
            <p:cNvPr id="5" name="矩形 4">
              <a:extLst>
                <a:ext uri="{FF2B5EF4-FFF2-40B4-BE49-F238E27FC236}">
                  <a16:creationId xmlns:a16="http://schemas.microsoft.com/office/drawing/2014/main" id="{5DB1393A-7F5B-6167-FB4E-B6D1B48F76D5}"/>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文字方塊 5">
              <a:extLst>
                <a:ext uri="{FF2B5EF4-FFF2-40B4-BE49-F238E27FC236}">
                  <a16:creationId xmlns:a16="http://schemas.microsoft.com/office/drawing/2014/main" id="{239A0B37-4C48-6B69-6074-ACA23F7609F2}"/>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7</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6D21FC91-D319-2443-76D7-DD1C7AA7B121}"/>
              </a:ext>
            </a:extLst>
          </p:cNvPr>
          <p:cNvSpPr txBox="1"/>
          <p:nvPr/>
        </p:nvSpPr>
        <p:spPr>
          <a:xfrm>
            <a:off x="49716" y="341381"/>
            <a:ext cx="8426627"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資料表</a:t>
            </a:r>
            <a:r>
              <a:rPr lang="en-US" altLang="zh-TW" sz="3600" dirty="0">
                <a:solidFill>
                  <a:schemeClr val="bg1"/>
                </a:solidFill>
                <a:latin typeface="標楷體" panose="03000509000000000000" pitchFamily="65" charset="-120"/>
                <a:ea typeface="標楷體" panose="03000509000000000000" pitchFamily="65" charset="-120"/>
              </a:rPr>
              <a:t>SQL</a:t>
            </a:r>
            <a:r>
              <a:rPr lang="zh-TW" altLang="en-US" sz="3600" dirty="0">
                <a:solidFill>
                  <a:schemeClr val="bg1"/>
                </a:solidFill>
                <a:latin typeface="標楷體" panose="03000509000000000000" pitchFamily="65" charset="-120"/>
                <a:ea typeface="標楷體" panose="03000509000000000000" pitchFamily="65" charset="-120"/>
              </a:rPr>
              <a:t>：</a:t>
            </a:r>
            <a:r>
              <a:rPr lang="en-US" altLang="zh-TW" sz="3600" dirty="0" err="1">
                <a:solidFill>
                  <a:schemeClr val="bg1"/>
                </a:solidFill>
                <a:latin typeface="標楷體" panose="03000509000000000000" pitchFamily="65" charset="-120"/>
                <a:ea typeface="標楷體" panose="03000509000000000000" pitchFamily="65" charset="-120"/>
              </a:rPr>
              <a:t>BorrowRecord</a:t>
            </a:r>
            <a:r>
              <a:rPr lang="en-US" altLang="zh-TW" sz="3600" dirty="0">
                <a:solidFill>
                  <a:schemeClr val="bg1"/>
                </a:solidFill>
                <a:latin typeface="標楷體" panose="03000509000000000000" pitchFamily="65" charset="-120"/>
                <a:ea typeface="標楷體" panose="03000509000000000000" pitchFamily="65" charset="-120"/>
              </a:rPr>
              <a:t> </a:t>
            </a:r>
            <a:r>
              <a:rPr lang="zh-TW" altLang="en-US" sz="3600" dirty="0">
                <a:solidFill>
                  <a:schemeClr val="bg1"/>
                </a:solidFill>
                <a:latin typeface="標楷體" panose="03000509000000000000" pitchFamily="65" charset="-120"/>
                <a:ea typeface="標楷體" panose="03000509000000000000" pitchFamily="65" charset="-120"/>
              </a:rPr>
              <a:t>借用紀錄</a:t>
            </a:r>
          </a:p>
        </p:txBody>
      </p:sp>
      <p:sp>
        <p:nvSpPr>
          <p:cNvPr id="10" name="文字方塊 9">
            <a:extLst>
              <a:ext uri="{FF2B5EF4-FFF2-40B4-BE49-F238E27FC236}">
                <a16:creationId xmlns:a16="http://schemas.microsoft.com/office/drawing/2014/main" id="{317B6154-B621-77C5-1E64-1637546E52BC}"/>
              </a:ext>
            </a:extLst>
          </p:cNvPr>
          <p:cNvSpPr txBox="1"/>
          <p:nvPr/>
        </p:nvSpPr>
        <p:spPr>
          <a:xfrm>
            <a:off x="135441" y="1603886"/>
            <a:ext cx="6046284" cy="4770537"/>
          </a:xfrm>
          <a:prstGeom prst="rect">
            <a:avLst/>
          </a:prstGeom>
          <a:noFill/>
        </p:spPr>
        <p:txBody>
          <a:bodyPr wrap="square">
            <a:spAutoFit/>
          </a:bodyPr>
          <a:lstStyle/>
          <a:p>
            <a:pPr marL="228600">
              <a:buNone/>
            </a:pPr>
            <a:r>
              <a:rPr lang="en-US" altLang="zh-TW" sz="1600" dirty="0">
                <a:effectLst/>
                <a:ea typeface="標楷體" panose="03000509000000000000" pitchFamily="65" charset="-120"/>
                <a:cs typeface="標楷體" panose="03000509000000000000" pitchFamily="65" charset="-120"/>
              </a:rPr>
              <a:t>CREATE TABLE </a:t>
            </a:r>
            <a:r>
              <a:rPr lang="en-US" altLang="zh-TW" sz="1600" dirty="0" err="1">
                <a:effectLst/>
                <a:ea typeface="標楷體" panose="03000509000000000000" pitchFamily="65" charset="-120"/>
                <a:cs typeface="標楷體" panose="03000509000000000000" pitchFamily="65" charset="-120"/>
              </a:rPr>
              <a:t>BorrowRecord</a:t>
            </a:r>
            <a:r>
              <a:rPr lang="en-US" altLang="zh-TW" sz="1600" dirty="0">
                <a:effectLst/>
                <a:ea typeface="標楷體" panose="03000509000000000000" pitchFamily="65" charset="-120"/>
                <a:cs typeface="標楷體" panose="03000509000000000000" pitchFamily="65" charset="-120"/>
              </a:rPr>
              <a:t> (</a:t>
            </a: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bId</a:t>
            </a:r>
            <a:r>
              <a:rPr lang="en-US" altLang="zh-TW" sz="1600" dirty="0">
                <a:effectLst/>
                <a:ea typeface="標楷體" panose="03000509000000000000" pitchFamily="65" charset="-120"/>
                <a:cs typeface="標楷體" panose="03000509000000000000" pitchFamily="65" charset="-120"/>
              </a:rPr>
              <a:t>           INT        NOT NULL AUTO_INCREMENT,</a:t>
            </a: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mId</a:t>
            </a:r>
            <a:r>
              <a:rPr lang="en-US" altLang="zh-TW" sz="1600" dirty="0">
                <a:effectLst/>
                <a:ea typeface="標楷體" panose="03000509000000000000" pitchFamily="65" charset="-120"/>
                <a:cs typeface="標楷體" panose="03000509000000000000" pitchFamily="65" charset="-120"/>
              </a:rPr>
              <a:t>           INT        NOT NULL,</a:t>
            </a: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eId</a:t>
            </a:r>
            <a:r>
              <a:rPr lang="en-US" altLang="zh-TW" sz="1600" dirty="0">
                <a:effectLst/>
                <a:ea typeface="標楷體" panose="03000509000000000000" pitchFamily="65" charset="-120"/>
                <a:cs typeface="標楷體" panose="03000509000000000000" pitchFamily="65" charset="-120"/>
              </a:rPr>
              <a:t>           INT        NOT NULL,</a:t>
            </a: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bApplyDate</a:t>
            </a:r>
            <a:r>
              <a:rPr lang="en-US" altLang="zh-TW" sz="1600" dirty="0">
                <a:effectLst/>
                <a:ea typeface="標楷體" panose="03000509000000000000" pitchFamily="65" charset="-120"/>
                <a:cs typeface="標楷體" panose="03000509000000000000" pitchFamily="65" charset="-120"/>
              </a:rPr>
              <a:t>    DATE       NOT NULL,</a:t>
            </a: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bApprovedBy</a:t>
            </a:r>
            <a:r>
              <a:rPr lang="en-US" altLang="zh-TW" sz="1600" dirty="0">
                <a:effectLst/>
                <a:ea typeface="標楷體" panose="03000509000000000000" pitchFamily="65" charset="-120"/>
                <a:cs typeface="標楷體" panose="03000509000000000000" pitchFamily="65" charset="-120"/>
              </a:rPr>
              <a:t>   INT        NULL,</a:t>
            </a: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bApprovedDate</a:t>
            </a:r>
            <a:r>
              <a:rPr lang="en-US" altLang="zh-TW" sz="1600" dirty="0">
                <a:effectLst/>
                <a:ea typeface="標楷體" panose="03000509000000000000" pitchFamily="65" charset="-120"/>
                <a:cs typeface="標楷體" panose="03000509000000000000" pitchFamily="65" charset="-120"/>
              </a:rPr>
              <a:t> DATE       NULL,</a:t>
            </a: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bStartDate</a:t>
            </a:r>
            <a:r>
              <a:rPr lang="en-US" altLang="zh-TW" sz="1600" dirty="0">
                <a:effectLst/>
                <a:ea typeface="標楷體" panose="03000509000000000000" pitchFamily="65" charset="-120"/>
                <a:cs typeface="標楷體" panose="03000509000000000000" pitchFamily="65" charset="-120"/>
              </a:rPr>
              <a:t>    DATE       NOT NULL,</a:t>
            </a: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bEndDate</a:t>
            </a:r>
            <a:r>
              <a:rPr lang="en-US" altLang="zh-TW" sz="1600" dirty="0">
                <a:effectLst/>
                <a:ea typeface="標楷體" panose="03000509000000000000" pitchFamily="65" charset="-120"/>
                <a:cs typeface="標楷體" panose="03000509000000000000" pitchFamily="65" charset="-120"/>
              </a:rPr>
              <a:t>      DATE       NOT NULL,</a:t>
            </a: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bReturnDate</a:t>
            </a:r>
            <a:r>
              <a:rPr lang="en-US" altLang="zh-TW" sz="1600" dirty="0">
                <a:effectLst/>
                <a:ea typeface="標楷體" panose="03000509000000000000" pitchFamily="65" charset="-120"/>
                <a:cs typeface="標楷體" panose="03000509000000000000" pitchFamily="65" charset="-120"/>
              </a:rPr>
              <a:t>   DATE       NULL,</a:t>
            </a:r>
          </a:p>
          <a:p>
            <a:pPr marL="228600">
              <a:buNone/>
            </a:pPr>
            <a:r>
              <a:rPr lang="en-US" altLang="zh-TW" sz="1600" dirty="0">
                <a:effectLst/>
                <a:ea typeface="標楷體" panose="03000509000000000000" pitchFamily="65" charset="-120"/>
                <a:cs typeface="標楷體" panose="03000509000000000000" pitchFamily="65" charset="-120"/>
              </a:rPr>
              <a:t>    </a:t>
            </a:r>
            <a:r>
              <a:rPr lang="en-US" altLang="zh-TW" sz="1600" dirty="0" err="1">
                <a:effectLst/>
                <a:ea typeface="標楷體" panose="03000509000000000000" pitchFamily="65" charset="-120"/>
                <a:cs typeface="標楷體" panose="03000509000000000000" pitchFamily="65" charset="-120"/>
              </a:rPr>
              <a:t>bStatus</a:t>
            </a:r>
            <a:r>
              <a:rPr lang="en-US" altLang="zh-TW" sz="1600" dirty="0">
                <a:effectLst/>
                <a:ea typeface="標楷體" panose="03000509000000000000" pitchFamily="65" charset="-120"/>
                <a:cs typeface="標楷體" panose="03000509000000000000" pitchFamily="65" charset="-120"/>
              </a:rPr>
              <a:t>       VARCHAR(6) NOT NULL DEFAULT '</a:t>
            </a:r>
            <a:r>
              <a:rPr lang="zh-TW" altLang="en-US" sz="1600" dirty="0">
                <a:effectLst/>
                <a:ea typeface="標楷體" panose="03000509000000000000" pitchFamily="65" charset="-120"/>
                <a:cs typeface="標楷體" panose="03000509000000000000" pitchFamily="65" charset="-120"/>
              </a:rPr>
              <a:t>申請中</a:t>
            </a:r>
            <a:r>
              <a:rPr lang="en-US" altLang="zh-TW" sz="1600" dirty="0">
                <a:effectLst/>
                <a:ea typeface="標楷體" panose="03000509000000000000" pitchFamily="65" charset="-120"/>
                <a:cs typeface="標楷體" panose="03000509000000000000" pitchFamily="65" charset="-120"/>
              </a:rPr>
              <a:t>',</a:t>
            </a:r>
          </a:p>
          <a:p>
            <a:pPr marL="228600">
              <a:buNone/>
            </a:pPr>
            <a:r>
              <a:rPr lang="en-US" altLang="zh-TW" sz="1600" dirty="0">
                <a:effectLst/>
                <a:ea typeface="標楷體" panose="03000509000000000000" pitchFamily="65" charset="-120"/>
                <a:cs typeface="標楷體" panose="03000509000000000000" pitchFamily="65" charset="-120"/>
              </a:rPr>
              <a:t>    PRIMARY KEY (</a:t>
            </a:r>
            <a:r>
              <a:rPr lang="en-US" altLang="zh-TW" sz="1600" dirty="0" err="1">
                <a:effectLst/>
                <a:ea typeface="標楷體" panose="03000509000000000000" pitchFamily="65" charset="-120"/>
                <a:cs typeface="標楷體" panose="03000509000000000000" pitchFamily="65" charset="-120"/>
              </a:rPr>
              <a:t>bId</a:t>
            </a:r>
            <a:r>
              <a:rPr lang="en-US" altLang="zh-TW" sz="1600" dirty="0">
                <a:effectLst/>
                <a:ea typeface="標楷體" panose="03000509000000000000" pitchFamily="65" charset="-120"/>
                <a:cs typeface="標楷體" panose="03000509000000000000" pitchFamily="65" charset="-120"/>
              </a:rPr>
              <a:t>),</a:t>
            </a:r>
          </a:p>
          <a:p>
            <a:pPr marL="228600">
              <a:buNone/>
            </a:pPr>
            <a:r>
              <a:rPr lang="en-US" altLang="zh-TW" sz="1600" dirty="0">
                <a:effectLst/>
                <a:ea typeface="標楷體" panose="03000509000000000000" pitchFamily="65" charset="-120"/>
                <a:cs typeface="標楷體" panose="03000509000000000000" pitchFamily="65" charset="-120"/>
              </a:rPr>
              <a:t>    CONSTRAINT </a:t>
            </a:r>
            <a:r>
              <a:rPr lang="en-US" altLang="zh-TW" sz="1600" dirty="0" err="1">
                <a:effectLst/>
                <a:ea typeface="標楷體" panose="03000509000000000000" pitchFamily="65" charset="-120"/>
                <a:cs typeface="標楷體" panose="03000509000000000000" pitchFamily="65" charset="-120"/>
              </a:rPr>
              <a:t>fk_borrow_member</a:t>
            </a:r>
            <a:endParaRPr lang="en-US"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FOREIGN KEY (</a:t>
            </a:r>
            <a:r>
              <a:rPr lang="en-US" altLang="zh-TW" sz="1600" dirty="0" err="1">
                <a:effectLst/>
                <a:ea typeface="標楷體" panose="03000509000000000000" pitchFamily="65" charset="-120"/>
                <a:cs typeface="標楷體" panose="03000509000000000000" pitchFamily="65" charset="-120"/>
              </a:rPr>
              <a:t>mId</a:t>
            </a:r>
            <a:r>
              <a:rPr lang="en-US" altLang="zh-TW" sz="1600" dirty="0">
                <a:effectLst/>
                <a:ea typeface="標楷體" panose="03000509000000000000" pitchFamily="65" charset="-120"/>
                <a:cs typeface="標楷體" panose="03000509000000000000" pitchFamily="65" charset="-120"/>
              </a:rPr>
              <a:t>) REFERENCES Member(</a:t>
            </a:r>
            <a:r>
              <a:rPr lang="en-US" altLang="zh-TW" sz="1600" dirty="0" err="1">
                <a:effectLst/>
                <a:ea typeface="標楷體" panose="03000509000000000000" pitchFamily="65" charset="-120"/>
                <a:cs typeface="標楷體" panose="03000509000000000000" pitchFamily="65" charset="-120"/>
              </a:rPr>
              <a:t>mId</a:t>
            </a:r>
            <a:r>
              <a:rPr lang="en-US" altLang="zh-TW" sz="1600" dirty="0">
                <a:effectLst/>
                <a:ea typeface="標楷體" panose="03000509000000000000" pitchFamily="65" charset="-120"/>
                <a:cs typeface="標楷體" panose="03000509000000000000" pitchFamily="65" charset="-120"/>
              </a:rPr>
              <a:t>)</a:t>
            </a:r>
          </a:p>
          <a:p>
            <a:pPr marL="228600">
              <a:buNone/>
            </a:pPr>
            <a:r>
              <a:rPr lang="en-US" altLang="zh-TW" sz="1600" dirty="0">
                <a:effectLst/>
                <a:ea typeface="標楷體" panose="03000509000000000000" pitchFamily="65" charset="-120"/>
                <a:cs typeface="標楷體" panose="03000509000000000000" pitchFamily="65" charset="-120"/>
              </a:rPr>
              <a:t>        ON UPDATE RESTRICT ON DELETE RESTRICT,</a:t>
            </a:r>
          </a:p>
          <a:p>
            <a:pPr marL="228600">
              <a:buNone/>
            </a:pPr>
            <a:r>
              <a:rPr lang="en-US" altLang="zh-TW" sz="1600" dirty="0">
                <a:effectLst/>
                <a:ea typeface="標楷體" panose="03000509000000000000" pitchFamily="65" charset="-120"/>
                <a:cs typeface="標楷體" panose="03000509000000000000" pitchFamily="65" charset="-120"/>
              </a:rPr>
              <a:t>    CONSTRAINT </a:t>
            </a:r>
            <a:r>
              <a:rPr lang="en-US" altLang="zh-TW" sz="1600" dirty="0" err="1">
                <a:effectLst/>
                <a:ea typeface="標楷體" panose="03000509000000000000" pitchFamily="65" charset="-120"/>
                <a:cs typeface="標楷體" panose="03000509000000000000" pitchFamily="65" charset="-120"/>
              </a:rPr>
              <a:t>fk_borrow_equipment</a:t>
            </a:r>
            <a:endParaRPr lang="en-US" altLang="zh-TW" sz="1600" dirty="0">
              <a:effectLst/>
              <a:ea typeface="標楷體" panose="03000509000000000000" pitchFamily="65" charset="-120"/>
              <a:cs typeface="標楷體" panose="03000509000000000000" pitchFamily="65" charset="-120"/>
            </a:endParaRPr>
          </a:p>
          <a:p>
            <a:pPr marL="228600">
              <a:buNone/>
            </a:pPr>
            <a:r>
              <a:rPr lang="en-US" altLang="zh-TW" sz="1600" dirty="0">
                <a:effectLst/>
                <a:ea typeface="標楷體" panose="03000509000000000000" pitchFamily="65" charset="-120"/>
                <a:cs typeface="標楷體" panose="03000509000000000000" pitchFamily="65" charset="-120"/>
              </a:rPr>
              <a:t>        FOREIGN KEY (</a:t>
            </a:r>
            <a:r>
              <a:rPr lang="en-US" altLang="zh-TW" sz="1600" dirty="0" err="1">
                <a:effectLst/>
                <a:ea typeface="標楷體" panose="03000509000000000000" pitchFamily="65" charset="-120"/>
                <a:cs typeface="標楷體" panose="03000509000000000000" pitchFamily="65" charset="-120"/>
              </a:rPr>
              <a:t>eId</a:t>
            </a:r>
            <a:r>
              <a:rPr lang="en-US" altLang="zh-TW" sz="1600" dirty="0">
                <a:effectLst/>
                <a:ea typeface="標楷體" panose="03000509000000000000" pitchFamily="65" charset="-120"/>
                <a:cs typeface="標楷體" panose="03000509000000000000" pitchFamily="65" charset="-120"/>
              </a:rPr>
              <a:t>) REFERENCES Equipment(</a:t>
            </a:r>
            <a:r>
              <a:rPr lang="en-US" altLang="zh-TW" sz="1600" dirty="0" err="1">
                <a:effectLst/>
                <a:ea typeface="標楷體" panose="03000509000000000000" pitchFamily="65" charset="-120"/>
                <a:cs typeface="標楷體" panose="03000509000000000000" pitchFamily="65" charset="-120"/>
              </a:rPr>
              <a:t>eId</a:t>
            </a:r>
            <a:r>
              <a:rPr lang="en-US" altLang="zh-TW" sz="1600" dirty="0">
                <a:effectLst/>
                <a:ea typeface="標楷體" panose="03000509000000000000" pitchFamily="65" charset="-120"/>
                <a:cs typeface="標楷體" panose="03000509000000000000" pitchFamily="65" charset="-120"/>
              </a:rPr>
              <a:t>)</a:t>
            </a:r>
          </a:p>
          <a:p>
            <a:pPr marL="228600">
              <a:buNone/>
            </a:pPr>
            <a:r>
              <a:rPr lang="en-US" altLang="zh-TW" sz="1600" dirty="0">
                <a:effectLst/>
                <a:ea typeface="標楷體" panose="03000509000000000000" pitchFamily="65" charset="-120"/>
                <a:cs typeface="標楷體" panose="03000509000000000000" pitchFamily="65" charset="-120"/>
              </a:rPr>
              <a:t>        ON UPDATE RESTRICT ON DELETE RESTRICT,</a:t>
            </a:r>
          </a:p>
          <a:p>
            <a:pPr marL="228600">
              <a:buNone/>
            </a:pPr>
            <a:endParaRPr lang="zh-TW" altLang="zh-TW" sz="1600" dirty="0">
              <a:effectLst/>
              <a:ea typeface="標楷體" panose="03000509000000000000" pitchFamily="65" charset="-120"/>
              <a:cs typeface="標楷體" panose="03000509000000000000" pitchFamily="65" charset="-120"/>
            </a:endParaRPr>
          </a:p>
        </p:txBody>
      </p:sp>
      <p:sp>
        <p:nvSpPr>
          <p:cNvPr id="3" name="文字方塊 2">
            <a:extLst>
              <a:ext uri="{FF2B5EF4-FFF2-40B4-BE49-F238E27FC236}">
                <a16:creationId xmlns:a16="http://schemas.microsoft.com/office/drawing/2014/main" id="{1B0F4377-E954-369E-DE9F-AE7B3F27BC99}"/>
              </a:ext>
            </a:extLst>
          </p:cNvPr>
          <p:cNvSpPr txBox="1"/>
          <p:nvPr/>
        </p:nvSpPr>
        <p:spPr>
          <a:xfrm>
            <a:off x="6145717" y="1603886"/>
            <a:ext cx="6046283" cy="3970318"/>
          </a:xfrm>
          <a:prstGeom prst="rect">
            <a:avLst/>
          </a:prstGeom>
          <a:noFill/>
        </p:spPr>
        <p:txBody>
          <a:bodyPr wrap="square">
            <a:spAutoFit/>
          </a:bodyPr>
          <a:lstStyle/>
          <a:p>
            <a:pPr marL="228600">
              <a:buNone/>
            </a:pPr>
            <a:r>
              <a:rPr lang="en-US" altLang="zh-TW" sz="1800" dirty="0">
                <a:effectLst/>
                <a:ea typeface="標楷體" panose="03000509000000000000" pitchFamily="65" charset="-120"/>
                <a:cs typeface="標楷體" panose="03000509000000000000" pitchFamily="65" charset="-120"/>
              </a:rPr>
              <a:t> CONSTRAINT </a:t>
            </a:r>
            <a:r>
              <a:rPr lang="en-US" altLang="zh-TW" sz="1800" dirty="0" err="1">
                <a:effectLst/>
                <a:ea typeface="標楷體" panose="03000509000000000000" pitchFamily="65" charset="-120"/>
                <a:cs typeface="標楷體" panose="03000509000000000000" pitchFamily="65" charset="-120"/>
              </a:rPr>
              <a:t>fk_borrow_approver</a:t>
            </a:r>
            <a:endParaRPr lang="en-US" altLang="zh-TW" sz="18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FOREIGN KEY (</a:t>
            </a:r>
            <a:r>
              <a:rPr lang="en-US" altLang="zh-TW" sz="1800" dirty="0" err="1">
                <a:effectLst/>
                <a:ea typeface="標楷體" panose="03000509000000000000" pitchFamily="65" charset="-120"/>
                <a:cs typeface="標楷體" panose="03000509000000000000" pitchFamily="65" charset="-120"/>
              </a:rPr>
              <a:t>bApprovedBy</a:t>
            </a:r>
            <a:r>
              <a:rPr lang="en-US" altLang="zh-TW" sz="1800" dirty="0">
                <a:effectLst/>
                <a:ea typeface="標楷體" panose="03000509000000000000" pitchFamily="65" charset="-120"/>
                <a:cs typeface="標楷體" panose="03000509000000000000" pitchFamily="65" charset="-120"/>
              </a:rPr>
              <a:t>) REFERENCES Member(</a:t>
            </a:r>
            <a:r>
              <a:rPr lang="en-US" altLang="zh-TW" sz="1800" dirty="0" err="1">
                <a:effectLst/>
                <a:ea typeface="標楷體" panose="03000509000000000000" pitchFamily="65" charset="-120"/>
                <a:cs typeface="標楷體" panose="03000509000000000000" pitchFamily="65" charset="-120"/>
              </a:rPr>
              <a:t>mId</a:t>
            </a:r>
            <a:r>
              <a:rPr lang="en-US" altLang="zh-TW" sz="1800" dirty="0">
                <a:effectLst/>
                <a:ea typeface="標楷體" panose="03000509000000000000" pitchFamily="65" charset="-120"/>
                <a:cs typeface="標楷體" panose="03000509000000000000" pitchFamily="65" charset="-120"/>
              </a:rPr>
              <a:t>)</a:t>
            </a:r>
          </a:p>
          <a:p>
            <a:pPr marL="228600">
              <a:buNone/>
            </a:pPr>
            <a:r>
              <a:rPr lang="en-US" altLang="zh-TW" sz="1800" dirty="0">
                <a:effectLst/>
                <a:ea typeface="標楷體" panose="03000509000000000000" pitchFamily="65" charset="-120"/>
                <a:cs typeface="標楷體" panose="03000509000000000000" pitchFamily="65" charset="-120"/>
              </a:rPr>
              <a:t>        ON UPDATE RESTRICT ON DELETE RESTRICT,</a:t>
            </a:r>
          </a:p>
          <a:p>
            <a:pPr marL="228600">
              <a:buNone/>
            </a:pPr>
            <a:r>
              <a:rPr lang="en-US" altLang="zh-TW" sz="1800" dirty="0">
                <a:effectLst/>
                <a:ea typeface="標楷體" panose="03000509000000000000" pitchFamily="65" charset="-120"/>
                <a:cs typeface="標楷體" panose="03000509000000000000" pitchFamily="65" charset="-120"/>
              </a:rPr>
              <a:t>    CONSTRAINT </a:t>
            </a:r>
            <a:r>
              <a:rPr lang="en-US" altLang="zh-TW" sz="1800" dirty="0" err="1">
                <a:effectLst/>
                <a:ea typeface="標楷體" panose="03000509000000000000" pitchFamily="65" charset="-120"/>
                <a:cs typeface="標楷體" panose="03000509000000000000" pitchFamily="65" charset="-120"/>
              </a:rPr>
              <a:t>chk_bEndDate</a:t>
            </a:r>
            <a:endParaRPr lang="en-US" altLang="zh-TW" sz="18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CHECK (</a:t>
            </a:r>
            <a:r>
              <a:rPr lang="en-US" altLang="zh-TW" sz="1800" dirty="0" err="1">
                <a:effectLst/>
                <a:ea typeface="標楷體" panose="03000509000000000000" pitchFamily="65" charset="-120"/>
                <a:cs typeface="標楷體" panose="03000509000000000000" pitchFamily="65" charset="-120"/>
              </a:rPr>
              <a:t>bEndDate</a:t>
            </a:r>
            <a:r>
              <a:rPr lang="en-US" altLang="zh-TW" sz="1800" dirty="0">
                <a:effectLst/>
                <a:ea typeface="標楷體" panose="03000509000000000000" pitchFamily="65" charset="-120"/>
                <a:cs typeface="標楷體" panose="03000509000000000000" pitchFamily="65" charset="-120"/>
              </a:rPr>
              <a:t> &gt;= </a:t>
            </a:r>
            <a:r>
              <a:rPr lang="en-US" altLang="zh-TW" sz="1800" dirty="0" err="1">
                <a:effectLst/>
                <a:ea typeface="標楷體" panose="03000509000000000000" pitchFamily="65" charset="-120"/>
                <a:cs typeface="標楷體" panose="03000509000000000000" pitchFamily="65" charset="-120"/>
              </a:rPr>
              <a:t>bStartDate</a:t>
            </a:r>
            <a:r>
              <a:rPr lang="en-US" altLang="zh-TW" sz="1800" dirty="0">
                <a:effectLst/>
                <a:ea typeface="標楷體" panose="03000509000000000000" pitchFamily="65" charset="-120"/>
                <a:cs typeface="標楷體" panose="03000509000000000000" pitchFamily="65" charset="-120"/>
              </a:rPr>
              <a:t>),</a:t>
            </a:r>
          </a:p>
          <a:p>
            <a:pPr marL="228600">
              <a:buNone/>
            </a:pPr>
            <a:r>
              <a:rPr lang="en-US" altLang="zh-TW" sz="1800" dirty="0">
                <a:effectLst/>
                <a:ea typeface="標楷體" panose="03000509000000000000" pitchFamily="65" charset="-120"/>
                <a:cs typeface="標楷體" panose="03000509000000000000" pitchFamily="65" charset="-120"/>
              </a:rPr>
              <a:t>    CONSTRAINT </a:t>
            </a:r>
            <a:r>
              <a:rPr lang="en-US" altLang="zh-TW" sz="1800" dirty="0" err="1">
                <a:effectLst/>
                <a:ea typeface="標楷體" panose="03000509000000000000" pitchFamily="65" charset="-120"/>
                <a:cs typeface="標楷體" panose="03000509000000000000" pitchFamily="65" charset="-120"/>
              </a:rPr>
              <a:t>chk_bReturnDate</a:t>
            </a:r>
            <a:endParaRPr lang="en-US" altLang="zh-TW" sz="18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CHECK (</a:t>
            </a:r>
            <a:r>
              <a:rPr lang="en-US" altLang="zh-TW" sz="1800" dirty="0" err="1">
                <a:effectLst/>
                <a:ea typeface="標楷體" panose="03000509000000000000" pitchFamily="65" charset="-120"/>
                <a:cs typeface="標楷體" panose="03000509000000000000" pitchFamily="65" charset="-120"/>
              </a:rPr>
              <a:t>bReturnDate</a:t>
            </a:r>
            <a:r>
              <a:rPr lang="en-US" altLang="zh-TW" sz="1800" dirty="0">
                <a:effectLst/>
                <a:ea typeface="標楷體" panose="03000509000000000000" pitchFamily="65" charset="-120"/>
                <a:cs typeface="標楷體" panose="03000509000000000000" pitchFamily="65" charset="-120"/>
              </a:rPr>
              <a:t> IS NULL OR </a:t>
            </a:r>
            <a:r>
              <a:rPr lang="en-US" altLang="zh-TW" sz="1800" dirty="0" err="1">
                <a:effectLst/>
                <a:ea typeface="標楷體" panose="03000509000000000000" pitchFamily="65" charset="-120"/>
                <a:cs typeface="標楷體" panose="03000509000000000000" pitchFamily="65" charset="-120"/>
              </a:rPr>
              <a:t>bReturnDate</a:t>
            </a:r>
            <a:r>
              <a:rPr lang="en-US" altLang="zh-TW" sz="1800" dirty="0">
                <a:effectLst/>
                <a:ea typeface="標楷體" panose="03000509000000000000" pitchFamily="65" charset="-120"/>
                <a:cs typeface="標楷體" panose="03000509000000000000" pitchFamily="65" charset="-120"/>
              </a:rPr>
              <a:t> &gt;= </a:t>
            </a:r>
            <a:r>
              <a:rPr lang="en-US" altLang="zh-TW" sz="1800" dirty="0" err="1">
                <a:effectLst/>
                <a:ea typeface="標楷體" panose="03000509000000000000" pitchFamily="65" charset="-120"/>
                <a:cs typeface="標楷體" panose="03000509000000000000" pitchFamily="65" charset="-120"/>
              </a:rPr>
              <a:t>bStartDate</a:t>
            </a:r>
            <a:r>
              <a:rPr lang="en-US" altLang="zh-TW" sz="1800" dirty="0">
                <a:effectLst/>
                <a:ea typeface="標楷體" panose="03000509000000000000" pitchFamily="65" charset="-120"/>
                <a:cs typeface="標楷體" panose="03000509000000000000" pitchFamily="65" charset="-120"/>
              </a:rPr>
              <a:t>),</a:t>
            </a:r>
          </a:p>
          <a:p>
            <a:pPr marL="228600">
              <a:buNone/>
            </a:pPr>
            <a:r>
              <a:rPr lang="en-US" altLang="zh-TW" sz="1800" dirty="0">
                <a:effectLst/>
                <a:ea typeface="標楷體" panose="03000509000000000000" pitchFamily="65" charset="-120"/>
                <a:cs typeface="標楷體" panose="03000509000000000000" pitchFamily="65" charset="-120"/>
              </a:rPr>
              <a:t>    CONSTRAINT </a:t>
            </a:r>
            <a:r>
              <a:rPr lang="en-US" altLang="zh-TW" sz="1800" dirty="0" err="1">
                <a:effectLst/>
                <a:ea typeface="標楷體" panose="03000509000000000000" pitchFamily="65" charset="-120"/>
                <a:cs typeface="標楷體" panose="03000509000000000000" pitchFamily="65" charset="-120"/>
              </a:rPr>
              <a:t>chk_bStatus</a:t>
            </a:r>
            <a:endParaRPr lang="en-US" altLang="zh-TW" sz="18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CHECK (</a:t>
            </a:r>
            <a:r>
              <a:rPr lang="en-US" altLang="zh-TW" sz="1800" dirty="0" err="1">
                <a:effectLst/>
                <a:ea typeface="標楷體" panose="03000509000000000000" pitchFamily="65" charset="-120"/>
                <a:cs typeface="標楷體" panose="03000509000000000000" pitchFamily="65" charset="-120"/>
              </a:rPr>
              <a:t>bStatus</a:t>
            </a:r>
            <a:r>
              <a:rPr lang="en-US" altLang="zh-TW" sz="1800" dirty="0">
                <a:effectLst/>
                <a:ea typeface="標楷體" panose="03000509000000000000" pitchFamily="65" charset="-120"/>
                <a:cs typeface="標楷體" panose="03000509000000000000" pitchFamily="65" charset="-120"/>
              </a:rPr>
              <a:t> IN ('</a:t>
            </a:r>
            <a:r>
              <a:rPr lang="zh-TW" altLang="en-US" sz="1800" dirty="0">
                <a:effectLst/>
                <a:ea typeface="標楷體" panose="03000509000000000000" pitchFamily="65" charset="-120"/>
                <a:cs typeface="標楷體" panose="03000509000000000000" pitchFamily="65" charset="-120"/>
              </a:rPr>
              <a:t>申請中</a:t>
            </a:r>
            <a:r>
              <a:rPr lang="en-US" altLang="zh-TW" sz="1800" dirty="0">
                <a:effectLst/>
                <a:ea typeface="標楷體" panose="03000509000000000000" pitchFamily="65" charset="-120"/>
                <a:cs typeface="標楷體" panose="03000509000000000000" pitchFamily="65" charset="-120"/>
              </a:rPr>
              <a:t>','</a:t>
            </a:r>
            <a:r>
              <a:rPr lang="zh-TW" altLang="en-US" sz="1800" dirty="0">
                <a:effectLst/>
                <a:ea typeface="標楷體" panose="03000509000000000000" pitchFamily="65" charset="-120"/>
                <a:cs typeface="標楷體" panose="03000509000000000000" pitchFamily="65" charset="-120"/>
              </a:rPr>
              <a:t>核准</a:t>
            </a:r>
            <a:r>
              <a:rPr lang="en-US" altLang="zh-TW" sz="1800" dirty="0">
                <a:effectLst/>
                <a:ea typeface="標楷體" panose="03000509000000000000" pitchFamily="65" charset="-120"/>
                <a:cs typeface="標楷體" panose="03000509000000000000" pitchFamily="65" charset="-120"/>
              </a:rPr>
              <a:t>','</a:t>
            </a:r>
            <a:r>
              <a:rPr lang="zh-TW" altLang="en-US" sz="1800" dirty="0">
                <a:effectLst/>
                <a:ea typeface="標楷體" panose="03000509000000000000" pitchFamily="65" charset="-120"/>
                <a:cs typeface="標楷體" panose="03000509000000000000" pitchFamily="65" charset="-120"/>
              </a:rPr>
              <a:t>已歸還</a:t>
            </a:r>
            <a:r>
              <a:rPr lang="en-US" altLang="zh-TW" sz="1800" dirty="0">
                <a:effectLst/>
                <a:ea typeface="標楷體" panose="03000509000000000000" pitchFamily="65" charset="-120"/>
                <a:cs typeface="標楷體" panose="03000509000000000000" pitchFamily="65" charset="-120"/>
              </a:rPr>
              <a:t>','</a:t>
            </a:r>
            <a:r>
              <a:rPr lang="zh-TW" altLang="en-US" sz="1800" dirty="0">
                <a:effectLst/>
                <a:ea typeface="標楷體" panose="03000509000000000000" pitchFamily="65" charset="-120"/>
                <a:cs typeface="標楷體" panose="03000509000000000000" pitchFamily="65" charset="-120"/>
              </a:rPr>
              <a:t>逾期</a:t>
            </a:r>
            <a:r>
              <a:rPr lang="en-US" altLang="zh-TW" sz="1800" dirty="0">
                <a:effectLst/>
                <a:ea typeface="標楷體" panose="03000509000000000000" pitchFamily="65" charset="-120"/>
                <a:cs typeface="標楷體" panose="03000509000000000000" pitchFamily="65" charset="-120"/>
              </a:rPr>
              <a:t>','</a:t>
            </a:r>
            <a:r>
              <a:rPr lang="zh-TW" altLang="en-US" sz="1800" dirty="0">
                <a:effectLst/>
                <a:ea typeface="標楷體" panose="03000509000000000000" pitchFamily="65" charset="-120"/>
                <a:cs typeface="標楷體" panose="03000509000000000000" pitchFamily="65" charset="-120"/>
              </a:rPr>
              <a:t>拒絕</a:t>
            </a:r>
            <a:r>
              <a:rPr lang="en-US" altLang="zh-TW" sz="1800" dirty="0">
                <a:effectLst/>
                <a:ea typeface="標楷體" panose="03000509000000000000" pitchFamily="65" charset="-120"/>
                <a:cs typeface="標楷體" panose="03000509000000000000" pitchFamily="65" charset="-120"/>
              </a:rPr>
              <a:t>'))</a:t>
            </a:r>
          </a:p>
          <a:p>
            <a:pPr marL="228600">
              <a:buNone/>
            </a:pPr>
            <a:r>
              <a:rPr lang="en-US" altLang="zh-TW" sz="1800" dirty="0">
                <a:effectLst/>
                <a:ea typeface="標楷體" panose="03000509000000000000" pitchFamily="65" charset="-120"/>
                <a:cs typeface="標楷體" panose="03000509000000000000" pitchFamily="65" charset="-120"/>
              </a:rPr>
              <a:t>) ENGINE=</a:t>
            </a:r>
            <a:r>
              <a:rPr lang="en-US" altLang="zh-TW" sz="1800" dirty="0" err="1">
                <a:effectLst/>
                <a:ea typeface="標楷體" panose="03000509000000000000" pitchFamily="65" charset="-120"/>
                <a:cs typeface="標楷體" panose="03000509000000000000" pitchFamily="65" charset="-120"/>
              </a:rPr>
              <a:t>InnoDB</a:t>
            </a:r>
            <a:r>
              <a:rPr lang="en-US" altLang="zh-TW" sz="1800" dirty="0">
                <a:effectLst/>
                <a:ea typeface="標楷體" panose="03000509000000000000" pitchFamily="65" charset="-120"/>
                <a:cs typeface="標楷體" panose="03000509000000000000" pitchFamily="65" charset="-120"/>
              </a:rPr>
              <a:t> DEFAULT CHARSET=utf8mb4;</a:t>
            </a:r>
          </a:p>
          <a:p>
            <a:pPr marL="228600">
              <a:buNone/>
            </a:pPr>
            <a:r>
              <a:rPr lang="en-US" altLang="zh-TW" sz="1800" dirty="0">
                <a:effectLst/>
                <a:ea typeface="標楷體" panose="03000509000000000000" pitchFamily="65" charset="-120"/>
                <a:cs typeface="標楷體" panose="03000509000000000000" pitchFamily="65" charset="-120"/>
              </a:rPr>
              <a:t> </a:t>
            </a:r>
            <a:endParaRPr lang="zh-TW" altLang="en-US" dirty="0"/>
          </a:p>
        </p:txBody>
      </p:sp>
      <p:cxnSp>
        <p:nvCxnSpPr>
          <p:cNvPr id="9" name="直線接點 8">
            <a:extLst>
              <a:ext uri="{FF2B5EF4-FFF2-40B4-BE49-F238E27FC236}">
                <a16:creationId xmlns:a16="http://schemas.microsoft.com/office/drawing/2014/main" id="{9E78600C-2F28-3970-5B35-68160288A405}"/>
              </a:ext>
            </a:extLst>
          </p:cNvPr>
          <p:cNvCxnSpPr/>
          <p:nvPr/>
        </p:nvCxnSpPr>
        <p:spPr>
          <a:xfrm>
            <a:off x="6096000" y="1258470"/>
            <a:ext cx="0" cy="504073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781610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4A3847E-039F-FA29-0003-3788E6DF296E}"/>
              </a:ext>
            </a:extLst>
          </p:cNvPr>
          <p:cNvSpPr>
            <a:spLocks noGrp="1"/>
          </p:cNvSpPr>
          <p:nvPr>
            <p:ph type="title"/>
          </p:nvPr>
        </p:nvSpPr>
        <p:spPr/>
        <p:txBody>
          <a:bodyPr/>
          <a:lstStyle/>
          <a:p>
            <a:endParaRPr lang="zh-TW" altLang="en-US" dirty="0"/>
          </a:p>
        </p:txBody>
      </p:sp>
      <p:sp>
        <p:nvSpPr>
          <p:cNvPr id="3" name="文字版面配置區 2">
            <a:extLst>
              <a:ext uri="{FF2B5EF4-FFF2-40B4-BE49-F238E27FC236}">
                <a16:creationId xmlns:a16="http://schemas.microsoft.com/office/drawing/2014/main" id="{DF643118-E6CD-820F-4900-F008378746C8}"/>
              </a:ext>
            </a:extLst>
          </p:cNvPr>
          <p:cNvSpPr>
            <a:spLocks noGrp="1"/>
          </p:cNvSpPr>
          <p:nvPr>
            <p:ph type="body" idx="1"/>
          </p:nvPr>
        </p:nvSpPr>
        <p:spPr/>
        <p:txBody>
          <a:bodyPr/>
          <a:lstStyle/>
          <a:p>
            <a:endParaRPr lang="zh-TW" altLang="en-US"/>
          </a:p>
        </p:txBody>
      </p:sp>
      <p:graphicFrame>
        <p:nvGraphicFramePr>
          <p:cNvPr id="4" name="表格 3">
            <a:extLst>
              <a:ext uri="{FF2B5EF4-FFF2-40B4-BE49-F238E27FC236}">
                <a16:creationId xmlns:a16="http://schemas.microsoft.com/office/drawing/2014/main" id="{FF0C95B9-B2DD-12D3-B726-8BA1B3170E61}"/>
              </a:ext>
            </a:extLst>
          </p:cNvPr>
          <p:cNvGraphicFramePr>
            <a:graphicFrameLocks noGrp="1"/>
          </p:cNvGraphicFramePr>
          <p:nvPr>
            <p:extLst>
              <p:ext uri="{D42A27DB-BD31-4B8C-83A1-F6EECF244321}">
                <p14:modId xmlns:p14="http://schemas.microsoft.com/office/powerpoint/2010/main" val="1450682591"/>
              </p:ext>
            </p:extLst>
          </p:nvPr>
        </p:nvGraphicFramePr>
        <p:xfrm>
          <a:off x="2681889" y="1364347"/>
          <a:ext cx="6804532" cy="4812616"/>
        </p:xfrm>
        <a:graphic>
          <a:graphicData uri="http://schemas.openxmlformats.org/drawingml/2006/table">
            <a:tbl>
              <a:tblPr firstRow="1" firstCol="1" bandRow="1">
                <a:tableStyleId>{5C22544A-7EE6-4342-B048-85BDC9FD1C3A}</a:tableStyleId>
              </a:tblPr>
              <a:tblGrid>
                <a:gridCol w="375575">
                  <a:extLst>
                    <a:ext uri="{9D8B030D-6E8A-4147-A177-3AD203B41FA5}">
                      <a16:colId xmlns:a16="http://schemas.microsoft.com/office/drawing/2014/main" val="4162568847"/>
                    </a:ext>
                  </a:extLst>
                </a:gridCol>
                <a:gridCol w="375575">
                  <a:extLst>
                    <a:ext uri="{9D8B030D-6E8A-4147-A177-3AD203B41FA5}">
                      <a16:colId xmlns:a16="http://schemas.microsoft.com/office/drawing/2014/main" val="194130311"/>
                    </a:ext>
                  </a:extLst>
                </a:gridCol>
                <a:gridCol w="375575">
                  <a:extLst>
                    <a:ext uri="{9D8B030D-6E8A-4147-A177-3AD203B41FA5}">
                      <a16:colId xmlns:a16="http://schemas.microsoft.com/office/drawing/2014/main" val="583671272"/>
                    </a:ext>
                  </a:extLst>
                </a:gridCol>
                <a:gridCol w="890648">
                  <a:extLst>
                    <a:ext uri="{9D8B030D-6E8A-4147-A177-3AD203B41FA5}">
                      <a16:colId xmlns:a16="http://schemas.microsoft.com/office/drawing/2014/main" val="94175264"/>
                    </a:ext>
                  </a:extLst>
                </a:gridCol>
                <a:gridCol w="828789">
                  <a:extLst>
                    <a:ext uri="{9D8B030D-6E8A-4147-A177-3AD203B41FA5}">
                      <a16:colId xmlns:a16="http://schemas.microsoft.com/office/drawing/2014/main" val="1840982351"/>
                    </a:ext>
                  </a:extLst>
                </a:gridCol>
                <a:gridCol w="923472">
                  <a:extLst>
                    <a:ext uri="{9D8B030D-6E8A-4147-A177-3AD203B41FA5}">
                      <a16:colId xmlns:a16="http://schemas.microsoft.com/office/drawing/2014/main" val="2291714769"/>
                    </a:ext>
                  </a:extLst>
                </a:gridCol>
                <a:gridCol w="776399">
                  <a:extLst>
                    <a:ext uri="{9D8B030D-6E8A-4147-A177-3AD203B41FA5}">
                      <a16:colId xmlns:a16="http://schemas.microsoft.com/office/drawing/2014/main" val="1802900776"/>
                    </a:ext>
                  </a:extLst>
                </a:gridCol>
                <a:gridCol w="809222">
                  <a:extLst>
                    <a:ext uri="{9D8B030D-6E8A-4147-A177-3AD203B41FA5}">
                      <a16:colId xmlns:a16="http://schemas.microsoft.com/office/drawing/2014/main" val="3090881574"/>
                    </a:ext>
                  </a:extLst>
                </a:gridCol>
                <a:gridCol w="784604">
                  <a:extLst>
                    <a:ext uri="{9D8B030D-6E8A-4147-A177-3AD203B41FA5}">
                      <a16:colId xmlns:a16="http://schemas.microsoft.com/office/drawing/2014/main" val="3058007868"/>
                    </a:ext>
                  </a:extLst>
                </a:gridCol>
                <a:gridCol w="664673">
                  <a:extLst>
                    <a:ext uri="{9D8B030D-6E8A-4147-A177-3AD203B41FA5}">
                      <a16:colId xmlns:a16="http://schemas.microsoft.com/office/drawing/2014/main" val="935564163"/>
                    </a:ext>
                  </a:extLst>
                </a:gridCol>
              </a:tblGrid>
              <a:tr h="404976">
                <a:tc>
                  <a:txBody>
                    <a:bodyPr/>
                    <a:lstStyle/>
                    <a:p>
                      <a:pPr algn="ctr">
                        <a:buNone/>
                      </a:pPr>
                      <a:r>
                        <a:rPr lang="en-US" sz="1000">
                          <a:effectLst/>
                        </a:rPr>
                        <a:t>bId</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mId</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eId</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bApplyDate</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bApprovedBy</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bApprovedDate</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bStartDate</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bEndDate</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bReturnDate</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bStatus</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4214533494"/>
                  </a:ext>
                </a:extLst>
              </a:tr>
              <a:tr h="440764">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dirty="0">
                          <a:effectLst/>
                        </a:rPr>
                        <a:t>2026/5/6</a:t>
                      </a:r>
                      <a:endParaRPr lang="zh-TW" sz="11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已歸還</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499795751"/>
                  </a:ext>
                </a:extLst>
              </a:tr>
              <a:tr h="440764">
                <a:tc>
                  <a:txBody>
                    <a:bodyPr/>
                    <a:lstStyle/>
                    <a:p>
                      <a:pPr algn="ctr">
                        <a:buNone/>
                      </a:pPr>
                      <a:r>
                        <a:rPr lang="en-US" sz="1100">
                          <a:effectLst/>
                        </a:rPr>
                        <a:t>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核准</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3331605278"/>
                  </a:ext>
                </a:extLst>
              </a:tr>
              <a:tr h="440764">
                <a:tc>
                  <a:txBody>
                    <a:bodyPr/>
                    <a:lstStyle/>
                    <a:p>
                      <a:pPr algn="ctr">
                        <a:buNone/>
                      </a:pPr>
                      <a:r>
                        <a:rPr lang="en-US" sz="1100">
                          <a:effectLst/>
                        </a:rPr>
                        <a:t>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核准</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1830771161"/>
                  </a:ext>
                </a:extLst>
              </a:tr>
              <a:tr h="440764">
                <a:tc>
                  <a:txBody>
                    <a:bodyPr/>
                    <a:lstStyle/>
                    <a:p>
                      <a:pPr algn="ctr">
                        <a:buNone/>
                      </a:pPr>
                      <a:r>
                        <a:rPr lang="en-US" sz="1100">
                          <a:effectLst/>
                        </a:rPr>
                        <a:t>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2026/5/16</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逾期</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108343973"/>
                  </a:ext>
                </a:extLst>
              </a:tr>
              <a:tr h="440764">
                <a:tc>
                  <a:txBody>
                    <a:bodyPr/>
                    <a:lstStyle/>
                    <a:p>
                      <a:pPr algn="ctr">
                        <a:buNone/>
                      </a:pPr>
                      <a:r>
                        <a:rPr lang="en-US" sz="1100">
                          <a:effectLst/>
                        </a:rPr>
                        <a:t>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2026/5/19</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申請中</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096319680"/>
                  </a:ext>
                </a:extLst>
              </a:tr>
              <a:tr h="440764">
                <a:tc>
                  <a:txBody>
                    <a:bodyPr/>
                    <a:lstStyle/>
                    <a:p>
                      <a:pPr algn="ctr">
                        <a:buNone/>
                      </a:pPr>
                      <a:r>
                        <a:rPr lang="en-US" sz="1100">
                          <a:effectLst/>
                        </a:rPr>
                        <a:t>6</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6</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6</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9</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核准</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476046297"/>
                  </a:ext>
                </a:extLst>
              </a:tr>
              <a:tr h="440764">
                <a:tc>
                  <a:txBody>
                    <a:bodyPr/>
                    <a:lstStyle/>
                    <a:p>
                      <a:pPr algn="ctr">
                        <a:buNone/>
                      </a:pPr>
                      <a:r>
                        <a:rPr lang="en-US" sz="1100">
                          <a:effectLst/>
                        </a:rPr>
                        <a:t>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9</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2026/5/30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核准</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3678153036"/>
                  </a:ext>
                </a:extLst>
              </a:tr>
              <a:tr h="440764">
                <a:tc>
                  <a:txBody>
                    <a:bodyPr/>
                    <a:lstStyle/>
                    <a:p>
                      <a:pPr algn="ctr">
                        <a:buNone/>
                      </a:pPr>
                      <a:r>
                        <a:rPr lang="en-US" sz="1100">
                          <a:effectLst/>
                        </a:rPr>
                        <a:t>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9</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已歸還</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676355386"/>
                  </a:ext>
                </a:extLst>
              </a:tr>
              <a:tr h="440764">
                <a:tc>
                  <a:txBody>
                    <a:bodyPr/>
                    <a:lstStyle/>
                    <a:p>
                      <a:pPr algn="ctr">
                        <a:buNone/>
                      </a:pPr>
                      <a:r>
                        <a:rPr lang="en-US" sz="1100">
                          <a:effectLst/>
                        </a:rPr>
                        <a:t>9</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2026/5/26</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2026/6/2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申請中</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3962465768"/>
                  </a:ext>
                </a:extLst>
              </a:tr>
              <a:tr h="440764">
                <a:tc>
                  <a:txBody>
                    <a:bodyPr/>
                    <a:lstStyle/>
                    <a:p>
                      <a:pPr algn="ctr">
                        <a:buNone/>
                      </a:pPr>
                      <a:r>
                        <a:rPr lang="en-US" sz="1100">
                          <a:effectLst/>
                        </a:rPr>
                        <a:t>10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9</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2026/5/26</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2026/6/5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dirty="0">
                          <a:effectLst/>
                        </a:rPr>
                        <a:t>核准</a:t>
                      </a:r>
                      <a:endParaRPr lang="zh-TW" sz="11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1736031769"/>
                  </a:ext>
                </a:extLst>
              </a:tr>
            </a:tbl>
          </a:graphicData>
        </a:graphic>
      </p:graphicFrame>
      <p:sp>
        <p:nvSpPr>
          <p:cNvPr id="6" name="文字方塊 5">
            <a:extLst>
              <a:ext uri="{FF2B5EF4-FFF2-40B4-BE49-F238E27FC236}">
                <a16:creationId xmlns:a16="http://schemas.microsoft.com/office/drawing/2014/main" id="{403D47BB-7963-D08F-4345-497FDA957025}"/>
              </a:ext>
            </a:extLst>
          </p:cNvPr>
          <p:cNvSpPr txBox="1"/>
          <p:nvPr/>
        </p:nvSpPr>
        <p:spPr>
          <a:xfrm>
            <a:off x="3036155" y="786878"/>
            <a:ext cx="6096000" cy="1031051"/>
          </a:xfrm>
          <a:prstGeom prst="rect">
            <a:avLst/>
          </a:prstGeom>
          <a:noFill/>
        </p:spPr>
        <p:txBody>
          <a:bodyPr wrap="square">
            <a:spAutoFit/>
          </a:bodyPr>
          <a:lstStyle/>
          <a:p>
            <a:pPr algn="ctr">
              <a:spcBef>
                <a:spcPts val="800"/>
              </a:spcBef>
              <a:spcAft>
                <a:spcPts val="400"/>
              </a:spcAft>
              <a:buNone/>
            </a:pPr>
            <a:r>
              <a:rPr lang="zh-TW" altLang="zh-TW" sz="2800" b="1" dirty="0">
                <a:solidFill>
                  <a:srgbClr val="1F3A6B"/>
                </a:solidFill>
                <a:effectLst/>
                <a:latin typeface="標楷體" panose="03000509000000000000" pitchFamily="65" charset="-120"/>
                <a:ea typeface="標楷體" panose="03000509000000000000" pitchFamily="65" charset="-120"/>
                <a:cs typeface="標楷體" panose="03000509000000000000" pitchFamily="65" charset="-120"/>
              </a:rPr>
              <a:t>借用紀錄實例</a:t>
            </a:r>
            <a:endParaRPr lang="zh-TW" altLang="zh-TW" sz="28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200"/>
              </a:spcBef>
              <a:spcAft>
                <a:spcPts val="200"/>
              </a:spcAft>
              <a:buNone/>
            </a:pPr>
            <a:r>
              <a:rPr lang="en-US" altLang="zh-TW" sz="2800" dirty="0">
                <a:effectLst/>
                <a:latin typeface="標楷體" panose="03000509000000000000" pitchFamily="65" charset="-120"/>
                <a:ea typeface="標楷體" panose="03000509000000000000" pitchFamily="65" charset="-120"/>
                <a:cs typeface="標楷體" panose="03000509000000000000" pitchFamily="65" charset="-120"/>
              </a:rPr>
              <a:t> </a:t>
            </a:r>
            <a:endParaRPr lang="zh-TW" altLang="zh-TW" sz="2800" dirty="0">
              <a:effectLst/>
              <a:latin typeface="標楷體" panose="03000509000000000000" pitchFamily="65" charset="-120"/>
              <a:ea typeface="標楷體" panose="03000509000000000000" pitchFamily="65" charset="-120"/>
              <a:cs typeface="標楷體" panose="03000509000000000000" pitchFamily="65" charset="-120"/>
            </a:endParaRPr>
          </a:p>
        </p:txBody>
      </p:sp>
    </p:spTree>
    <p:extLst>
      <p:ext uri="{BB962C8B-B14F-4D97-AF65-F5344CB8AC3E}">
        <p14:creationId xmlns:p14="http://schemas.microsoft.com/office/powerpoint/2010/main" val="16258974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680E40-28E3-8F2F-01F3-F9F5FD990BA5}"/>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47FC533D-0102-3B95-C83E-68474E400C59}"/>
              </a:ext>
            </a:extLst>
          </p:cNvPr>
          <p:cNvGrpSpPr/>
          <p:nvPr/>
        </p:nvGrpSpPr>
        <p:grpSpPr>
          <a:xfrm>
            <a:off x="-1200150" y="80872"/>
            <a:ext cx="6018893" cy="1200329"/>
            <a:chOff x="368300" y="1442660"/>
            <a:chExt cx="4722578" cy="1200329"/>
          </a:xfrm>
        </p:grpSpPr>
        <p:sp>
          <p:nvSpPr>
            <p:cNvPr id="5" name="矩形 4">
              <a:extLst>
                <a:ext uri="{FF2B5EF4-FFF2-40B4-BE49-F238E27FC236}">
                  <a16:creationId xmlns:a16="http://schemas.microsoft.com/office/drawing/2014/main" id="{42AF99E4-C4FB-48EB-82A4-15DDAA1F412F}"/>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728C7099-D5CA-7B87-A3CC-7426E993B403}"/>
                </a:ext>
              </a:extLst>
            </p:cNvPr>
            <p:cNvSpPr txBox="1"/>
            <p:nvPr/>
          </p:nvSpPr>
          <p:spPr>
            <a:xfrm>
              <a:off x="4354278" y="1442660"/>
              <a:ext cx="736600" cy="1200329"/>
            </a:xfrm>
            <a:prstGeom prst="rect">
              <a:avLst/>
            </a:prstGeom>
            <a:noFill/>
          </p:spPr>
          <p:txBody>
            <a:bodyPr wrap="square">
              <a:spAutoFit/>
            </a:bodyPr>
            <a:lstStyle/>
            <a:p>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C1D40A4C-7D3E-A76F-847F-D45451854102}"/>
              </a:ext>
            </a:extLst>
          </p:cNvPr>
          <p:cNvSpPr txBox="1"/>
          <p:nvPr/>
        </p:nvSpPr>
        <p:spPr>
          <a:xfrm>
            <a:off x="246742" y="357870"/>
            <a:ext cx="640914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插入範例資料</a:t>
            </a:r>
            <a:r>
              <a:rPr lang="en-US" altLang="zh-TW" sz="3600" dirty="0">
                <a:solidFill>
                  <a:schemeClr val="bg1"/>
                </a:solidFill>
                <a:latin typeface="標楷體" panose="03000509000000000000" pitchFamily="65" charset="-120"/>
                <a:ea typeface="標楷體" panose="03000509000000000000" pitchFamily="65" charset="-120"/>
              </a:rPr>
              <a:t>SQL</a:t>
            </a:r>
            <a:endParaRPr lang="zh-TW" altLang="en-US" sz="3600" dirty="0">
              <a:solidFill>
                <a:schemeClr val="bg1"/>
              </a:solidFill>
              <a:latin typeface="標楷體" panose="03000509000000000000" pitchFamily="65" charset="-120"/>
              <a:ea typeface="標楷體" panose="03000509000000000000" pitchFamily="65" charset="-120"/>
            </a:endParaRPr>
          </a:p>
        </p:txBody>
      </p:sp>
      <p:sp>
        <p:nvSpPr>
          <p:cNvPr id="10" name="文字方塊 9">
            <a:extLst>
              <a:ext uri="{FF2B5EF4-FFF2-40B4-BE49-F238E27FC236}">
                <a16:creationId xmlns:a16="http://schemas.microsoft.com/office/drawing/2014/main" id="{27131B38-D0FA-5CBC-B965-EA2C3C84A736}"/>
              </a:ext>
            </a:extLst>
          </p:cNvPr>
          <p:cNvSpPr txBox="1"/>
          <p:nvPr/>
        </p:nvSpPr>
        <p:spPr>
          <a:xfrm>
            <a:off x="553266" y="1780732"/>
            <a:ext cx="10709820" cy="2308324"/>
          </a:xfrm>
          <a:prstGeom prst="rect">
            <a:avLst/>
          </a:prstGeom>
          <a:noFill/>
        </p:spPr>
        <p:txBody>
          <a:bodyPr wrap="square">
            <a:spAutoFit/>
          </a:bodyPr>
          <a:lstStyle/>
          <a:p>
            <a:pPr marL="228600">
              <a:buNone/>
            </a:pPr>
            <a:r>
              <a:rPr lang="en-US" altLang="zh-TW" sz="1800" dirty="0">
                <a:effectLst/>
                <a:ea typeface="標楷體" panose="03000509000000000000" pitchFamily="65" charset="-120"/>
                <a:cs typeface="標楷體" panose="03000509000000000000" pitchFamily="65" charset="-120"/>
              </a:rPr>
              <a:t>INSERT INTO </a:t>
            </a:r>
            <a:r>
              <a:rPr lang="en-US" altLang="zh-TW" sz="1800" dirty="0" err="1">
                <a:effectLst/>
                <a:ea typeface="標楷體" panose="03000509000000000000" pitchFamily="65" charset="-120"/>
                <a:cs typeface="標楷體" panose="03000509000000000000" pitchFamily="65" charset="-120"/>
              </a:rPr>
              <a:t>BorrowRecord</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(bId,mId,eId,bApplyDate,bApprovedBy,bApprovedDate,bStartDate,bEndDate,bReturnDate,bStatus)</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VALUES</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(1,3,2,'2026-05-05',1,'2026-05-06','2026-05-07','2026-05-14','2026-05-13','</a:t>
            </a:r>
            <a:r>
              <a:rPr lang="zh-TW" altLang="zh-TW" sz="1800" dirty="0">
                <a:effectLst/>
                <a:ea typeface="標楷體" panose="03000509000000000000" pitchFamily="65" charset="-120"/>
                <a:cs typeface="Courier New" panose="02070309020205020404" pitchFamily="49" charset="0"/>
              </a:rPr>
              <a:t>已歸還</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(2,4,1,'2026-05-10',1,'2026-05-10','2026-05-11','2026-05-18',NULL,        '</a:t>
            </a:r>
            <a:r>
              <a:rPr lang="zh-TW" altLang="zh-TW" sz="1800" dirty="0">
                <a:effectLst/>
                <a:ea typeface="標楷體" panose="03000509000000000000" pitchFamily="65" charset="-120"/>
                <a:cs typeface="Courier New" panose="02070309020205020404" pitchFamily="49" charset="0"/>
              </a:rPr>
              <a:t>核准</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(3,2,4,'2026-05-12',1,'2026-05-13','2026-05-14','2026-05-20',NULL,        '</a:t>
            </a:r>
            <a:r>
              <a:rPr lang="zh-TW" altLang="zh-TW" sz="1800" dirty="0">
                <a:effectLst/>
                <a:ea typeface="標楷體" panose="03000509000000000000" pitchFamily="65" charset="-120"/>
                <a:cs typeface="Courier New" panose="02070309020205020404" pitchFamily="49" charset="0"/>
              </a:rPr>
              <a:t>核准</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(4,3,1,'2026-05-15',1,'2026-05-16','2026-05-17','2026-05-21',NULL,        '</a:t>
            </a:r>
            <a:r>
              <a:rPr lang="zh-TW" altLang="zh-TW" sz="1800" dirty="0">
                <a:effectLst/>
                <a:ea typeface="標楷體" panose="03000509000000000000" pitchFamily="65" charset="-120"/>
                <a:cs typeface="Courier New" panose="02070309020205020404" pitchFamily="49" charset="0"/>
              </a:rPr>
              <a:t>逾期</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(5,5,2,'2026-05-18',NULL,NULL,     '2026-05-19','2026-05-22',NULL,        '</a:t>
            </a:r>
            <a:r>
              <a:rPr lang="zh-TW" altLang="zh-TW" sz="1800" dirty="0">
                <a:effectLst/>
                <a:ea typeface="標楷體" panose="03000509000000000000" pitchFamily="65" charset="-120"/>
                <a:cs typeface="Courier New" panose="02070309020205020404" pitchFamily="49" charset="0"/>
              </a:rPr>
              <a:t>申請中</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p:txBody>
      </p:sp>
      <p:pic>
        <p:nvPicPr>
          <p:cNvPr id="3" name="圖片 2">
            <a:extLst>
              <a:ext uri="{FF2B5EF4-FFF2-40B4-BE49-F238E27FC236}">
                <a16:creationId xmlns:a16="http://schemas.microsoft.com/office/drawing/2014/main" id="{50EFDFF4-A40C-9B7B-39E6-CB59B40D8AD2}"/>
              </a:ext>
            </a:extLst>
          </p:cNvPr>
          <p:cNvPicPr>
            <a:picLocks noChangeAspect="1"/>
          </p:cNvPicPr>
          <p:nvPr/>
        </p:nvPicPr>
        <p:blipFill>
          <a:blip r:embed="rId2"/>
          <a:stretch>
            <a:fillRect/>
          </a:stretch>
        </p:blipFill>
        <p:spPr>
          <a:xfrm>
            <a:off x="795474" y="4211216"/>
            <a:ext cx="10467612" cy="2043124"/>
          </a:xfrm>
          <a:prstGeom prst="rect">
            <a:avLst/>
          </a:prstGeom>
        </p:spPr>
      </p:pic>
    </p:spTree>
    <p:extLst>
      <p:ext uri="{BB962C8B-B14F-4D97-AF65-F5344CB8AC3E}">
        <p14:creationId xmlns:p14="http://schemas.microsoft.com/office/powerpoint/2010/main" val="100065696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F510E-783A-21DF-2235-D13E12D8D3B3}"/>
            </a:ext>
          </a:extLst>
        </p:cNvPr>
        <p:cNvGrpSpPr/>
        <p:nvPr/>
      </p:nvGrpSpPr>
      <p:grpSpPr>
        <a:xfrm>
          <a:off x="0" y="0"/>
          <a:ext cx="0" cy="0"/>
          <a:chOff x="0" y="0"/>
          <a:chExt cx="0" cy="0"/>
        </a:xfrm>
      </p:grpSpPr>
      <p:pic>
        <p:nvPicPr>
          <p:cNvPr id="12" name="圖片 11">
            <a:extLst>
              <a:ext uri="{FF2B5EF4-FFF2-40B4-BE49-F238E27FC236}">
                <a16:creationId xmlns:a16="http://schemas.microsoft.com/office/drawing/2014/main" id="{0492D6EF-9587-AE51-B7D6-433AA65C76CD}"/>
              </a:ext>
            </a:extLst>
          </p:cNvPr>
          <p:cNvPicPr>
            <a:picLocks noChangeAspect="1"/>
          </p:cNvPicPr>
          <p:nvPr/>
        </p:nvPicPr>
        <p:blipFill>
          <a:blip r:embed="rId2">
            <a:alphaModFix amt="20000"/>
          </a:blip>
          <a:srcRect l="27578" t="3723" r="26563" b="23667"/>
          <a:stretch>
            <a:fillRect/>
          </a:stretch>
        </p:blipFill>
        <p:spPr>
          <a:xfrm>
            <a:off x="-3430612" y="155974"/>
            <a:ext cx="7296651" cy="6306719"/>
          </a:xfrm>
          <a:prstGeom prst="rect">
            <a:avLst/>
          </a:prstGeom>
        </p:spPr>
      </p:pic>
      <p:grpSp>
        <p:nvGrpSpPr>
          <p:cNvPr id="4" name="群組 3">
            <a:extLst>
              <a:ext uri="{FF2B5EF4-FFF2-40B4-BE49-F238E27FC236}">
                <a16:creationId xmlns:a16="http://schemas.microsoft.com/office/drawing/2014/main" id="{5A4D4E60-633B-EF52-C97B-B9C499B92670}"/>
              </a:ext>
            </a:extLst>
          </p:cNvPr>
          <p:cNvGrpSpPr/>
          <p:nvPr/>
        </p:nvGrpSpPr>
        <p:grpSpPr>
          <a:xfrm>
            <a:off x="-350248" y="58141"/>
            <a:ext cx="10640875" cy="1200329"/>
            <a:chOff x="368300" y="1442660"/>
            <a:chExt cx="4722578" cy="1200329"/>
          </a:xfrm>
        </p:grpSpPr>
        <p:sp>
          <p:nvSpPr>
            <p:cNvPr id="5" name="矩形 4">
              <a:extLst>
                <a:ext uri="{FF2B5EF4-FFF2-40B4-BE49-F238E27FC236}">
                  <a16:creationId xmlns:a16="http://schemas.microsoft.com/office/drawing/2014/main" id="{0B1EAD03-A9C5-6651-ED24-326941B72CB2}"/>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文字方塊 5">
              <a:extLst>
                <a:ext uri="{FF2B5EF4-FFF2-40B4-BE49-F238E27FC236}">
                  <a16:creationId xmlns:a16="http://schemas.microsoft.com/office/drawing/2014/main" id="{921E8B8F-5A32-1E54-1F14-F69F19917B91}"/>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7</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06D15E64-1EDE-A0D3-6246-2688DD34EE6C}"/>
              </a:ext>
            </a:extLst>
          </p:cNvPr>
          <p:cNvSpPr txBox="1"/>
          <p:nvPr/>
        </p:nvSpPr>
        <p:spPr>
          <a:xfrm>
            <a:off x="49716" y="341381"/>
            <a:ext cx="9166854"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資料表</a:t>
            </a:r>
            <a:r>
              <a:rPr lang="en-US" altLang="zh-TW" sz="3600" dirty="0">
                <a:solidFill>
                  <a:schemeClr val="bg1"/>
                </a:solidFill>
                <a:latin typeface="標楷體" panose="03000509000000000000" pitchFamily="65" charset="-120"/>
                <a:ea typeface="標楷體" panose="03000509000000000000" pitchFamily="65" charset="-120"/>
              </a:rPr>
              <a:t>SQL</a:t>
            </a:r>
            <a:r>
              <a:rPr lang="zh-TW" altLang="en-US" sz="3600" dirty="0">
                <a:solidFill>
                  <a:schemeClr val="bg1"/>
                </a:solidFill>
                <a:latin typeface="標楷體" panose="03000509000000000000" pitchFamily="65" charset="-120"/>
                <a:ea typeface="標楷體" panose="03000509000000000000" pitchFamily="65" charset="-120"/>
              </a:rPr>
              <a:t>：</a:t>
            </a:r>
            <a:r>
              <a:rPr lang="en-US" altLang="zh-TW" sz="3600" dirty="0" err="1">
                <a:solidFill>
                  <a:schemeClr val="bg1"/>
                </a:solidFill>
                <a:latin typeface="標楷體" panose="03000509000000000000" pitchFamily="65" charset="-120"/>
                <a:ea typeface="標楷體" panose="03000509000000000000" pitchFamily="65" charset="-120"/>
              </a:rPr>
              <a:t>MaintenanceRecord</a:t>
            </a:r>
            <a:r>
              <a:rPr lang="en-US" altLang="zh-TW" sz="3600" dirty="0">
                <a:solidFill>
                  <a:schemeClr val="bg1"/>
                </a:solidFill>
                <a:latin typeface="標楷體" panose="03000509000000000000" pitchFamily="65" charset="-120"/>
                <a:ea typeface="標楷體" panose="03000509000000000000" pitchFamily="65" charset="-120"/>
              </a:rPr>
              <a:t> </a:t>
            </a:r>
            <a:r>
              <a:rPr lang="zh-TW" altLang="en-US" sz="3600" dirty="0">
                <a:solidFill>
                  <a:schemeClr val="bg1"/>
                </a:solidFill>
                <a:latin typeface="標楷體" panose="03000509000000000000" pitchFamily="65" charset="-120"/>
                <a:ea typeface="標楷體" panose="03000509000000000000" pitchFamily="65" charset="-120"/>
              </a:rPr>
              <a:t>維護紀錄</a:t>
            </a:r>
          </a:p>
        </p:txBody>
      </p:sp>
      <p:sp>
        <p:nvSpPr>
          <p:cNvPr id="8" name="文字方塊 7">
            <a:extLst>
              <a:ext uri="{FF2B5EF4-FFF2-40B4-BE49-F238E27FC236}">
                <a16:creationId xmlns:a16="http://schemas.microsoft.com/office/drawing/2014/main" id="{C13A65CA-7430-DC7A-9E9E-01F35CB80D14}"/>
              </a:ext>
            </a:extLst>
          </p:cNvPr>
          <p:cNvSpPr txBox="1"/>
          <p:nvPr/>
        </p:nvSpPr>
        <p:spPr>
          <a:xfrm>
            <a:off x="3249183" y="1346714"/>
            <a:ext cx="6495142" cy="5355312"/>
          </a:xfrm>
          <a:prstGeom prst="rect">
            <a:avLst/>
          </a:prstGeom>
          <a:noFill/>
        </p:spPr>
        <p:txBody>
          <a:bodyPr wrap="square">
            <a:spAutoFit/>
          </a:bodyPr>
          <a:lstStyle/>
          <a:p>
            <a:r>
              <a:rPr lang="en-US" altLang="zh-TW" dirty="0"/>
              <a:t>CREATE TABLE </a:t>
            </a:r>
            <a:r>
              <a:rPr lang="en-US" altLang="zh-TW" dirty="0" err="1"/>
              <a:t>MaintenanceRecord</a:t>
            </a:r>
            <a:r>
              <a:rPr lang="en-US" altLang="zh-TW" dirty="0"/>
              <a:t> (</a:t>
            </a:r>
          </a:p>
          <a:p>
            <a:r>
              <a:rPr lang="en-US" altLang="zh-TW" dirty="0"/>
              <a:t>    </a:t>
            </a:r>
            <a:r>
              <a:rPr lang="en-US" altLang="zh-TW" dirty="0" err="1"/>
              <a:t>mRecId</a:t>
            </a:r>
            <a:r>
              <a:rPr lang="en-US" altLang="zh-TW" dirty="0"/>
              <a:t>   INT          NOT NULL AUTO_INCREMENT,</a:t>
            </a:r>
          </a:p>
          <a:p>
            <a:r>
              <a:rPr lang="en-US" altLang="zh-TW" dirty="0"/>
              <a:t>    </a:t>
            </a:r>
            <a:r>
              <a:rPr lang="en-US" altLang="zh-TW" dirty="0" err="1"/>
              <a:t>eId</a:t>
            </a:r>
            <a:r>
              <a:rPr lang="en-US" altLang="zh-TW" dirty="0"/>
              <a:t>      INT          NOT NULL,</a:t>
            </a:r>
          </a:p>
          <a:p>
            <a:r>
              <a:rPr lang="en-US" altLang="zh-TW" dirty="0"/>
              <a:t>    </a:t>
            </a:r>
            <a:r>
              <a:rPr lang="en-US" altLang="zh-TW" dirty="0" err="1"/>
              <a:t>mId</a:t>
            </a:r>
            <a:r>
              <a:rPr lang="en-US" altLang="zh-TW" dirty="0"/>
              <a:t>      INT          NOT NULL,</a:t>
            </a:r>
          </a:p>
          <a:p>
            <a:r>
              <a:rPr lang="en-US" altLang="zh-TW" dirty="0"/>
              <a:t>    </a:t>
            </a:r>
            <a:r>
              <a:rPr lang="en-US" altLang="zh-TW" dirty="0" err="1"/>
              <a:t>mRecDate</a:t>
            </a:r>
            <a:r>
              <a:rPr lang="en-US" altLang="zh-TW" dirty="0"/>
              <a:t> DATE         NOT NULL,</a:t>
            </a:r>
          </a:p>
          <a:p>
            <a:r>
              <a:rPr lang="en-US" altLang="zh-TW" dirty="0"/>
              <a:t>    </a:t>
            </a:r>
            <a:r>
              <a:rPr lang="en-US" altLang="zh-TW" dirty="0" err="1"/>
              <a:t>mIssue</a:t>
            </a:r>
            <a:r>
              <a:rPr lang="en-US" altLang="zh-TW" dirty="0"/>
              <a:t>   VARCHAR(256) NOT NULL,</a:t>
            </a:r>
          </a:p>
          <a:p>
            <a:r>
              <a:rPr lang="en-US" altLang="zh-TW" dirty="0"/>
              <a:t>    </a:t>
            </a:r>
            <a:r>
              <a:rPr lang="en-US" altLang="zh-TW" dirty="0" err="1"/>
              <a:t>mResult</a:t>
            </a:r>
            <a:r>
              <a:rPr lang="en-US" altLang="zh-TW" dirty="0"/>
              <a:t>  VARCHAR(256) NULL,</a:t>
            </a:r>
          </a:p>
          <a:p>
            <a:r>
              <a:rPr lang="en-US" altLang="zh-TW" dirty="0"/>
              <a:t>    </a:t>
            </a:r>
            <a:r>
              <a:rPr lang="en-US" altLang="zh-TW" dirty="0" err="1"/>
              <a:t>mStaff</a:t>
            </a:r>
            <a:r>
              <a:rPr lang="en-US" altLang="zh-TW" dirty="0"/>
              <a:t>   VARCHAR(32)  NULL,</a:t>
            </a:r>
          </a:p>
          <a:p>
            <a:r>
              <a:rPr lang="en-US" altLang="zh-TW" dirty="0"/>
              <a:t>    </a:t>
            </a:r>
            <a:r>
              <a:rPr lang="en-US" altLang="zh-TW" dirty="0" err="1"/>
              <a:t>mStatus</a:t>
            </a:r>
            <a:r>
              <a:rPr lang="en-US" altLang="zh-TW" dirty="0"/>
              <a:t>  VARCHAR(6)   NOT NULL DEFAULT '</a:t>
            </a:r>
            <a:r>
              <a:rPr lang="zh-TW" altLang="en-US" dirty="0"/>
              <a:t>待處理</a:t>
            </a:r>
            <a:r>
              <a:rPr lang="en-US" altLang="zh-TW" dirty="0"/>
              <a:t>',</a:t>
            </a:r>
          </a:p>
          <a:p>
            <a:r>
              <a:rPr lang="en-US" altLang="zh-TW" dirty="0"/>
              <a:t>    PRIMARY KEY (</a:t>
            </a:r>
            <a:r>
              <a:rPr lang="en-US" altLang="zh-TW" dirty="0" err="1"/>
              <a:t>mRecId</a:t>
            </a:r>
            <a:r>
              <a:rPr lang="en-US" altLang="zh-TW" dirty="0"/>
              <a:t>),</a:t>
            </a:r>
          </a:p>
          <a:p>
            <a:r>
              <a:rPr lang="en-US" altLang="zh-TW" dirty="0"/>
              <a:t>    CONSTRAINT </a:t>
            </a:r>
            <a:r>
              <a:rPr lang="en-US" altLang="zh-TW" dirty="0" err="1"/>
              <a:t>fk_maintenance_equipment</a:t>
            </a:r>
            <a:endParaRPr lang="en-US" altLang="zh-TW" dirty="0"/>
          </a:p>
          <a:p>
            <a:r>
              <a:rPr lang="en-US" altLang="zh-TW" dirty="0"/>
              <a:t>        FOREIGN KEY (</a:t>
            </a:r>
            <a:r>
              <a:rPr lang="en-US" altLang="zh-TW" dirty="0" err="1"/>
              <a:t>eId</a:t>
            </a:r>
            <a:r>
              <a:rPr lang="en-US" altLang="zh-TW" dirty="0"/>
              <a:t>) REFERENCES Equipment(</a:t>
            </a:r>
            <a:r>
              <a:rPr lang="en-US" altLang="zh-TW" dirty="0" err="1"/>
              <a:t>eId</a:t>
            </a:r>
            <a:r>
              <a:rPr lang="en-US" altLang="zh-TW" dirty="0"/>
              <a:t>)</a:t>
            </a:r>
          </a:p>
          <a:p>
            <a:r>
              <a:rPr lang="en-US" altLang="zh-TW" dirty="0"/>
              <a:t>        ON UPDATE RESTRICT ON DELETE RESTRICT,</a:t>
            </a:r>
          </a:p>
          <a:p>
            <a:r>
              <a:rPr lang="en-US" altLang="zh-TW" dirty="0"/>
              <a:t>    CONSTRAINT </a:t>
            </a:r>
            <a:r>
              <a:rPr lang="en-US" altLang="zh-TW" dirty="0" err="1"/>
              <a:t>fk_maintenance_member</a:t>
            </a:r>
            <a:endParaRPr lang="en-US" altLang="zh-TW" dirty="0"/>
          </a:p>
          <a:p>
            <a:r>
              <a:rPr lang="en-US" altLang="zh-TW" dirty="0"/>
              <a:t>        FOREIGN KEY (</a:t>
            </a:r>
            <a:r>
              <a:rPr lang="en-US" altLang="zh-TW" dirty="0" err="1"/>
              <a:t>mId</a:t>
            </a:r>
            <a:r>
              <a:rPr lang="en-US" altLang="zh-TW" dirty="0"/>
              <a:t>) REFERENCES Member(</a:t>
            </a:r>
            <a:r>
              <a:rPr lang="en-US" altLang="zh-TW" dirty="0" err="1"/>
              <a:t>mId</a:t>
            </a:r>
            <a:r>
              <a:rPr lang="en-US" altLang="zh-TW" dirty="0"/>
              <a:t>)</a:t>
            </a:r>
          </a:p>
          <a:p>
            <a:r>
              <a:rPr lang="en-US" altLang="zh-TW" dirty="0"/>
              <a:t>        ON UPDATE RESTRICT ON DELETE RESTRICT,</a:t>
            </a:r>
          </a:p>
          <a:p>
            <a:r>
              <a:rPr lang="en-US" altLang="zh-TW" dirty="0"/>
              <a:t>    CONSTRAINT </a:t>
            </a:r>
            <a:r>
              <a:rPr lang="en-US" altLang="zh-TW" dirty="0" err="1"/>
              <a:t>chk_mStatus</a:t>
            </a:r>
            <a:endParaRPr lang="en-US" altLang="zh-TW" dirty="0"/>
          </a:p>
          <a:p>
            <a:r>
              <a:rPr lang="en-US" altLang="zh-TW" dirty="0"/>
              <a:t>        CHECK (</a:t>
            </a:r>
            <a:r>
              <a:rPr lang="en-US" altLang="zh-TW" dirty="0" err="1"/>
              <a:t>mStatus</a:t>
            </a:r>
            <a:r>
              <a:rPr lang="en-US" altLang="zh-TW" dirty="0"/>
              <a:t> IN ('</a:t>
            </a:r>
            <a:r>
              <a:rPr lang="zh-TW" altLang="en-US" dirty="0"/>
              <a:t>待處理</a:t>
            </a:r>
            <a:r>
              <a:rPr lang="en-US" altLang="zh-TW" dirty="0"/>
              <a:t>','</a:t>
            </a:r>
            <a:r>
              <a:rPr lang="zh-TW" altLang="en-US" dirty="0"/>
              <a:t>處理中</a:t>
            </a:r>
            <a:r>
              <a:rPr lang="en-US" altLang="zh-TW" dirty="0"/>
              <a:t>','</a:t>
            </a:r>
            <a:r>
              <a:rPr lang="zh-TW" altLang="en-US" dirty="0"/>
              <a:t>已完成</a:t>
            </a:r>
            <a:r>
              <a:rPr lang="en-US" altLang="zh-TW" dirty="0"/>
              <a:t>'))</a:t>
            </a:r>
          </a:p>
          <a:p>
            <a:r>
              <a:rPr lang="en-US" altLang="zh-TW" dirty="0"/>
              <a:t>) ENGINE=</a:t>
            </a:r>
            <a:r>
              <a:rPr lang="en-US" altLang="zh-TW" dirty="0" err="1"/>
              <a:t>InnoDB</a:t>
            </a:r>
            <a:r>
              <a:rPr lang="en-US" altLang="zh-TW" dirty="0"/>
              <a:t> DEFAULT CHARSET=utf8mb4;</a:t>
            </a:r>
          </a:p>
        </p:txBody>
      </p:sp>
    </p:spTree>
    <p:extLst>
      <p:ext uri="{BB962C8B-B14F-4D97-AF65-F5344CB8AC3E}">
        <p14:creationId xmlns:p14="http://schemas.microsoft.com/office/powerpoint/2010/main" val="7912138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CE710E5-9DB9-14A0-2A7F-D91A9103A0E1}"/>
              </a:ext>
            </a:extLst>
          </p:cNvPr>
          <p:cNvSpPr>
            <a:spLocks noGrp="1"/>
          </p:cNvSpPr>
          <p:nvPr>
            <p:ph type="title"/>
          </p:nvPr>
        </p:nvSpPr>
        <p:spPr/>
        <p:txBody>
          <a:bodyPr/>
          <a:lstStyle/>
          <a:p>
            <a:endParaRPr lang="zh-TW" altLang="en-US" dirty="0"/>
          </a:p>
        </p:txBody>
      </p:sp>
      <p:sp>
        <p:nvSpPr>
          <p:cNvPr id="3" name="文字版面配置區 2">
            <a:extLst>
              <a:ext uri="{FF2B5EF4-FFF2-40B4-BE49-F238E27FC236}">
                <a16:creationId xmlns:a16="http://schemas.microsoft.com/office/drawing/2014/main" id="{2B257257-36F9-33CD-9958-E0A42A6F8A5A}"/>
              </a:ext>
            </a:extLst>
          </p:cNvPr>
          <p:cNvSpPr>
            <a:spLocks noGrp="1"/>
          </p:cNvSpPr>
          <p:nvPr>
            <p:ph type="body" idx="1"/>
          </p:nvPr>
        </p:nvSpPr>
        <p:spPr/>
        <p:txBody>
          <a:bodyPr/>
          <a:lstStyle/>
          <a:p>
            <a:endParaRPr lang="zh-TW" altLang="en-US"/>
          </a:p>
        </p:txBody>
      </p:sp>
      <p:graphicFrame>
        <p:nvGraphicFramePr>
          <p:cNvPr id="4" name="表格 3">
            <a:extLst>
              <a:ext uri="{FF2B5EF4-FFF2-40B4-BE49-F238E27FC236}">
                <a16:creationId xmlns:a16="http://schemas.microsoft.com/office/drawing/2014/main" id="{45574A38-1B3A-AE12-BFD1-B5D258E4B147}"/>
              </a:ext>
            </a:extLst>
          </p:cNvPr>
          <p:cNvGraphicFramePr>
            <a:graphicFrameLocks noGrp="1"/>
          </p:cNvGraphicFramePr>
          <p:nvPr>
            <p:extLst>
              <p:ext uri="{D42A27DB-BD31-4B8C-83A1-F6EECF244321}">
                <p14:modId xmlns:p14="http://schemas.microsoft.com/office/powerpoint/2010/main" val="54403031"/>
              </p:ext>
            </p:extLst>
          </p:nvPr>
        </p:nvGraphicFramePr>
        <p:xfrm>
          <a:off x="3048000" y="1393441"/>
          <a:ext cx="6095999" cy="4812616"/>
        </p:xfrm>
        <a:graphic>
          <a:graphicData uri="http://schemas.openxmlformats.org/drawingml/2006/table">
            <a:tbl>
              <a:tblPr firstRow="1" firstCol="1" bandRow="1">
                <a:tableStyleId>{5C22544A-7EE6-4342-B048-85BDC9FD1C3A}</a:tableStyleId>
              </a:tblPr>
              <a:tblGrid>
                <a:gridCol w="697076">
                  <a:extLst>
                    <a:ext uri="{9D8B030D-6E8A-4147-A177-3AD203B41FA5}">
                      <a16:colId xmlns:a16="http://schemas.microsoft.com/office/drawing/2014/main" val="378851844"/>
                    </a:ext>
                  </a:extLst>
                </a:gridCol>
                <a:gridCol w="423713">
                  <a:extLst>
                    <a:ext uri="{9D8B030D-6E8A-4147-A177-3AD203B41FA5}">
                      <a16:colId xmlns:a16="http://schemas.microsoft.com/office/drawing/2014/main" val="2432287241"/>
                    </a:ext>
                  </a:extLst>
                </a:gridCol>
                <a:gridCol w="423713">
                  <a:extLst>
                    <a:ext uri="{9D8B030D-6E8A-4147-A177-3AD203B41FA5}">
                      <a16:colId xmlns:a16="http://schemas.microsoft.com/office/drawing/2014/main" val="2683955211"/>
                    </a:ext>
                  </a:extLst>
                </a:gridCol>
                <a:gridCol w="902099">
                  <a:extLst>
                    <a:ext uri="{9D8B030D-6E8A-4147-A177-3AD203B41FA5}">
                      <a16:colId xmlns:a16="http://schemas.microsoft.com/office/drawing/2014/main" val="1569149729"/>
                    </a:ext>
                  </a:extLst>
                </a:gridCol>
                <a:gridCol w="1134457">
                  <a:extLst>
                    <a:ext uri="{9D8B030D-6E8A-4147-A177-3AD203B41FA5}">
                      <a16:colId xmlns:a16="http://schemas.microsoft.com/office/drawing/2014/main" val="691332520"/>
                    </a:ext>
                  </a:extLst>
                </a:gridCol>
                <a:gridCol w="1038781">
                  <a:extLst>
                    <a:ext uri="{9D8B030D-6E8A-4147-A177-3AD203B41FA5}">
                      <a16:colId xmlns:a16="http://schemas.microsoft.com/office/drawing/2014/main" val="2914695691"/>
                    </a:ext>
                  </a:extLst>
                </a:gridCol>
                <a:gridCol w="738080">
                  <a:extLst>
                    <a:ext uri="{9D8B030D-6E8A-4147-A177-3AD203B41FA5}">
                      <a16:colId xmlns:a16="http://schemas.microsoft.com/office/drawing/2014/main" val="1239033565"/>
                    </a:ext>
                  </a:extLst>
                </a:gridCol>
                <a:gridCol w="738080">
                  <a:extLst>
                    <a:ext uri="{9D8B030D-6E8A-4147-A177-3AD203B41FA5}">
                      <a16:colId xmlns:a16="http://schemas.microsoft.com/office/drawing/2014/main" val="2803289574"/>
                    </a:ext>
                  </a:extLst>
                </a:gridCol>
              </a:tblGrid>
              <a:tr h="404976">
                <a:tc>
                  <a:txBody>
                    <a:bodyPr/>
                    <a:lstStyle/>
                    <a:p>
                      <a:pPr algn="ctr">
                        <a:buNone/>
                      </a:pPr>
                      <a:r>
                        <a:rPr lang="en-US" sz="1000">
                          <a:effectLst/>
                        </a:rPr>
                        <a:t>mRecId</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eId</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mId</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mRecDate</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mIssue</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mResult</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mStaff</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mStatus</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3857484838"/>
                  </a:ext>
                </a:extLst>
              </a:tr>
              <a:tr h="440764">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網路連線不穩</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更換交換模組</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陳技師</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已完成</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089429523"/>
                  </a:ext>
                </a:extLst>
              </a:tr>
              <a:tr h="440764">
                <a:tc>
                  <a:txBody>
                    <a:bodyPr/>
                    <a:lstStyle/>
                    <a:p>
                      <a:pPr algn="ctr">
                        <a:buNone/>
                      </a:pPr>
                      <a:r>
                        <a:rPr lang="en-US" sz="1100">
                          <a:effectLst/>
                        </a:rPr>
                        <a:t>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dirty="0">
                          <a:effectLst/>
                        </a:rPr>
                        <a:t>螢幕無法顯示</a:t>
                      </a:r>
                      <a:endParaRPr lang="zh-TW" sz="11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dirty="0">
                          <a:effectLst/>
                        </a:rPr>
                        <a:t>待採購零件</a:t>
                      </a:r>
                      <a:endParaRPr lang="zh-TW" sz="11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王維修</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處理中</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1801769776"/>
                  </a:ext>
                </a:extLst>
              </a:tr>
              <a:tr h="440764">
                <a:tc>
                  <a:txBody>
                    <a:bodyPr/>
                    <a:lstStyle/>
                    <a:p>
                      <a:pPr algn="ctr">
                        <a:buNone/>
                      </a:pPr>
                      <a:r>
                        <a:rPr lang="en-US" sz="1100">
                          <a:effectLst/>
                        </a:rPr>
                        <a:t>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筆電無法開機</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重灌系統完成</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李工程</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已完成</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4218149946"/>
                  </a:ext>
                </a:extLst>
              </a:tr>
              <a:tr h="440764">
                <a:tc>
                  <a:txBody>
                    <a:bodyPr/>
                    <a:lstStyle/>
                    <a:p>
                      <a:pPr algn="ctr">
                        <a:buNone/>
                      </a:pPr>
                      <a:r>
                        <a:rPr lang="en-US" sz="1100">
                          <a:effectLst/>
                        </a:rPr>
                        <a:t>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相機鏡頭異常</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待處理</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831493357"/>
                  </a:ext>
                </a:extLst>
              </a:tr>
              <a:tr h="440764">
                <a:tc>
                  <a:txBody>
                    <a:bodyPr/>
                    <a:lstStyle/>
                    <a:p>
                      <a:pPr algn="ctr">
                        <a:buNone/>
                      </a:pPr>
                      <a:r>
                        <a:rPr lang="en-US" sz="1100">
                          <a:effectLst/>
                        </a:rPr>
                        <a:t>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設備過熱</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陳技師</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處理中</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907437991"/>
                  </a:ext>
                </a:extLst>
              </a:tr>
              <a:tr h="440764">
                <a:tc>
                  <a:txBody>
                    <a:bodyPr/>
                    <a:lstStyle/>
                    <a:p>
                      <a:pPr algn="ctr">
                        <a:buNone/>
                      </a:pPr>
                      <a:r>
                        <a:rPr lang="en-US" sz="1100">
                          <a:effectLst/>
                        </a:rPr>
                        <a:t>6</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開發板無法辨識</a:t>
                      </a:r>
                      <a:r>
                        <a:rPr lang="en-US" sz="1100">
                          <a:effectLst/>
                        </a:rPr>
                        <a:t>USB</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黃技師</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處理中</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3757515940"/>
                  </a:ext>
                </a:extLst>
              </a:tr>
              <a:tr h="440764">
                <a:tc>
                  <a:txBody>
                    <a:bodyPr/>
                    <a:lstStyle/>
                    <a:p>
                      <a:pPr algn="ctr">
                        <a:buNone/>
                      </a:pPr>
                      <a:r>
                        <a:rPr lang="en-US" sz="1100">
                          <a:effectLst/>
                        </a:rPr>
                        <a:t>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6</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螢幕閃爍</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更新韌體後正常</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林工程</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已完成</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96908759"/>
                  </a:ext>
                </a:extLst>
              </a:tr>
              <a:tr h="440764">
                <a:tc>
                  <a:txBody>
                    <a:bodyPr/>
                    <a:lstStyle/>
                    <a:p>
                      <a:pPr algn="ctr">
                        <a:buNone/>
                      </a:pPr>
                      <a:r>
                        <a:rPr lang="en-US" sz="1100">
                          <a:effectLst/>
                        </a:rPr>
                        <a:t>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2026/5/16</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伺服器風扇異音</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待處理</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338364111"/>
                  </a:ext>
                </a:extLst>
              </a:tr>
              <a:tr h="440764">
                <a:tc>
                  <a:txBody>
                    <a:bodyPr/>
                    <a:lstStyle/>
                    <a:p>
                      <a:pPr algn="ctr">
                        <a:buNone/>
                      </a:pPr>
                      <a:r>
                        <a:rPr lang="en-US" sz="1100">
                          <a:effectLst/>
                        </a:rPr>
                        <a:t>9</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9</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NAS</a:t>
                      </a:r>
                      <a:r>
                        <a:rPr lang="zh-TW" sz="1100">
                          <a:effectLst/>
                        </a:rPr>
                        <a:t>磁碟警告</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更換硬碟完成</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陳工程</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已完成</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1310169242"/>
                  </a:ext>
                </a:extLst>
              </a:tr>
              <a:tr h="440764">
                <a:tc>
                  <a:txBody>
                    <a:bodyPr/>
                    <a:lstStyle/>
                    <a:p>
                      <a:pPr algn="ctr">
                        <a:buNone/>
                      </a:pPr>
                      <a:r>
                        <a:rPr lang="en-US" sz="1100">
                          <a:effectLst/>
                        </a:rPr>
                        <a:t>10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6</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鍵盤藍牙連線異常</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　</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李技師</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dirty="0">
                          <a:effectLst/>
                        </a:rPr>
                        <a:t>處理中</a:t>
                      </a:r>
                      <a:endParaRPr lang="zh-TW" sz="11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4027071365"/>
                  </a:ext>
                </a:extLst>
              </a:tr>
            </a:tbl>
          </a:graphicData>
        </a:graphic>
      </p:graphicFrame>
      <p:sp>
        <p:nvSpPr>
          <p:cNvPr id="6" name="文字方塊 5">
            <a:extLst>
              <a:ext uri="{FF2B5EF4-FFF2-40B4-BE49-F238E27FC236}">
                <a16:creationId xmlns:a16="http://schemas.microsoft.com/office/drawing/2014/main" id="{D4D394E8-5C4E-2DC0-167E-0DB6629E8F4F}"/>
              </a:ext>
            </a:extLst>
          </p:cNvPr>
          <p:cNvSpPr txBox="1"/>
          <p:nvPr/>
        </p:nvSpPr>
        <p:spPr>
          <a:xfrm>
            <a:off x="3164115" y="651943"/>
            <a:ext cx="6096000" cy="1031051"/>
          </a:xfrm>
          <a:prstGeom prst="rect">
            <a:avLst/>
          </a:prstGeom>
          <a:noFill/>
        </p:spPr>
        <p:txBody>
          <a:bodyPr wrap="square">
            <a:spAutoFit/>
          </a:bodyPr>
          <a:lstStyle/>
          <a:p>
            <a:pPr algn="ctr">
              <a:spcBef>
                <a:spcPts val="800"/>
              </a:spcBef>
              <a:spcAft>
                <a:spcPts val="400"/>
              </a:spcAft>
              <a:buNone/>
            </a:pPr>
            <a:r>
              <a:rPr lang="zh-TW" altLang="zh-TW" sz="2800" b="1" dirty="0">
                <a:solidFill>
                  <a:srgbClr val="1F3A6B"/>
                </a:solidFill>
                <a:effectLst/>
                <a:latin typeface="標楷體" panose="03000509000000000000" pitchFamily="65" charset="-120"/>
                <a:ea typeface="標楷體" panose="03000509000000000000" pitchFamily="65" charset="-120"/>
                <a:cs typeface="標楷體" panose="03000509000000000000" pitchFamily="65" charset="-120"/>
              </a:rPr>
              <a:t>維護紀錄實例</a:t>
            </a:r>
            <a:endParaRPr lang="zh-TW" altLang="zh-TW" sz="28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200"/>
              </a:spcBef>
              <a:spcAft>
                <a:spcPts val="200"/>
              </a:spcAft>
              <a:buNone/>
            </a:pPr>
            <a:r>
              <a:rPr lang="en-US" altLang="zh-TW" sz="2800" dirty="0">
                <a:effectLst/>
                <a:latin typeface="標楷體" panose="03000509000000000000" pitchFamily="65" charset="-120"/>
                <a:ea typeface="標楷體" panose="03000509000000000000" pitchFamily="65" charset="-120"/>
                <a:cs typeface="標楷體" panose="03000509000000000000" pitchFamily="65" charset="-120"/>
              </a:rPr>
              <a:t> </a:t>
            </a:r>
            <a:endParaRPr lang="zh-TW" altLang="zh-TW" sz="2800" dirty="0">
              <a:effectLst/>
              <a:latin typeface="標楷體" panose="03000509000000000000" pitchFamily="65" charset="-120"/>
              <a:ea typeface="標楷體" panose="03000509000000000000" pitchFamily="65" charset="-120"/>
              <a:cs typeface="標楷體" panose="03000509000000000000" pitchFamily="65" charset="-120"/>
            </a:endParaRPr>
          </a:p>
        </p:txBody>
      </p:sp>
    </p:spTree>
    <p:extLst>
      <p:ext uri="{BB962C8B-B14F-4D97-AF65-F5344CB8AC3E}">
        <p14:creationId xmlns:p14="http://schemas.microsoft.com/office/powerpoint/2010/main" val="1168520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FAB0F-4BE7-C716-F692-54F12F76FE4D}"/>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1ED9BD16-B909-4559-206D-CF72D3828519}"/>
              </a:ext>
            </a:extLst>
          </p:cNvPr>
          <p:cNvGrpSpPr/>
          <p:nvPr/>
        </p:nvGrpSpPr>
        <p:grpSpPr>
          <a:xfrm>
            <a:off x="-1200150" y="80872"/>
            <a:ext cx="6018893" cy="1200329"/>
            <a:chOff x="368300" y="1442660"/>
            <a:chExt cx="4722578" cy="1200329"/>
          </a:xfrm>
        </p:grpSpPr>
        <p:sp>
          <p:nvSpPr>
            <p:cNvPr id="5" name="矩形 4">
              <a:extLst>
                <a:ext uri="{FF2B5EF4-FFF2-40B4-BE49-F238E27FC236}">
                  <a16:creationId xmlns:a16="http://schemas.microsoft.com/office/drawing/2014/main" id="{75CB9753-D20C-8CBA-170A-E85CD344F638}"/>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E92D7550-EAA0-53A6-F732-134BDA85D66F}"/>
                </a:ext>
              </a:extLst>
            </p:cNvPr>
            <p:cNvSpPr txBox="1"/>
            <p:nvPr/>
          </p:nvSpPr>
          <p:spPr>
            <a:xfrm>
              <a:off x="4354278" y="1442660"/>
              <a:ext cx="736600" cy="1200329"/>
            </a:xfrm>
            <a:prstGeom prst="rect">
              <a:avLst/>
            </a:prstGeom>
            <a:noFill/>
          </p:spPr>
          <p:txBody>
            <a:bodyPr wrap="square">
              <a:spAutoFit/>
            </a:bodyPr>
            <a:lstStyle/>
            <a:p>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E764C455-64AB-6F0D-255A-358D21001CE0}"/>
              </a:ext>
            </a:extLst>
          </p:cNvPr>
          <p:cNvSpPr txBox="1"/>
          <p:nvPr/>
        </p:nvSpPr>
        <p:spPr>
          <a:xfrm>
            <a:off x="246742" y="357870"/>
            <a:ext cx="640914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插入範例資料</a:t>
            </a:r>
            <a:r>
              <a:rPr lang="en-US" altLang="zh-TW" sz="3600" dirty="0">
                <a:solidFill>
                  <a:schemeClr val="bg1"/>
                </a:solidFill>
                <a:latin typeface="標楷體" panose="03000509000000000000" pitchFamily="65" charset="-120"/>
                <a:ea typeface="標楷體" panose="03000509000000000000" pitchFamily="65" charset="-120"/>
              </a:rPr>
              <a:t>SQL</a:t>
            </a:r>
            <a:endParaRPr lang="zh-TW" altLang="en-US" sz="3600" dirty="0">
              <a:solidFill>
                <a:schemeClr val="bg1"/>
              </a:solidFill>
              <a:latin typeface="標楷體" panose="03000509000000000000" pitchFamily="65" charset="-120"/>
              <a:ea typeface="標楷體" panose="03000509000000000000" pitchFamily="65" charset="-120"/>
            </a:endParaRPr>
          </a:p>
        </p:txBody>
      </p:sp>
      <p:sp>
        <p:nvSpPr>
          <p:cNvPr id="10" name="文字方塊 9">
            <a:extLst>
              <a:ext uri="{FF2B5EF4-FFF2-40B4-BE49-F238E27FC236}">
                <a16:creationId xmlns:a16="http://schemas.microsoft.com/office/drawing/2014/main" id="{B0E6F43D-C41F-EB62-4721-7EDC909B1EFB}"/>
              </a:ext>
            </a:extLst>
          </p:cNvPr>
          <p:cNvSpPr txBox="1"/>
          <p:nvPr/>
        </p:nvSpPr>
        <p:spPr>
          <a:xfrm>
            <a:off x="2133601" y="1437206"/>
            <a:ext cx="12264572" cy="2554545"/>
          </a:xfrm>
          <a:prstGeom prst="rect">
            <a:avLst/>
          </a:prstGeom>
          <a:noFill/>
        </p:spPr>
        <p:txBody>
          <a:bodyPr wrap="square">
            <a:spAutoFit/>
          </a:bodyPr>
          <a:lstStyle/>
          <a:p>
            <a:pPr marL="228600">
              <a:buNone/>
            </a:pPr>
            <a:r>
              <a:rPr lang="en-US" altLang="zh-TW" sz="2000" dirty="0">
                <a:effectLst/>
                <a:ea typeface="標楷體" panose="03000509000000000000" pitchFamily="65" charset="-120"/>
                <a:cs typeface="標楷體" panose="03000509000000000000" pitchFamily="65" charset="-120"/>
              </a:rPr>
              <a:t>INSERT INTO </a:t>
            </a:r>
            <a:r>
              <a:rPr lang="en-US" altLang="zh-TW" sz="2000" dirty="0" err="1">
                <a:effectLst/>
                <a:ea typeface="標楷體" panose="03000509000000000000" pitchFamily="65" charset="-120"/>
                <a:cs typeface="標楷體" panose="03000509000000000000" pitchFamily="65" charset="-120"/>
              </a:rPr>
              <a:t>MaintenanceRecord</a:t>
            </a:r>
            <a:endParaRPr lang="zh-TW" altLang="zh-TW" sz="2000" dirty="0">
              <a:effectLst/>
              <a:ea typeface="標楷體" panose="03000509000000000000" pitchFamily="65" charset="-120"/>
              <a:cs typeface="標楷體" panose="03000509000000000000" pitchFamily="65" charset="-120"/>
            </a:endParaRPr>
          </a:p>
          <a:p>
            <a:pPr marL="228600">
              <a:buNone/>
            </a:pPr>
            <a:r>
              <a:rPr lang="en-US" altLang="zh-TW" sz="2000" dirty="0">
                <a:effectLst/>
                <a:ea typeface="標楷體" panose="03000509000000000000" pitchFamily="65" charset="-120"/>
                <a:cs typeface="標楷體" panose="03000509000000000000" pitchFamily="65" charset="-120"/>
              </a:rPr>
              <a:t>  (</a:t>
            </a:r>
            <a:r>
              <a:rPr lang="en-US" altLang="zh-TW" sz="2000" dirty="0" err="1">
                <a:effectLst/>
                <a:ea typeface="標楷體" panose="03000509000000000000" pitchFamily="65" charset="-120"/>
                <a:cs typeface="標楷體" panose="03000509000000000000" pitchFamily="65" charset="-120"/>
              </a:rPr>
              <a:t>mRecId,eId,mId,mRecDate,mIssue,mResult,mStaff,mStatus</a:t>
            </a:r>
            <a:r>
              <a:rPr lang="en-US" altLang="zh-TW" sz="2000" dirty="0">
                <a:effectLst/>
                <a:ea typeface="標楷體" panose="03000509000000000000" pitchFamily="65" charset="-120"/>
                <a:cs typeface="標楷體" panose="03000509000000000000" pitchFamily="65" charset="-120"/>
              </a:rPr>
              <a:t>)</a:t>
            </a:r>
            <a:endParaRPr lang="zh-TW" altLang="zh-TW" sz="2000" dirty="0">
              <a:effectLst/>
              <a:ea typeface="標楷體" panose="03000509000000000000" pitchFamily="65" charset="-120"/>
              <a:cs typeface="標楷體" panose="03000509000000000000" pitchFamily="65" charset="-120"/>
            </a:endParaRPr>
          </a:p>
          <a:p>
            <a:pPr marL="228600">
              <a:buNone/>
            </a:pPr>
            <a:r>
              <a:rPr lang="en-US" altLang="zh-TW" sz="2000" dirty="0">
                <a:effectLst/>
                <a:ea typeface="標楷體" panose="03000509000000000000" pitchFamily="65" charset="-120"/>
                <a:cs typeface="標楷體" panose="03000509000000000000" pitchFamily="65" charset="-120"/>
              </a:rPr>
              <a:t>VALUES</a:t>
            </a:r>
            <a:endParaRPr lang="zh-TW" altLang="zh-TW" sz="2000" dirty="0">
              <a:effectLst/>
              <a:ea typeface="標楷體" panose="03000509000000000000" pitchFamily="65" charset="-120"/>
              <a:cs typeface="標楷體" panose="03000509000000000000" pitchFamily="65" charset="-120"/>
            </a:endParaRPr>
          </a:p>
          <a:p>
            <a:pPr marL="228600">
              <a:buNone/>
            </a:pPr>
            <a:r>
              <a:rPr lang="en-US" altLang="zh-TW" sz="2000" dirty="0">
                <a:effectLst/>
                <a:ea typeface="標楷體" panose="03000509000000000000" pitchFamily="65" charset="-120"/>
                <a:cs typeface="標楷體" panose="03000509000000000000" pitchFamily="65" charset="-120"/>
              </a:rPr>
              <a:t>(1,3,2,'2026-05-01','</a:t>
            </a:r>
            <a:r>
              <a:rPr lang="zh-TW" altLang="zh-TW" sz="2000" dirty="0">
                <a:effectLst/>
                <a:ea typeface="標楷體" panose="03000509000000000000" pitchFamily="65" charset="-120"/>
                <a:cs typeface="Courier New" panose="02070309020205020404" pitchFamily="49" charset="0"/>
              </a:rPr>
              <a:t>網路連線不穩</a:t>
            </a:r>
            <a:r>
              <a:rPr lang="en-US" altLang="zh-TW" sz="2000" dirty="0">
                <a:effectLst/>
                <a:ea typeface="標楷體" panose="03000509000000000000" pitchFamily="65" charset="-120"/>
                <a:cs typeface="標楷體" panose="03000509000000000000" pitchFamily="65" charset="-120"/>
              </a:rPr>
              <a:t>','</a:t>
            </a:r>
            <a:r>
              <a:rPr lang="zh-TW" altLang="zh-TW" sz="2000" dirty="0">
                <a:effectLst/>
                <a:ea typeface="標楷體" panose="03000509000000000000" pitchFamily="65" charset="-120"/>
                <a:cs typeface="Courier New" panose="02070309020205020404" pitchFamily="49" charset="0"/>
              </a:rPr>
              <a:t>更換交換模組</a:t>
            </a:r>
            <a:r>
              <a:rPr lang="en-US" altLang="zh-TW" sz="2000" dirty="0">
                <a:effectLst/>
                <a:ea typeface="標楷體" panose="03000509000000000000" pitchFamily="65" charset="-120"/>
                <a:cs typeface="標楷體" panose="03000509000000000000" pitchFamily="65" charset="-120"/>
              </a:rPr>
              <a:t>','</a:t>
            </a:r>
            <a:r>
              <a:rPr lang="zh-TW" altLang="zh-TW" sz="2000" dirty="0">
                <a:effectLst/>
                <a:ea typeface="標楷體" panose="03000509000000000000" pitchFamily="65" charset="-120"/>
                <a:cs typeface="Courier New" panose="02070309020205020404" pitchFamily="49" charset="0"/>
              </a:rPr>
              <a:t>陳技師</a:t>
            </a:r>
            <a:r>
              <a:rPr lang="en-US" altLang="zh-TW" sz="2000" dirty="0">
                <a:effectLst/>
                <a:ea typeface="標楷體" panose="03000509000000000000" pitchFamily="65" charset="-120"/>
                <a:cs typeface="標楷體" panose="03000509000000000000" pitchFamily="65" charset="-120"/>
              </a:rPr>
              <a:t>','</a:t>
            </a:r>
            <a:r>
              <a:rPr lang="zh-TW" altLang="zh-TW" sz="2000" dirty="0">
                <a:effectLst/>
                <a:ea typeface="標楷體" panose="03000509000000000000" pitchFamily="65" charset="-120"/>
                <a:cs typeface="Courier New" panose="02070309020205020404" pitchFamily="49" charset="0"/>
              </a:rPr>
              <a:t>已完成</a:t>
            </a:r>
            <a:r>
              <a:rPr lang="en-US" altLang="zh-TW" sz="2000" dirty="0">
                <a:effectLst/>
                <a:ea typeface="標楷體" panose="03000509000000000000" pitchFamily="65" charset="-120"/>
                <a:cs typeface="標楷體" panose="03000509000000000000" pitchFamily="65" charset="-120"/>
              </a:rPr>
              <a:t>'),</a:t>
            </a:r>
            <a:endParaRPr lang="zh-TW" altLang="zh-TW" sz="2000" dirty="0">
              <a:effectLst/>
              <a:ea typeface="標楷體" panose="03000509000000000000" pitchFamily="65" charset="-120"/>
              <a:cs typeface="標楷體" panose="03000509000000000000" pitchFamily="65" charset="-120"/>
            </a:endParaRPr>
          </a:p>
          <a:p>
            <a:pPr marL="228600">
              <a:buNone/>
            </a:pPr>
            <a:r>
              <a:rPr lang="en-US" altLang="zh-TW" sz="2000" dirty="0">
                <a:effectLst/>
                <a:ea typeface="標楷體" panose="03000509000000000000" pitchFamily="65" charset="-120"/>
                <a:cs typeface="標楷體" panose="03000509000000000000" pitchFamily="65" charset="-120"/>
              </a:rPr>
              <a:t>(2,5,4,'2026-05-03','</a:t>
            </a:r>
            <a:r>
              <a:rPr lang="zh-TW" altLang="zh-TW" sz="2000" dirty="0">
                <a:effectLst/>
                <a:ea typeface="標楷體" panose="03000509000000000000" pitchFamily="65" charset="-120"/>
                <a:cs typeface="Courier New" panose="02070309020205020404" pitchFamily="49" charset="0"/>
              </a:rPr>
              <a:t>螢幕無法顯示</a:t>
            </a:r>
            <a:r>
              <a:rPr lang="en-US" altLang="zh-TW" sz="2000" dirty="0">
                <a:effectLst/>
                <a:ea typeface="標楷體" panose="03000509000000000000" pitchFamily="65" charset="-120"/>
                <a:cs typeface="標楷體" panose="03000509000000000000" pitchFamily="65" charset="-120"/>
              </a:rPr>
              <a:t>','</a:t>
            </a:r>
            <a:r>
              <a:rPr lang="zh-TW" altLang="zh-TW" sz="2000" dirty="0">
                <a:effectLst/>
                <a:ea typeface="標楷體" panose="03000509000000000000" pitchFamily="65" charset="-120"/>
                <a:cs typeface="Courier New" panose="02070309020205020404" pitchFamily="49" charset="0"/>
              </a:rPr>
              <a:t>待採購零件</a:t>
            </a:r>
            <a:r>
              <a:rPr lang="en-US" altLang="zh-TW" sz="2000" dirty="0">
                <a:effectLst/>
                <a:ea typeface="標楷體" panose="03000509000000000000" pitchFamily="65" charset="-120"/>
                <a:cs typeface="標楷體" panose="03000509000000000000" pitchFamily="65" charset="-120"/>
              </a:rPr>
              <a:t>', '</a:t>
            </a:r>
            <a:r>
              <a:rPr lang="zh-TW" altLang="zh-TW" sz="2000" dirty="0">
                <a:effectLst/>
                <a:ea typeface="標楷體" panose="03000509000000000000" pitchFamily="65" charset="-120"/>
                <a:cs typeface="Courier New" panose="02070309020205020404" pitchFamily="49" charset="0"/>
              </a:rPr>
              <a:t>王維修</a:t>
            </a:r>
            <a:r>
              <a:rPr lang="en-US" altLang="zh-TW" sz="2000" dirty="0">
                <a:effectLst/>
                <a:ea typeface="標楷體" panose="03000509000000000000" pitchFamily="65" charset="-120"/>
                <a:cs typeface="標楷體" panose="03000509000000000000" pitchFamily="65" charset="-120"/>
              </a:rPr>
              <a:t>','</a:t>
            </a:r>
            <a:r>
              <a:rPr lang="zh-TW" altLang="zh-TW" sz="2000" dirty="0">
                <a:effectLst/>
                <a:ea typeface="標楷體" panose="03000509000000000000" pitchFamily="65" charset="-120"/>
                <a:cs typeface="Courier New" panose="02070309020205020404" pitchFamily="49" charset="0"/>
              </a:rPr>
              <a:t>處理中</a:t>
            </a:r>
            <a:r>
              <a:rPr lang="en-US" altLang="zh-TW" sz="2000" dirty="0">
                <a:effectLst/>
                <a:ea typeface="標楷體" panose="03000509000000000000" pitchFamily="65" charset="-120"/>
                <a:cs typeface="標楷體" panose="03000509000000000000" pitchFamily="65" charset="-120"/>
              </a:rPr>
              <a:t>'),</a:t>
            </a:r>
            <a:endParaRPr lang="zh-TW" altLang="zh-TW" sz="2000" dirty="0">
              <a:effectLst/>
              <a:ea typeface="標楷體" panose="03000509000000000000" pitchFamily="65" charset="-120"/>
              <a:cs typeface="標楷體" panose="03000509000000000000" pitchFamily="65" charset="-120"/>
            </a:endParaRPr>
          </a:p>
          <a:p>
            <a:pPr marL="228600">
              <a:buNone/>
            </a:pPr>
            <a:r>
              <a:rPr lang="en-US" altLang="zh-TW" sz="2000" dirty="0">
                <a:effectLst/>
                <a:ea typeface="標楷體" panose="03000509000000000000" pitchFamily="65" charset="-120"/>
                <a:cs typeface="標楷體" panose="03000509000000000000" pitchFamily="65" charset="-120"/>
              </a:rPr>
              <a:t>(3,1,3,'2026-05-05','</a:t>
            </a:r>
            <a:r>
              <a:rPr lang="zh-TW" altLang="zh-TW" sz="2000" dirty="0">
                <a:effectLst/>
                <a:ea typeface="標楷體" panose="03000509000000000000" pitchFamily="65" charset="-120"/>
                <a:cs typeface="Courier New" panose="02070309020205020404" pitchFamily="49" charset="0"/>
              </a:rPr>
              <a:t>筆電無法開機</a:t>
            </a:r>
            <a:r>
              <a:rPr lang="en-US" altLang="zh-TW" sz="2000" dirty="0">
                <a:effectLst/>
                <a:ea typeface="標楷體" panose="03000509000000000000" pitchFamily="65" charset="-120"/>
                <a:cs typeface="標楷體" panose="03000509000000000000" pitchFamily="65" charset="-120"/>
              </a:rPr>
              <a:t>','</a:t>
            </a:r>
            <a:r>
              <a:rPr lang="zh-TW" altLang="zh-TW" sz="2000" dirty="0">
                <a:effectLst/>
                <a:ea typeface="標楷體" panose="03000509000000000000" pitchFamily="65" charset="-120"/>
                <a:cs typeface="Courier New" panose="02070309020205020404" pitchFamily="49" charset="0"/>
              </a:rPr>
              <a:t>重灌系統完成</a:t>
            </a:r>
            <a:r>
              <a:rPr lang="en-US" altLang="zh-TW" sz="2000" dirty="0">
                <a:effectLst/>
                <a:ea typeface="標楷體" panose="03000509000000000000" pitchFamily="65" charset="-120"/>
                <a:cs typeface="標楷體" panose="03000509000000000000" pitchFamily="65" charset="-120"/>
              </a:rPr>
              <a:t>','</a:t>
            </a:r>
            <a:r>
              <a:rPr lang="zh-TW" altLang="zh-TW" sz="2000" dirty="0">
                <a:effectLst/>
                <a:ea typeface="標楷體" panose="03000509000000000000" pitchFamily="65" charset="-120"/>
                <a:cs typeface="Courier New" panose="02070309020205020404" pitchFamily="49" charset="0"/>
              </a:rPr>
              <a:t>李工程</a:t>
            </a:r>
            <a:r>
              <a:rPr lang="en-US" altLang="zh-TW" sz="2000" dirty="0">
                <a:effectLst/>
                <a:ea typeface="標楷體" panose="03000509000000000000" pitchFamily="65" charset="-120"/>
                <a:cs typeface="標楷體" panose="03000509000000000000" pitchFamily="65" charset="-120"/>
              </a:rPr>
              <a:t>','</a:t>
            </a:r>
            <a:r>
              <a:rPr lang="zh-TW" altLang="zh-TW" sz="2000" dirty="0">
                <a:effectLst/>
                <a:ea typeface="標楷體" panose="03000509000000000000" pitchFamily="65" charset="-120"/>
                <a:cs typeface="Courier New" panose="02070309020205020404" pitchFamily="49" charset="0"/>
              </a:rPr>
              <a:t>已完成</a:t>
            </a:r>
            <a:r>
              <a:rPr lang="en-US" altLang="zh-TW" sz="2000" dirty="0">
                <a:effectLst/>
                <a:ea typeface="標楷體" panose="03000509000000000000" pitchFamily="65" charset="-120"/>
                <a:cs typeface="標楷體" panose="03000509000000000000" pitchFamily="65" charset="-120"/>
              </a:rPr>
              <a:t>'),</a:t>
            </a:r>
            <a:endParaRPr lang="zh-TW" altLang="zh-TW" sz="2000" dirty="0">
              <a:effectLst/>
              <a:ea typeface="標楷體" panose="03000509000000000000" pitchFamily="65" charset="-120"/>
              <a:cs typeface="標楷體" panose="03000509000000000000" pitchFamily="65" charset="-120"/>
            </a:endParaRPr>
          </a:p>
          <a:p>
            <a:pPr marL="228600">
              <a:buNone/>
            </a:pPr>
            <a:r>
              <a:rPr lang="en-US" altLang="zh-TW" sz="2000" dirty="0">
                <a:effectLst/>
                <a:ea typeface="標楷體" panose="03000509000000000000" pitchFamily="65" charset="-120"/>
                <a:cs typeface="標楷體" panose="03000509000000000000" pitchFamily="65" charset="-120"/>
              </a:rPr>
              <a:t>(4,4,2,'2026-05-08','</a:t>
            </a:r>
            <a:r>
              <a:rPr lang="zh-TW" altLang="zh-TW" sz="2000" dirty="0">
                <a:effectLst/>
                <a:ea typeface="標楷體" panose="03000509000000000000" pitchFamily="65" charset="-120"/>
                <a:cs typeface="Courier New" panose="02070309020205020404" pitchFamily="49" charset="0"/>
              </a:rPr>
              <a:t>相機鏡頭異常</a:t>
            </a:r>
            <a:r>
              <a:rPr lang="en-US" altLang="zh-TW" sz="2000" dirty="0">
                <a:effectLst/>
                <a:ea typeface="標楷體" panose="03000509000000000000" pitchFamily="65" charset="-120"/>
                <a:cs typeface="標楷體" panose="03000509000000000000" pitchFamily="65" charset="-120"/>
              </a:rPr>
              <a:t>',NULL,         '</a:t>
            </a:r>
            <a:r>
              <a:rPr lang="zh-TW" altLang="zh-TW" sz="2000" dirty="0">
                <a:effectLst/>
                <a:ea typeface="標楷體" panose="03000509000000000000" pitchFamily="65" charset="-120"/>
                <a:cs typeface="Courier New" panose="02070309020205020404" pitchFamily="49" charset="0"/>
              </a:rPr>
              <a:t>張技師</a:t>
            </a:r>
            <a:r>
              <a:rPr lang="en-US" altLang="zh-TW" sz="2000" dirty="0">
                <a:effectLst/>
                <a:ea typeface="標楷體" panose="03000509000000000000" pitchFamily="65" charset="-120"/>
                <a:cs typeface="標楷體" panose="03000509000000000000" pitchFamily="65" charset="-120"/>
              </a:rPr>
              <a:t>','</a:t>
            </a:r>
            <a:r>
              <a:rPr lang="zh-TW" altLang="zh-TW" sz="2000" dirty="0">
                <a:effectLst/>
                <a:ea typeface="標楷體" panose="03000509000000000000" pitchFamily="65" charset="-120"/>
                <a:cs typeface="Courier New" panose="02070309020205020404" pitchFamily="49" charset="0"/>
              </a:rPr>
              <a:t>待處理</a:t>
            </a:r>
            <a:r>
              <a:rPr lang="en-US" altLang="zh-TW" sz="2000" dirty="0">
                <a:effectLst/>
                <a:ea typeface="標楷體" panose="03000509000000000000" pitchFamily="65" charset="-120"/>
                <a:cs typeface="標楷體" panose="03000509000000000000" pitchFamily="65" charset="-120"/>
              </a:rPr>
              <a:t>'),</a:t>
            </a:r>
            <a:endParaRPr lang="zh-TW" altLang="zh-TW" sz="2000" dirty="0">
              <a:effectLst/>
              <a:ea typeface="標楷體" panose="03000509000000000000" pitchFamily="65" charset="-120"/>
              <a:cs typeface="標楷體" panose="03000509000000000000" pitchFamily="65" charset="-120"/>
            </a:endParaRPr>
          </a:p>
          <a:p>
            <a:pPr marL="228600">
              <a:buNone/>
            </a:pPr>
            <a:r>
              <a:rPr lang="en-US" altLang="zh-TW" sz="2000" dirty="0">
                <a:effectLst/>
                <a:ea typeface="標楷體" panose="03000509000000000000" pitchFamily="65" charset="-120"/>
                <a:cs typeface="標楷體" panose="03000509000000000000" pitchFamily="65" charset="-120"/>
              </a:rPr>
              <a:t>(5,3,5,'2026-05-10','</a:t>
            </a:r>
            <a:r>
              <a:rPr lang="zh-TW" altLang="zh-TW" sz="2000" dirty="0">
                <a:effectLst/>
                <a:ea typeface="標楷體" panose="03000509000000000000" pitchFamily="65" charset="-120"/>
                <a:cs typeface="Courier New" panose="02070309020205020404" pitchFamily="49" charset="0"/>
              </a:rPr>
              <a:t>設備過熱</a:t>
            </a:r>
            <a:r>
              <a:rPr lang="en-US" altLang="zh-TW" sz="2000" dirty="0">
                <a:effectLst/>
                <a:ea typeface="標楷體" panose="03000509000000000000" pitchFamily="65" charset="-120"/>
                <a:cs typeface="標楷體" panose="03000509000000000000" pitchFamily="65" charset="-120"/>
              </a:rPr>
              <a:t>',    NULL,         '</a:t>
            </a:r>
            <a:r>
              <a:rPr lang="zh-TW" altLang="zh-TW" sz="2000" dirty="0">
                <a:effectLst/>
                <a:ea typeface="標楷體" panose="03000509000000000000" pitchFamily="65" charset="-120"/>
                <a:cs typeface="Courier New" panose="02070309020205020404" pitchFamily="49" charset="0"/>
              </a:rPr>
              <a:t>陳技師</a:t>
            </a:r>
            <a:r>
              <a:rPr lang="en-US" altLang="zh-TW" sz="2000" dirty="0">
                <a:effectLst/>
                <a:ea typeface="標楷體" panose="03000509000000000000" pitchFamily="65" charset="-120"/>
                <a:cs typeface="標楷體" panose="03000509000000000000" pitchFamily="65" charset="-120"/>
              </a:rPr>
              <a:t>','</a:t>
            </a:r>
            <a:r>
              <a:rPr lang="zh-TW" altLang="zh-TW" sz="2000" dirty="0">
                <a:effectLst/>
                <a:ea typeface="標楷體" panose="03000509000000000000" pitchFamily="65" charset="-120"/>
                <a:cs typeface="Courier New" panose="02070309020205020404" pitchFamily="49" charset="0"/>
              </a:rPr>
              <a:t>處理中</a:t>
            </a:r>
            <a:r>
              <a:rPr lang="en-US" altLang="zh-TW" sz="2000" dirty="0">
                <a:effectLst/>
                <a:ea typeface="標楷體" panose="03000509000000000000" pitchFamily="65" charset="-120"/>
                <a:cs typeface="標楷體" panose="03000509000000000000" pitchFamily="65" charset="-120"/>
              </a:rPr>
              <a:t>');</a:t>
            </a:r>
            <a:endParaRPr lang="zh-TW" altLang="zh-TW" sz="2000" dirty="0">
              <a:effectLst/>
              <a:ea typeface="標楷體" panose="03000509000000000000" pitchFamily="65" charset="-120"/>
              <a:cs typeface="標楷體" panose="03000509000000000000" pitchFamily="65" charset="-120"/>
            </a:endParaRPr>
          </a:p>
        </p:txBody>
      </p:sp>
      <p:pic>
        <p:nvPicPr>
          <p:cNvPr id="3" name="圖片 2">
            <a:extLst>
              <a:ext uri="{FF2B5EF4-FFF2-40B4-BE49-F238E27FC236}">
                <a16:creationId xmlns:a16="http://schemas.microsoft.com/office/drawing/2014/main" id="{1933806D-77B0-E961-8A49-024CC7DB62CA}"/>
              </a:ext>
            </a:extLst>
          </p:cNvPr>
          <p:cNvPicPr>
            <a:picLocks noChangeAspect="1"/>
          </p:cNvPicPr>
          <p:nvPr/>
        </p:nvPicPr>
        <p:blipFill>
          <a:blip r:embed="rId2"/>
          <a:stretch>
            <a:fillRect/>
          </a:stretch>
        </p:blipFill>
        <p:spPr>
          <a:xfrm>
            <a:off x="1977280" y="4143521"/>
            <a:ext cx="8498824" cy="2308323"/>
          </a:xfrm>
          <a:prstGeom prst="rect">
            <a:avLst/>
          </a:prstGeom>
        </p:spPr>
      </p:pic>
    </p:spTree>
    <p:extLst>
      <p:ext uri="{BB962C8B-B14F-4D97-AF65-F5344CB8AC3E}">
        <p14:creationId xmlns:p14="http://schemas.microsoft.com/office/powerpoint/2010/main" val="202114662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FD4FA-D246-B550-62D9-8A4B09508332}"/>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0E7F881C-2B73-79BB-4C8C-C51E996903E8}"/>
              </a:ext>
            </a:extLst>
          </p:cNvPr>
          <p:cNvGrpSpPr/>
          <p:nvPr/>
        </p:nvGrpSpPr>
        <p:grpSpPr>
          <a:xfrm>
            <a:off x="-350248" y="58141"/>
            <a:ext cx="11018247" cy="1200329"/>
            <a:chOff x="368300" y="1442660"/>
            <a:chExt cx="4722578" cy="1200329"/>
          </a:xfrm>
        </p:grpSpPr>
        <p:sp>
          <p:nvSpPr>
            <p:cNvPr id="5" name="矩形 4">
              <a:extLst>
                <a:ext uri="{FF2B5EF4-FFF2-40B4-BE49-F238E27FC236}">
                  <a16:creationId xmlns:a16="http://schemas.microsoft.com/office/drawing/2014/main" id="{7BE7A698-8CC7-1594-F972-0E01C2DD2E8C}"/>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文字方塊 5">
              <a:extLst>
                <a:ext uri="{FF2B5EF4-FFF2-40B4-BE49-F238E27FC236}">
                  <a16:creationId xmlns:a16="http://schemas.microsoft.com/office/drawing/2014/main" id="{7290B3E0-230D-90C5-EF71-EC5D8567633E}"/>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7</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20CF3E35-C396-593A-DB3A-5DB365470AF6}"/>
              </a:ext>
            </a:extLst>
          </p:cNvPr>
          <p:cNvSpPr txBox="1"/>
          <p:nvPr/>
        </p:nvSpPr>
        <p:spPr>
          <a:xfrm>
            <a:off x="49716" y="341381"/>
            <a:ext cx="8872611" cy="1200329"/>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資料表</a:t>
            </a:r>
            <a:r>
              <a:rPr lang="en-US" altLang="zh-TW" sz="3600" dirty="0">
                <a:solidFill>
                  <a:schemeClr val="bg1"/>
                </a:solidFill>
                <a:latin typeface="標楷體" panose="03000509000000000000" pitchFamily="65" charset="-120"/>
                <a:ea typeface="標楷體" panose="03000509000000000000" pitchFamily="65" charset="-120"/>
              </a:rPr>
              <a:t>SQL</a:t>
            </a:r>
            <a:r>
              <a:rPr lang="zh-TW" altLang="en-US" sz="3600" dirty="0">
                <a:solidFill>
                  <a:schemeClr val="bg1"/>
                </a:solidFill>
                <a:latin typeface="標楷體" panose="03000509000000000000" pitchFamily="65" charset="-120"/>
                <a:ea typeface="標楷體" panose="03000509000000000000" pitchFamily="65" charset="-120"/>
              </a:rPr>
              <a:t>：</a:t>
            </a:r>
            <a:r>
              <a:rPr lang="en-US" altLang="zh-TW" sz="3600" dirty="0">
                <a:solidFill>
                  <a:schemeClr val="bg1"/>
                </a:solidFill>
                <a:latin typeface="標楷體" panose="03000509000000000000" pitchFamily="65" charset="-120"/>
                <a:ea typeface="標楷體" panose="03000509000000000000" pitchFamily="65" charset="-120"/>
              </a:rPr>
              <a:t> </a:t>
            </a:r>
            <a:r>
              <a:rPr lang="en-US" altLang="zh-TW" sz="3600" dirty="0" err="1">
                <a:solidFill>
                  <a:schemeClr val="bg1"/>
                </a:solidFill>
                <a:latin typeface="標楷體" panose="03000509000000000000" pitchFamily="65" charset="-120"/>
                <a:ea typeface="標楷體" panose="03000509000000000000" pitchFamily="65" charset="-120"/>
              </a:rPr>
              <a:t>RetirementRequest</a:t>
            </a:r>
            <a:r>
              <a:rPr lang="en-US" altLang="zh-TW" sz="3600" dirty="0">
                <a:solidFill>
                  <a:schemeClr val="bg1"/>
                </a:solidFill>
                <a:latin typeface="標楷體" panose="03000509000000000000" pitchFamily="65" charset="-120"/>
                <a:ea typeface="標楷體" panose="03000509000000000000" pitchFamily="65" charset="-120"/>
              </a:rPr>
              <a:t> </a:t>
            </a:r>
            <a:r>
              <a:rPr lang="zh-TW" altLang="en-US" sz="3600" dirty="0">
                <a:solidFill>
                  <a:schemeClr val="bg1"/>
                </a:solidFill>
                <a:latin typeface="標楷體" panose="03000509000000000000" pitchFamily="65" charset="-120"/>
                <a:ea typeface="標楷體" panose="03000509000000000000" pitchFamily="65" charset="-120"/>
              </a:rPr>
              <a:t>報廢申請錄</a:t>
            </a:r>
          </a:p>
        </p:txBody>
      </p:sp>
      <p:sp>
        <p:nvSpPr>
          <p:cNvPr id="8" name="文字方塊 7">
            <a:extLst>
              <a:ext uri="{FF2B5EF4-FFF2-40B4-BE49-F238E27FC236}">
                <a16:creationId xmlns:a16="http://schemas.microsoft.com/office/drawing/2014/main" id="{4FDE30AB-E94D-01C9-F823-4AD2644A173F}"/>
              </a:ext>
            </a:extLst>
          </p:cNvPr>
          <p:cNvSpPr txBox="1"/>
          <p:nvPr/>
        </p:nvSpPr>
        <p:spPr>
          <a:xfrm>
            <a:off x="2848429" y="1541710"/>
            <a:ext cx="6495142" cy="4801314"/>
          </a:xfrm>
          <a:prstGeom prst="rect">
            <a:avLst/>
          </a:prstGeom>
          <a:noFill/>
        </p:spPr>
        <p:txBody>
          <a:bodyPr wrap="square">
            <a:spAutoFit/>
          </a:bodyPr>
          <a:lstStyle/>
          <a:p>
            <a:pPr marL="228600">
              <a:buNone/>
            </a:pPr>
            <a:r>
              <a:rPr lang="en-US" altLang="zh-TW" sz="1800" dirty="0">
                <a:effectLst/>
                <a:ea typeface="標楷體" panose="03000509000000000000" pitchFamily="65" charset="-120"/>
                <a:cs typeface="標楷體" panose="03000509000000000000" pitchFamily="65" charset="-120"/>
              </a:rPr>
              <a:t>CREATE TABLE </a:t>
            </a:r>
            <a:r>
              <a:rPr lang="en-US" altLang="zh-TW" sz="1800" dirty="0" err="1">
                <a:effectLst/>
                <a:ea typeface="標楷體" panose="03000509000000000000" pitchFamily="65" charset="-120"/>
                <a:cs typeface="標楷體" panose="03000509000000000000" pitchFamily="65" charset="-120"/>
              </a:rPr>
              <a:t>RetirementRequest</a:t>
            </a:r>
            <a:r>
              <a:rPr lang="en-US" altLang="zh-TW" sz="1800" dirty="0">
                <a:effectLst/>
                <a:ea typeface="標楷體" panose="03000509000000000000" pitchFamily="65" charset="-120"/>
                <a:cs typeface="標楷體" panose="03000509000000000000" pitchFamily="65" charset="-120"/>
              </a:rPr>
              <a:t> (</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retId</a:t>
            </a:r>
            <a:r>
              <a:rPr lang="en-US" altLang="zh-TW" sz="1800" dirty="0">
                <a:effectLst/>
                <a:ea typeface="標楷體" panose="03000509000000000000" pitchFamily="65" charset="-120"/>
                <a:cs typeface="標楷體" panose="03000509000000000000" pitchFamily="65" charset="-120"/>
              </a:rPr>
              <a:t>     INT          NOT NULL AUTO_INCREMENT,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eId</a:t>
            </a:r>
            <a:r>
              <a:rPr lang="en-US" altLang="zh-TW" sz="1800" dirty="0">
                <a:effectLst/>
                <a:ea typeface="標楷體" panose="03000509000000000000" pitchFamily="65" charset="-120"/>
                <a:cs typeface="標楷體" panose="03000509000000000000" pitchFamily="65" charset="-120"/>
              </a:rPr>
              <a:t>       INT          NOT NULL,</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mId</a:t>
            </a:r>
            <a:r>
              <a:rPr lang="en-US" altLang="zh-TW" sz="1800" dirty="0">
                <a:effectLst/>
                <a:ea typeface="標楷體" panose="03000509000000000000" pitchFamily="65" charset="-120"/>
                <a:cs typeface="標楷體" panose="03000509000000000000" pitchFamily="65" charset="-120"/>
              </a:rPr>
              <a:t>       INT          NOT NULL,</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retDate</a:t>
            </a:r>
            <a:r>
              <a:rPr lang="en-US" altLang="zh-TW" sz="1800" dirty="0">
                <a:effectLst/>
                <a:ea typeface="標楷體" panose="03000509000000000000" pitchFamily="65" charset="-120"/>
                <a:cs typeface="標楷體" panose="03000509000000000000" pitchFamily="65" charset="-120"/>
              </a:rPr>
              <a:t>   DATE         NOT NULL,</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retReason</a:t>
            </a:r>
            <a:r>
              <a:rPr lang="en-US" altLang="zh-TW" sz="1800" dirty="0">
                <a:effectLst/>
                <a:ea typeface="標楷體" panose="03000509000000000000" pitchFamily="65" charset="-120"/>
                <a:cs typeface="標楷體" panose="03000509000000000000" pitchFamily="65" charset="-120"/>
              </a:rPr>
              <a:t> VARCHAR(256) NOT NULL,</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retStatus</a:t>
            </a:r>
            <a:r>
              <a:rPr lang="en-US" altLang="zh-TW" sz="1800" dirty="0">
                <a:effectLst/>
                <a:ea typeface="標楷體" panose="03000509000000000000" pitchFamily="65" charset="-120"/>
                <a:cs typeface="標楷體" panose="03000509000000000000" pitchFamily="65" charset="-120"/>
              </a:rPr>
              <a:t> VARCHAR(6)   NOT NULL DEFAULT '</a:t>
            </a:r>
            <a:r>
              <a:rPr lang="zh-TW" altLang="zh-TW" sz="1800" dirty="0">
                <a:effectLst/>
                <a:ea typeface="標楷體" panose="03000509000000000000" pitchFamily="65" charset="-120"/>
                <a:cs typeface="Courier New" panose="02070309020205020404" pitchFamily="49" charset="0"/>
              </a:rPr>
              <a:t>待審核</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PRIMARY KEY (</a:t>
            </a:r>
            <a:r>
              <a:rPr lang="en-US" altLang="zh-TW" sz="1800" dirty="0" err="1">
                <a:effectLst/>
                <a:ea typeface="標楷體" panose="03000509000000000000" pitchFamily="65" charset="-120"/>
                <a:cs typeface="標楷體" panose="03000509000000000000" pitchFamily="65" charset="-120"/>
              </a:rPr>
              <a:t>retId</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CONSTRAINT </a:t>
            </a:r>
            <a:r>
              <a:rPr lang="en-US" altLang="zh-TW" sz="1800" dirty="0" err="1">
                <a:effectLst/>
                <a:ea typeface="標楷體" panose="03000509000000000000" pitchFamily="65" charset="-120"/>
                <a:cs typeface="標楷體" panose="03000509000000000000" pitchFamily="65" charset="-120"/>
              </a:rPr>
              <a:t>fk_retire_equipment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FOREIGN KEY (</a:t>
            </a:r>
            <a:r>
              <a:rPr lang="en-US" altLang="zh-TW" sz="1800" dirty="0" err="1">
                <a:effectLst/>
                <a:ea typeface="標楷體" panose="03000509000000000000" pitchFamily="65" charset="-120"/>
                <a:cs typeface="標楷體" panose="03000509000000000000" pitchFamily="65" charset="-120"/>
              </a:rPr>
              <a:t>eId</a:t>
            </a:r>
            <a:r>
              <a:rPr lang="en-US" altLang="zh-TW" sz="1800" dirty="0">
                <a:effectLst/>
                <a:ea typeface="標楷體" panose="03000509000000000000" pitchFamily="65" charset="-120"/>
                <a:cs typeface="標楷體" panose="03000509000000000000" pitchFamily="65" charset="-120"/>
              </a:rPr>
              <a:t>) REFERENCES Equipment(</a:t>
            </a:r>
            <a:r>
              <a:rPr lang="en-US" altLang="zh-TW" sz="1800" dirty="0" err="1">
                <a:effectLst/>
                <a:ea typeface="標楷體" panose="03000509000000000000" pitchFamily="65" charset="-120"/>
                <a:cs typeface="標楷體" panose="03000509000000000000" pitchFamily="65" charset="-120"/>
              </a:rPr>
              <a:t>eId</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ON UPDATE RESTRICT ON DELETE RESTRICT,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CONSTRAINT </a:t>
            </a:r>
            <a:r>
              <a:rPr lang="en-US" altLang="zh-TW" sz="1800" dirty="0" err="1">
                <a:effectLst/>
                <a:ea typeface="標楷體" panose="03000509000000000000" pitchFamily="65" charset="-120"/>
                <a:cs typeface="標楷體" panose="03000509000000000000" pitchFamily="65" charset="-120"/>
              </a:rPr>
              <a:t>fk_retire_member</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FOREIGN KEY (</a:t>
            </a:r>
            <a:r>
              <a:rPr lang="en-US" altLang="zh-TW" sz="1800" dirty="0" err="1">
                <a:effectLst/>
                <a:ea typeface="標楷體" panose="03000509000000000000" pitchFamily="65" charset="-120"/>
                <a:cs typeface="標楷體" panose="03000509000000000000" pitchFamily="65" charset="-120"/>
              </a:rPr>
              <a:t>mId</a:t>
            </a:r>
            <a:r>
              <a:rPr lang="en-US" altLang="zh-TW" sz="1800" dirty="0">
                <a:effectLst/>
                <a:ea typeface="標楷體" panose="03000509000000000000" pitchFamily="65" charset="-120"/>
                <a:cs typeface="標楷體" panose="03000509000000000000" pitchFamily="65" charset="-120"/>
              </a:rPr>
              <a:t>) REFERENCES Member(</a:t>
            </a:r>
            <a:r>
              <a:rPr lang="en-US" altLang="zh-TW" sz="1800" dirty="0" err="1">
                <a:effectLst/>
                <a:ea typeface="標楷體" panose="03000509000000000000" pitchFamily="65" charset="-120"/>
                <a:cs typeface="標楷體" panose="03000509000000000000" pitchFamily="65" charset="-120"/>
              </a:rPr>
              <a:t>mId</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ON UPDATE RESTRICT ON DELETE RESTRICT,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CONSTRAINT </a:t>
            </a:r>
            <a:r>
              <a:rPr lang="en-US" altLang="zh-TW" sz="1800" dirty="0" err="1">
                <a:effectLst/>
                <a:ea typeface="標楷體" panose="03000509000000000000" pitchFamily="65" charset="-120"/>
                <a:cs typeface="標楷體" panose="03000509000000000000" pitchFamily="65" charset="-120"/>
              </a:rPr>
              <a:t>chk_retStatus</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CHECK (</a:t>
            </a:r>
            <a:r>
              <a:rPr lang="en-US" altLang="zh-TW" sz="1800" dirty="0" err="1">
                <a:effectLst/>
                <a:ea typeface="標楷體" panose="03000509000000000000" pitchFamily="65" charset="-120"/>
                <a:cs typeface="標楷體" panose="03000509000000000000" pitchFamily="65" charset="-120"/>
              </a:rPr>
              <a:t>retStatus</a:t>
            </a:r>
            <a:r>
              <a:rPr lang="en-US" altLang="zh-TW" sz="1800" dirty="0">
                <a:effectLst/>
                <a:ea typeface="標楷體" panose="03000509000000000000" pitchFamily="65" charset="-120"/>
                <a:cs typeface="標楷體" panose="03000509000000000000" pitchFamily="65" charset="-120"/>
              </a:rPr>
              <a:t> IN ('</a:t>
            </a:r>
            <a:r>
              <a:rPr lang="zh-TW" altLang="zh-TW" sz="1800" dirty="0">
                <a:effectLst/>
                <a:ea typeface="標楷體" panose="03000509000000000000" pitchFamily="65" charset="-120"/>
                <a:cs typeface="Courier New" panose="02070309020205020404" pitchFamily="49" charset="0"/>
              </a:rPr>
              <a:t>待審核</a:t>
            </a:r>
            <a:r>
              <a:rPr lang="en-US" altLang="zh-TW" sz="1800" dirty="0">
                <a:effectLst/>
                <a:ea typeface="標楷體" panose="03000509000000000000" pitchFamily="65" charset="-120"/>
                <a:cs typeface="標楷體" panose="03000509000000000000" pitchFamily="65" charset="-120"/>
              </a:rPr>
              <a:t>','</a:t>
            </a:r>
            <a:r>
              <a:rPr lang="zh-TW" altLang="zh-TW" sz="1800" dirty="0">
                <a:effectLst/>
                <a:ea typeface="標楷體" panose="03000509000000000000" pitchFamily="65" charset="-120"/>
                <a:cs typeface="Courier New" panose="02070309020205020404" pitchFamily="49" charset="0"/>
              </a:rPr>
              <a:t>核准</a:t>
            </a:r>
            <a:r>
              <a:rPr lang="en-US" altLang="zh-TW" sz="1800" dirty="0">
                <a:effectLst/>
                <a:ea typeface="標楷體" panose="03000509000000000000" pitchFamily="65" charset="-120"/>
                <a:cs typeface="標楷體" panose="03000509000000000000" pitchFamily="65" charset="-120"/>
              </a:rPr>
              <a:t>','</a:t>
            </a:r>
            <a:r>
              <a:rPr lang="zh-TW" altLang="zh-TW" sz="1800" dirty="0">
                <a:effectLst/>
                <a:ea typeface="標楷體" panose="03000509000000000000" pitchFamily="65" charset="-120"/>
                <a:cs typeface="Courier New" panose="02070309020205020404" pitchFamily="49" charset="0"/>
              </a:rPr>
              <a:t>駁回</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ENGINE=</a:t>
            </a:r>
            <a:r>
              <a:rPr lang="en-US" altLang="zh-TW" sz="1800" dirty="0" err="1">
                <a:effectLst/>
                <a:ea typeface="標楷體" panose="03000509000000000000" pitchFamily="65" charset="-120"/>
                <a:cs typeface="標楷體" panose="03000509000000000000" pitchFamily="65" charset="-120"/>
              </a:rPr>
              <a:t>InnoDB</a:t>
            </a:r>
            <a:r>
              <a:rPr lang="en-US" altLang="zh-TW" sz="1800" dirty="0">
                <a:effectLst/>
                <a:ea typeface="標楷體" panose="03000509000000000000" pitchFamily="65" charset="-120"/>
                <a:cs typeface="標楷體" panose="03000509000000000000" pitchFamily="65" charset="-120"/>
              </a:rPr>
              <a:t> DEFAULT CHARSET=utf8mb4;</a:t>
            </a:r>
            <a:endParaRPr lang="zh-TW" altLang="zh-TW" sz="3200" dirty="0">
              <a:effectLst/>
              <a:ea typeface="標楷體" panose="03000509000000000000" pitchFamily="65" charset="-120"/>
              <a:cs typeface="標楷體" panose="03000509000000000000" pitchFamily="65" charset="-120"/>
            </a:endParaRPr>
          </a:p>
        </p:txBody>
      </p:sp>
    </p:spTree>
    <p:extLst>
      <p:ext uri="{BB962C8B-B14F-4D97-AF65-F5344CB8AC3E}">
        <p14:creationId xmlns:p14="http://schemas.microsoft.com/office/powerpoint/2010/main" val="37153007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39BFE6-3855-7318-9EAB-DA3D2CF58570}"/>
              </a:ext>
            </a:extLst>
          </p:cNvPr>
          <p:cNvSpPr>
            <a:spLocks noGrp="1"/>
          </p:cNvSpPr>
          <p:nvPr>
            <p:ph type="title"/>
          </p:nvPr>
        </p:nvSpPr>
        <p:spPr/>
        <p:txBody>
          <a:bodyPr/>
          <a:lstStyle/>
          <a:p>
            <a:endParaRPr lang="zh-TW" altLang="en-US" dirty="0"/>
          </a:p>
        </p:txBody>
      </p:sp>
      <p:sp>
        <p:nvSpPr>
          <p:cNvPr id="3" name="文字版面配置區 2">
            <a:extLst>
              <a:ext uri="{FF2B5EF4-FFF2-40B4-BE49-F238E27FC236}">
                <a16:creationId xmlns:a16="http://schemas.microsoft.com/office/drawing/2014/main" id="{7F4BD18D-FFEA-EC33-0739-DBA427B39924}"/>
              </a:ext>
            </a:extLst>
          </p:cNvPr>
          <p:cNvSpPr>
            <a:spLocks noGrp="1"/>
          </p:cNvSpPr>
          <p:nvPr>
            <p:ph type="body" idx="1"/>
          </p:nvPr>
        </p:nvSpPr>
        <p:spPr/>
        <p:txBody>
          <a:bodyPr/>
          <a:lstStyle/>
          <a:p>
            <a:endParaRPr lang="zh-TW" altLang="en-US" dirty="0"/>
          </a:p>
        </p:txBody>
      </p:sp>
      <p:graphicFrame>
        <p:nvGraphicFramePr>
          <p:cNvPr id="4" name="表格 3">
            <a:extLst>
              <a:ext uri="{FF2B5EF4-FFF2-40B4-BE49-F238E27FC236}">
                <a16:creationId xmlns:a16="http://schemas.microsoft.com/office/drawing/2014/main" id="{20F99738-4804-FD8C-A8AE-BA62ED6D3424}"/>
              </a:ext>
            </a:extLst>
          </p:cNvPr>
          <p:cNvGraphicFramePr>
            <a:graphicFrameLocks noGrp="1"/>
          </p:cNvGraphicFramePr>
          <p:nvPr>
            <p:extLst>
              <p:ext uri="{D42A27DB-BD31-4B8C-83A1-F6EECF244321}">
                <p14:modId xmlns:p14="http://schemas.microsoft.com/office/powerpoint/2010/main" val="88230240"/>
              </p:ext>
            </p:extLst>
          </p:nvPr>
        </p:nvGraphicFramePr>
        <p:xfrm>
          <a:off x="3853430" y="1349833"/>
          <a:ext cx="4485139" cy="5007429"/>
        </p:xfrm>
        <a:graphic>
          <a:graphicData uri="http://schemas.openxmlformats.org/drawingml/2006/table">
            <a:tbl>
              <a:tblPr firstRow="1" firstCol="1" bandRow="1">
                <a:tableStyleId>{5C22544A-7EE6-4342-B048-85BDC9FD1C3A}</a:tableStyleId>
              </a:tblPr>
              <a:tblGrid>
                <a:gridCol w="517515">
                  <a:extLst>
                    <a:ext uri="{9D8B030D-6E8A-4147-A177-3AD203B41FA5}">
                      <a16:colId xmlns:a16="http://schemas.microsoft.com/office/drawing/2014/main" val="2626212897"/>
                    </a:ext>
                  </a:extLst>
                </a:gridCol>
                <a:gridCol w="402513">
                  <a:extLst>
                    <a:ext uri="{9D8B030D-6E8A-4147-A177-3AD203B41FA5}">
                      <a16:colId xmlns:a16="http://schemas.microsoft.com/office/drawing/2014/main" val="871481700"/>
                    </a:ext>
                  </a:extLst>
                </a:gridCol>
                <a:gridCol w="460014">
                  <a:extLst>
                    <a:ext uri="{9D8B030D-6E8A-4147-A177-3AD203B41FA5}">
                      <a16:colId xmlns:a16="http://schemas.microsoft.com/office/drawing/2014/main" val="1767437766"/>
                    </a:ext>
                  </a:extLst>
                </a:gridCol>
                <a:gridCol w="934404">
                  <a:extLst>
                    <a:ext uri="{9D8B030D-6E8A-4147-A177-3AD203B41FA5}">
                      <a16:colId xmlns:a16="http://schemas.microsoft.com/office/drawing/2014/main" val="3333558476"/>
                    </a:ext>
                  </a:extLst>
                </a:gridCol>
                <a:gridCol w="1164411">
                  <a:extLst>
                    <a:ext uri="{9D8B030D-6E8A-4147-A177-3AD203B41FA5}">
                      <a16:colId xmlns:a16="http://schemas.microsoft.com/office/drawing/2014/main" val="837004944"/>
                    </a:ext>
                  </a:extLst>
                </a:gridCol>
                <a:gridCol w="1006282">
                  <a:extLst>
                    <a:ext uri="{9D8B030D-6E8A-4147-A177-3AD203B41FA5}">
                      <a16:colId xmlns:a16="http://schemas.microsoft.com/office/drawing/2014/main" val="2400943887"/>
                    </a:ext>
                  </a:extLst>
                </a:gridCol>
              </a:tblGrid>
              <a:tr h="421369">
                <a:tc>
                  <a:txBody>
                    <a:bodyPr/>
                    <a:lstStyle/>
                    <a:p>
                      <a:pPr algn="ctr">
                        <a:buNone/>
                      </a:pPr>
                      <a:r>
                        <a:rPr lang="en-US" sz="1000">
                          <a:effectLst/>
                        </a:rPr>
                        <a:t>retId</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eId</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mId</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retDate</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retReason</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000">
                          <a:effectLst/>
                        </a:rPr>
                        <a:t>retStatus</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60802621"/>
                  </a:ext>
                </a:extLst>
              </a:tr>
              <a:tr h="458606">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設備老舊且維修成本過高</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待審核</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4173243705"/>
                  </a:ext>
                </a:extLst>
              </a:tr>
              <a:tr h="458606">
                <a:tc>
                  <a:txBody>
                    <a:bodyPr/>
                    <a:lstStyle/>
                    <a:p>
                      <a:pPr algn="ctr">
                        <a:buNone/>
                      </a:pPr>
                      <a:r>
                        <a:rPr lang="en-US" sz="1100">
                          <a:effectLst/>
                        </a:rPr>
                        <a:t>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故障頻繁影響使用</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核准</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1853756882"/>
                  </a:ext>
                </a:extLst>
              </a:tr>
              <a:tr h="458606">
                <a:tc>
                  <a:txBody>
                    <a:bodyPr/>
                    <a:lstStyle/>
                    <a:p>
                      <a:pPr algn="ctr">
                        <a:buNone/>
                      </a:pPr>
                      <a:r>
                        <a:rPr lang="en-US" sz="1100">
                          <a:effectLst/>
                        </a:rPr>
                        <a:t>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dirty="0">
                          <a:effectLst/>
                        </a:rPr>
                        <a:t>螢幕損壞無法修復</a:t>
                      </a:r>
                      <a:endParaRPr lang="zh-TW" sz="11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駁回</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3498565906"/>
                  </a:ext>
                </a:extLst>
              </a:tr>
              <a:tr h="458606">
                <a:tc>
                  <a:txBody>
                    <a:bodyPr/>
                    <a:lstStyle/>
                    <a:p>
                      <a:pPr algn="ctr">
                        <a:buNone/>
                      </a:pPr>
                      <a:r>
                        <a:rPr lang="en-US" sz="1100">
                          <a:effectLst/>
                        </a:rPr>
                        <a:t>4</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設備效能不足</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待審核</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3427191608"/>
                  </a:ext>
                </a:extLst>
              </a:tr>
              <a:tr h="458606">
                <a:tc>
                  <a:txBody>
                    <a:bodyPr/>
                    <a:lstStyle/>
                    <a:p>
                      <a:pPr algn="ctr">
                        <a:buNone/>
                      </a:pPr>
                      <a:r>
                        <a:rPr lang="en-US" sz="1100">
                          <a:effectLst/>
                        </a:rPr>
                        <a:t>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零件停產無法維修</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核准</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233197007"/>
                  </a:ext>
                </a:extLst>
              </a:tr>
              <a:tr h="458606">
                <a:tc>
                  <a:txBody>
                    <a:bodyPr/>
                    <a:lstStyle/>
                    <a:p>
                      <a:pPr algn="ctr">
                        <a:buNone/>
                      </a:pPr>
                      <a:r>
                        <a:rPr lang="en-US" sz="1100">
                          <a:effectLst/>
                        </a:rPr>
                        <a:t>6</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開發板維修成本過高</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待審核</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158656568"/>
                  </a:ext>
                </a:extLst>
              </a:tr>
              <a:tr h="458606">
                <a:tc>
                  <a:txBody>
                    <a:bodyPr/>
                    <a:lstStyle/>
                    <a:p>
                      <a:pPr algn="ctr">
                        <a:buNone/>
                      </a:pPr>
                      <a:r>
                        <a:rPr lang="en-US" sz="1100">
                          <a:effectLst/>
                        </a:rPr>
                        <a:t>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9</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2026/5/19</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已超過使用年限</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核准</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920707295"/>
                  </a:ext>
                </a:extLst>
              </a:tr>
              <a:tr h="458606">
                <a:tc>
                  <a:txBody>
                    <a:bodyPr/>
                    <a:lstStyle/>
                    <a:p>
                      <a:pPr algn="ctr">
                        <a:buNone/>
                      </a:pPr>
                      <a:r>
                        <a:rPr lang="en-US" sz="1100">
                          <a:effectLst/>
                        </a:rPr>
                        <a:t>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6</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2026/5/21</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面板老化亮度不足</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駁回</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3499831416"/>
                  </a:ext>
                </a:extLst>
              </a:tr>
              <a:tr h="458606">
                <a:tc>
                  <a:txBody>
                    <a:bodyPr/>
                    <a:lstStyle/>
                    <a:p>
                      <a:pPr algn="ctr">
                        <a:buNone/>
                      </a:pPr>
                      <a:r>
                        <a:rPr lang="en-US" sz="1100">
                          <a:effectLst/>
                        </a:rPr>
                        <a:t>9</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2026/5/23</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設備故障率偏高</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待審核</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286209517"/>
                  </a:ext>
                </a:extLst>
              </a:tr>
              <a:tr h="458606">
                <a:tc>
                  <a:txBody>
                    <a:bodyPr/>
                    <a:lstStyle/>
                    <a:p>
                      <a:pPr algn="ctr">
                        <a:buNone/>
                      </a:pPr>
                      <a:r>
                        <a:rPr lang="en-US" sz="1100">
                          <a:effectLst/>
                        </a:rPr>
                        <a:t>10</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8</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7</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en-US" sz="1100">
                          <a:effectLst/>
                        </a:rPr>
                        <a:t>2026/5/25</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a:effectLst/>
                        </a:rPr>
                        <a:t>周邊設備損壞嚴重</a:t>
                      </a:r>
                      <a:endParaRPr lang="zh-TW" sz="110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tc>
                  <a:txBody>
                    <a:bodyPr/>
                    <a:lstStyle/>
                    <a:p>
                      <a:pPr algn="ctr">
                        <a:buNone/>
                      </a:pPr>
                      <a:r>
                        <a:rPr lang="zh-TW" sz="1100" dirty="0">
                          <a:effectLst/>
                        </a:rPr>
                        <a:t>駁回</a:t>
                      </a:r>
                      <a:endParaRPr lang="zh-TW" sz="1100" dirty="0">
                        <a:effectLst/>
                        <a:latin typeface="標楷體" panose="03000509000000000000" pitchFamily="65" charset="-120"/>
                        <a:ea typeface="標楷體" panose="03000509000000000000" pitchFamily="65" charset="-120"/>
                        <a:cs typeface="標楷體" panose="03000509000000000000" pitchFamily="65" charset="-120"/>
                      </a:endParaRPr>
                    </a:p>
                  </a:txBody>
                  <a:tcPr marL="15895" marR="15895" marT="0" marB="0" anchor="ctr"/>
                </a:tc>
                <a:extLst>
                  <a:ext uri="{0D108BD9-81ED-4DB2-BD59-A6C34878D82A}">
                    <a16:rowId xmlns:a16="http://schemas.microsoft.com/office/drawing/2014/main" val="212395997"/>
                  </a:ext>
                </a:extLst>
              </a:tr>
            </a:tbl>
          </a:graphicData>
        </a:graphic>
      </p:graphicFrame>
      <p:sp>
        <p:nvSpPr>
          <p:cNvPr id="6" name="文字方塊 5">
            <a:extLst>
              <a:ext uri="{FF2B5EF4-FFF2-40B4-BE49-F238E27FC236}">
                <a16:creationId xmlns:a16="http://schemas.microsoft.com/office/drawing/2014/main" id="{9E529383-C72A-5B0C-80D0-8CB077C6700F}"/>
              </a:ext>
            </a:extLst>
          </p:cNvPr>
          <p:cNvSpPr txBox="1"/>
          <p:nvPr/>
        </p:nvSpPr>
        <p:spPr>
          <a:xfrm>
            <a:off x="3048000" y="727104"/>
            <a:ext cx="6096000" cy="1031051"/>
          </a:xfrm>
          <a:prstGeom prst="rect">
            <a:avLst/>
          </a:prstGeom>
          <a:noFill/>
        </p:spPr>
        <p:txBody>
          <a:bodyPr wrap="square">
            <a:spAutoFit/>
          </a:bodyPr>
          <a:lstStyle/>
          <a:p>
            <a:pPr algn="ctr">
              <a:spcBef>
                <a:spcPts val="800"/>
              </a:spcBef>
              <a:spcAft>
                <a:spcPts val="400"/>
              </a:spcAft>
              <a:buNone/>
            </a:pPr>
            <a:r>
              <a:rPr lang="zh-TW" altLang="zh-TW" sz="2800" b="1" dirty="0">
                <a:solidFill>
                  <a:srgbClr val="1F3A6B"/>
                </a:solidFill>
                <a:effectLst/>
                <a:latin typeface="標楷體" panose="03000509000000000000" pitchFamily="65" charset="-120"/>
                <a:ea typeface="標楷體" panose="03000509000000000000" pitchFamily="65" charset="-120"/>
                <a:cs typeface="標楷體" panose="03000509000000000000" pitchFamily="65" charset="-120"/>
              </a:rPr>
              <a:t>報廢申請實例</a:t>
            </a:r>
            <a:endParaRPr lang="zh-TW" altLang="zh-TW" sz="28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200"/>
              </a:spcBef>
              <a:spcAft>
                <a:spcPts val="200"/>
              </a:spcAft>
              <a:buNone/>
            </a:pPr>
            <a:r>
              <a:rPr lang="en-US" altLang="zh-TW" sz="2800" dirty="0">
                <a:effectLst/>
                <a:latin typeface="標楷體" panose="03000509000000000000" pitchFamily="65" charset="-120"/>
                <a:ea typeface="標楷體" panose="03000509000000000000" pitchFamily="65" charset="-120"/>
                <a:cs typeface="標楷體" panose="03000509000000000000" pitchFamily="65" charset="-120"/>
              </a:rPr>
              <a:t> </a:t>
            </a:r>
            <a:endParaRPr lang="zh-TW" altLang="zh-TW" sz="2800" dirty="0">
              <a:effectLst/>
              <a:latin typeface="標楷體" panose="03000509000000000000" pitchFamily="65" charset="-120"/>
              <a:ea typeface="標楷體" panose="03000509000000000000" pitchFamily="65" charset="-120"/>
              <a:cs typeface="標楷體" panose="03000509000000000000" pitchFamily="65" charset="-120"/>
            </a:endParaRPr>
          </a:p>
        </p:txBody>
      </p:sp>
    </p:spTree>
    <p:extLst>
      <p:ext uri="{BB962C8B-B14F-4D97-AF65-F5344CB8AC3E}">
        <p14:creationId xmlns:p14="http://schemas.microsoft.com/office/powerpoint/2010/main" val="24616844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3DD790-ABDE-2BE9-FFFF-E707EC5B2FFE}"/>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E5E4CC9A-633A-1DB4-A323-45D1B64AFEFF}"/>
              </a:ext>
            </a:extLst>
          </p:cNvPr>
          <p:cNvGrpSpPr/>
          <p:nvPr/>
        </p:nvGrpSpPr>
        <p:grpSpPr>
          <a:xfrm>
            <a:off x="-1200150" y="80872"/>
            <a:ext cx="6018893" cy="1200329"/>
            <a:chOff x="368300" y="1442660"/>
            <a:chExt cx="4722578" cy="1200329"/>
          </a:xfrm>
        </p:grpSpPr>
        <p:sp>
          <p:nvSpPr>
            <p:cNvPr id="5" name="矩形 4">
              <a:extLst>
                <a:ext uri="{FF2B5EF4-FFF2-40B4-BE49-F238E27FC236}">
                  <a16:creationId xmlns:a16="http://schemas.microsoft.com/office/drawing/2014/main" id="{E77855DF-B3F7-7AB3-0F00-4291A7C213AF}"/>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5E84763E-E9DC-A8E9-D0EF-5B6E564560B8}"/>
                </a:ext>
              </a:extLst>
            </p:cNvPr>
            <p:cNvSpPr txBox="1"/>
            <p:nvPr/>
          </p:nvSpPr>
          <p:spPr>
            <a:xfrm>
              <a:off x="4354278" y="1442660"/>
              <a:ext cx="736600" cy="1200329"/>
            </a:xfrm>
            <a:prstGeom prst="rect">
              <a:avLst/>
            </a:prstGeom>
            <a:noFill/>
          </p:spPr>
          <p:txBody>
            <a:bodyPr wrap="square">
              <a:spAutoFit/>
            </a:bodyPr>
            <a:lstStyle/>
            <a:p>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586B85DC-B168-F5E5-BC5B-47C63E590328}"/>
              </a:ext>
            </a:extLst>
          </p:cNvPr>
          <p:cNvSpPr txBox="1"/>
          <p:nvPr/>
        </p:nvSpPr>
        <p:spPr>
          <a:xfrm>
            <a:off x="246742" y="357870"/>
            <a:ext cx="640914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插入範例資料</a:t>
            </a:r>
            <a:r>
              <a:rPr lang="en-US" altLang="zh-TW" sz="3600" dirty="0">
                <a:solidFill>
                  <a:schemeClr val="bg1"/>
                </a:solidFill>
                <a:latin typeface="標楷體" panose="03000509000000000000" pitchFamily="65" charset="-120"/>
                <a:ea typeface="標楷體" panose="03000509000000000000" pitchFamily="65" charset="-120"/>
              </a:rPr>
              <a:t>SQL</a:t>
            </a:r>
            <a:endParaRPr lang="zh-TW" altLang="en-US" sz="3600" dirty="0">
              <a:solidFill>
                <a:schemeClr val="bg1"/>
              </a:solidFill>
              <a:latin typeface="標楷體" panose="03000509000000000000" pitchFamily="65" charset="-120"/>
              <a:ea typeface="標楷體" panose="03000509000000000000" pitchFamily="65" charset="-120"/>
            </a:endParaRPr>
          </a:p>
        </p:txBody>
      </p:sp>
      <p:sp>
        <p:nvSpPr>
          <p:cNvPr id="10" name="文字方塊 9">
            <a:extLst>
              <a:ext uri="{FF2B5EF4-FFF2-40B4-BE49-F238E27FC236}">
                <a16:creationId xmlns:a16="http://schemas.microsoft.com/office/drawing/2014/main" id="{D33DB77A-2A3D-8F4F-075B-7A333916C5F7}"/>
              </a:ext>
            </a:extLst>
          </p:cNvPr>
          <p:cNvSpPr txBox="1"/>
          <p:nvPr/>
        </p:nvSpPr>
        <p:spPr>
          <a:xfrm>
            <a:off x="2959117" y="1558199"/>
            <a:ext cx="7393529" cy="2308324"/>
          </a:xfrm>
          <a:prstGeom prst="rect">
            <a:avLst/>
          </a:prstGeom>
          <a:noFill/>
        </p:spPr>
        <p:txBody>
          <a:bodyPr wrap="square">
            <a:spAutoFit/>
          </a:bodyPr>
          <a:lstStyle/>
          <a:p>
            <a:pPr marL="228600">
              <a:buNone/>
            </a:pPr>
            <a:r>
              <a:rPr lang="en-US" altLang="zh-TW" sz="1800" dirty="0">
                <a:effectLst/>
                <a:ea typeface="標楷體" panose="03000509000000000000" pitchFamily="65" charset="-120"/>
                <a:cs typeface="標楷體" panose="03000509000000000000" pitchFamily="65" charset="-120"/>
              </a:rPr>
              <a:t>INSERT INTO </a:t>
            </a:r>
            <a:r>
              <a:rPr lang="en-US" altLang="zh-TW" sz="1800" dirty="0" err="1">
                <a:effectLst/>
                <a:ea typeface="標楷體" panose="03000509000000000000" pitchFamily="65" charset="-120"/>
                <a:cs typeface="標楷體" panose="03000509000000000000" pitchFamily="65" charset="-120"/>
              </a:rPr>
              <a:t>RetirementRequest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  (</a:t>
            </a:r>
            <a:r>
              <a:rPr lang="en-US" altLang="zh-TW" sz="1800" dirty="0" err="1">
                <a:effectLst/>
                <a:ea typeface="標楷體" panose="03000509000000000000" pitchFamily="65" charset="-120"/>
                <a:cs typeface="標楷體" panose="03000509000000000000" pitchFamily="65" charset="-120"/>
              </a:rPr>
              <a:t>retId,eId,mId,retDate,retReason,retStatus</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VALUES</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(1,5,2,'2026-05-02','</a:t>
            </a:r>
            <a:r>
              <a:rPr lang="zh-TW" altLang="zh-TW" sz="1800" dirty="0">
                <a:effectLst/>
                <a:ea typeface="標楷體" panose="03000509000000000000" pitchFamily="65" charset="-120"/>
                <a:cs typeface="Courier New" panose="02070309020205020404" pitchFamily="49" charset="0"/>
              </a:rPr>
              <a:t>設備老舊且維修成本過高</a:t>
            </a:r>
            <a:r>
              <a:rPr lang="en-US" altLang="zh-TW" sz="1800" dirty="0">
                <a:effectLst/>
                <a:ea typeface="標楷體" panose="03000509000000000000" pitchFamily="65" charset="-120"/>
                <a:cs typeface="標楷體" panose="03000509000000000000" pitchFamily="65" charset="-120"/>
              </a:rPr>
              <a:t>’, '</a:t>
            </a:r>
            <a:r>
              <a:rPr lang="zh-TW" altLang="zh-TW" sz="1800" dirty="0">
                <a:effectLst/>
                <a:ea typeface="標楷體" panose="03000509000000000000" pitchFamily="65" charset="-120"/>
                <a:cs typeface="Courier New" panose="02070309020205020404" pitchFamily="49" charset="0"/>
              </a:rPr>
              <a:t>待審核</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(2,3,1,'2026-05-04','</a:t>
            </a:r>
            <a:r>
              <a:rPr lang="zh-TW" altLang="zh-TW" sz="1800" dirty="0">
                <a:effectLst/>
                <a:ea typeface="標楷體" panose="03000509000000000000" pitchFamily="65" charset="-120"/>
                <a:cs typeface="Courier New" panose="02070309020205020404" pitchFamily="49" charset="0"/>
              </a:rPr>
              <a:t>故障頻繁影響使用</a:t>
            </a:r>
            <a:r>
              <a:rPr lang="en-US" altLang="zh-TW" sz="1800" dirty="0">
                <a:effectLst/>
                <a:ea typeface="標楷體" panose="03000509000000000000" pitchFamily="65" charset="-120"/>
                <a:cs typeface="標楷體" panose="03000509000000000000" pitchFamily="65" charset="-120"/>
              </a:rPr>
              <a:t>', '</a:t>
            </a:r>
            <a:r>
              <a:rPr lang="zh-TW" altLang="zh-TW" sz="1800" dirty="0">
                <a:effectLst/>
                <a:ea typeface="標楷體" panose="03000509000000000000" pitchFamily="65" charset="-120"/>
                <a:cs typeface="Courier New" panose="02070309020205020404" pitchFamily="49" charset="0"/>
              </a:rPr>
              <a:t>核准</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(3,5,4,'2026-05-08','</a:t>
            </a:r>
            <a:r>
              <a:rPr lang="zh-TW" altLang="zh-TW" sz="1800" dirty="0">
                <a:effectLst/>
                <a:ea typeface="標楷體" panose="03000509000000000000" pitchFamily="65" charset="-120"/>
                <a:cs typeface="Courier New" panose="02070309020205020404" pitchFamily="49" charset="0"/>
              </a:rPr>
              <a:t>螢幕損壞無法修復</a:t>
            </a:r>
            <a:r>
              <a:rPr lang="en-US" altLang="zh-TW" sz="1800" dirty="0">
                <a:effectLst/>
                <a:ea typeface="標楷體" panose="03000509000000000000" pitchFamily="65" charset="-120"/>
                <a:cs typeface="標楷體" panose="03000509000000000000" pitchFamily="65" charset="-120"/>
              </a:rPr>
              <a:t>', '</a:t>
            </a:r>
            <a:r>
              <a:rPr lang="zh-TW" altLang="zh-TW" sz="1800" dirty="0">
                <a:effectLst/>
                <a:ea typeface="標楷體" panose="03000509000000000000" pitchFamily="65" charset="-120"/>
                <a:cs typeface="Courier New" panose="02070309020205020404" pitchFamily="49" charset="0"/>
              </a:rPr>
              <a:t>駁回</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(4,1,2,'2026-05-12','</a:t>
            </a:r>
            <a:r>
              <a:rPr lang="zh-TW" altLang="zh-TW" sz="1800" dirty="0">
                <a:effectLst/>
                <a:ea typeface="標楷體" panose="03000509000000000000" pitchFamily="65" charset="-120"/>
                <a:cs typeface="Courier New" panose="02070309020205020404" pitchFamily="49" charset="0"/>
              </a:rPr>
              <a:t>設備效能不足</a:t>
            </a:r>
            <a:r>
              <a:rPr lang="en-US" altLang="zh-TW" sz="1800" dirty="0">
                <a:effectLst/>
                <a:ea typeface="標楷體" panose="03000509000000000000" pitchFamily="65" charset="-120"/>
                <a:cs typeface="標楷體" panose="03000509000000000000" pitchFamily="65" charset="-120"/>
              </a:rPr>
              <a:t>', '</a:t>
            </a:r>
            <a:r>
              <a:rPr lang="zh-TW" altLang="zh-TW" sz="1800" dirty="0">
                <a:effectLst/>
                <a:ea typeface="標楷體" panose="03000509000000000000" pitchFamily="65" charset="-120"/>
                <a:cs typeface="Courier New" panose="02070309020205020404" pitchFamily="49" charset="0"/>
              </a:rPr>
              <a:t>待審核</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a:p>
            <a:pPr marL="228600">
              <a:buNone/>
            </a:pPr>
            <a:r>
              <a:rPr lang="en-US" altLang="zh-TW" sz="1800" dirty="0">
                <a:effectLst/>
                <a:ea typeface="標楷體" panose="03000509000000000000" pitchFamily="65" charset="-120"/>
                <a:cs typeface="標楷體" panose="03000509000000000000" pitchFamily="65" charset="-120"/>
              </a:rPr>
              <a:t>(5,3,5,'2026-05-15','</a:t>
            </a:r>
            <a:r>
              <a:rPr lang="zh-TW" altLang="zh-TW" sz="1800" dirty="0">
                <a:effectLst/>
                <a:ea typeface="標楷體" panose="03000509000000000000" pitchFamily="65" charset="-120"/>
                <a:cs typeface="Courier New" panose="02070309020205020404" pitchFamily="49" charset="0"/>
              </a:rPr>
              <a:t>零件停產無法維修</a:t>
            </a:r>
            <a:r>
              <a:rPr lang="en-US" altLang="zh-TW" sz="1800" dirty="0">
                <a:effectLst/>
                <a:ea typeface="標楷體" panose="03000509000000000000" pitchFamily="65" charset="-120"/>
                <a:cs typeface="標楷體" panose="03000509000000000000" pitchFamily="65" charset="-120"/>
              </a:rPr>
              <a:t>', '</a:t>
            </a:r>
            <a:r>
              <a:rPr lang="zh-TW" altLang="zh-TW" sz="1800" dirty="0">
                <a:effectLst/>
                <a:ea typeface="標楷體" panose="03000509000000000000" pitchFamily="65" charset="-120"/>
                <a:cs typeface="Courier New" panose="02070309020205020404" pitchFamily="49" charset="0"/>
              </a:rPr>
              <a:t>核准</a:t>
            </a:r>
            <a:r>
              <a:rPr lang="en-US" altLang="zh-TW" sz="1800" dirty="0">
                <a:effectLst/>
                <a:ea typeface="標楷體" panose="03000509000000000000" pitchFamily="65" charset="-120"/>
                <a:cs typeface="標楷體" panose="03000509000000000000" pitchFamily="65" charset="-120"/>
              </a:rPr>
              <a:t>');</a:t>
            </a:r>
            <a:endParaRPr lang="zh-TW" altLang="zh-TW" sz="3200" dirty="0">
              <a:effectLst/>
              <a:ea typeface="標楷體" panose="03000509000000000000" pitchFamily="65" charset="-120"/>
              <a:cs typeface="標楷體" panose="03000509000000000000" pitchFamily="65" charset="-120"/>
            </a:endParaRPr>
          </a:p>
        </p:txBody>
      </p:sp>
      <p:pic>
        <p:nvPicPr>
          <p:cNvPr id="3" name="圖片 2">
            <a:extLst>
              <a:ext uri="{FF2B5EF4-FFF2-40B4-BE49-F238E27FC236}">
                <a16:creationId xmlns:a16="http://schemas.microsoft.com/office/drawing/2014/main" id="{E25AFE59-8B46-EA95-00E3-B3A56369FB4F}"/>
              </a:ext>
            </a:extLst>
          </p:cNvPr>
          <p:cNvPicPr>
            <a:picLocks noChangeAspect="1"/>
          </p:cNvPicPr>
          <p:nvPr/>
        </p:nvPicPr>
        <p:blipFill>
          <a:blip r:embed="rId2"/>
          <a:stretch>
            <a:fillRect/>
          </a:stretch>
        </p:blipFill>
        <p:spPr>
          <a:xfrm>
            <a:off x="3319146" y="4239511"/>
            <a:ext cx="6673473" cy="2260619"/>
          </a:xfrm>
          <a:prstGeom prst="rect">
            <a:avLst/>
          </a:prstGeom>
        </p:spPr>
      </p:pic>
    </p:spTree>
    <p:extLst>
      <p:ext uri="{BB962C8B-B14F-4D97-AF65-F5344CB8AC3E}">
        <p14:creationId xmlns:p14="http://schemas.microsoft.com/office/powerpoint/2010/main" val="16430638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EB3FA9F5-7570-C0D2-5B37-F4FA2A69190E}"/>
              </a:ext>
            </a:extLst>
          </p:cNvPr>
          <p:cNvSpPr>
            <a:spLocks noGrp="1"/>
          </p:cNvSpPr>
          <p:nvPr>
            <p:ph type="body" idx="1"/>
          </p:nvPr>
        </p:nvSpPr>
        <p:spPr/>
        <p:txBody>
          <a:bodyPr/>
          <a:lstStyle/>
          <a:p>
            <a:endParaRPr lang="zh-TW" altLang="en-US" dirty="0"/>
          </a:p>
        </p:txBody>
      </p:sp>
      <p:sp>
        <p:nvSpPr>
          <p:cNvPr id="4" name="文字方塊 3">
            <a:extLst>
              <a:ext uri="{FF2B5EF4-FFF2-40B4-BE49-F238E27FC236}">
                <a16:creationId xmlns:a16="http://schemas.microsoft.com/office/drawing/2014/main" id="{2A8364B5-D9B8-5EA4-D858-C7106180DD9D}"/>
              </a:ext>
            </a:extLst>
          </p:cNvPr>
          <p:cNvSpPr txBox="1"/>
          <p:nvPr/>
        </p:nvSpPr>
        <p:spPr>
          <a:xfrm>
            <a:off x="759994" y="6012361"/>
            <a:ext cx="9442784" cy="369332"/>
          </a:xfrm>
          <a:prstGeom prst="rect">
            <a:avLst/>
          </a:prstGeom>
          <a:noFill/>
        </p:spPr>
        <p:txBody>
          <a:bodyPr wrap="square" rtlCol="0">
            <a:spAutoFit/>
          </a:bodyPr>
          <a:lstStyle/>
          <a:p>
            <a:r>
              <a:rPr lang="zh-TW" altLang="en-US" dirty="0"/>
              <a:t>強制建立不符合外鍵限制的</a:t>
            </a:r>
            <a:r>
              <a:rPr lang="en-US" altLang="zh-TW" dirty="0"/>
              <a:t>ID</a:t>
            </a:r>
            <a:r>
              <a:rPr lang="zh-TW" altLang="en-US" dirty="0"/>
              <a:t>，使其報錯以確認外鍵建立成功</a:t>
            </a:r>
          </a:p>
        </p:txBody>
      </p:sp>
      <p:pic>
        <p:nvPicPr>
          <p:cNvPr id="8" name="圖片 7">
            <a:extLst>
              <a:ext uri="{FF2B5EF4-FFF2-40B4-BE49-F238E27FC236}">
                <a16:creationId xmlns:a16="http://schemas.microsoft.com/office/drawing/2014/main" id="{947B4B27-A786-09F6-A757-EBC04A41E5A7}"/>
              </a:ext>
            </a:extLst>
          </p:cNvPr>
          <p:cNvPicPr>
            <a:picLocks noChangeAspect="1"/>
          </p:cNvPicPr>
          <p:nvPr/>
        </p:nvPicPr>
        <p:blipFill>
          <a:blip r:embed="rId2"/>
          <a:stretch>
            <a:fillRect/>
          </a:stretch>
        </p:blipFill>
        <p:spPr>
          <a:xfrm>
            <a:off x="279244" y="1620896"/>
            <a:ext cx="11621294" cy="4256530"/>
          </a:xfrm>
          <a:prstGeom prst="rect">
            <a:avLst/>
          </a:prstGeom>
        </p:spPr>
      </p:pic>
      <p:grpSp>
        <p:nvGrpSpPr>
          <p:cNvPr id="5" name="群組 4">
            <a:extLst>
              <a:ext uri="{FF2B5EF4-FFF2-40B4-BE49-F238E27FC236}">
                <a16:creationId xmlns:a16="http://schemas.microsoft.com/office/drawing/2014/main" id="{480D9D9C-CC5C-2D25-39A9-B30ABF53022A}"/>
              </a:ext>
            </a:extLst>
          </p:cNvPr>
          <p:cNvGrpSpPr/>
          <p:nvPr/>
        </p:nvGrpSpPr>
        <p:grpSpPr>
          <a:xfrm>
            <a:off x="-350247" y="80872"/>
            <a:ext cx="3790302" cy="1200329"/>
            <a:chOff x="368300" y="1465391"/>
            <a:chExt cx="4466237" cy="1200329"/>
          </a:xfrm>
        </p:grpSpPr>
        <p:sp>
          <p:nvSpPr>
            <p:cNvPr id="6" name="矩形 5">
              <a:extLst>
                <a:ext uri="{FF2B5EF4-FFF2-40B4-BE49-F238E27FC236}">
                  <a16:creationId xmlns:a16="http://schemas.microsoft.com/office/drawing/2014/main" id="{D8EA4B00-721C-47C6-F820-DD235A6C094D}"/>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文字方塊 6">
              <a:extLst>
                <a:ext uri="{FF2B5EF4-FFF2-40B4-BE49-F238E27FC236}">
                  <a16:creationId xmlns:a16="http://schemas.microsoft.com/office/drawing/2014/main" id="{3DEBA823-549D-B46F-2444-0EAE422EFD92}"/>
                </a:ext>
              </a:extLst>
            </p:cNvPr>
            <p:cNvSpPr txBox="1"/>
            <p:nvPr/>
          </p:nvSpPr>
          <p:spPr>
            <a:xfrm>
              <a:off x="4097938" y="1465391"/>
              <a:ext cx="736599"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7</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11" name="文字方塊 10">
            <a:extLst>
              <a:ext uri="{FF2B5EF4-FFF2-40B4-BE49-F238E27FC236}">
                <a16:creationId xmlns:a16="http://schemas.microsoft.com/office/drawing/2014/main" id="{69461121-1DB1-BA1B-0B14-100A9A5999E0}"/>
              </a:ext>
            </a:extLst>
          </p:cNvPr>
          <p:cNvSpPr txBox="1"/>
          <p:nvPr/>
        </p:nvSpPr>
        <p:spPr>
          <a:xfrm>
            <a:off x="469794" y="293024"/>
            <a:ext cx="234514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測試外鍵</a:t>
            </a:r>
          </a:p>
        </p:txBody>
      </p:sp>
    </p:spTree>
    <p:extLst>
      <p:ext uri="{BB962C8B-B14F-4D97-AF65-F5344CB8AC3E}">
        <p14:creationId xmlns:p14="http://schemas.microsoft.com/office/powerpoint/2010/main" val="3544484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500" fill="hold"/>
                                        <p:tgtEl>
                                          <p:spTgt spid="11"/>
                                        </p:tgtEl>
                                        <p:attrNameLst>
                                          <p:attrName>ppt_x</p:attrName>
                                        </p:attrNameLst>
                                      </p:cBhvr>
                                      <p:tavLst>
                                        <p:tav tm="0">
                                          <p:val>
                                            <p:strVal val="0-#ppt_w/2"/>
                                          </p:val>
                                        </p:tav>
                                        <p:tav tm="100000">
                                          <p:val>
                                            <p:strVal val="#ppt_x"/>
                                          </p:val>
                                        </p:tav>
                                      </p:tavLst>
                                    </p:anim>
                                    <p:anim calcmode="lin" valueType="num">
                                      <p:cBhvr additive="base">
                                        <p:cTn id="12"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3E0D1-652B-9200-168F-6EC88C8188EE}"/>
            </a:ext>
          </a:extLst>
        </p:cNvPr>
        <p:cNvGrpSpPr/>
        <p:nvPr/>
      </p:nvGrpSpPr>
      <p:grpSpPr>
        <a:xfrm>
          <a:off x="0" y="0"/>
          <a:ext cx="0" cy="0"/>
          <a:chOff x="0" y="0"/>
          <a:chExt cx="0" cy="0"/>
        </a:xfrm>
      </p:grpSpPr>
      <p:sp>
        <p:nvSpPr>
          <p:cNvPr id="12" name="矩形: 圓角 11">
            <a:extLst>
              <a:ext uri="{FF2B5EF4-FFF2-40B4-BE49-F238E27FC236}">
                <a16:creationId xmlns:a16="http://schemas.microsoft.com/office/drawing/2014/main" id="{606676FE-7636-C68E-1724-E68759C6D354}"/>
              </a:ext>
            </a:extLst>
          </p:cNvPr>
          <p:cNvSpPr/>
          <p:nvPr/>
        </p:nvSpPr>
        <p:spPr>
          <a:xfrm>
            <a:off x="1646588" y="3250708"/>
            <a:ext cx="8393339" cy="646331"/>
          </a:xfrm>
          <a:prstGeom prst="roundRect">
            <a:avLst/>
          </a:prstGeom>
          <a:solidFill>
            <a:srgbClr val="FCFCD6"/>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4" name="矩形: 圓角 13">
            <a:extLst>
              <a:ext uri="{FF2B5EF4-FFF2-40B4-BE49-F238E27FC236}">
                <a16:creationId xmlns:a16="http://schemas.microsoft.com/office/drawing/2014/main" id="{F67DC317-142D-6E42-DB06-9CC164FAC34E}"/>
              </a:ext>
            </a:extLst>
          </p:cNvPr>
          <p:cNvSpPr/>
          <p:nvPr/>
        </p:nvSpPr>
        <p:spPr>
          <a:xfrm>
            <a:off x="1646588" y="4003472"/>
            <a:ext cx="7562067" cy="646331"/>
          </a:xfrm>
          <a:prstGeom prst="roundRect">
            <a:avLst/>
          </a:prstGeom>
          <a:solidFill>
            <a:srgbClr val="E8ECF1"/>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p>
        </p:txBody>
      </p:sp>
      <p:sp>
        <p:nvSpPr>
          <p:cNvPr id="15" name="矩形: 圓角 14">
            <a:extLst>
              <a:ext uri="{FF2B5EF4-FFF2-40B4-BE49-F238E27FC236}">
                <a16:creationId xmlns:a16="http://schemas.microsoft.com/office/drawing/2014/main" id="{8536946E-5D96-CBA8-F61E-25583FCF0647}"/>
              </a:ext>
            </a:extLst>
          </p:cNvPr>
          <p:cNvSpPr/>
          <p:nvPr/>
        </p:nvSpPr>
        <p:spPr>
          <a:xfrm>
            <a:off x="1598385" y="4837361"/>
            <a:ext cx="6936015" cy="646331"/>
          </a:xfrm>
          <a:prstGeom prst="roundRect">
            <a:avLst/>
          </a:prstGeom>
          <a:solidFill>
            <a:schemeClr val="accent2">
              <a:lumMod val="20000"/>
              <a:lumOff val="8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16" name="矩形: 圓角 15">
            <a:extLst>
              <a:ext uri="{FF2B5EF4-FFF2-40B4-BE49-F238E27FC236}">
                <a16:creationId xmlns:a16="http://schemas.microsoft.com/office/drawing/2014/main" id="{6680BCB9-32B9-3B58-C775-FDA726980395}"/>
              </a:ext>
            </a:extLst>
          </p:cNvPr>
          <p:cNvSpPr/>
          <p:nvPr/>
        </p:nvSpPr>
        <p:spPr>
          <a:xfrm>
            <a:off x="1646588" y="5636092"/>
            <a:ext cx="7345012" cy="646331"/>
          </a:xfrm>
          <a:prstGeom prst="roundRect">
            <a:avLst/>
          </a:prstGeom>
          <a:solidFill>
            <a:schemeClr val="tx2">
              <a:lumMod val="10000"/>
              <a:lumOff val="9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4" name="矩形: 圓角 3">
            <a:extLst>
              <a:ext uri="{FF2B5EF4-FFF2-40B4-BE49-F238E27FC236}">
                <a16:creationId xmlns:a16="http://schemas.microsoft.com/office/drawing/2014/main" id="{10830A78-76E1-FD87-EAB1-9FFDCD6E63BE}"/>
              </a:ext>
            </a:extLst>
          </p:cNvPr>
          <p:cNvSpPr/>
          <p:nvPr/>
        </p:nvSpPr>
        <p:spPr>
          <a:xfrm>
            <a:off x="1598385" y="2466109"/>
            <a:ext cx="6936015" cy="646331"/>
          </a:xfrm>
          <a:prstGeom prst="roundRect">
            <a:avLst/>
          </a:prstGeom>
          <a:solidFill>
            <a:schemeClr val="accent2">
              <a:lumMod val="20000"/>
              <a:lumOff val="80000"/>
            </a:schemeClr>
          </a:solidFill>
          <a:ln>
            <a:no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TW" altLang="en-US" dirty="0"/>
          </a:p>
        </p:txBody>
      </p:sp>
      <p:grpSp>
        <p:nvGrpSpPr>
          <p:cNvPr id="6" name="群組 5">
            <a:extLst>
              <a:ext uri="{FF2B5EF4-FFF2-40B4-BE49-F238E27FC236}">
                <a16:creationId xmlns:a16="http://schemas.microsoft.com/office/drawing/2014/main" id="{12AE2757-6D5F-5311-1BA1-F661FF63D6B8}"/>
              </a:ext>
            </a:extLst>
          </p:cNvPr>
          <p:cNvGrpSpPr/>
          <p:nvPr/>
        </p:nvGrpSpPr>
        <p:grpSpPr>
          <a:xfrm>
            <a:off x="-1301593" y="46781"/>
            <a:ext cx="11840283" cy="1200329"/>
            <a:chOff x="368300" y="1442660"/>
            <a:chExt cx="4722578" cy="1200329"/>
          </a:xfrm>
        </p:grpSpPr>
        <p:sp>
          <p:nvSpPr>
            <p:cNvPr id="7" name="矩形 6">
              <a:extLst>
                <a:ext uri="{FF2B5EF4-FFF2-40B4-BE49-F238E27FC236}">
                  <a16:creationId xmlns:a16="http://schemas.microsoft.com/office/drawing/2014/main" id="{740F4151-F1E7-D8BE-E842-FA1A30539971}"/>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4B3DBDA7-AB37-3737-CE59-46F2B1BBDE2A}"/>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8</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9" name="文字方塊 8">
            <a:extLst>
              <a:ext uri="{FF2B5EF4-FFF2-40B4-BE49-F238E27FC236}">
                <a16:creationId xmlns:a16="http://schemas.microsoft.com/office/drawing/2014/main" id="{6304DC17-A049-041E-7723-EC8E02CCBE4B}"/>
              </a:ext>
            </a:extLst>
          </p:cNvPr>
          <p:cNvSpPr txBox="1"/>
          <p:nvPr/>
        </p:nvSpPr>
        <p:spPr>
          <a:xfrm>
            <a:off x="466358" y="272575"/>
            <a:ext cx="9296477" cy="646331"/>
          </a:xfrm>
          <a:prstGeom prst="rect">
            <a:avLst/>
          </a:prstGeom>
          <a:noFill/>
        </p:spPr>
        <p:txBody>
          <a:bodyPr wrap="square">
            <a:spAutoFit/>
          </a:bodyPr>
          <a:lstStyle/>
          <a:p>
            <a:r>
              <a:rPr lang="en-US" altLang="zh-TW" sz="3600" dirty="0">
                <a:solidFill>
                  <a:schemeClr val="bg1"/>
                </a:solidFill>
                <a:latin typeface="標楷體" panose="03000509000000000000" pitchFamily="65" charset="-120"/>
                <a:ea typeface="標楷體" panose="03000509000000000000" pitchFamily="65" charset="-120"/>
              </a:rPr>
              <a:t>View </a:t>
            </a:r>
            <a:r>
              <a:rPr lang="zh-TW" altLang="en-US" sz="3600" dirty="0">
                <a:solidFill>
                  <a:schemeClr val="bg1"/>
                </a:solidFill>
                <a:latin typeface="標楷體" panose="03000509000000000000" pitchFamily="65" charset="-120"/>
                <a:ea typeface="標楷體" panose="03000509000000000000" pitchFamily="65" charset="-120"/>
              </a:rPr>
              <a:t>與使用者權限</a:t>
            </a:r>
            <a:r>
              <a:rPr lang="en-US" altLang="zh-TW" sz="3600" dirty="0">
                <a:solidFill>
                  <a:schemeClr val="bg1"/>
                </a:solidFill>
                <a:latin typeface="標楷體" panose="03000509000000000000" pitchFamily="65" charset="-120"/>
                <a:ea typeface="標楷體" panose="03000509000000000000" pitchFamily="65" charset="-120"/>
              </a:rPr>
              <a:t>:View </a:t>
            </a:r>
            <a:r>
              <a:rPr lang="zh-TW" altLang="en-US" sz="3600" dirty="0">
                <a:solidFill>
                  <a:schemeClr val="bg1"/>
                </a:solidFill>
                <a:latin typeface="標楷體" panose="03000509000000000000" pitchFamily="65" charset="-120"/>
                <a:ea typeface="標楷體" panose="03000509000000000000" pitchFamily="65" charset="-120"/>
              </a:rPr>
              <a:t>權限設計說明</a:t>
            </a:r>
          </a:p>
        </p:txBody>
      </p:sp>
      <p:sp>
        <p:nvSpPr>
          <p:cNvPr id="13" name="文字方塊 12">
            <a:extLst>
              <a:ext uri="{FF2B5EF4-FFF2-40B4-BE49-F238E27FC236}">
                <a16:creationId xmlns:a16="http://schemas.microsoft.com/office/drawing/2014/main" id="{93078E17-77B3-720E-9577-292B6D97B2C6}"/>
              </a:ext>
            </a:extLst>
          </p:cNvPr>
          <p:cNvSpPr txBox="1"/>
          <p:nvPr/>
        </p:nvSpPr>
        <p:spPr>
          <a:xfrm>
            <a:off x="1646588" y="2562051"/>
            <a:ext cx="9792566" cy="3529171"/>
          </a:xfrm>
          <a:prstGeom prst="rect">
            <a:avLst/>
          </a:prstGeom>
          <a:noFill/>
        </p:spPr>
        <p:txBody>
          <a:bodyPr wrap="square">
            <a:spAutoFit/>
          </a:bodyPr>
          <a:lstStyle/>
          <a:p>
            <a:pPr>
              <a:spcBef>
                <a:spcPts val="400"/>
              </a:spcBef>
              <a:spcAft>
                <a:spcPts val="400"/>
              </a:spcAft>
              <a:buNone/>
            </a:pPr>
            <a:r>
              <a:rPr lang="en-US" altLang="zh-TW" sz="1800" dirty="0" err="1">
                <a:effectLst/>
                <a:latin typeface="標楷體" panose="03000509000000000000" pitchFamily="65" charset="-120"/>
                <a:ea typeface="標楷體" panose="03000509000000000000" pitchFamily="65" charset="-120"/>
                <a:cs typeface="標楷體" panose="03000509000000000000" pitchFamily="65" charset="-120"/>
              </a:rPr>
              <a:t>v_available_equipment</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：目前可借用的設備，供教師</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學生查詢</a:t>
            </a:r>
            <a:endParaRPr lang="en-US" altLang="zh-TW" sz="18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endParaRPr lang="zh-TW" altLang="zh-TW" sz="20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r>
              <a:rPr lang="en-US" altLang="zh-TW" sz="1800" dirty="0" err="1">
                <a:effectLst/>
                <a:latin typeface="標楷體" panose="03000509000000000000" pitchFamily="65" charset="-120"/>
                <a:ea typeface="標楷體" panose="03000509000000000000" pitchFamily="65" charset="-120"/>
                <a:cs typeface="標楷體" panose="03000509000000000000" pitchFamily="65" charset="-120"/>
              </a:rPr>
              <a:t>v_borrowed_equipment</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：目前借出中的設備（含借用人），供管理員掌握借出狀況</a:t>
            </a:r>
            <a:endParaRPr lang="en-US" altLang="zh-TW" sz="18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endParaRPr lang="zh-TW" altLang="zh-TW" sz="20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r>
              <a:rPr lang="en-US" altLang="zh-TW" sz="1800" dirty="0" err="1">
                <a:effectLst/>
                <a:latin typeface="標楷體" panose="03000509000000000000" pitchFamily="65" charset="-120"/>
                <a:ea typeface="標楷體" panose="03000509000000000000" pitchFamily="65" charset="-120"/>
                <a:cs typeface="標楷體" panose="03000509000000000000" pitchFamily="65" charset="-120"/>
              </a:rPr>
              <a:t>v_pending_maintenance</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：待處理的維護紀錄，供管理員快速掌握維護工單</a:t>
            </a:r>
            <a:endParaRPr lang="en-US" altLang="zh-TW" sz="18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endParaRPr lang="zh-TW" altLang="zh-TW" sz="20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r>
              <a:rPr lang="en-US" altLang="zh-TW" sz="1800" dirty="0" err="1">
                <a:effectLst/>
                <a:latin typeface="標楷體" panose="03000509000000000000" pitchFamily="65" charset="-120"/>
                <a:ea typeface="標楷體" panose="03000509000000000000" pitchFamily="65" charset="-120"/>
                <a:cs typeface="標楷體" panose="03000509000000000000" pitchFamily="65" charset="-120"/>
              </a:rPr>
              <a:t>v_pending_retire</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：待審核的報廢申請，供管理員審核報廢</a:t>
            </a:r>
            <a:endParaRPr lang="en-US" altLang="zh-TW" sz="18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endParaRPr lang="zh-TW" altLang="zh-TW" sz="20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r>
              <a:rPr lang="en-US" altLang="zh-TW" sz="1800" dirty="0" err="1">
                <a:effectLst/>
                <a:latin typeface="標楷體" panose="03000509000000000000" pitchFamily="65" charset="-120"/>
                <a:ea typeface="標楷體" panose="03000509000000000000" pitchFamily="65" charset="-120"/>
                <a:cs typeface="標楷體" panose="03000509000000000000" pitchFamily="65" charset="-120"/>
              </a:rPr>
              <a:t>v_equipment_full</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：設備完整資訊（含類別名稱），供所有使用者查詢</a:t>
            </a:r>
            <a:endParaRPr lang="zh-TW" altLang="zh-TW" sz="2000" dirty="0">
              <a:effectLst/>
              <a:latin typeface="標楷體" panose="03000509000000000000" pitchFamily="65" charset="-120"/>
              <a:ea typeface="標楷體" panose="03000509000000000000" pitchFamily="65" charset="-120"/>
              <a:cs typeface="標楷體" panose="03000509000000000000" pitchFamily="65" charset="-120"/>
            </a:endParaRPr>
          </a:p>
        </p:txBody>
      </p:sp>
      <p:sp>
        <p:nvSpPr>
          <p:cNvPr id="3" name="文字方塊 2">
            <a:extLst>
              <a:ext uri="{FF2B5EF4-FFF2-40B4-BE49-F238E27FC236}">
                <a16:creationId xmlns:a16="http://schemas.microsoft.com/office/drawing/2014/main" id="{63EF13C1-A792-F7BA-3C09-3B6273F192F0}"/>
              </a:ext>
            </a:extLst>
          </p:cNvPr>
          <p:cNvSpPr txBox="1"/>
          <p:nvPr/>
        </p:nvSpPr>
        <p:spPr>
          <a:xfrm>
            <a:off x="1030350" y="1527962"/>
            <a:ext cx="7661562" cy="646331"/>
          </a:xfrm>
          <a:prstGeom prst="rect">
            <a:avLst/>
          </a:prstGeom>
          <a:noFill/>
        </p:spPr>
        <p:txBody>
          <a:bodyPr wrap="square">
            <a:spAutoFit/>
          </a:bodyPr>
          <a:lstStyle/>
          <a:p>
            <a:pPr>
              <a:spcBef>
                <a:spcPts val="400"/>
              </a:spcBef>
              <a:spcAft>
                <a:spcPts val="400"/>
              </a:spcAft>
              <a:buNone/>
            </a:pP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View </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是虛擬資料表，不儲存實際資料，對應外部層（</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External Level</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）。本系統共建立</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5 </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個</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View</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，讓不同角色看到不同的資料視角：</a:t>
            </a:r>
            <a:endParaRPr lang="zh-TW" altLang="zh-TW" sz="2000" dirty="0">
              <a:effectLst/>
              <a:latin typeface="標楷體" panose="03000509000000000000" pitchFamily="65" charset="-120"/>
              <a:ea typeface="標楷體" panose="03000509000000000000" pitchFamily="65" charset="-120"/>
              <a:cs typeface="標楷體" panose="03000509000000000000" pitchFamily="65" charset="-120"/>
            </a:endParaRPr>
          </a:p>
        </p:txBody>
      </p:sp>
    </p:spTree>
    <p:extLst>
      <p:ext uri="{BB962C8B-B14F-4D97-AF65-F5344CB8AC3E}">
        <p14:creationId xmlns:p14="http://schemas.microsoft.com/office/powerpoint/2010/main" val="4095175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0-#ppt_w/2"/>
                                          </p:val>
                                        </p:tav>
                                        <p:tav tm="100000">
                                          <p:val>
                                            <p:strVal val="#ppt_x"/>
                                          </p:val>
                                        </p:tav>
                                      </p:tavLst>
                                    </p:anim>
                                    <p:anim calcmode="lin" valueType="num">
                                      <p:cBhvr additive="base">
                                        <p:cTn id="16" dur="500" fill="hold"/>
                                        <p:tgtEl>
                                          <p:spTgt spid="4"/>
                                        </p:tgtEl>
                                        <p:attrNameLst>
                                          <p:attrName>ppt_y</p:attrName>
                                        </p:attrNameLst>
                                      </p:cBhvr>
                                      <p:tavLst>
                                        <p:tav tm="0">
                                          <p:val>
                                            <p:strVal val="#ppt_y"/>
                                          </p:val>
                                        </p:tav>
                                        <p:tav tm="100000">
                                          <p:val>
                                            <p:strVal val="#ppt_y"/>
                                          </p:val>
                                        </p:tav>
                                      </p:tavLst>
                                    </p:anim>
                                  </p:childTnLst>
                                </p:cTn>
                              </p:par>
                            </p:childTnLst>
                          </p:cTn>
                        </p:par>
                        <p:par>
                          <p:cTn id="17" fill="hold">
                            <p:stCondLst>
                              <p:cond delay="500"/>
                            </p:stCondLst>
                            <p:childTnLst>
                              <p:par>
                                <p:cTn id="18" presetID="2" presetClass="entr" presetSubtype="8"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 calcmode="lin" valueType="num">
                                      <p:cBhvr additive="base">
                                        <p:cTn id="20" dur="500" fill="hold"/>
                                        <p:tgtEl>
                                          <p:spTgt spid="12"/>
                                        </p:tgtEl>
                                        <p:attrNameLst>
                                          <p:attrName>ppt_x</p:attrName>
                                        </p:attrNameLst>
                                      </p:cBhvr>
                                      <p:tavLst>
                                        <p:tav tm="0">
                                          <p:val>
                                            <p:strVal val="0-#ppt_w/2"/>
                                          </p:val>
                                        </p:tav>
                                        <p:tav tm="100000">
                                          <p:val>
                                            <p:strVal val="#ppt_x"/>
                                          </p:val>
                                        </p:tav>
                                      </p:tavLst>
                                    </p:anim>
                                    <p:anim calcmode="lin" valueType="num">
                                      <p:cBhvr additive="base">
                                        <p:cTn id="21" dur="500" fill="hold"/>
                                        <p:tgtEl>
                                          <p:spTgt spid="12"/>
                                        </p:tgtEl>
                                        <p:attrNameLst>
                                          <p:attrName>ppt_y</p:attrName>
                                        </p:attrNameLst>
                                      </p:cBhvr>
                                      <p:tavLst>
                                        <p:tav tm="0">
                                          <p:val>
                                            <p:strVal val="#ppt_y"/>
                                          </p:val>
                                        </p:tav>
                                        <p:tav tm="100000">
                                          <p:val>
                                            <p:strVal val="#ppt_y"/>
                                          </p:val>
                                        </p:tav>
                                      </p:tavLst>
                                    </p:anim>
                                  </p:childTnLst>
                                </p:cTn>
                              </p:par>
                            </p:childTnLst>
                          </p:cTn>
                        </p:par>
                        <p:par>
                          <p:cTn id="22" fill="hold">
                            <p:stCondLst>
                              <p:cond delay="1000"/>
                            </p:stCondLst>
                            <p:childTnLst>
                              <p:par>
                                <p:cTn id="23" presetID="2" presetClass="entr" presetSubtype="8" fill="hold" grpId="0" nodeType="afterEffect">
                                  <p:stCondLst>
                                    <p:cond delay="0"/>
                                  </p:stCondLst>
                                  <p:childTnLst>
                                    <p:set>
                                      <p:cBhvr>
                                        <p:cTn id="24" dur="1" fill="hold">
                                          <p:stCondLst>
                                            <p:cond delay="0"/>
                                          </p:stCondLst>
                                        </p:cTn>
                                        <p:tgtEl>
                                          <p:spTgt spid="14"/>
                                        </p:tgtEl>
                                        <p:attrNameLst>
                                          <p:attrName>style.visibility</p:attrName>
                                        </p:attrNameLst>
                                      </p:cBhvr>
                                      <p:to>
                                        <p:strVal val="visible"/>
                                      </p:to>
                                    </p:set>
                                    <p:anim calcmode="lin" valueType="num">
                                      <p:cBhvr additive="base">
                                        <p:cTn id="25" dur="500" fill="hold"/>
                                        <p:tgtEl>
                                          <p:spTgt spid="14"/>
                                        </p:tgtEl>
                                        <p:attrNameLst>
                                          <p:attrName>ppt_x</p:attrName>
                                        </p:attrNameLst>
                                      </p:cBhvr>
                                      <p:tavLst>
                                        <p:tav tm="0">
                                          <p:val>
                                            <p:strVal val="0-#ppt_w/2"/>
                                          </p:val>
                                        </p:tav>
                                        <p:tav tm="100000">
                                          <p:val>
                                            <p:strVal val="#ppt_x"/>
                                          </p:val>
                                        </p:tav>
                                      </p:tavLst>
                                    </p:anim>
                                    <p:anim calcmode="lin" valueType="num">
                                      <p:cBhvr additive="base">
                                        <p:cTn id="26" dur="500" fill="hold"/>
                                        <p:tgtEl>
                                          <p:spTgt spid="14"/>
                                        </p:tgtEl>
                                        <p:attrNameLst>
                                          <p:attrName>ppt_y</p:attrName>
                                        </p:attrNameLst>
                                      </p:cBhvr>
                                      <p:tavLst>
                                        <p:tav tm="0">
                                          <p:val>
                                            <p:strVal val="#ppt_y"/>
                                          </p:val>
                                        </p:tav>
                                        <p:tav tm="100000">
                                          <p:val>
                                            <p:strVal val="#ppt_y"/>
                                          </p:val>
                                        </p:tav>
                                      </p:tavLst>
                                    </p:anim>
                                  </p:childTnLst>
                                </p:cTn>
                              </p:par>
                            </p:childTnLst>
                          </p:cTn>
                        </p:par>
                        <p:par>
                          <p:cTn id="27" fill="hold">
                            <p:stCondLst>
                              <p:cond delay="1500"/>
                            </p:stCondLst>
                            <p:childTnLst>
                              <p:par>
                                <p:cTn id="28" presetID="2" presetClass="entr" presetSubtype="8" fill="hold" grpId="0" nodeType="after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additive="base">
                                        <p:cTn id="30" dur="500" fill="hold"/>
                                        <p:tgtEl>
                                          <p:spTgt spid="15"/>
                                        </p:tgtEl>
                                        <p:attrNameLst>
                                          <p:attrName>ppt_x</p:attrName>
                                        </p:attrNameLst>
                                      </p:cBhvr>
                                      <p:tavLst>
                                        <p:tav tm="0">
                                          <p:val>
                                            <p:strVal val="0-#ppt_w/2"/>
                                          </p:val>
                                        </p:tav>
                                        <p:tav tm="100000">
                                          <p:val>
                                            <p:strVal val="#ppt_x"/>
                                          </p:val>
                                        </p:tav>
                                      </p:tavLst>
                                    </p:anim>
                                    <p:anim calcmode="lin" valueType="num">
                                      <p:cBhvr additive="base">
                                        <p:cTn id="31" dur="500" fill="hold"/>
                                        <p:tgtEl>
                                          <p:spTgt spid="15"/>
                                        </p:tgtEl>
                                        <p:attrNameLst>
                                          <p:attrName>ppt_y</p:attrName>
                                        </p:attrNameLst>
                                      </p:cBhvr>
                                      <p:tavLst>
                                        <p:tav tm="0">
                                          <p:val>
                                            <p:strVal val="#ppt_y"/>
                                          </p:val>
                                        </p:tav>
                                        <p:tav tm="100000">
                                          <p:val>
                                            <p:strVal val="#ppt_y"/>
                                          </p:val>
                                        </p:tav>
                                      </p:tavLst>
                                    </p:anim>
                                  </p:childTnLst>
                                </p:cTn>
                              </p:par>
                            </p:childTnLst>
                          </p:cTn>
                        </p:par>
                        <p:par>
                          <p:cTn id="32" fill="hold">
                            <p:stCondLst>
                              <p:cond delay="2000"/>
                            </p:stCondLst>
                            <p:childTnLst>
                              <p:par>
                                <p:cTn id="33" presetID="2" presetClass="entr" presetSubtype="8" fill="hold" grpId="0" nodeType="afterEffect">
                                  <p:stCondLst>
                                    <p:cond delay="0"/>
                                  </p:stCondLst>
                                  <p:childTnLst>
                                    <p:set>
                                      <p:cBhvr>
                                        <p:cTn id="34" dur="1" fill="hold">
                                          <p:stCondLst>
                                            <p:cond delay="0"/>
                                          </p:stCondLst>
                                        </p:cTn>
                                        <p:tgtEl>
                                          <p:spTgt spid="16"/>
                                        </p:tgtEl>
                                        <p:attrNameLst>
                                          <p:attrName>style.visibility</p:attrName>
                                        </p:attrNameLst>
                                      </p:cBhvr>
                                      <p:to>
                                        <p:strVal val="visible"/>
                                      </p:to>
                                    </p:set>
                                    <p:anim calcmode="lin" valueType="num">
                                      <p:cBhvr additive="base">
                                        <p:cTn id="35" dur="500" fill="hold"/>
                                        <p:tgtEl>
                                          <p:spTgt spid="16"/>
                                        </p:tgtEl>
                                        <p:attrNameLst>
                                          <p:attrName>ppt_x</p:attrName>
                                        </p:attrNameLst>
                                      </p:cBhvr>
                                      <p:tavLst>
                                        <p:tav tm="0">
                                          <p:val>
                                            <p:strVal val="0-#ppt_w/2"/>
                                          </p:val>
                                        </p:tav>
                                        <p:tav tm="100000">
                                          <p:val>
                                            <p:strVal val="#ppt_x"/>
                                          </p:val>
                                        </p:tav>
                                      </p:tavLst>
                                    </p:anim>
                                    <p:anim calcmode="lin" valueType="num">
                                      <p:cBhvr additive="base">
                                        <p:cTn id="36"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4" grpId="0" animBg="1"/>
      <p:bldP spid="15" grpId="0" animBg="1"/>
      <p:bldP spid="16" grpId="0" animBg="1"/>
      <p:bldP spid="4" grpId="0" animBg="1"/>
      <p:bldP spid="9"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字方塊 4">
            <a:extLst>
              <a:ext uri="{FF2B5EF4-FFF2-40B4-BE49-F238E27FC236}">
                <a16:creationId xmlns:a16="http://schemas.microsoft.com/office/drawing/2014/main" id="{5FE3D878-301A-E2E5-506C-BB9F02878B7F}"/>
              </a:ext>
            </a:extLst>
          </p:cNvPr>
          <p:cNvSpPr txBox="1"/>
          <p:nvPr/>
        </p:nvSpPr>
        <p:spPr>
          <a:xfrm>
            <a:off x="843348" y="1895779"/>
            <a:ext cx="10314749" cy="3395801"/>
          </a:xfrm>
          <a:prstGeom prst="rect">
            <a:avLst/>
          </a:prstGeom>
          <a:noFill/>
        </p:spPr>
        <p:txBody>
          <a:bodyPr wrap="square">
            <a:spAutoFit/>
          </a:bodyPr>
          <a:lstStyle/>
          <a:p>
            <a:pPr>
              <a:spcBef>
                <a:spcPts val="400"/>
              </a:spcBef>
              <a:spcAft>
                <a:spcPts val="400"/>
              </a:spcAft>
              <a:buNone/>
            </a:pP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本系統依角色建立兩個資料庫帳號，實現角色型存取控制（</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RBAC</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a:t>
            </a:r>
            <a:endParaRPr lang="en-US" altLang="zh-TW" sz="18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endParaRPr lang="en-US" altLang="zh-TW" sz="20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endParaRPr lang="zh-TW" altLang="zh-TW" sz="20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a:t>
            </a:r>
            <a:r>
              <a:rPr lang="en-US" altLang="zh-TW" sz="1800" dirty="0" err="1">
                <a:solidFill>
                  <a:schemeClr val="tx2">
                    <a:lumMod val="75000"/>
                    <a:lumOff val="25000"/>
                  </a:schemeClr>
                </a:solidFill>
                <a:effectLst/>
                <a:latin typeface="標楷體" panose="03000509000000000000" pitchFamily="65" charset="-120"/>
                <a:ea typeface="標楷體" panose="03000509000000000000" pitchFamily="65" charset="-120"/>
                <a:cs typeface="標楷體" panose="03000509000000000000" pitchFamily="65" charset="-120"/>
              </a:rPr>
              <a:t>admin_user</a:t>
            </a:r>
            <a:r>
              <a:rPr lang="zh-TW" altLang="zh-TW" sz="1800" dirty="0">
                <a:solidFill>
                  <a:schemeClr val="tx2">
                    <a:lumMod val="75000"/>
                    <a:lumOff val="25000"/>
                  </a:schemeClr>
                </a:solidFill>
                <a:effectLst/>
                <a:latin typeface="標楷體" panose="03000509000000000000" pitchFamily="65" charset="-120"/>
                <a:ea typeface="標楷體" panose="03000509000000000000" pitchFamily="65" charset="-120"/>
                <a:cs typeface="標楷體" panose="03000509000000000000" pitchFamily="65" charset="-120"/>
              </a:rPr>
              <a:t>（管理員）：</a:t>
            </a:r>
            <a:endParaRPr lang="en-US" altLang="zh-TW" sz="1800" dirty="0">
              <a:solidFill>
                <a:schemeClr val="tx2">
                  <a:lumMod val="75000"/>
                  <a:lumOff val="25000"/>
                </a:schemeClr>
              </a:solidFill>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r>
              <a:rPr lang="en-US" altLang="zh-TW" dirty="0">
                <a:latin typeface="標楷體" panose="03000509000000000000" pitchFamily="65" charset="-120"/>
                <a:ea typeface="標楷體" panose="03000509000000000000" pitchFamily="65" charset="-120"/>
                <a:cs typeface="標楷體" panose="03000509000000000000" pitchFamily="65" charset="-120"/>
              </a:rPr>
              <a:t>	</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所有資料表的</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a:t>
            </a:r>
            <a:r>
              <a:rPr lang="en-US" altLang="zh-TW" sz="1800" dirty="0">
                <a:solidFill>
                  <a:srgbClr val="FF0000"/>
                </a:solidFill>
                <a:effectLst/>
                <a:latin typeface="標楷體" panose="03000509000000000000" pitchFamily="65" charset="-120"/>
                <a:ea typeface="標楷體" panose="03000509000000000000" pitchFamily="65" charset="-120"/>
                <a:cs typeface="標楷體" panose="03000509000000000000" pitchFamily="65" charset="-120"/>
              </a:rPr>
              <a:t>SELECT / INSERT / UPDATE / DELETE</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，可存取</a:t>
            </a:r>
            <a:r>
              <a:rPr lang="zh-TW" altLang="zh-TW" sz="1800" dirty="0">
                <a:solidFill>
                  <a:srgbClr val="FF0000"/>
                </a:solidFill>
                <a:effectLst/>
                <a:latin typeface="標楷體" panose="03000509000000000000" pitchFamily="65" charset="-120"/>
                <a:ea typeface="標楷體" panose="03000509000000000000" pitchFamily="65" charset="-120"/>
                <a:cs typeface="標楷體" panose="03000509000000000000" pitchFamily="65" charset="-120"/>
              </a:rPr>
              <a:t>所有</a:t>
            </a:r>
            <a:r>
              <a:rPr lang="en-US" altLang="zh-TW" sz="1800" dirty="0">
                <a:solidFill>
                  <a:srgbClr val="FF0000"/>
                </a:solidFill>
                <a:effectLst/>
                <a:latin typeface="標楷體" panose="03000509000000000000" pitchFamily="65" charset="-120"/>
                <a:ea typeface="標楷體" panose="03000509000000000000" pitchFamily="65" charset="-120"/>
                <a:cs typeface="標楷體" panose="03000509000000000000" pitchFamily="65" charset="-120"/>
              </a:rPr>
              <a:t> View</a:t>
            </a:r>
          </a:p>
          <a:p>
            <a:pPr>
              <a:spcBef>
                <a:spcPts val="400"/>
              </a:spcBef>
              <a:spcAft>
                <a:spcPts val="400"/>
              </a:spcAft>
              <a:buNone/>
            </a:pPr>
            <a:endParaRPr lang="zh-TW" altLang="zh-TW" sz="2000" dirty="0">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r>
              <a:rPr lang="en-US" altLang="zh-TW" sz="1800" dirty="0" err="1">
                <a:solidFill>
                  <a:schemeClr val="tx2">
                    <a:lumMod val="75000"/>
                    <a:lumOff val="25000"/>
                  </a:schemeClr>
                </a:solidFill>
                <a:effectLst/>
                <a:latin typeface="標楷體" panose="03000509000000000000" pitchFamily="65" charset="-120"/>
                <a:ea typeface="標楷體" panose="03000509000000000000" pitchFamily="65" charset="-120"/>
                <a:cs typeface="標楷體" panose="03000509000000000000" pitchFamily="65" charset="-120"/>
              </a:rPr>
              <a:t>staff_user</a:t>
            </a:r>
            <a:r>
              <a:rPr lang="zh-TW" altLang="zh-TW" sz="1800" dirty="0">
                <a:solidFill>
                  <a:schemeClr val="tx2">
                    <a:lumMod val="75000"/>
                    <a:lumOff val="25000"/>
                  </a:schemeClr>
                </a:solidFill>
                <a:effectLst/>
                <a:latin typeface="標楷體" panose="03000509000000000000" pitchFamily="65" charset="-120"/>
                <a:ea typeface="標楷體" panose="03000509000000000000" pitchFamily="65" charset="-120"/>
                <a:cs typeface="標楷體" panose="03000509000000000000" pitchFamily="65" charset="-120"/>
              </a:rPr>
              <a:t>（教師</a:t>
            </a:r>
            <a:r>
              <a:rPr lang="en-US" altLang="zh-TW" sz="1800" dirty="0">
                <a:solidFill>
                  <a:schemeClr val="tx2">
                    <a:lumMod val="75000"/>
                    <a:lumOff val="25000"/>
                  </a:schemeClr>
                </a:solidFill>
                <a:effectLst/>
                <a:latin typeface="標楷體" panose="03000509000000000000" pitchFamily="65" charset="-120"/>
                <a:ea typeface="標楷體" panose="03000509000000000000" pitchFamily="65" charset="-120"/>
                <a:cs typeface="標楷體" panose="03000509000000000000" pitchFamily="65" charset="-120"/>
              </a:rPr>
              <a:t>/</a:t>
            </a:r>
            <a:r>
              <a:rPr lang="zh-TW" altLang="zh-TW" sz="1800" dirty="0">
                <a:solidFill>
                  <a:schemeClr val="tx2">
                    <a:lumMod val="75000"/>
                    <a:lumOff val="25000"/>
                  </a:schemeClr>
                </a:solidFill>
                <a:effectLst/>
                <a:latin typeface="標楷體" panose="03000509000000000000" pitchFamily="65" charset="-120"/>
                <a:ea typeface="標楷體" panose="03000509000000000000" pitchFamily="65" charset="-120"/>
                <a:cs typeface="標楷體" panose="03000509000000000000" pitchFamily="65" charset="-120"/>
              </a:rPr>
              <a:t>學生）：</a:t>
            </a:r>
            <a:endParaRPr lang="en-US" altLang="zh-TW" sz="1800" dirty="0">
              <a:solidFill>
                <a:schemeClr val="tx2">
                  <a:lumMod val="75000"/>
                  <a:lumOff val="25000"/>
                </a:schemeClr>
              </a:solidFill>
              <a:effectLst/>
              <a:latin typeface="標楷體" panose="03000509000000000000" pitchFamily="65" charset="-120"/>
              <a:ea typeface="標楷體" panose="03000509000000000000" pitchFamily="65" charset="-120"/>
              <a:cs typeface="標楷體" panose="03000509000000000000" pitchFamily="65" charset="-120"/>
            </a:endParaRPr>
          </a:p>
          <a:p>
            <a:pPr>
              <a:spcBef>
                <a:spcPts val="400"/>
              </a:spcBef>
              <a:spcAft>
                <a:spcPts val="400"/>
              </a:spcAft>
              <a:buNone/>
            </a:pPr>
            <a:r>
              <a:rPr lang="en-US" altLang="zh-TW" dirty="0">
                <a:latin typeface="標楷體" panose="03000509000000000000" pitchFamily="65" charset="-120"/>
                <a:ea typeface="標楷體" panose="03000509000000000000" pitchFamily="65" charset="-120"/>
                <a:cs typeface="標楷體" panose="03000509000000000000" pitchFamily="65" charset="-120"/>
              </a:rPr>
              <a:t>	</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所有資料表的</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SELECT</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，以及</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a:t>
            </a:r>
            <a:r>
              <a:rPr lang="en-US" altLang="zh-TW" sz="1800" dirty="0" err="1">
                <a:effectLst/>
                <a:latin typeface="標楷體" panose="03000509000000000000" pitchFamily="65" charset="-120"/>
                <a:ea typeface="標楷體" panose="03000509000000000000" pitchFamily="65" charset="-120"/>
                <a:cs typeface="標楷體" panose="03000509000000000000" pitchFamily="65" charset="-120"/>
              </a:rPr>
              <a:t>BorrowRecord</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 </a:t>
            </a:r>
            <a:r>
              <a:rPr lang="en-US" altLang="zh-TW" sz="1800" dirty="0" err="1">
                <a:effectLst/>
                <a:latin typeface="標楷體" panose="03000509000000000000" pitchFamily="65" charset="-120"/>
                <a:ea typeface="標楷體" panose="03000509000000000000" pitchFamily="65" charset="-120"/>
                <a:cs typeface="標楷體" panose="03000509000000000000" pitchFamily="65" charset="-120"/>
              </a:rPr>
              <a:t>MaintenanceRecord</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 </a:t>
            </a:r>
            <a:r>
              <a:rPr lang="en-US" altLang="zh-TW" sz="1800" dirty="0" err="1">
                <a:effectLst/>
                <a:latin typeface="標楷體" panose="03000509000000000000" pitchFamily="65" charset="-120"/>
                <a:ea typeface="標楷體" panose="03000509000000000000" pitchFamily="65" charset="-120"/>
                <a:cs typeface="標楷體" panose="03000509000000000000" pitchFamily="65" charset="-120"/>
              </a:rPr>
              <a:t>RetirementRequest</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的</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INSERT</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，可存取</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a:t>
            </a:r>
            <a:r>
              <a:rPr lang="en-US" altLang="zh-TW" sz="1800" dirty="0" err="1">
                <a:effectLst/>
                <a:latin typeface="標楷體" panose="03000509000000000000" pitchFamily="65" charset="-120"/>
                <a:ea typeface="標楷體" panose="03000509000000000000" pitchFamily="65" charset="-120"/>
                <a:cs typeface="標楷體" panose="03000509000000000000" pitchFamily="65" charset="-120"/>
              </a:rPr>
              <a:t>v_available_equipment</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a:t>
            </a:r>
            <a:r>
              <a:rPr lang="zh-TW" altLang="zh-TW" sz="1800" dirty="0">
                <a:effectLst/>
                <a:latin typeface="標楷體" panose="03000509000000000000" pitchFamily="65" charset="-120"/>
                <a:ea typeface="標楷體" panose="03000509000000000000" pitchFamily="65" charset="-120"/>
                <a:cs typeface="標楷體" panose="03000509000000000000" pitchFamily="65" charset="-120"/>
              </a:rPr>
              <a:t>和</a:t>
            </a:r>
            <a:r>
              <a:rPr lang="en-US" altLang="zh-TW" sz="1800" dirty="0">
                <a:effectLst/>
                <a:latin typeface="標楷體" panose="03000509000000000000" pitchFamily="65" charset="-120"/>
                <a:ea typeface="標楷體" panose="03000509000000000000" pitchFamily="65" charset="-120"/>
                <a:cs typeface="標楷體" panose="03000509000000000000" pitchFamily="65" charset="-120"/>
              </a:rPr>
              <a:t> </a:t>
            </a:r>
            <a:r>
              <a:rPr lang="en-US" altLang="zh-TW" sz="1800" dirty="0" err="1">
                <a:effectLst/>
                <a:latin typeface="標楷體" panose="03000509000000000000" pitchFamily="65" charset="-120"/>
                <a:ea typeface="標楷體" panose="03000509000000000000" pitchFamily="65" charset="-120"/>
                <a:cs typeface="標楷體" panose="03000509000000000000" pitchFamily="65" charset="-120"/>
              </a:rPr>
              <a:t>v_equipment_full</a:t>
            </a:r>
            <a:endParaRPr lang="zh-TW" altLang="zh-TW" sz="2000" dirty="0">
              <a:effectLst/>
              <a:latin typeface="標楷體" panose="03000509000000000000" pitchFamily="65" charset="-120"/>
              <a:ea typeface="標楷體" panose="03000509000000000000" pitchFamily="65" charset="-120"/>
              <a:cs typeface="標楷體" panose="03000509000000000000" pitchFamily="65" charset="-120"/>
            </a:endParaRPr>
          </a:p>
        </p:txBody>
      </p:sp>
      <p:grpSp>
        <p:nvGrpSpPr>
          <p:cNvPr id="6" name="群組 5">
            <a:extLst>
              <a:ext uri="{FF2B5EF4-FFF2-40B4-BE49-F238E27FC236}">
                <a16:creationId xmlns:a16="http://schemas.microsoft.com/office/drawing/2014/main" id="{D1252831-42D9-3766-58F3-47F8348AC446}"/>
              </a:ext>
            </a:extLst>
          </p:cNvPr>
          <p:cNvGrpSpPr/>
          <p:nvPr/>
        </p:nvGrpSpPr>
        <p:grpSpPr>
          <a:xfrm>
            <a:off x="-562683" y="695450"/>
            <a:ext cx="12154320" cy="1200329"/>
            <a:chOff x="368300" y="1442660"/>
            <a:chExt cx="4722578" cy="1200329"/>
          </a:xfrm>
        </p:grpSpPr>
        <p:sp>
          <p:nvSpPr>
            <p:cNvPr id="7" name="矩形 6">
              <a:extLst>
                <a:ext uri="{FF2B5EF4-FFF2-40B4-BE49-F238E27FC236}">
                  <a16:creationId xmlns:a16="http://schemas.microsoft.com/office/drawing/2014/main" id="{5F1D1812-AC32-7A34-12C2-2DA18E618343}"/>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2DE5C281-EA23-8B3C-B41B-13B40022ED13}"/>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8</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9" name="文字方塊 8">
            <a:extLst>
              <a:ext uri="{FF2B5EF4-FFF2-40B4-BE49-F238E27FC236}">
                <a16:creationId xmlns:a16="http://schemas.microsoft.com/office/drawing/2014/main" id="{FB2C531C-652F-98BC-C492-E21895E9268A}"/>
              </a:ext>
            </a:extLst>
          </p:cNvPr>
          <p:cNvSpPr txBox="1"/>
          <p:nvPr/>
        </p:nvSpPr>
        <p:spPr>
          <a:xfrm>
            <a:off x="253922" y="909884"/>
            <a:ext cx="11005205" cy="646331"/>
          </a:xfrm>
          <a:prstGeom prst="rect">
            <a:avLst/>
          </a:prstGeom>
          <a:noFill/>
        </p:spPr>
        <p:txBody>
          <a:bodyPr wrap="square">
            <a:spAutoFit/>
          </a:bodyPr>
          <a:lstStyle/>
          <a:p>
            <a:r>
              <a:rPr lang="en-US" altLang="zh-TW" sz="3600" dirty="0">
                <a:solidFill>
                  <a:schemeClr val="bg1"/>
                </a:solidFill>
                <a:latin typeface="標楷體" panose="03000509000000000000" pitchFamily="65" charset="-120"/>
                <a:ea typeface="標楷體" panose="03000509000000000000" pitchFamily="65" charset="-120"/>
              </a:rPr>
              <a:t>View </a:t>
            </a:r>
            <a:r>
              <a:rPr lang="zh-TW" altLang="en-US" sz="3600" dirty="0">
                <a:solidFill>
                  <a:schemeClr val="bg1"/>
                </a:solidFill>
                <a:latin typeface="標楷體" panose="03000509000000000000" pitchFamily="65" charset="-120"/>
                <a:ea typeface="標楷體" panose="03000509000000000000" pitchFamily="65" charset="-120"/>
              </a:rPr>
              <a:t>與使用者權限</a:t>
            </a:r>
            <a:r>
              <a:rPr lang="en-US" altLang="zh-TW" sz="3600" dirty="0">
                <a:solidFill>
                  <a:schemeClr val="bg1"/>
                </a:solidFill>
                <a:latin typeface="標楷體" panose="03000509000000000000" pitchFamily="65" charset="-120"/>
                <a:ea typeface="標楷體" panose="03000509000000000000" pitchFamily="65" charset="-120"/>
              </a:rPr>
              <a:t>:</a:t>
            </a:r>
            <a:r>
              <a:rPr lang="zh-TW" altLang="en-US" sz="3600" dirty="0">
                <a:solidFill>
                  <a:schemeClr val="bg1"/>
                </a:solidFill>
                <a:latin typeface="標楷體" panose="03000509000000000000" pitchFamily="65" charset="-120"/>
                <a:ea typeface="標楷體" panose="03000509000000000000" pitchFamily="65" charset="-120"/>
              </a:rPr>
              <a:t>使用者帳號與權限設計</a:t>
            </a:r>
          </a:p>
        </p:txBody>
      </p:sp>
    </p:spTree>
    <p:extLst>
      <p:ext uri="{BB962C8B-B14F-4D97-AF65-F5344CB8AC3E}">
        <p14:creationId xmlns:p14="http://schemas.microsoft.com/office/powerpoint/2010/main" val="2641439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19B90-EB65-9B5A-33EE-CFFB29A3B579}"/>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34F18E30-71A0-F64D-1DB6-10582D4DD3FA}"/>
              </a:ext>
            </a:extLst>
          </p:cNvPr>
          <p:cNvGrpSpPr/>
          <p:nvPr/>
        </p:nvGrpSpPr>
        <p:grpSpPr>
          <a:xfrm>
            <a:off x="-350247" y="58141"/>
            <a:ext cx="5720534" cy="1200329"/>
            <a:chOff x="368300" y="1442660"/>
            <a:chExt cx="4722578" cy="1200329"/>
          </a:xfrm>
        </p:grpSpPr>
        <p:sp>
          <p:nvSpPr>
            <p:cNvPr id="6" name="矩形 5">
              <a:extLst>
                <a:ext uri="{FF2B5EF4-FFF2-40B4-BE49-F238E27FC236}">
                  <a16:creationId xmlns:a16="http://schemas.microsoft.com/office/drawing/2014/main" id="{97B02B95-DEEF-B766-802B-C363BB9320B6}"/>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文字方塊 6">
              <a:extLst>
                <a:ext uri="{FF2B5EF4-FFF2-40B4-BE49-F238E27FC236}">
                  <a16:creationId xmlns:a16="http://schemas.microsoft.com/office/drawing/2014/main" id="{D13993AB-60D0-49DA-FE4B-CEB8B5ED0FB6}"/>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8</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8" name="文字方塊 7">
            <a:extLst>
              <a:ext uri="{FF2B5EF4-FFF2-40B4-BE49-F238E27FC236}">
                <a16:creationId xmlns:a16="http://schemas.microsoft.com/office/drawing/2014/main" id="{69461121-1DB1-BA1B-0B14-100A9A5999E0}"/>
              </a:ext>
            </a:extLst>
          </p:cNvPr>
          <p:cNvSpPr txBox="1"/>
          <p:nvPr/>
        </p:nvSpPr>
        <p:spPr>
          <a:xfrm>
            <a:off x="466359" y="272575"/>
            <a:ext cx="4011673"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建置</a:t>
            </a:r>
            <a:r>
              <a:rPr lang="en-US" altLang="zh-TW" sz="3600" dirty="0">
                <a:solidFill>
                  <a:schemeClr val="bg1"/>
                </a:solidFill>
                <a:latin typeface="標楷體" panose="03000509000000000000" pitchFamily="65" charset="-120"/>
                <a:ea typeface="標楷體" panose="03000509000000000000" pitchFamily="65" charset="-120"/>
              </a:rPr>
              <a:t>view</a:t>
            </a:r>
            <a:r>
              <a:rPr lang="zh-TW" altLang="en-US" sz="3600" dirty="0">
                <a:solidFill>
                  <a:schemeClr val="bg1"/>
                </a:solidFill>
                <a:latin typeface="標楷體" panose="03000509000000000000" pitchFamily="65" charset="-120"/>
                <a:ea typeface="標楷體" panose="03000509000000000000" pitchFamily="65" charset="-120"/>
              </a:rPr>
              <a:t>的</a:t>
            </a:r>
            <a:r>
              <a:rPr lang="en-US" altLang="zh-TW" sz="3600" dirty="0">
                <a:solidFill>
                  <a:schemeClr val="bg1"/>
                </a:solidFill>
                <a:latin typeface="標楷體" panose="03000509000000000000" pitchFamily="65" charset="-120"/>
                <a:ea typeface="標楷體" panose="03000509000000000000" pitchFamily="65" charset="-120"/>
              </a:rPr>
              <a:t>SQL</a:t>
            </a:r>
            <a:endParaRPr lang="zh-TW" altLang="en-US" sz="3600" dirty="0">
              <a:solidFill>
                <a:schemeClr val="bg1"/>
              </a:solidFill>
              <a:latin typeface="標楷體" panose="03000509000000000000" pitchFamily="65" charset="-120"/>
              <a:ea typeface="標楷體" panose="03000509000000000000" pitchFamily="65" charset="-120"/>
            </a:endParaRPr>
          </a:p>
        </p:txBody>
      </p:sp>
      <p:sp>
        <p:nvSpPr>
          <p:cNvPr id="12" name="文字方塊 11">
            <a:extLst>
              <a:ext uri="{FF2B5EF4-FFF2-40B4-BE49-F238E27FC236}">
                <a16:creationId xmlns:a16="http://schemas.microsoft.com/office/drawing/2014/main" id="{19889170-D55C-4C30-66B9-06B92C06D27F}"/>
              </a:ext>
            </a:extLst>
          </p:cNvPr>
          <p:cNvSpPr txBox="1"/>
          <p:nvPr/>
        </p:nvSpPr>
        <p:spPr>
          <a:xfrm>
            <a:off x="49716" y="1167548"/>
            <a:ext cx="5737213" cy="5693866"/>
          </a:xfrm>
          <a:prstGeom prst="rect">
            <a:avLst/>
          </a:prstGeom>
          <a:noFill/>
        </p:spPr>
        <p:txBody>
          <a:bodyPr wrap="square">
            <a:spAutoFit/>
          </a:bodyPr>
          <a:lstStyle/>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USE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nfu</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DROP VIEW IF EXISTS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v_available_equipment</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DROP VIEW IF EXISTS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v_borrowed_equipment</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DROP VIEW IF EXISTS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v_pending_maintenance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DROP VIEW IF EXISTS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v_pending_retire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DROP VIEW IF EXISTS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v_equipment_full</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200" b="1" dirty="0">
                <a:effectLst/>
                <a:latin typeface="Courier New" panose="02070309020205020404" pitchFamily="49" charset="0"/>
                <a:ea typeface="標楷體" panose="03000509000000000000" pitchFamily="65" charset="-120"/>
                <a:cs typeface="標楷體" panose="03000509000000000000" pitchFamily="65" charset="-120"/>
              </a:rPr>
              <a:t>-- View 1</a:t>
            </a:r>
            <a:r>
              <a:rPr lang="zh-TW" altLang="zh-TW" sz="1200" b="1" dirty="0">
                <a:effectLst/>
                <a:latin typeface="Courier New" panose="02070309020205020404" pitchFamily="49" charset="0"/>
                <a:ea typeface="標楷體" panose="03000509000000000000" pitchFamily="65" charset="-120"/>
                <a:cs typeface="Courier New" panose="02070309020205020404" pitchFamily="49" charset="0"/>
              </a:rPr>
              <a:t>：</a:t>
            </a:r>
            <a:r>
              <a:rPr lang="en-US" altLang="zh-TW" sz="1200" b="1" dirty="0" err="1">
                <a:effectLst/>
                <a:latin typeface="Courier New" panose="02070309020205020404" pitchFamily="49" charset="0"/>
                <a:ea typeface="標楷體" panose="03000509000000000000" pitchFamily="65" charset="-120"/>
                <a:cs typeface="標楷體" panose="03000509000000000000" pitchFamily="65" charset="-120"/>
              </a:rPr>
              <a:t>v_available_equipment</a:t>
            </a:r>
            <a:r>
              <a:rPr lang="en-US" altLang="zh-TW" sz="1200" b="1" dirty="0">
                <a:effectLst/>
                <a:latin typeface="Courier New" panose="02070309020205020404" pitchFamily="49" charset="0"/>
                <a:ea typeface="標楷體" panose="03000509000000000000" pitchFamily="65" charset="-120"/>
                <a:cs typeface="標楷體" panose="03000509000000000000" pitchFamily="65" charset="-120"/>
              </a:rPr>
              <a:t> </a:t>
            </a:r>
            <a:r>
              <a:rPr lang="zh-TW" altLang="zh-TW" sz="1200" b="1" dirty="0">
                <a:effectLst/>
                <a:latin typeface="Courier New" panose="02070309020205020404" pitchFamily="49" charset="0"/>
                <a:ea typeface="標楷體" panose="03000509000000000000" pitchFamily="65" charset="-120"/>
                <a:cs typeface="Courier New" panose="02070309020205020404" pitchFamily="49" charset="0"/>
              </a:rPr>
              <a:t>目前可借用的設備</a:t>
            </a:r>
            <a:endParaRPr lang="zh-TW" altLang="zh-TW" sz="1200" b="1"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CREATE VIEW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v_available_equipment</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SELECT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e.ePropertyNo</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財產編號</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e.eName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設備名稱</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c.cName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類別</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e.eLocation</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存放地點</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e.eWarrantyDate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保固到期日</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FROM Equipment e JOIN Category c ON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e.cId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c.cId</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WHERE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e.eStatus</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可用</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200" b="1" dirty="0">
                <a:effectLst/>
                <a:latin typeface="Courier New" panose="02070309020205020404" pitchFamily="49" charset="0"/>
                <a:ea typeface="標楷體" panose="03000509000000000000" pitchFamily="65" charset="-120"/>
                <a:cs typeface="標楷體" panose="03000509000000000000" pitchFamily="65" charset="-120"/>
              </a:rPr>
              <a:t>-- View 2</a:t>
            </a:r>
            <a:r>
              <a:rPr lang="zh-TW" altLang="zh-TW" sz="1200" b="1" dirty="0">
                <a:effectLst/>
                <a:latin typeface="Courier New" panose="02070309020205020404" pitchFamily="49" charset="0"/>
                <a:ea typeface="標楷體" panose="03000509000000000000" pitchFamily="65" charset="-120"/>
                <a:cs typeface="Courier New" panose="02070309020205020404" pitchFamily="49" charset="0"/>
              </a:rPr>
              <a:t>：</a:t>
            </a:r>
            <a:r>
              <a:rPr lang="en-US" altLang="zh-TW" sz="1200" b="1" dirty="0" err="1">
                <a:effectLst/>
                <a:latin typeface="Courier New" panose="02070309020205020404" pitchFamily="49" charset="0"/>
                <a:ea typeface="標楷體" panose="03000509000000000000" pitchFamily="65" charset="-120"/>
                <a:cs typeface="標楷體" panose="03000509000000000000" pitchFamily="65" charset="-120"/>
              </a:rPr>
              <a:t>v_borrowed_equipment</a:t>
            </a:r>
            <a:r>
              <a:rPr lang="en-US" altLang="zh-TW" sz="1200" b="1" dirty="0">
                <a:effectLst/>
                <a:latin typeface="Courier New" panose="02070309020205020404" pitchFamily="49" charset="0"/>
                <a:ea typeface="標楷體" panose="03000509000000000000" pitchFamily="65" charset="-120"/>
                <a:cs typeface="標楷體" panose="03000509000000000000" pitchFamily="65" charset="-120"/>
              </a:rPr>
              <a:t> </a:t>
            </a:r>
            <a:r>
              <a:rPr lang="zh-TW" altLang="zh-TW" sz="1200" b="1" dirty="0">
                <a:effectLst/>
                <a:latin typeface="Courier New" panose="02070309020205020404" pitchFamily="49" charset="0"/>
                <a:ea typeface="標楷體" panose="03000509000000000000" pitchFamily="65" charset="-120"/>
                <a:cs typeface="Courier New" panose="02070309020205020404" pitchFamily="49" charset="0"/>
              </a:rPr>
              <a:t>目前借出中的設備（含借用人）</a:t>
            </a:r>
            <a:endParaRPr lang="zh-TW" altLang="zh-TW" sz="1200" b="1"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CREATE VIEW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v_borrowed_equipment</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SELECT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b.bId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e.ePropertyNo</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財產編號</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e.eName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設備名稱</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mb.mName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借用人</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mb.mRole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借用人角色</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b.bStartDate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借用開始日</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b.bEndDate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應還日期</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b.bStatus</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借用狀態</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FROM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BorrowRecord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b</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JOIN Equipment e ON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b.eId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JOIN Member mb ON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b.mId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mb.mId</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WHERE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b.bStatus</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IN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核准</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逾期</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200" b="1" dirty="0">
                <a:effectLst/>
                <a:latin typeface="Courier New" panose="02070309020205020404" pitchFamily="49" charset="0"/>
                <a:ea typeface="標楷體" panose="03000509000000000000" pitchFamily="65" charset="-120"/>
                <a:cs typeface="標楷體" panose="03000509000000000000" pitchFamily="65" charset="-120"/>
              </a:rPr>
              <a:t>-- View 3</a:t>
            </a:r>
            <a:r>
              <a:rPr lang="zh-TW" altLang="zh-TW" sz="1200" b="1" dirty="0">
                <a:effectLst/>
                <a:latin typeface="Courier New" panose="02070309020205020404" pitchFamily="49" charset="0"/>
                <a:ea typeface="標楷體" panose="03000509000000000000" pitchFamily="65" charset="-120"/>
                <a:cs typeface="Courier New" panose="02070309020205020404" pitchFamily="49" charset="0"/>
              </a:rPr>
              <a:t>：</a:t>
            </a:r>
            <a:r>
              <a:rPr lang="en-US" altLang="zh-TW" sz="1200" b="1" dirty="0" err="1">
                <a:effectLst/>
                <a:latin typeface="Courier New" panose="02070309020205020404" pitchFamily="49" charset="0"/>
                <a:ea typeface="標楷體" panose="03000509000000000000" pitchFamily="65" charset="-120"/>
                <a:cs typeface="標楷體" panose="03000509000000000000" pitchFamily="65" charset="-120"/>
              </a:rPr>
              <a:t>v_pending_maintenance</a:t>
            </a:r>
            <a:r>
              <a:rPr lang="en-US" altLang="zh-TW" sz="1200" b="1" dirty="0">
                <a:effectLst/>
                <a:latin typeface="Courier New" panose="02070309020205020404" pitchFamily="49" charset="0"/>
                <a:ea typeface="標楷體" panose="03000509000000000000" pitchFamily="65" charset="-120"/>
                <a:cs typeface="標楷體" panose="03000509000000000000" pitchFamily="65" charset="-120"/>
              </a:rPr>
              <a:t> </a:t>
            </a:r>
            <a:r>
              <a:rPr lang="zh-TW" altLang="zh-TW" sz="1200" b="1" dirty="0">
                <a:effectLst/>
                <a:latin typeface="Courier New" panose="02070309020205020404" pitchFamily="49" charset="0"/>
                <a:ea typeface="標楷體" panose="03000509000000000000" pitchFamily="65" charset="-120"/>
                <a:cs typeface="Courier New" panose="02070309020205020404" pitchFamily="49" charset="0"/>
              </a:rPr>
              <a:t>待處理的維護紀錄</a:t>
            </a:r>
            <a:endParaRPr lang="zh-TW" altLang="zh-TW" sz="1200" b="1"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CREATE VIEW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v_pending_maintenance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SELECT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m.mRecId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e.ePropertyNo</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財產編號</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e.eName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設備名稱</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e.eLocation</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設備地點</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mb.mName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申報人</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m.mRecDate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申報日期</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m.mIssue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問題描述</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m.mStatus</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維護狀態</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FROM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MaintenanceRecord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m</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JOIN Equipment e ON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m.eId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JOIN Member mb ON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m.mId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mb.mId</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WHERE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m.mStatus</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IN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待處理</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處理中</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p:txBody>
      </p:sp>
      <p:sp>
        <p:nvSpPr>
          <p:cNvPr id="14" name="文字方塊 13">
            <a:extLst>
              <a:ext uri="{FF2B5EF4-FFF2-40B4-BE49-F238E27FC236}">
                <a16:creationId xmlns:a16="http://schemas.microsoft.com/office/drawing/2014/main" id="{1B9F7071-E5D3-5AD6-2F73-883E9264C507}"/>
              </a:ext>
            </a:extLst>
          </p:cNvPr>
          <p:cNvSpPr txBox="1"/>
          <p:nvPr/>
        </p:nvSpPr>
        <p:spPr>
          <a:xfrm>
            <a:off x="6109508" y="1258470"/>
            <a:ext cx="6271490" cy="3077766"/>
          </a:xfrm>
          <a:prstGeom prst="rect">
            <a:avLst/>
          </a:prstGeom>
          <a:noFill/>
        </p:spPr>
        <p:txBody>
          <a:bodyPr wrap="square">
            <a:spAutoFit/>
          </a:bodyPr>
          <a:lstStyle/>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200" b="1" dirty="0">
                <a:effectLst/>
                <a:latin typeface="Courier New" panose="02070309020205020404" pitchFamily="49" charset="0"/>
                <a:ea typeface="標楷體" panose="03000509000000000000" pitchFamily="65" charset="-120"/>
                <a:cs typeface="標楷體" panose="03000509000000000000" pitchFamily="65" charset="-120"/>
              </a:rPr>
              <a:t>-- View 4</a:t>
            </a:r>
            <a:r>
              <a:rPr lang="zh-TW" altLang="zh-TW" sz="1200" b="1" dirty="0">
                <a:effectLst/>
                <a:latin typeface="Courier New" panose="02070309020205020404" pitchFamily="49" charset="0"/>
                <a:ea typeface="標楷體" panose="03000509000000000000" pitchFamily="65" charset="-120"/>
                <a:cs typeface="Courier New" panose="02070309020205020404" pitchFamily="49" charset="0"/>
              </a:rPr>
              <a:t>：</a:t>
            </a:r>
            <a:r>
              <a:rPr lang="en-US" altLang="zh-TW" sz="1200" b="1" dirty="0" err="1">
                <a:effectLst/>
                <a:latin typeface="Courier New" panose="02070309020205020404" pitchFamily="49" charset="0"/>
                <a:ea typeface="標楷體" panose="03000509000000000000" pitchFamily="65" charset="-120"/>
                <a:cs typeface="標楷體" panose="03000509000000000000" pitchFamily="65" charset="-120"/>
              </a:rPr>
              <a:t>v_pending_retire</a:t>
            </a:r>
            <a:r>
              <a:rPr lang="en-US" altLang="zh-TW" sz="1200" b="1" dirty="0">
                <a:effectLst/>
                <a:latin typeface="Courier New" panose="02070309020205020404" pitchFamily="49" charset="0"/>
                <a:ea typeface="標楷體" panose="03000509000000000000" pitchFamily="65" charset="-120"/>
                <a:cs typeface="標楷體" panose="03000509000000000000" pitchFamily="65" charset="-120"/>
              </a:rPr>
              <a:t> </a:t>
            </a:r>
            <a:r>
              <a:rPr lang="zh-TW" altLang="zh-TW" sz="1200" b="1" dirty="0">
                <a:effectLst/>
                <a:latin typeface="Courier New" panose="02070309020205020404" pitchFamily="49" charset="0"/>
                <a:ea typeface="標楷體" panose="03000509000000000000" pitchFamily="65" charset="-120"/>
                <a:cs typeface="Courier New" panose="02070309020205020404" pitchFamily="49" charset="0"/>
              </a:rPr>
              <a:t>待審核的報廢申請</a:t>
            </a:r>
            <a:endParaRPr lang="zh-TW" altLang="zh-TW" sz="1200" b="1"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CREATE VIEW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v_pending_retire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SELECT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r.retId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e.ePropertyNo</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財產編號</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e.eName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設備名稱</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e.eLocation</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設備地點</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mb.mName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申請人</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r.retDate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申請日期</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r.retReason</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報廢原因</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r.retStatus</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審核狀態</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FROM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RetirementRequest</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r</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JOIN Equipment e ON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r.eId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JOIN Member mb ON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r.mId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mb.mId</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WHERE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r.retStatus</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待審核</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200" b="1" dirty="0">
                <a:effectLst/>
                <a:latin typeface="Courier New" panose="02070309020205020404" pitchFamily="49" charset="0"/>
                <a:ea typeface="標楷體" panose="03000509000000000000" pitchFamily="65" charset="-120"/>
                <a:cs typeface="標楷體" panose="03000509000000000000" pitchFamily="65" charset="-120"/>
              </a:rPr>
              <a:t>-- View 5</a:t>
            </a:r>
            <a:r>
              <a:rPr lang="zh-TW" altLang="zh-TW" sz="1200" b="1" dirty="0">
                <a:effectLst/>
                <a:latin typeface="Courier New" panose="02070309020205020404" pitchFamily="49" charset="0"/>
                <a:ea typeface="標楷體" panose="03000509000000000000" pitchFamily="65" charset="-120"/>
                <a:cs typeface="Courier New" panose="02070309020205020404" pitchFamily="49" charset="0"/>
              </a:rPr>
              <a:t>：</a:t>
            </a:r>
            <a:r>
              <a:rPr lang="en-US" altLang="zh-TW" sz="1200" b="1" dirty="0" err="1">
                <a:effectLst/>
                <a:latin typeface="Courier New" panose="02070309020205020404" pitchFamily="49" charset="0"/>
                <a:ea typeface="標楷體" panose="03000509000000000000" pitchFamily="65" charset="-120"/>
                <a:cs typeface="標楷體" panose="03000509000000000000" pitchFamily="65" charset="-120"/>
              </a:rPr>
              <a:t>v_equipment_full</a:t>
            </a:r>
            <a:r>
              <a:rPr lang="en-US" altLang="zh-TW" sz="1200" b="1" dirty="0">
                <a:effectLst/>
                <a:latin typeface="Courier New" panose="02070309020205020404" pitchFamily="49" charset="0"/>
                <a:ea typeface="標楷體" panose="03000509000000000000" pitchFamily="65" charset="-120"/>
                <a:cs typeface="標楷體" panose="03000509000000000000" pitchFamily="65" charset="-120"/>
              </a:rPr>
              <a:t> </a:t>
            </a:r>
            <a:r>
              <a:rPr lang="zh-TW" altLang="zh-TW" sz="1200" b="1" dirty="0">
                <a:effectLst/>
                <a:latin typeface="Courier New" panose="02070309020205020404" pitchFamily="49" charset="0"/>
                <a:ea typeface="標楷體" panose="03000509000000000000" pitchFamily="65" charset="-120"/>
                <a:cs typeface="Courier New" panose="02070309020205020404" pitchFamily="49" charset="0"/>
              </a:rPr>
              <a:t>設備完整資訊（含類別名稱）</a:t>
            </a:r>
            <a:endParaRPr lang="zh-TW" altLang="zh-TW" sz="1200" b="1"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CREATE VIEW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v_equipment_full</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SELECT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e.ePropertyNo</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財產編號</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e.eName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設備名稱</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c.cName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類別名稱</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c.cOutline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類別說明</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e.eStatus</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設備狀態</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e.eLocation</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存放地點</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e.ePurchaseDate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購入日期</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e.eWarrantyDate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保固到期日</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e.eNote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AS </a:t>
            </a:r>
            <a:r>
              <a:rPr lang="zh-TW" altLang="zh-TW" sz="1000" dirty="0">
                <a:effectLst/>
                <a:latin typeface="Courier New" panose="02070309020205020404" pitchFamily="49" charset="0"/>
                <a:ea typeface="標楷體" panose="03000509000000000000" pitchFamily="65" charset="-120"/>
                <a:cs typeface="Courier New" panose="02070309020205020404" pitchFamily="49" charset="0"/>
              </a:rPr>
              <a:t>備註</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FROM Equipment e JOIN Category c ON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e.cId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c.cId</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a:t>
            </a:r>
            <a:endParaRPr lang="zh-TW" altLang="zh-TW" sz="10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SHOW FULL TABLES WHERE </a:t>
            </a:r>
            <a:r>
              <a:rPr lang="en-US" altLang="zh-TW" sz="1000" dirty="0" err="1">
                <a:effectLst/>
                <a:latin typeface="Courier New" panose="02070309020205020404" pitchFamily="49" charset="0"/>
                <a:ea typeface="標楷體" panose="03000509000000000000" pitchFamily="65" charset="-120"/>
                <a:cs typeface="標楷體" panose="03000509000000000000" pitchFamily="65" charset="-120"/>
              </a:rPr>
              <a:t>Table_type</a:t>
            </a:r>
            <a:r>
              <a:rPr lang="en-US" altLang="zh-TW" sz="1000" dirty="0">
                <a:effectLst/>
                <a:latin typeface="Courier New" panose="02070309020205020404" pitchFamily="49" charset="0"/>
                <a:ea typeface="標楷體" panose="03000509000000000000" pitchFamily="65" charset="-120"/>
                <a:cs typeface="標楷體" panose="03000509000000000000" pitchFamily="65" charset="-120"/>
              </a:rPr>
              <a:t> = 'VIEW';</a:t>
            </a:r>
            <a:endParaRPr lang="zh-TW" altLang="en-US" sz="1000" dirty="0"/>
          </a:p>
        </p:txBody>
      </p:sp>
      <p:cxnSp>
        <p:nvCxnSpPr>
          <p:cNvPr id="16" name="直線接點 15">
            <a:extLst>
              <a:ext uri="{FF2B5EF4-FFF2-40B4-BE49-F238E27FC236}">
                <a16:creationId xmlns:a16="http://schemas.microsoft.com/office/drawing/2014/main" id="{DD05E563-CBAB-CF74-4E42-E3B19CCF837F}"/>
              </a:ext>
            </a:extLst>
          </p:cNvPr>
          <p:cNvCxnSpPr/>
          <p:nvPr/>
        </p:nvCxnSpPr>
        <p:spPr>
          <a:xfrm>
            <a:off x="5948218" y="1459345"/>
            <a:ext cx="0" cy="523701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04428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CF9429-90B1-042A-E582-2BB47ACC6F08}"/>
            </a:ext>
          </a:extLst>
        </p:cNvPr>
        <p:cNvGrpSpPr/>
        <p:nvPr/>
      </p:nvGrpSpPr>
      <p:grpSpPr>
        <a:xfrm>
          <a:off x="0" y="0"/>
          <a:ext cx="0" cy="0"/>
          <a:chOff x="0" y="0"/>
          <a:chExt cx="0" cy="0"/>
        </a:xfrm>
      </p:grpSpPr>
      <p:pic>
        <p:nvPicPr>
          <p:cNvPr id="5" name="圖片 4">
            <a:extLst>
              <a:ext uri="{FF2B5EF4-FFF2-40B4-BE49-F238E27FC236}">
                <a16:creationId xmlns:a16="http://schemas.microsoft.com/office/drawing/2014/main" id="{64A35DC3-C1AB-A7EA-7EE0-B33916A0DF91}"/>
              </a:ext>
            </a:extLst>
          </p:cNvPr>
          <p:cNvPicPr>
            <a:picLocks noChangeAspect="1"/>
          </p:cNvPicPr>
          <p:nvPr/>
        </p:nvPicPr>
        <p:blipFill>
          <a:blip r:embed="rId2"/>
          <a:stretch>
            <a:fillRect/>
          </a:stretch>
        </p:blipFill>
        <p:spPr>
          <a:xfrm>
            <a:off x="1404256" y="1213009"/>
            <a:ext cx="8672763" cy="5102766"/>
          </a:xfrm>
          <a:prstGeom prst="rect">
            <a:avLst/>
          </a:prstGeom>
        </p:spPr>
      </p:pic>
      <p:grpSp>
        <p:nvGrpSpPr>
          <p:cNvPr id="4" name="群組 3">
            <a:extLst>
              <a:ext uri="{FF2B5EF4-FFF2-40B4-BE49-F238E27FC236}">
                <a16:creationId xmlns:a16="http://schemas.microsoft.com/office/drawing/2014/main" id="{F6BEE7BA-11A6-8501-E53A-44D8FDBB5DE4}"/>
              </a:ext>
            </a:extLst>
          </p:cNvPr>
          <p:cNvGrpSpPr/>
          <p:nvPr/>
        </p:nvGrpSpPr>
        <p:grpSpPr>
          <a:xfrm>
            <a:off x="-350247" y="58141"/>
            <a:ext cx="5720534" cy="1200329"/>
            <a:chOff x="368300" y="1442660"/>
            <a:chExt cx="4722578" cy="1200329"/>
          </a:xfrm>
        </p:grpSpPr>
        <p:sp>
          <p:nvSpPr>
            <p:cNvPr id="6" name="矩形 5">
              <a:extLst>
                <a:ext uri="{FF2B5EF4-FFF2-40B4-BE49-F238E27FC236}">
                  <a16:creationId xmlns:a16="http://schemas.microsoft.com/office/drawing/2014/main" id="{6800395C-DD9A-3DE2-4AC3-25A798FA5463}"/>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文字方塊 6">
              <a:extLst>
                <a:ext uri="{FF2B5EF4-FFF2-40B4-BE49-F238E27FC236}">
                  <a16:creationId xmlns:a16="http://schemas.microsoft.com/office/drawing/2014/main" id="{7954459A-064B-75F4-4314-31D4C082EE11}"/>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8</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8" name="文字方塊 7">
            <a:extLst>
              <a:ext uri="{FF2B5EF4-FFF2-40B4-BE49-F238E27FC236}">
                <a16:creationId xmlns:a16="http://schemas.microsoft.com/office/drawing/2014/main" id="{873EA1AA-18CF-C053-88ED-AE199F8D8184}"/>
              </a:ext>
            </a:extLst>
          </p:cNvPr>
          <p:cNvSpPr txBox="1"/>
          <p:nvPr/>
        </p:nvSpPr>
        <p:spPr>
          <a:xfrm>
            <a:off x="0" y="306169"/>
            <a:ext cx="4226720"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建置完</a:t>
            </a:r>
            <a:r>
              <a:rPr lang="en-US" altLang="zh-TW" sz="3600" dirty="0">
                <a:solidFill>
                  <a:schemeClr val="bg1"/>
                </a:solidFill>
                <a:latin typeface="標楷體" panose="03000509000000000000" pitchFamily="65" charset="-120"/>
                <a:ea typeface="標楷體" panose="03000509000000000000" pitchFamily="65" charset="-120"/>
              </a:rPr>
              <a:t>view</a:t>
            </a:r>
            <a:r>
              <a:rPr lang="zh-TW" altLang="en-US" sz="3600" dirty="0">
                <a:solidFill>
                  <a:schemeClr val="bg1"/>
                </a:solidFill>
                <a:latin typeface="標楷體" panose="03000509000000000000" pitchFamily="65" charset="-120"/>
                <a:ea typeface="標楷體" panose="03000509000000000000" pitchFamily="65" charset="-120"/>
              </a:rPr>
              <a:t>的</a:t>
            </a:r>
            <a:r>
              <a:rPr lang="en-US" altLang="zh-TW" sz="3600" dirty="0">
                <a:solidFill>
                  <a:schemeClr val="bg1"/>
                </a:solidFill>
                <a:latin typeface="標楷體" panose="03000509000000000000" pitchFamily="65" charset="-120"/>
                <a:ea typeface="標楷體" panose="03000509000000000000" pitchFamily="65" charset="-120"/>
              </a:rPr>
              <a:t>TABLE</a:t>
            </a:r>
            <a:endParaRPr lang="zh-TW" altLang="en-US" sz="3600" dirty="0">
              <a:solidFill>
                <a:schemeClr val="bg1"/>
              </a:solidFill>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4701595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群組 3">
            <a:extLst>
              <a:ext uri="{FF2B5EF4-FFF2-40B4-BE49-F238E27FC236}">
                <a16:creationId xmlns:a16="http://schemas.microsoft.com/office/drawing/2014/main" id="{5BE9B959-D32C-469C-4152-7D0FA7746CA0}"/>
              </a:ext>
            </a:extLst>
          </p:cNvPr>
          <p:cNvGrpSpPr/>
          <p:nvPr/>
        </p:nvGrpSpPr>
        <p:grpSpPr>
          <a:xfrm>
            <a:off x="-350247" y="21302"/>
            <a:ext cx="2205472" cy="1200329"/>
            <a:chOff x="368300" y="1405821"/>
            <a:chExt cx="4355253" cy="1200329"/>
          </a:xfrm>
        </p:grpSpPr>
        <p:sp>
          <p:nvSpPr>
            <p:cNvPr id="5" name="矩形 4">
              <a:extLst>
                <a:ext uri="{FF2B5EF4-FFF2-40B4-BE49-F238E27FC236}">
                  <a16:creationId xmlns:a16="http://schemas.microsoft.com/office/drawing/2014/main" id="{D2206C69-EE46-193D-AA8F-2479978F6387}"/>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文字方塊 5">
              <a:extLst>
                <a:ext uri="{FF2B5EF4-FFF2-40B4-BE49-F238E27FC236}">
                  <a16:creationId xmlns:a16="http://schemas.microsoft.com/office/drawing/2014/main" id="{844A8874-01EB-A15F-F037-D6D323C030C4}"/>
                </a:ext>
              </a:extLst>
            </p:cNvPr>
            <p:cNvSpPr txBox="1"/>
            <p:nvPr/>
          </p:nvSpPr>
          <p:spPr>
            <a:xfrm>
              <a:off x="3986954" y="1405821"/>
              <a:ext cx="736599"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8</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523FE02A-DCB9-09DE-B4BA-9FA54CF11072}"/>
              </a:ext>
            </a:extLst>
          </p:cNvPr>
          <p:cNvSpPr txBox="1"/>
          <p:nvPr/>
        </p:nvSpPr>
        <p:spPr>
          <a:xfrm>
            <a:off x="251312" y="298302"/>
            <a:ext cx="1281924"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補充</a:t>
            </a:r>
          </a:p>
        </p:txBody>
      </p:sp>
      <p:pic>
        <p:nvPicPr>
          <p:cNvPr id="9" name="圖片 8">
            <a:extLst>
              <a:ext uri="{FF2B5EF4-FFF2-40B4-BE49-F238E27FC236}">
                <a16:creationId xmlns:a16="http://schemas.microsoft.com/office/drawing/2014/main" id="{7DA9E4C8-F46F-09C3-5908-AA5027F0835C}"/>
              </a:ext>
            </a:extLst>
          </p:cNvPr>
          <p:cNvPicPr>
            <a:picLocks noChangeAspect="1"/>
          </p:cNvPicPr>
          <p:nvPr/>
        </p:nvPicPr>
        <p:blipFill>
          <a:blip r:embed="rId2"/>
          <a:stretch>
            <a:fillRect/>
          </a:stretch>
        </p:blipFill>
        <p:spPr>
          <a:xfrm>
            <a:off x="0" y="4417271"/>
            <a:ext cx="12192000" cy="2033486"/>
          </a:xfrm>
          <a:prstGeom prst="rect">
            <a:avLst/>
          </a:prstGeom>
        </p:spPr>
      </p:pic>
      <p:sp>
        <p:nvSpPr>
          <p:cNvPr id="11" name="文字方塊 10">
            <a:extLst>
              <a:ext uri="{FF2B5EF4-FFF2-40B4-BE49-F238E27FC236}">
                <a16:creationId xmlns:a16="http://schemas.microsoft.com/office/drawing/2014/main" id="{834D6D86-528F-5E03-299C-2334F169C6FD}"/>
              </a:ext>
            </a:extLst>
          </p:cNvPr>
          <p:cNvSpPr txBox="1"/>
          <p:nvPr/>
        </p:nvSpPr>
        <p:spPr>
          <a:xfrm>
            <a:off x="366760" y="1124062"/>
            <a:ext cx="6303818" cy="3293209"/>
          </a:xfrm>
          <a:prstGeom prst="rect">
            <a:avLst/>
          </a:prstGeom>
          <a:noFill/>
        </p:spPr>
        <p:txBody>
          <a:bodyPr wrap="square">
            <a:spAutoFit/>
          </a:bodyPr>
          <a:lstStyle/>
          <a:p>
            <a:r>
              <a:rPr lang="zh-TW" altLang="en-US" sz="1600" dirty="0"/>
              <a:t>use nfu;</a:t>
            </a:r>
          </a:p>
          <a:p>
            <a:r>
              <a:rPr lang="zh-TW" altLang="en-US" sz="1600" dirty="0"/>
              <a:t>CREATE VIEW v_borrowed_equipment_haveBorrowApproveName AS</a:t>
            </a:r>
          </a:p>
          <a:p>
            <a:r>
              <a:rPr lang="zh-TW" altLang="en-US" sz="1600" dirty="0"/>
              <a:t>SELECT</a:t>
            </a:r>
          </a:p>
          <a:p>
            <a:r>
              <a:rPr lang="zh-TW" altLang="en-US" sz="1600" dirty="0"/>
              <a:t>    b.bId,</a:t>
            </a:r>
          </a:p>
          <a:p>
            <a:r>
              <a:rPr lang="zh-TW" altLang="en-US" sz="1600" dirty="0"/>
              <a:t>    e.ePropertyNo   AS 財產編號,</a:t>
            </a:r>
          </a:p>
          <a:p>
            <a:r>
              <a:rPr lang="zh-TW" altLang="en-US" sz="1600" dirty="0"/>
              <a:t>    e.eName         AS 設備名稱,</a:t>
            </a:r>
          </a:p>
          <a:p>
            <a:r>
              <a:rPr lang="zh-TW" altLang="en-US" sz="1600" dirty="0"/>
              <a:t>    mb.mName        AS 借用人,</a:t>
            </a:r>
          </a:p>
          <a:p>
            <a:r>
              <a:rPr lang="zh-TW" altLang="en-US" sz="1600" dirty="0"/>
              <a:t>    mb.mRole        AS 借用人角色,</a:t>
            </a:r>
          </a:p>
          <a:p>
            <a:r>
              <a:rPr lang="zh-TW" altLang="en-US" sz="1600" dirty="0"/>
              <a:t>    b.bStartDate    AS 借用開始日,</a:t>
            </a:r>
          </a:p>
          <a:p>
            <a:r>
              <a:rPr lang="zh-TW" altLang="en-US" sz="1600" dirty="0"/>
              <a:t>    b.bEndDate      AS 應還日期,</a:t>
            </a:r>
          </a:p>
          <a:p>
            <a:r>
              <a:rPr lang="zh-TW" altLang="en-US" sz="1600" dirty="0"/>
              <a:t>    b.bStatus       AS 借用狀態,</a:t>
            </a:r>
          </a:p>
          <a:p>
            <a:r>
              <a:rPr lang="zh-TW" altLang="en-US" sz="1600" dirty="0"/>
              <a:t>    b.bApprovedBy   AS 確認人ID,</a:t>
            </a:r>
          </a:p>
          <a:p>
            <a:r>
              <a:rPr lang="zh-TW" altLang="en-US" sz="1600" dirty="0"/>
              <a:t>    mb2.mName       AS 確認人名字</a:t>
            </a:r>
          </a:p>
        </p:txBody>
      </p:sp>
      <p:sp>
        <p:nvSpPr>
          <p:cNvPr id="13" name="文字方塊 12">
            <a:extLst>
              <a:ext uri="{FF2B5EF4-FFF2-40B4-BE49-F238E27FC236}">
                <a16:creationId xmlns:a16="http://schemas.microsoft.com/office/drawing/2014/main" id="{AE7096B8-3CC5-CDB2-46E1-10435F592251}"/>
              </a:ext>
            </a:extLst>
          </p:cNvPr>
          <p:cNvSpPr txBox="1"/>
          <p:nvPr/>
        </p:nvSpPr>
        <p:spPr>
          <a:xfrm>
            <a:off x="6747164" y="1842899"/>
            <a:ext cx="6271490" cy="1477328"/>
          </a:xfrm>
          <a:prstGeom prst="rect">
            <a:avLst/>
          </a:prstGeom>
          <a:noFill/>
        </p:spPr>
        <p:txBody>
          <a:bodyPr wrap="square">
            <a:spAutoFit/>
          </a:bodyPr>
          <a:lstStyle/>
          <a:p>
            <a:r>
              <a:rPr lang="zh-TW" altLang="en-US" sz="1800" dirty="0"/>
              <a:t>FROM BorrowRecord b</a:t>
            </a:r>
          </a:p>
          <a:p>
            <a:r>
              <a:rPr lang="zh-TW" altLang="en-US" sz="1800" dirty="0"/>
              <a:t>JOIN Equipment e  ON b.eId = e.eId</a:t>
            </a:r>
          </a:p>
          <a:p>
            <a:r>
              <a:rPr lang="zh-TW" altLang="en-US" sz="1800" dirty="0"/>
              <a:t>JOIN Member mb    ON b.mId = mb.mId</a:t>
            </a:r>
          </a:p>
          <a:p>
            <a:r>
              <a:rPr lang="zh-TW" altLang="en-US" sz="1800" dirty="0"/>
              <a:t>JOIN Member mb2   ON b.bApprovedBy = mb2.mId</a:t>
            </a:r>
          </a:p>
          <a:p>
            <a:r>
              <a:rPr lang="zh-TW" altLang="en-US" sz="1800" dirty="0"/>
              <a:t>WHERE b.bStatus IN ('核准', '逾期');</a:t>
            </a:r>
          </a:p>
        </p:txBody>
      </p:sp>
      <p:cxnSp>
        <p:nvCxnSpPr>
          <p:cNvPr id="15" name="直線接點 14">
            <a:extLst>
              <a:ext uri="{FF2B5EF4-FFF2-40B4-BE49-F238E27FC236}">
                <a16:creationId xmlns:a16="http://schemas.microsoft.com/office/drawing/2014/main" id="{C6504CC4-63E6-4433-E6FD-2F6BC09463B7}"/>
              </a:ext>
            </a:extLst>
          </p:cNvPr>
          <p:cNvCxnSpPr/>
          <p:nvPr/>
        </p:nvCxnSpPr>
        <p:spPr>
          <a:xfrm>
            <a:off x="6530109" y="1258470"/>
            <a:ext cx="0" cy="2999494"/>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03281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8D6399-0669-0576-FFD8-8F2151A9FDF8}"/>
            </a:ext>
          </a:extLst>
        </p:cNvPr>
        <p:cNvGrpSpPr/>
        <p:nvPr/>
      </p:nvGrpSpPr>
      <p:grpSpPr>
        <a:xfrm>
          <a:off x="0" y="0"/>
          <a:ext cx="0" cy="0"/>
          <a:chOff x="0" y="0"/>
          <a:chExt cx="0" cy="0"/>
        </a:xfrm>
      </p:grpSpPr>
      <p:grpSp>
        <p:nvGrpSpPr>
          <p:cNvPr id="4" name="群組 3">
            <a:extLst>
              <a:ext uri="{FF2B5EF4-FFF2-40B4-BE49-F238E27FC236}">
                <a16:creationId xmlns:a16="http://schemas.microsoft.com/office/drawing/2014/main" id="{21A0C2A6-11E2-208C-E204-25F6CF8B551D}"/>
              </a:ext>
            </a:extLst>
          </p:cNvPr>
          <p:cNvGrpSpPr/>
          <p:nvPr/>
        </p:nvGrpSpPr>
        <p:grpSpPr>
          <a:xfrm>
            <a:off x="-350249" y="58141"/>
            <a:ext cx="6284613" cy="1200329"/>
            <a:chOff x="368300" y="1442660"/>
            <a:chExt cx="4722578" cy="1200329"/>
          </a:xfrm>
        </p:grpSpPr>
        <p:sp>
          <p:nvSpPr>
            <p:cNvPr id="6" name="矩形 5">
              <a:extLst>
                <a:ext uri="{FF2B5EF4-FFF2-40B4-BE49-F238E27FC236}">
                  <a16:creationId xmlns:a16="http://schemas.microsoft.com/office/drawing/2014/main" id="{7366BFA7-9DC9-BFDD-C594-F0B19A5F5933}"/>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文字方塊 6">
              <a:extLst>
                <a:ext uri="{FF2B5EF4-FFF2-40B4-BE49-F238E27FC236}">
                  <a16:creationId xmlns:a16="http://schemas.microsoft.com/office/drawing/2014/main" id="{CD5EC2D6-2551-127E-9946-C411E7BF7174}"/>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8</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8" name="文字方塊 7">
            <a:extLst>
              <a:ext uri="{FF2B5EF4-FFF2-40B4-BE49-F238E27FC236}">
                <a16:creationId xmlns:a16="http://schemas.microsoft.com/office/drawing/2014/main" id="{6D82C7AE-5777-7F43-A6FE-58038F67ABC7}"/>
              </a:ext>
            </a:extLst>
          </p:cNvPr>
          <p:cNvSpPr txBox="1"/>
          <p:nvPr/>
        </p:nvSpPr>
        <p:spPr>
          <a:xfrm>
            <a:off x="49716" y="341381"/>
            <a:ext cx="5057993"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使用者帳號與權限</a:t>
            </a:r>
            <a:r>
              <a:rPr lang="en-US" altLang="zh-TW" sz="3600" dirty="0">
                <a:solidFill>
                  <a:schemeClr val="bg1"/>
                </a:solidFill>
                <a:latin typeface="標楷體" panose="03000509000000000000" pitchFamily="65" charset="-120"/>
                <a:ea typeface="標楷體" panose="03000509000000000000" pitchFamily="65" charset="-120"/>
              </a:rPr>
              <a:t>SQL</a:t>
            </a:r>
            <a:endParaRPr lang="zh-TW" altLang="en-US" sz="3600" dirty="0">
              <a:solidFill>
                <a:schemeClr val="bg1"/>
              </a:solidFill>
              <a:latin typeface="標楷體" panose="03000509000000000000" pitchFamily="65" charset="-120"/>
              <a:ea typeface="標楷體" panose="03000509000000000000" pitchFamily="65" charset="-120"/>
            </a:endParaRPr>
          </a:p>
        </p:txBody>
      </p:sp>
      <p:sp>
        <p:nvSpPr>
          <p:cNvPr id="10" name="文字方塊 9">
            <a:extLst>
              <a:ext uri="{FF2B5EF4-FFF2-40B4-BE49-F238E27FC236}">
                <a16:creationId xmlns:a16="http://schemas.microsoft.com/office/drawing/2014/main" id="{71DD48D5-4616-5207-5A9B-E1D3ACE99167}"/>
              </a:ext>
            </a:extLst>
          </p:cNvPr>
          <p:cNvSpPr txBox="1"/>
          <p:nvPr/>
        </p:nvSpPr>
        <p:spPr>
          <a:xfrm>
            <a:off x="-147782" y="1541710"/>
            <a:ext cx="6243782" cy="4924425"/>
          </a:xfrm>
          <a:prstGeom prst="rect">
            <a:avLst/>
          </a:prstGeom>
          <a:noFill/>
        </p:spPr>
        <p:txBody>
          <a:bodyPr wrap="square">
            <a:spAutoFit/>
          </a:bodyPr>
          <a:lstStyle/>
          <a:p>
            <a:pPr marL="228600">
              <a:buNone/>
            </a:pPr>
            <a:r>
              <a:rPr lang="zh-TW" altLang="zh-TW" sz="1100" dirty="0">
                <a:effectLst/>
                <a:latin typeface="標楷體" panose="03000509000000000000" pitchFamily="65" charset="-120"/>
                <a:ea typeface="Courier New" panose="02070309020205020404" pitchFamily="49" charset="0"/>
                <a:cs typeface="標楷體" panose="03000509000000000000" pitchFamily="65" charset="-120"/>
              </a:rPr>
              <a:t> </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USE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400" b="1" dirty="0">
                <a:effectLst/>
                <a:latin typeface="Courier New" panose="02070309020205020404" pitchFamily="49" charset="0"/>
                <a:ea typeface="標楷體" panose="03000509000000000000" pitchFamily="65" charset="-120"/>
                <a:cs typeface="標楷體" panose="03000509000000000000" pitchFamily="65" charset="-120"/>
              </a:rPr>
              <a:t>-- </a:t>
            </a:r>
            <a:r>
              <a:rPr lang="zh-TW" altLang="zh-TW" sz="1400" b="1" dirty="0">
                <a:effectLst/>
                <a:latin typeface="Courier New" panose="02070309020205020404" pitchFamily="49" charset="0"/>
                <a:ea typeface="標楷體" panose="03000509000000000000" pitchFamily="65" charset="-120"/>
                <a:cs typeface="Courier New" panose="02070309020205020404" pitchFamily="49" charset="0"/>
              </a:rPr>
              <a:t>建立使用者帳號</a:t>
            </a:r>
            <a:endParaRPr lang="zh-TW" altLang="zh-TW" sz="1400" b="1"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DROP USER IF EXISTS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DROP USER IF EXISTS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CREATE USER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IDENTIFIED BY 'Admin@1234';</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CREATE USER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IDENTIFIED BY 'Staff@1234';</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400" b="1" dirty="0">
                <a:effectLst/>
                <a:latin typeface="Courier New" panose="02070309020205020404" pitchFamily="49" charset="0"/>
                <a:ea typeface="標楷體" panose="03000509000000000000" pitchFamily="65" charset="-120"/>
                <a:cs typeface="標楷體" panose="03000509000000000000" pitchFamily="65" charset="-120"/>
              </a:rPr>
              <a:t>-- </a:t>
            </a:r>
            <a:r>
              <a:rPr lang="zh-TW" altLang="zh-TW" sz="1400" b="1" dirty="0">
                <a:effectLst/>
                <a:latin typeface="Courier New" panose="02070309020205020404" pitchFamily="49" charset="0"/>
                <a:ea typeface="標楷體" panose="03000509000000000000" pitchFamily="65" charset="-120"/>
                <a:cs typeface="Courier New" panose="02070309020205020404" pitchFamily="49" charset="0"/>
              </a:rPr>
              <a:t>管理員：所有表完整操作</a:t>
            </a:r>
            <a:endParaRPr lang="zh-TW" altLang="zh-TW" sz="1400" b="1"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INSERT, UPDATE, DELETE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nfu.Member</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INSERT, UPDATE, DELETE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nfu.Equipment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INSERT, UPDATE, DELETE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nfu.Category</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INSERT, UPDATE, DELETE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nfu.BorrowRecord</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INSERT, UPDATE, DELETE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nfu.MaintenanceRecord</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INSERT, UPDATE, DELETE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nfu.RetirementRequest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nfu.v_available_equipment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nfu.v_borrowed_equipment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nfu.v_pending_maintenance</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nfu.v_pending_retire</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nfu.v_equipment_full</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p:txBody>
      </p:sp>
      <p:sp>
        <p:nvSpPr>
          <p:cNvPr id="12" name="文字方塊 11">
            <a:extLst>
              <a:ext uri="{FF2B5EF4-FFF2-40B4-BE49-F238E27FC236}">
                <a16:creationId xmlns:a16="http://schemas.microsoft.com/office/drawing/2014/main" id="{89A6A1F8-0D1C-8B81-DC1B-ACB65A6E371F}"/>
              </a:ext>
            </a:extLst>
          </p:cNvPr>
          <p:cNvSpPr txBox="1"/>
          <p:nvPr/>
        </p:nvSpPr>
        <p:spPr>
          <a:xfrm>
            <a:off x="5934364" y="2004438"/>
            <a:ext cx="6654800" cy="3016210"/>
          </a:xfrm>
          <a:prstGeom prst="rect">
            <a:avLst/>
          </a:prstGeom>
          <a:noFill/>
        </p:spPr>
        <p:txBody>
          <a:bodyPr wrap="square">
            <a:spAutoFit/>
          </a:bodyPr>
          <a:lstStyle/>
          <a:p>
            <a:pPr marL="228600">
              <a:buNone/>
            </a:pPr>
            <a:r>
              <a:rPr lang="en-US" altLang="zh-TW" sz="1400" b="1" dirty="0">
                <a:effectLst/>
                <a:latin typeface="Courier New" panose="02070309020205020404" pitchFamily="49" charset="0"/>
                <a:ea typeface="標楷體" panose="03000509000000000000" pitchFamily="65" charset="-120"/>
                <a:cs typeface="標楷體" panose="03000509000000000000" pitchFamily="65" charset="-120"/>
              </a:rPr>
              <a:t>-- </a:t>
            </a:r>
            <a:r>
              <a:rPr lang="zh-TW" altLang="zh-TW" sz="1400" b="1" dirty="0">
                <a:effectLst/>
                <a:latin typeface="Courier New" panose="02070309020205020404" pitchFamily="49" charset="0"/>
                <a:ea typeface="標楷體" panose="03000509000000000000" pitchFamily="65" charset="-120"/>
                <a:cs typeface="Courier New" panose="02070309020205020404" pitchFamily="49" charset="0"/>
              </a:rPr>
              <a:t>教師</a:t>
            </a:r>
            <a:r>
              <a:rPr lang="en-US" altLang="zh-TW" sz="1400" b="1" dirty="0">
                <a:effectLst/>
                <a:latin typeface="Courier New" panose="02070309020205020404" pitchFamily="49" charset="0"/>
                <a:ea typeface="標楷體" panose="03000509000000000000" pitchFamily="65" charset="-120"/>
                <a:cs typeface="標楷體" panose="03000509000000000000" pitchFamily="65" charset="-120"/>
              </a:rPr>
              <a:t>/</a:t>
            </a:r>
            <a:r>
              <a:rPr lang="zh-TW" altLang="zh-TW" sz="1400" b="1" dirty="0">
                <a:effectLst/>
                <a:latin typeface="Courier New" panose="02070309020205020404" pitchFamily="49" charset="0"/>
                <a:ea typeface="標楷體" panose="03000509000000000000" pitchFamily="65" charset="-120"/>
                <a:cs typeface="Courier New" panose="02070309020205020404" pitchFamily="49" charset="0"/>
              </a:rPr>
              <a:t>學生：查詢所有表、新增借用</a:t>
            </a:r>
            <a:r>
              <a:rPr lang="en-US" altLang="zh-TW" sz="1400" b="1" dirty="0">
                <a:effectLst/>
                <a:latin typeface="Courier New" panose="02070309020205020404" pitchFamily="49" charset="0"/>
                <a:ea typeface="標楷體" panose="03000509000000000000" pitchFamily="65" charset="-120"/>
                <a:cs typeface="標楷體" panose="03000509000000000000" pitchFamily="65" charset="-120"/>
              </a:rPr>
              <a:t>/</a:t>
            </a:r>
            <a:r>
              <a:rPr lang="zh-TW" altLang="zh-TW" sz="1400" b="1" dirty="0">
                <a:effectLst/>
                <a:latin typeface="Courier New" panose="02070309020205020404" pitchFamily="49" charset="0"/>
                <a:ea typeface="標楷體" panose="03000509000000000000" pitchFamily="65" charset="-120"/>
                <a:cs typeface="Courier New" panose="02070309020205020404" pitchFamily="49" charset="0"/>
              </a:rPr>
              <a:t>維護</a:t>
            </a:r>
            <a:r>
              <a:rPr lang="en-US" altLang="zh-TW" sz="1400" b="1" dirty="0">
                <a:effectLst/>
                <a:latin typeface="Courier New" panose="02070309020205020404" pitchFamily="49" charset="0"/>
                <a:ea typeface="標楷體" panose="03000509000000000000" pitchFamily="65" charset="-120"/>
                <a:cs typeface="標楷體" panose="03000509000000000000" pitchFamily="65" charset="-120"/>
              </a:rPr>
              <a:t>/</a:t>
            </a:r>
            <a:r>
              <a:rPr lang="zh-TW" altLang="zh-TW" sz="1400" b="1" dirty="0">
                <a:effectLst/>
                <a:latin typeface="Courier New" panose="02070309020205020404" pitchFamily="49" charset="0"/>
                <a:ea typeface="標楷體" panose="03000509000000000000" pitchFamily="65" charset="-120"/>
                <a:cs typeface="Courier New" panose="02070309020205020404" pitchFamily="49" charset="0"/>
              </a:rPr>
              <a:t>報廢申請</a:t>
            </a:r>
            <a:endParaRPr lang="zh-TW" altLang="zh-TW" sz="1400" b="1"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nfu.Member</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nfu.Equipment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nfu.Category</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nfu.BorrowRecord</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nfu.MaintenanceRecord</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nfu.RetirementRequest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INSERT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nfu.BorrowRecord</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INSERT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nfu.MaintenanceRecord</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INSERT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nfu.RetirementRequest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nfu.v_available_equipment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GRANT SELECT ON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nfu.v_equipment_full</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TO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FLUSH PRIVILEGES;</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 </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SHOW GRANTS FOR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admin_user'@'localhost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zh-TW" sz="1100" dirty="0">
              <a:effectLst/>
              <a:latin typeface="標楷體" panose="03000509000000000000" pitchFamily="65" charset="-120"/>
              <a:ea typeface="標楷體" panose="03000509000000000000" pitchFamily="65" charset="-120"/>
              <a:cs typeface="標楷體" panose="03000509000000000000" pitchFamily="65" charset="-120"/>
            </a:endParaRPr>
          </a:p>
          <a:p>
            <a:pPr marL="228600">
              <a:buNone/>
            </a:pP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SHOW GRANTS FOR '</a:t>
            </a:r>
            <a:r>
              <a:rPr lang="en-US" altLang="zh-TW" sz="1100" dirty="0" err="1">
                <a:effectLst/>
                <a:latin typeface="Courier New" panose="02070309020205020404" pitchFamily="49" charset="0"/>
                <a:ea typeface="標楷體" panose="03000509000000000000" pitchFamily="65" charset="-120"/>
                <a:cs typeface="標楷體" panose="03000509000000000000" pitchFamily="65" charset="-120"/>
              </a:rPr>
              <a:t>staff_user'@'localhost</a:t>
            </a:r>
            <a:r>
              <a:rPr lang="en-US" altLang="zh-TW" sz="1100" dirty="0">
                <a:effectLst/>
                <a:latin typeface="Courier New" panose="02070309020205020404" pitchFamily="49" charset="0"/>
                <a:ea typeface="標楷體" panose="03000509000000000000" pitchFamily="65" charset="-120"/>
                <a:cs typeface="標楷體" panose="03000509000000000000" pitchFamily="65" charset="-120"/>
              </a:rPr>
              <a:t>';</a:t>
            </a:r>
            <a:endParaRPr lang="zh-TW" altLang="en-US" sz="1100" dirty="0"/>
          </a:p>
        </p:txBody>
      </p:sp>
      <p:cxnSp>
        <p:nvCxnSpPr>
          <p:cNvPr id="14" name="直線接點 13">
            <a:extLst>
              <a:ext uri="{FF2B5EF4-FFF2-40B4-BE49-F238E27FC236}">
                <a16:creationId xmlns:a16="http://schemas.microsoft.com/office/drawing/2014/main" id="{CAAF9965-831D-3663-3066-D6E68308C5CB}"/>
              </a:ext>
            </a:extLst>
          </p:cNvPr>
          <p:cNvCxnSpPr/>
          <p:nvPr/>
        </p:nvCxnSpPr>
        <p:spPr>
          <a:xfrm>
            <a:off x="6059055" y="1293682"/>
            <a:ext cx="36945" cy="5393445"/>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34358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A8924-0F93-0B67-0E6E-33AA0BAF39A9}"/>
            </a:ext>
          </a:extLst>
        </p:cNvPr>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E498B3DA-3210-2F19-6A06-751E387CDB3B}"/>
              </a:ext>
            </a:extLst>
          </p:cNvPr>
          <p:cNvSpPr>
            <a:spLocks noGrp="1"/>
          </p:cNvSpPr>
          <p:nvPr>
            <p:ph type="body" idx="1"/>
          </p:nvPr>
        </p:nvSpPr>
        <p:spPr/>
        <p:txBody>
          <a:bodyPr/>
          <a:lstStyle/>
          <a:p>
            <a:endParaRPr lang="zh-TW" altLang="en-US" dirty="0"/>
          </a:p>
        </p:txBody>
      </p:sp>
      <p:pic>
        <p:nvPicPr>
          <p:cNvPr id="17" name="圖片 16">
            <a:extLst>
              <a:ext uri="{FF2B5EF4-FFF2-40B4-BE49-F238E27FC236}">
                <a16:creationId xmlns:a16="http://schemas.microsoft.com/office/drawing/2014/main" id="{45470F9E-0D2E-603C-1389-0E164548CEF4}"/>
              </a:ext>
            </a:extLst>
          </p:cNvPr>
          <p:cNvPicPr>
            <a:picLocks noChangeAspect="1"/>
          </p:cNvPicPr>
          <p:nvPr/>
        </p:nvPicPr>
        <p:blipFill>
          <a:blip r:embed="rId2"/>
          <a:stretch>
            <a:fillRect/>
          </a:stretch>
        </p:blipFill>
        <p:spPr>
          <a:xfrm>
            <a:off x="838200" y="1413180"/>
            <a:ext cx="9196137" cy="4031640"/>
          </a:xfrm>
          <a:prstGeom prst="rect">
            <a:avLst/>
          </a:prstGeom>
        </p:spPr>
      </p:pic>
      <p:sp>
        <p:nvSpPr>
          <p:cNvPr id="5" name="文字方塊 4">
            <a:extLst>
              <a:ext uri="{FF2B5EF4-FFF2-40B4-BE49-F238E27FC236}">
                <a16:creationId xmlns:a16="http://schemas.microsoft.com/office/drawing/2014/main" id="{707DB0FC-B976-585F-67B3-A233F745B9BD}"/>
              </a:ext>
            </a:extLst>
          </p:cNvPr>
          <p:cNvSpPr txBox="1"/>
          <p:nvPr/>
        </p:nvSpPr>
        <p:spPr>
          <a:xfrm>
            <a:off x="752937" y="5441560"/>
            <a:ext cx="9796656" cy="738664"/>
          </a:xfrm>
          <a:prstGeom prst="rect">
            <a:avLst/>
          </a:prstGeom>
          <a:noFill/>
        </p:spPr>
        <p:txBody>
          <a:bodyPr wrap="none" rtlCol="0">
            <a:spAutoFit/>
          </a:bodyPr>
          <a:lstStyle/>
          <a:p>
            <a:r>
              <a:rPr lang="en-US" altLang="zh-TW" sz="1400" dirty="0" err="1"/>
              <a:t>admin_user</a:t>
            </a:r>
            <a:r>
              <a:rPr lang="zh-TW" altLang="zh-TW" sz="1400" dirty="0"/>
              <a:t>（管理員）：所有資料表的</a:t>
            </a:r>
            <a:r>
              <a:rPr lang="en-US" altLang="zh-TW" sz="1400" dirty="0"/>
              <a:t> SELECT / INSERT / UPDATE / DELETE</a:t>
            </a:r>
            <a:r>
              <a:rPr lang="zh-TW" altLang="zh-TW" sz="1400" dirty="0"/>
              <a:t>，可存取所有</a:t>
            </a:r>
            <a:r>
              <a:rPr lang="en-US" altLang="zh-TW" sz="1400" dirty="0"/>
              <a:t> View</a:t>
            </a:r>
          </a:p>
          <a:p>
            <a:r>
              <a:rPr lang="en-US" altLang="zh-TW" sz="1400" dirty="0" err="1"/>
              <a:t>staff_user</a:t>
            </a:r>
            <a:r>
              <a:rPr lang="zh-TW" altLang="zh-TW" sz="1400" dirty="0"/>
              <a:t>（教師</a:t>
            </a:r>
            <a:r>
              <a:rPr lang="en-US" altLang="zh-TW" sz="1400" dirty="0"/>
              <a:t>/</a:t>
            </a:r>
            <a:r>
              <a:rPr lang="zh-TW" altLang="zh-TW" sz="1400" dirty="0"/>
              <a:t>學生）：所有資料表的</a:t>
            </a:r>
            <a:r>
              <a:rPr lang="en-US" altLang="zh-TW" sz="1400" dirty="0"/>
              <a:t> SELECT</a:t>
            </a:r>
            <a:r>
              <a:rPr lang="zh-TW" altLang="zh-TW" sz="1400" dirty="0"/>
              <a:t>，以及</a:t>
            </a:r>
            <a:r>
              <a:rPr lang="en-US" altLang="zh-TW" sz="1400" dirty="0"/>
              <a:t> </a:t>
            </a:r>
            <a:r>
              <a:rPr lang="en-US" altLang="zh-TW" sz="1400" dirty="0" err="1"/>
              <a:t>BorrowRecord</a:t>
            </a:r>
            <a:r>
              <a:rPr lang="en-US" altLang="zh-TW" sz="1400" dirty="0"/>
              <a:t> / </a:t>
            </a:r>
            <a:r>
              <a:rPr lang="en-US" altLang="zh-TW" sz="1400" dirty="0" err="1"/>
              <a:t>MaintenanceRecord</a:t>
            </a:r>
            <a:r>
              <a:rPr lang="en-US" altLang="zh-TW" sz="1400" dirty="0"/>
              <a:t> / </a:t>
            </a:r>
            <a:r>
              <a:rPr lang="en-US" altLang="zh-TW" sz="1400" dirty="0" err="1"/>
              <a:t>RetirementRequest</a:t>
            </a:r>
            <a:r>
              <a:rPr lang="en-US" altLang="zh-TW" sz="1400" dirty="0"/>
              <a:t> </a:t>
            </a:r>
            <a:r>
              <a:rPr lang="zh-TW" altLang="zh-TW" sz="1400" dirty="0"/>
              <a:t>的</a:t>
            </a:r>
            <a:r>
              <a:rPr lang="en-US" altLang="zh-TW" sz="1400" dirty="0"/>
              <a:t> INSERT</a:t>
            </a:r>
            <a:r>
              <a:rPr lang="zh-TW" altLang="zh-TW" sz="1400" dirty="0"/>
              <a:t>，</a:t>
            </a:r>
            <a:br>
              <a:rPr lang="en-US" altLang="zh-TW" sz="1400" dirty="0"/>
            </a:br>
            <a:r>
              <a:rPr lang="zh-TW" altLang="zh-TW" sz="1400" dirty="0"/>
              <a:t>可存取</a:t>
            </a:r>
            <a:r>
              <a:rPr lang="en-US" altLang="zh-TW" sz="1400" dirty="0"/>
              <a:t> </a:t>
            </a:r>
            <a:r>
              <a:rPr lang="en-US" altLang="zh-TW" sz="1400" dirty="0" err="1"/>
              <a:t>v_available_equipment</a:t>
            </a:r>
            <a:r>
              <a:rPr lang="en-US" altLang="zh-TW" sz="1400" dirty="0"/>
              <a:t> </a:t>
            </a:r>
            <a:r>
              <a:rPr lang="zh-TW" altLang="zh-TW" sz="1400" dirty="0"/>
              <a:t>和</a:t>
            </a:r>
            <a:r>
              <a:rPr lang="en-US" altLang="zh-TW" sz="1400" dirty="0"/>
              <a:t> </a:t>
            </a:r>
            <a:r>
              <a:rPr lang="en-US" altLang="zh-TW" sz="1400" dirty="0" err="1"/>
              <a:t>v_equipment_full</a:t>
            </a:r>
            <a:endParaRPr lang="zh-TW" altLang="zh-TW" sz="1400" dirty="0"/>
          </a:p>
        </p:txBody>
      </p:sp>
      <p:grpSp>
        <p:nvGrpSpPr>
          <p:cNvPr id="4" name="群組 3">
            <a:extLst>
              <a:ext uri="{FF2B5EF4-FFF2-40B4-BE49-F238E27FC236}">
                <a16:creationId xmlns:a16="http://schemas.microsoft.com/office/drawing/2014/main" id="{465416CE-FB54-BF70-214D-A2DC93F75583}"/>
              </a:ext>
            </a:extLst>
          </p:cNvPr>
          <p:cNvGrpSpPr/>
          <p:nvPr/>
        </p:nvGrpSpPr>
        <p:grpSpPr>
          <a:xfrm>
            <a:off x="-350248" y="58141"/>
            <a:ext cx="8330466" cy="1200329"/>
            <a:chOff x="368300" y="1442660"/>
            <a:chExt cx="4722578" cy="1200329"/>
          </a:xfrm>
        </p:grpSpPr>
        <p:sp>
          <p:nvSpPr>
            <p:cNvPr id="6" name="矩形 5">
              <a:extLst>
                <a:ext uri="{FF2B5EF4-FFF2-40B4-BE49-F238E27FC236}">
                  <a16:creationId xmlns:a16="http://schemas.microsoft.com/office/drawing/2014/main" id="{A0BD881E-A637-2E42-61DD-A4420E5A49F1}"/>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7" name="文字方塊 6">
              <a:extLst>
                <a:ext uri="{FF2B5EF4-FFF2-40B4-BE49-F238E27FC236}">
                  <a16:creationId xmlns:a16="http://schemas.microsoft.com/office/drawing/2014/main" id="{AD0B03DE-ECE0-062B-8B6F-02ADE3EE4445}"/>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8</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8" name="文字方塊 7">
            <a:extLst>
              <a:ext uri="{FF2B5EF4-FFF2-40B4-BE49-F238E27FC236}">
                <a16:creationId xmlns:a16="http://schemas.microsoft.com/office/drawing/2014/main" id="{98DDE2F3-69E2-C91C-29A8-52452782D6BA}"/>
              </a:ext>
            </a:extLst>
          </p:cNvPr>
          <p:cNvSpPr txBox="1"/>
          <p:nvPr/>
        </p:nvSpPr>
        <p:spPr>
          <a:xfrm>
            <a:off x="49716" y="341381"/>
            <a:ext cx="1077794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教師、學生、管理員的權限建置</a:t>
            </a:r>
          </a:p>
        </p:txBody>
      </p:sp>
    </p:spTree>
    <p:extLst>
      <p:ext uri="{BB962C8B-B14F-4D97-AF65-F5344CB8AC3E}">
        <p14:creationId xmlns:p14="http://schemas.microsoft.com/office/powerpoint/2010/main" val="1700670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0-#ppt_w/2"/>
                                          </p:val>
                                        </p:tav>
                                        <p:tav tm="100000">
                                          <p:val>
                                            <p:strVal val="#ppt_x"/>
                                          </p:val>
                                        </p:tav>
                                      </p:tavLst>
                                    </p:anim>
                                    <p:anim calcmode="lin" valueType="num">
                                      <p:cBhvr additive="base">
                                        <p:cTn id="12"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41120-13AB-2753-24F7-48A75F3091DE}"/>
            </a:ext>
          </a:extLst>
        </p:cNvPr>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E1554550-7099-A0AB-A8A6-9A1EC420FEF4}"/>
              </a:ext>
            </a:extLst>
          </p:cNvPr>
          <p:cNvSpPr>
            <a:spLocks noGrp="1"/>
          </p:cNvSpPr>
          <p:nvPr>
            <p:ph type="body" idx="1"/>
          </p:nvPr>
        </p:nvSpPr>
        <p:spPr/>
        <p:txBody>
          <a:bodyPr/>
          <a:lstStyle/>
          <a:p>
            <a:endParaRPr lang="zh-TW" altLang="en-US" dirty="0"/>
          </a:p>
        </p:txBody>
      </p:sp>
      <p:pic>
        <p:nvPicPr>
          <p:cNvPr id="15" name="圖片 14">
            <a:extLst>
              <a:ext uri="{FF2B5EF4-FFF2-40B4-BE49-F238E27FC236}">
                <a16:creationId xmlns:a16="http://schemas.microsoft.com/office/drawing/2014/main" id="{B7B64697-C523-1DC0-2031-8F74A245802A}"/>
              </a:ext>
            </a:extLst>
          </p:cNvPr>
          <p:cNvPicPr>
            <a:picLocks noChangeAspect="1"/>
          </p:cNvPicPr>
          <p:nvPr/>
        </p:nvPicPr>
        <p:blipFill>
          <a:blip r:embed="rId2"/>
          <a:stretch>
            <a:fillRect/>
          </a:stretch>
        </p:blipFill>
        <p:spPr>
          <a:xfrm>
            <a:off x="542636" y="1825625"/>
            <a:ext cx="4551947" cy="3558264"/>
          </a:xfrm>
          <a:prstGeom prst="rect">
            <a:avLst/>
          </a:prstGeom>
        </p:spPr>
      </p:pic>
      <p:pic>
        <p:nvPicPr>
          <p:cNvPr id="5" name="圖片 4">
            <a:extLst>
              <a:ext uri="{FF2B5EF4-FFF2-40B4-BE49-F238E27FC236}">
                <a16:creationId xmlns:a16="http://schemas.microsoft.com/office/drawing/2014/main" id="{0ACB640A-B5DE-606A-8FF0-A0494811131F}"/>
              </a:ext>
            </a:extLst>
          </p:cNvPr>
          <p:cNvPicPr>
            <a:picLocks noChangeAspect="1"/>
          </p:cNvPicPr>
          <p:nvPr/>
        </p:nvPicPr>
        <p:blipFill>
          <a:blip r:embed="rId3"/>
          <a:stretch>
            <a:fillRect/>
          </a:stretch>
        </p:blipFill>
        <p:spPr>
          <a:xfrm>
            <a:off x="5273908" y="1883611"/>
            <a:ext cx="6567902" cy="1545389"/>
          </a:xfrm>
          <a:prstGeom prst="rect">
            <a:avLst/>
          </a:prstGeom>
        </p:spPr>
      </p:pic>
      <p:sp>
        <p:nvSpPr>
          <p:cNvPr id="7" name="文字方塊 6">
            <a:extLst>
              <a:ext uri="{FF2B5EF4-FFF2-40B4-BE49-F238E27FC236}">
                <a16:creationId xmlns:a16="http://schemas.microsoft.com/office/drawing/2014/main" id="{2EF0DD8B-F908-DA2D-EF82-ADD6A90045FB}"/>
              </a:ext>
            </a:extLst>
          </p:cNvPr>
          <p:cNvSpPr txBox="1"/>
          <p:nvPr/>
        </p:nvSpPr>
        <p:spPr>
          <a:xfrm>
            <a:off x="5616534" y="3765884"/>
            <a:ext cx="5737266" cy="1477328"/>
          </a:xfrm>
          <a:prstGeom prst="rect">
            <a:avLst/>
          </a:prstGeom>
          <a:noFill/>
        </p:spPr>
        <p:txBody>
          <a:bodyPr wrap="square" rtlCol="0">
            <a:spAutoFit/>
          </a:bodyPr>
          <a:lstStyle/>
          <a:p>
            <a:pPr marL="285750" indent="-285750">
              <a:buFont typeface="Arial" panose="020B0604020202020204" pitchFamily="34" charset="0"/>
              <a:buChar char="•"/>
            </a:pPr>
            <a:r>
              <a:rPr lang="zh-TW" altLang="en-US" dirty="0"/>
              <a:t>登入權限為</a:t>
            </a:r>
            <a:r>
              <a:rPr lang="en-US" altLang="zh-TW" dirty="0" err="1"/>
              <a:t>staff_user</a:t>
            </a:r>
            <a:r>
              <a:rPr lang="zh-TW" altLang="en-US" dirty="0"/>
              <a:t>的帳號</a:t>
            </a:r>
            <a:endParaRPr lang="en-US" altLang="zh-TW" dirty="0"/>
          </a:p>
          <a:p>
            <a:pPr marL="285750" indent="-285750">
              <a:buFont typeface="Arial" panose="020B0604020202020204" pitchFamily="34" charset="0"/>
              <a:buChar char="•"/>
            </a:pPr>
            <a:r>
              <a:rPr lang="zh-TW" altLang="en-US" dirty="0"/>
              <a:t>更新</a:t>
            </a:r>
            <a:r>
              <a:rPr lang="en-US" altLang="zh-TW" dirty="0"/>
              <a:t>ID=1</a:t>
            </a:r>
            <a:r>
              <a:rPr lang="zh-TW" altLang="en-US" dirty="0"/>
              <a:t>的設備狀態為報廢</a:t>
            </a:r>
            <a:endParaRPr lang="en-US" altLang="zh-TW" dirty="0"/>
          </a:p>
          <a:p>
            <a:pPr marL="285750" indent="-285750">
              <a:buFont typeface="Arial" panose="020B0604020202020204" pitchFamily="34" charset="0"/>
              <a:buChar char="•"/>
            </a:pPr>
            <a:r>
              <a:rPr lang="zh-TW" altLang="en-US" dirty="0"/>
              <a:t>因</a:t>
            </a:r>
            <a:r>
              <a:rPr lang="en-US" altLang="zh-TW" dirty="0" err="1"/>
              <a:t>staff_user</a:t>
            </a:r>
            <a:r>
              <a:rPr lang="zh-TW" altLang="en-US" dirty="0"/>
              <a:t>沒有</a:t>
            </a:r>
            <a:r>
              <a:rPr lang="en-US" altLang="zh-TW" dirty="0"/>
              <a:t>UPDATE</a:t>
            </a:r>
            <a:r>
              <a:rPr lang="zh-TW" altLang="en-US" dirty="0"/>
              <a:t>權限故失敗</a:t>
            </a:r>
            <a:endParaRPr lang="en-US" altLang="zh-TW" dirty="0"/>
          </a:p>
          <a:p>
            <a:pPr marL="285750" indent="-285750">
              <a:buFont typeface="Arial" panose="020B0604020202020204" pitchFamily="34" charset="0"/>
              <a:buChar char="•"/>
            </a:pPr>
            <a:r>
              <a:rPr lang="zh-TW" altLang="en-US" dirty="0"/>
              <a:t>僅</a:t>
            </a:r>
            <a:r>
              <a:rPr lang="en-US" altLang="zh-TW" dirty="0" err="1"/>
              <a:t>admin_user</a:t>
            </a:r>
            <a:r>
              <a:rPr lang="zh-TW" altLang="en-US" dirty="0"/>
              <a:t>可</a:t>
            </a:r>
            <a:r>
              <a:rPr lang="en-US" altLang="zh-TW" dirty="0"/>
              <a:t>UPDATE</a:t>
            </a:r>
          </a:p>
          <a:p>
            <a:pPr marL="285750" indent="-285750">
              <a:buFont typeface="Arial" panose="020B0604020202020204" pitchFamily="34" charset="0"/>
              <a:buChar char="•"/>
            </a:pPr>
            <a:r>
              <a:rPr lang="zh-TW" altLang="en-US" dirty="0"/>
              <a:t>確認權限管理成功</a:t>
            </a:r>
          </a:p>
        </p:txBody>
      </p:sp>
      <p:grpSp>
        <p:nvGrpSpPr>
          <p:cNvPr id="4" name="群組 3">
            <a:extLst>
              <a:ext uri="{FF2B5EF4-FFF2-40B4-BE49-F238E27FC236}">
                <a16:creationId xmlns:a16="http://schemas.microsoft.com/office/drawing/2014/main" id="{F80976D1-3037-835E-FA75-E5FED57653F8}"/>
              </a:ext>
            </a:extLst>
          </p:cNvPr>
          <p:cNvGrpSpPr/>
          <p:nvPr/>
        </p:nvGrpSpPr>
        <p:grpSpPr>
          <a:xfrm>
            <a:off x="-887275" y="87086"/>
            <a:ext cx="8928190" cy="1200329"/>
            <a:chOff x="368300" y="1442660"/>
            <a:chExt cx="4722578" cy="1200329"/>
          </a:xfrm>
        </p:grpSpPr>
        <p:sp>
          <p:nvSpPr>
            <p:cNvPr id="6" name="矩形 5">
              <a:extLst>
                <a:ext uri="{FF2B5EF4-FFF2-40B4-BE49-F238E27FC236}">
                  <a16:creationId xmlns:a16="http://schemas.microsoft.com/office/drawing/2014/main" id="{0B12D486-5D52-B9E2-18BC-2910FEC786AE}"/>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8" name="文字方塊 7">
              <a:extLst>
                <a:ext uri="{FF2B5EF4-FFF2-40B4-BE49-F238E27FC236}">
                  <a16:creationId xmlns:a16="http://schemas.microsoft.com/office/drawing/2014/main" id="{8F25CF12-E921-4ACC-7BA1-56AE5F86EB34}"/>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8</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9" name="文字方塊 8">
            <a:extLst>
              <a:ext uri="{FF2B5EF4-FFF2-40B4-BE49-F238E27FC236}">
                <a16:creationId xmlns:a16="http://schemas.microsoft.com/office/drawing/2014/main" id="{A458FE00-C3A1-E2A7-ACCB-75422F04529C}"/>
              </a:ext>
            </a:extLst>
          </p:cNvPr>
          <p:cNvSpPr txBox="1"/>
          <p:nvPr/>
        </p:nvSpPr>
        <p:spPr>
          <a:xfrm>
            <a:off x="458214" y="334773"/>
            <a:ext cx="758270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測試教師、學生、管理員權限</a:t>
            </a:r>
          </a:p>
        </p:txBody>
      </p:sp>
    </p:spTree>
    <p:extLst>
      <p:ext uri="{BB962C8B-B14F-4D97-AF65-F5344CB8AC3E}">
        <p14:creationId xmlns:p14="http://schemas.microsoft.com/office/powerpoint/2010/main" val="2244196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0-#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圖片 8">
            <a:extLst>
              <a:ext uri="{FF2B5EF4-FFF2-40B4-BE49-F238E27FC236}">
                <a16:creationId xmlns:a16="http://schemas.microsoft.com/office/drawing/2014/main" id="{8CBBFDAE-B9E3-7CCE-1A6E-0768D95ABCC9}"/>
              </a:ext>
            </a:extLst>
          </p:cNvPr>
          <p:cNvPicPr>
            <a:picLocks noChangeAspect="1"/>
          </p:cNvPicPr>
          <p:nvPr/>
        </p:nvPicPr>
        <p:blipFill>
          <a:blip r:embed="rId2"/>
          <a:stretch>
            <a:fillRect/>
          </a:stretch>
        </p:blipFill>
        <p:spPr>
          <a:xfrm>
            <a:off x="201358" y="993926"/>
            <a:ext cx="2292460" cy="1965605"/>
          </a:xfrm>
          <a:prstGeom prst="rect">
            <a:avLst/>
          </a:prstGeom>
        </p:spPr>
      </p:pic>
      <p:grpSp>
        <p:nvGrpSpPr>
          <p:cNvPr id="4" name="群組 3">
            <a:extLst>
              <a:ext uri="{FF2B5EF4-FFF2-40B4-BE49-F238E27FC236}">
                <a16:creationId xmlns:a16="http://schemas.microsoft.com/office/drawing/2014/main" id="{C3F1E9D0-80FF-D16E-7FA3-2763E0186484}"/>
              </a:ext>
            </a:extLst>
          </p:cNvPr>
          <p:cNvGrpSpPr/>
          <p:nvPr/>
        </p:nvGrpSpPr>
        <p:grpSpPr>
          <a:xfrm>
            <a:off x="-887275" y="87086"/>
            <a:ext cx="4886620" cy="1200329"/>
            <a:chOff x="368300" y="1442660"/>
            <a:chExt cx="4722578" cy="1200329"/>
          </a:xfrm>
        </p:grpSpPr>
        <p:sp>
          <p:nvSpPr>
            <p:cNvPr id="5" name="矩形 4">
              <a:extLst>
                <a:ext uri="{FF2B5EF4-FFF2-40B4-BE49-F238E27FC236}">
                  <a16:creationId xmlns:a16="http://schemas.microsoft.com/office/drawing/2014/main" id="{1BF2B89D-765C-B4A7-81B2-01CCA3175017}"/>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文字方塊 5">
              <a:extLst>
                <a:ext uri="{FF2B5EF4-FFF2-40B4-BE49-F238E27FC236}">
                  <a16:creationId xmlns:a16="http://schemas.microsoft.com/office/drawing/2014/main" id="{4FEF7420-DA3C-EC44-77E3-B0DD9136F0DE}"/>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9</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309DE5F0-AEB3-E043-5C3E-5257FCC7F575}"/>
              </a:ext>
            </a:extLst>
          </p:cNvPr>
          <p:cNvSpPr txBox="1"/>
          <p:nvPr/>
        </p:nvSpPr>
        <p:spPr>
          <a:xfrm>
            <a:off x="458214" y="334773"/>
            <a:ext cx="2626731"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組員心得</a:t>
            </a:r>
          </a:p>
        </p:txBody>
      </p:sp>
      <p:pic>
        <p:nvPicPr>
          <p:cNvPr id="13" name="圖片 12">
            <a:extLst>
              <a:ext uri="{FF2B5EF4-FFF2-40B4-BE49-F238E27FC236}">
                <a16:creationId xmlns:a16="http://schemas.microsoft.com/office/drawing/2014/main" id="{1C0A664E-6ADC-05DE-7B0F-09F874C5B9DB}"/>
              </a:ext>
            </a:extLst>
          </p:cNvPr>
          <p:cNvPicPr>
            <a:picLocks noChangeAspect="1"/>
          </p:cNvPicPr>
          <p:nvPr/>
        </p:nvPicPr>
        <p:blipFill>
          <a:blip r:embed="rId3"/>
          <a:stretch>
            <a:fillRect/>
          </a:stretch>
        </p:blipFill>
        <p:spPr>
          <a:xfrm>
            <a:off x="167636" y="3898470"/>
            <a:ext cx="2292460" cy="1965605"/>
          </a:xfrm>
          <a:prstGeom prst="rect">
            <a:avLst/>
          </a:prstGeom>
        </p:spPr>
      </p:pic>
      <p:sp>
        <p:nvSpPr>
          <p:cNvPr id="15" name="文字方塊 14">
            <a:extLst>
              <a:ext uri="{FF2B5EF4-FFF2-40B4-BE49-F238E27FC236}">
                <a16:creationId xmlns:a16="http://schemas.microsoft.com/office/drawing/2014/main" id="{C3160FC6-678E-8CD9-478F-D1117A6B932B}"/>
              </a:ext>
            </a:extLst>
          </p:cNvPr>
          <p:cNvSpPr txBox="1"/>
          <p:nvPr/>
        </p:nvSpPr>
        <p:spPr>
          <a:xfrm>
            <a:off x="747853" y="3059668"/>
            <a:ext cx="1132026" cy="646331"/>
          </a:xfrm>
          <a:prstGeom prst="rect">
            <a:avLst/>
          </a:prstGeom>
          <a:noFill/>
        </p:spPr>
        <p:txBody>
          <a:bodyPr wrap="square">
            <a:spAutoFit/>
          </a:bodyPr>
          <a:lstStyle/>
          <a:p>
            <a:pPr algn="ctr"/>
            <a:r>
              <a:rPr lang="en-US" altLang="zh-TW" dirty="0"/>
              <a:t>41243167</a:t>
            </a:r>
          </a:p>
          <a:p>
            <a:pPr algn="ctr"/>
            <a:r>
              <a:rPr lang="zh-TW" altLang="en-US" dirty="0"/>
              <a:t>楊芷寧</a:t>
            </a:r>
          </a:p>
        </p:txBody>
      </p:sp>
      <p:sp>
        <p:nvSpPr>
          <p:cNvPr id="16" name="文字方塊 15">
            <a:extLst>
              <a:ext uri="{FF2B5EF4-FFF2-40B4-BE49-F238E27FC236}">
                <a16:creationId xmlns:a16="http://schemas.microsoft.com/office/drawing/2014/main" id="{2D51A40C-19D9-4BA9-2D9E-35697ADE1269}"/>
              </a:ext>
            </a:extLst>
          </p:cNvPr>
          <p:cNvSpPr txBox="1"/>
          <p:nvPr/>
        </p:nvSpPr>
        <p:spPr>
          <a:xfrm>
            <a:off x="781575" y="5964212"/>
            <a:ext cx="1132026" cy="646331"/>
          </a:xfrm>
          <a:prstGeom prst="rect">
            <a:avLst/>
          </a:prstGeom>
          <a:noFill/>
        </p:spPr>
        <p:txBody>
          <a:bodyPr wrap="square">
            <a:spAutoFit/>
          </a:bodyPr>
          <a:lstStyle/>
          <a:p>
            <a:pPr algn="ctr"/>
            <a:r>
              <a:rPr lang="en-US" altLang="zh-TW" dirty="0"/>
              <a:t>41243168</a:t>
            </a:r>
            <a:r>
              <a:rPr lang="zh-TW" altLang="en-US" dirty="0"/>
              <a:t>陳有臨</a:t>
            </a:r>
            <a:endParaRPr lang="en-US" altLang="zh-TW" dirty="0"/>
          </a:p>
        </p:txBody>
      </p:sp>
      <p:sp>
        <p:nvSpPr>
          <p:cNvPr id="24" name="文字方塊 23">
            <a:extLst>
              <a:ext uri="{FF2B5EF4-FFF2-40B4-BE49-F238E27FC236}">
                <a16:creationId xmlns:a16="http://schemas.microsoft.com/office/drawing/2014/main" id="{D4698AE6-519B-159A-AA42-135FD53881B4}"/>
              </a:ext>
            </a:extLst>
          </p:cNvPr>
          <p:cNvSpPr txBox="1"/>
          <p:nvPr/>
        </p:nvSpPr>
        <p:spPr>
          <a:xfrm>
            <a:off x="1929688" y="1556240"/>
            <a:ext cx="9652712" cy="1815882"/>
          </a:xfrm>
          <a:prstGeom prst="rect">
            <a:avLst/>
          </a:prstGeom>
          <a:noFill/>
        </p:spPr>
        <p:txBody>
          <a:bodyPr wrap="square">
            <a:spAutoFit/>
          </a:bodyPr>
          <a:lstStyle/>
          <a:p>
            <a:pPr marL="304800" indent="304800" algn="just">
              <a:buNone/>
            </a:pPr>
            <a:r>
              <a:rPr lang="zh-TW" altLang="zh-TW" sz="1600" dirty="0">
                <a:effectLst/>
                <a:latin typeface="Times New Roman" panose="02020603050405020304" pitchFamily="18" charset="0"/>
                <a:ea typeface="標楷體" panose="03000509000000000000" pitchFamily="65" charset="-120"/>
                <a:cs typeface="Times New Roman" panose="02020603050405020304" pitchFamily="18" charset="0"/>
              </a:rPr>
              <a:t>透過這次的資料庫專題，我學到了很多，尤其是如何完整有序的規劃一個資料庫系統，一開始上課聽老師講有了初步的概念，但真的開始動手規劃才發現沒有那麼簡單，從系統需求到各個實體間的關聯、完整性限制、</a:t>
            </a:r>
            <a:r>
              <a:rPr lang="en-US" altLang="zh-TW" sz="1600" dirty="0">
                <a:effectLst/>
                <a:latin typeface="Times New Roman" panose="02020603050405020304" pitchFamily="18" charset="0"/>
                <a:ea typeface="標楷體" panose="03000509000000000000" pitchFamily="65" charset="-120"/>
                <a:cs typeface="標楷體" panose="03000509000000000000" pitchFamily="65" charset="-120"/>
              </a:rPr>
              <a:t>ER Diagram </a:t>
            </a:r>
            <a:r>
              <a:rPr lang="zh-TW" altLang="zh-TW" sz="1600" dirty="0">
                <a:effectLst/>
                <a:latin typeface="Times New Roman" panose="02020603050405020304" pitchFamily="18" charset="0"/>
                <a:ea typeface="標楷體" panose="03000509000000000000" pitchFamily="65" charset="-120"/>
                <a:cs typeface="Times New Roman" panose="02020603050405020304" pitchFamily="18" charset="0"/>
              </a:rPr>
              <a:t>繪製等都有很多要注意的地方，印象深刻的是我們一直在討論、修改，到後來吸取老師給的建議才慢慢釐清各項細節，在這過程中我感覺自己越來越知道資料庫系統在做甚麼，以至於到後來有業師來上課介紹</a:t>
            </a:r>
            <a:r>
              <a:rPr lang="en-US" altLang="zh-TW" sz="1600" dirty="0">
                <a:effectLst/>
                <a:latin typeface="Times New Roman" panose="02020603050405020304" pitchFamily="18" charset="0"/>
                <a:ea typeface="標楷體" panose="03000509000000000000" pitchFamily="65" charset="-120"/>
                <a:cs typeface="標楷體" panose="03000509000000000000" pitchFamily="65" charset="-120"/>
              </a:rPr>
              <a:t>Mongo DB</a:t>
            </a:r>
            <a:r>
              <a:rPr lang="zh-TW" altLang="zh-TW" sz="1600" dirty="0">
                <a:effectLst/>
                <a:latin typeface="Times New Roman" panose="02020603050405020304" pitchFamily="18" charset="0"/>
                <a:ea typeface="標楷體" panose="03000509000000000000" pitchFamily="65" charset="-120"/>
                <a:cs typeface="Times New Roman" panose="02020603050405020304" pitchFamily="18" charset="0"/>
              </a:rPr>
              <a:t>時，可以真的體會到他跟傳統關聯式資料庫在資料儲存方式與架構設計上的差異，也讓我對不同資料庫技術的應用有更深入的理解。這次專題不僅提升了我的資料庫設計能力，也讓我累積了團隊合作與問題分析的經驗，對未來學習相關技術亦有很大的幫助。</a:t>
            </a:r>
            <a:endParaRPr lang="zh-TW" altLang="zh-TW" sz="1600" dirty="0">
              <a:effectLst/>
              <a:latin typeface="標楷體" panose="03000509000000000000" pitchFamily="65" charset="-120"/>
              <a:ea typeface="標楷體" panose="03000509000000000000" pitchFamily="65" charset="-120"/>
              <a:cs typeface="標楷體" panose="03000509000000000000" pitchFamily="65" charset="-120"/>
            </a:endParaRPr>
          </a:p>
        </p:txBody>
      </p:sp>
      <p:sp>
        <p:nvSpPr>
          <p:cNvPr id="30" name="文字方塊 29">
            <a:extLst>
              <a:ext uri="{FF2B5EF4-FFF2-40B4-BE49-F238E27FC236}">
                <a16:creationId xmlns:a16="http://schemas.microsoft.com/office/drawing/2014/main" id="{247C2948-61E7-F9B9-15A3-9EA06F5BC357}"/>
              </a:ext>
            </a:extLst>
          </p:cNvPr>
          <p:cNvSpPr txBox="1"/>
          <p:nvPr/>
        </p:nvSpPr>
        <p:spPr>
          <a:xfrm>
            <a:off x="1913601" y="3863834"/>
            <a:ext cx="10025793" cy="2862322"/>
          </a:xfrm>
          <a:prstGeom prst="rect">
            <a:avLst/>
          </a:prstGeom>
          <a:noFill/>
        </p:spPr>
        <p:txBody>
          <a:bodyPr wrap="square">
            <a:spAutoFit/>
          </a:bodyPr>
          <a:lstStyle/>
          <a:p>
            <a:pPr marL="270510" algn="just">
              <a:buNone/>
            </a:pPr>
            <a:r>
              <a:rPr lang="zh-TW" altLang="zh-TW" sz="1500" dirty="0">
                <a:effectLst/>
                <a:latin typeface="標楷體" panose="03000509000000000000" pitchFamily="65" charset="-120"/>
                <a:ea typeface="標楷體" panose="03000509000000000000" pitchFamily="65" charset="-120"/>
                <a:cs typeface="標楷體" panose="03000509000000000000" pitchFamily="65" charset="-120"/>
              </a:rPr>
              <a:t>修完這門「資料庫系統」，我深刻體會到這門課所蘊含的龐大知識量與邏輯嚴密性。坦白說，期中考的表現並沒有達到我對自己的標準，面對不盡理想的成績，我曾感到相當挫折。然而，這樣的打擊也宛如一記當頭棒喝，讓我重新審視自己對關聯式核心理論的掌握度。我深知資料庫是所有資訊系統的地基，因此在學期後半段，我將這份挫折轉化為實踐的動力，將所有的學習重心投入到「資工系設備管理與維護系統」的期末專案中。</a:t>
            </a:r>
          </a:p>
          <a:p>
            <a:pPr marL="270510" algn="just">
              <a:buNone/>
            </a:pPr>
            <a:r>
              <a:rPr lang="zh-TW" altLang="zh-TW" sz="1500" dirty="0">
                <a:effectLst/>
                <a:latin typeface="標楷體" panose="03000509000000000000" pitchFamily="65" charset="-120"/>
                <a:ea typeface="標楷體" panose="03000509000000000000" pitchFamily="65" charset="-120"/>
                <a:cs typeface="標楷體" panose="03000509000000000000" pitchFamily="65" charset="-120"/>
              </a:rPr>
              <a:t>在專案開發的過程中，從前期的需求分析、</a:t>
            </a:r>
            <a:r>
              <a:rPr lang="en-US" altLang="zh-TW" sz="1500" dirty="0">
                <a:effectLst/>
                <a:latin typeface="標楷體" panose="03000509000000000000" pitchFamily="65" charset="-120"/>
                <a:ea typeface="標楷體" panose="03000509000000000000" pitchFamily="65" charset="-120"/>
                <a:cs typeface="標楷體" panose="03000509000000000000" pitchFamily="65" charset="-120"/>
              </a:rPr>
              <a:t>ER Diagram </a:t>
            </a:r>
            <a:r>
              <a:rPr lang="zh-TW" altLang="zh-TW" sz="1500" dirty="0">
                <a:effectLst/>
                <a:latin typeface="標楷體" panose="03000509000000000000" pitchFamily="65" charset="-120"/>
                <a:ea typeface="標楷體" panose="03000509000000000000" pitchFamily="65" charset="-120"/>
                <a:cs typeface="標楷體" panose="03000509000000000000" pitchFamily="65" charset="-120"/>
              </a:rPr>
              <a:t>實體關聯圖的繪製，到最終建置出具備嚴謹完整性限制的資料表，每一個步驟都需要極為縝密的理性思維。要將系上龐雜的設備生命週期、借用審核流程以及</a:t>
            </a:r>
            <a:r>
              <a:rPr lang="en-US" altLang="zh-TW" sz="1500" dirty="0">
                <a:effectLst/>
                <a:latin typeface="標楷體" panose="03000509000000000000" pitchFamily="65" charset="-120"/>
                <a:ea typeface="標楷體" panose="03000509000000000000" pitchFamily="65" charset="-120"/>
                <a:cs typeface="標楷體" panose="03000509000000000000" pitchFamily="65" charset="-120"/>
              </a:rPr>
              <a:t> SSO </a:t>
            </a:r>
            <a:r>
              <a:rPr lang="zh-TW" altLang="zh-TW" sz="1500" dirty="0">
                <a:effectLst/>
                <a:latin typeface="標楷體" panose="03000509000000000000" pitchFamily="65" charset="-120"/>
                <a:ea typeface="標楷體" panose="03000509000000000000" pitchFamily="65" charset="-120"/>
                <a:cs typeface="標楷體" panose="03000509000000000000" pitchFamily="65" charset="-120"/>
              </a:rPr>
              <a:t>登入邏輯，對我們來說是一次極具挑戰性的腦力激盪。當然，以對架構設計的嚴格標準來看，這份專案距離無懈可擊的理想境界仍有些許落差。還有許多未能盡善盡美的優化空間。但在老師課堂上的提點與悉心指導下，我們團隊依然一步步釐清了邏輯上的盲點，成功完成了這套系統的完整雛形，落實了從理論走到實務的關鍵一步。這次的課程與專案不僅印證了書本上的生硬理論，更為我未來規劃大型軟體架構時，奠定了極為扎實的思維基礎。雖然期中考的失利是我這學期的一大遺憾，但我相信在期末專案中所投入的無數個日夜，以及過程中展現出的實作成果與進步幅度，已經讓我真正吸收了這門課的精華。</a:t>
            </a:r>
          </a:p>
        </p:txBody>
      </p:sp>
    </p:spTree>
    <p:extLst>
      <p:ext uri="{BB962C8B-B14F-4D97-AF65-F5344CB8AC3E}">
        <p14:creationId xmlns:p14="http://schemas.microsoft.com/office/powerpoint/2010/main" val="809606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圖片 16">
            <a:extLst>
              <a:ext uri="{FF2B5EF4-FFF2-40B4-BE49-F238E27FC236}">
                <a16:creationId xmlns:a16="http://schemas.microsoft.com/office/drawing/2014/main" id="{63D03116-3BD3-BE23-20E0-71FDBB15741C}"/>
              </a:ext>
            </a:extLst>
          </p:cNvPr>
          <p:cNvPicPr>
            <a:picLocks noChangeAspect="1"/>
          </p:cNvPicPr>
          <p:nvPr/>
        </p:nvPicPr>
        <p:blipFill>
          <a:blip r:embed="rId2"/>
          <a:stretch>
            <a:fillRect/>
          </a:stretch>
        </p:blipFill>
        <p:spPr>
          <a:xfrm>
            <a:off x="384324" y="3885647"/>
            <a:ext cx="2292460" cy="1965605"/>
          </a:xfrm>
          <a:prstGeom prst="rect">
            <a:avLst/>
          </a:prstGeom>
        </p:spPr>
      </p:pic>
      <p:pic>
        <p:nvPicPr>
          <p:cNvPr id="18" name="圖片 17">
            <a:extLst>
              <a:ext uri="{FF2B5EF4-FFF2-40B4-BE49-F238E27FC236}">
                <a16:creationId xmlns:a16="http://schemas.microsoft.com/office/drawing/2014/main" id="{5CF16F68-5BA4-E2A3-D7EF-BB88F15D855B}"/>
              </a:ext>
            </a:extLst>
          </p:cNvPr>
          <p:cNvPicPr>
            <a:picLocks noChangeAspect="1"/>
          </p:cNvPicPr>
          <p:nvPr/>
        </p:nvPicPr>
        <p:blipFill>
          <a:blip r:embed="rId3"/>
          <a:stretch>
            <a:fillRect/>
          </a:stretch>
        </p:blipFill>
        <p:spPr>
          <a:xfrm>
            <a:off x="384324" y="981104"/>
            <a:ext cx="2292460" cy="1965605"/>
          </a:xfrm>
          <a:prstGeom prst="rect">
            <a:avLst/>
          </a:prstGeom>
        </p:spPr>
      </p:pic>
      <p:sp>
        <p:nvSpPr>
          <p:cNvPr id="19" name="文字方塊 18">
            <a:extLst>
              <a:ext uri="{FF2B5EF4-FFF2-40B4-BE49-F238E27FC236}">
                <a16:creationId xmlns:a16="http://schemas.microsoft.com/office/drawing/2014/main" id="{4865702D-11B9-926B-DFE0-C93BB650E579}"/>
              </a:ext>
            </a:extLst>
          </p:cNvPr>
          <p:cNvSpPr txBox="1"/>
          <p:nvPr/>
        </p:nvSpPr>
        <p:spPr>
          <a:xfrm>
            <a:off x="964541" y="3046846"/>
            <a:ext cx="1132026" cy="646331"/>
          </a:xfrm>
          <a:prstGeom prst="rect">
            <a:avLst/>
          </a:prstGeom>
          <a:noFill/>
        </p:spPr>
        <p:txBody>
          <a:bodyPr wrap="square">
            <a:spAutoFit/>
          </a:bodyPr>
          <a:lstStyle/>
          <a:p>
            <a:pPr algn="ctr"/>
            <a:r>
              <a:rPr lang="en-US" altLang="zh-TW" dirty="0"/>
              <a:t>41243260</a:t>
            </a:r>
            <a:r>
              <a:rPr lang="zh-TW" altLang="en-US" dirty="0"/>
              <a:t>蕭文成</a:t>
            </a:r>
          </a:p>
        </p:txBody>
      </p:sp>
      <p:sp>
        <p:nvSpPr>
          <p:cNvPr id="20" name="文字方塊 19">
            <a:extLst>
              <a:ext uri="{FF2B5EF4-FFF2-40B4-BE49-F238E27FC236}">
                <a16:creationId xmlns:a16="http://schemas.microsoft.com/office/drawing/2014/main" id="{1B12DF4C-A785-075A-74A7-C35AA4863F99}"/>
              </a:ext>
            </a:extLst>
          </p:cNvPr>
          <p:cNvSpPr txBox="1"/>
          <p:nvPr/>
        </p:nvSpPr>
        <p:spPr>
          <a:xfrm>
            <a:off x="998263" y="5951390"/>
            <a:ext cx="1132026" cy="646331"/>
          </a:xfrm>
          <a:prstGeom prst="rect">
            <a:avLst/>
          </a:prstGeom>
          <a:noFill/>
        </p:spPr>
        <p:txBody>
          <a:bodyPr wrap="square">
            <a:spAutoFit/>
          </a:bodyPr>
          <a:lstStyle/>
          <a:p>
            <a:pPr algn="ctr"/>
            <a:r>
              <a:rPr lang="en-US" altLang="zh-TW" dirty="0"/>
              <a:t>41243169</a:t>
            </a:r>
          </a:p>
          <a:p>
            <a:pPr algn="ctr"/>
            <a:r>
              <a:rPr lang="zh-TW" altLang="en-US" dirty="0"/>
              <a:t>宋沛玲</a:t>
            </a:r>
          </a:p>
        </p:txBody>
      </p:sp>
      <p:grpSp>
        <p:nvGrpSpPr>
          <p:cNvPr id="4" name="群組 3">
            <a:extLst>
              <a:ext uri="{FF2B5EF4-FFF2-40B4-BE49-F238E27FC236}">
                <a16:creationId xmlns:a16="http://schemas.microsoft.com/office/drawing/2014/main" id="{BA4CB7AA-C7D4-9407-9454-851AFBD31E8B}"/>
              </a:ext>
            </a:extLst>
          </p:cNvPr>
          <p:cNvGrpSpPr/>
          <p:nvPr/>
        </p:nvGrpSpPr>
        <p:grpSpPr>
          <a:xfrm>
            <a:off x="-887275" y="87086"/>
            <a:ext cx="4886620" cy="1200329"/>
            <a:chOff x="368300" y="1442660"/>
            <a:chExt cx="4722578" cy="1200329"/>
          </a:xfrm>
        </p:grpSpPr>
        <p:sp>
          <p:nvSpPr>
            <p:cNvPr id="5" name="矩形 4">
              <a:extLst>
                <a:ext uri="{FF2B5EF4-FFF2-40B4-BE49-F238E27FC236}">
                  <a16:creationId xmlns:a16="http://schemas.microsoft.com/office/drawing/2014/main" id="{9EDF55EA-3322-F612-360D-74133E5ADB21}"/>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6" name="文字方塊 5">
              <a:extLst>
                <a:ext uri="{FF2B5EF4-FFF2-40B4-BE49-F238E27FC236}">
                  <a16:creationId xmlns:a16="http://schemas.microsoft.com/office/drawing/2014/main" id="{385ABA10-04A0-89DA-302D-9F2F0D7C372C}"/>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9</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7" name="文字方塊 6">
            <a:extLst>
              <a:ext uri="{FF2B5EF4-FFF2-40B4-BE49-F238E27FC236}">
                <a16:creationId xmlns:a16="http://schemas.microsoft.com/office/drawing/2014/main" id="{3EB9C8A6-D02F-C7B5-A6AB-126E66EF9D94}"/>
              </a:ext>
            </a:extLst>
          </p:cNvPr>
          <p:cNvSpPr txBox="1"/>
          <p:nvPr/>
        </p:nvSpPr>
        <p:spPr>
          <a:xfrm>
            <a:off x="396668" y="321951"/>
            <a:ext cx="2725223"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組員心得</a:t>
            </a:r>
          </a:p>
        </p:txBody>
      </p:sp>
      <p:sp>
        <p:nvSpPr>
          <p:cNvPr id="9" name="文字方塊 8">
            <a:extLst>
              <a:ext uri="{FF2B5EF4-FFF2-40B4-BE49-F238E27FC236}">
                <a16:creationId xmlns:a16="http://schemas.microsoft.com/office/drawing/2014/main" id="{2F0B320D-8773-179C-F272-BCC4A617451E}"/>
              </a:ext>
            </a:extLst>
          </p:cNvPr>
          <p:cNvSpPr txBox="1"/>
          <p:nvPr/>
        </p:nvSpPr>
        <p:spPr>
          <a:xfrm>
            <a:off x="2336800" y="1390924"/>
            <a:ext cx="9424694" cy="2605842"/>
          </a:xfrm>
          <a:prstGeom prst="rect">
            <a:avLst/>
          </a:prstGeom>
          <a:noFill/>
        </p:spPr>
        <p:txBody>
          <a:bodyPr wrap="square">
            <a:spAutoFit/>
          </a:bodyPr>
          <a:lstStyle/>
          <a:p>
            <a:pPr marL="270510" indent="304800">
              <a:spcBef>
                <a:spcPts val="200"/>
              </a:spcBef>
              <a:spcAft>
                <a:spcPts val="200"/>
              </a:spcAft>
              <a:buNone/>
            </a:pPr>
            <a:r>
              <a:rPr lang="zh-TW" altLang="zh-TW" sz="1600" dirty="0">
                <a:effectLst/>
                <a:latin typeface="標楷體" panose="03000509000000000000" pitchFamily="65" charset="-120"/>
                <a:ea typeface="標楷體" panose="03000509000000000000" pitchFamily="65" charset="-120"/>
                <a:cs typeface="標楷體" panose="03000509000000000000" pitchFamily="65" charset="-120"/>
              </a:rPr>
              <a:t>這學期透過資料庫系統的期末專題，讓我完整走過一個系統從無到有的設計流程。以前學資料庫都是直接下</a:t>
            </a:r>
            <a:r>
              <a:rPr lang="en-US" altLang="zh-TW" sz="1600" dirty="0">
                <a:effectLst/>
                <a:latin typeface="標楷體" panose="03000509000000000000" pitchFamily="65" charset="-120"/>
                <a:ea typeface="標楷體" panose="03000509000000000000" pitchFamily="65" charset="-120"/>
                <a:cs typeface="標楷體" panose="03000509000000000000" pitchFamily="65" charset="-120"/>
              </a:rPr>
              <a:t> SQL</a:t>
            </a:r>
            <a:r>
              <a:rPr lang="zh-TW" altLang="zh-TW" sz="1600" dirty="0">
                <a:effectLst/>
                <a:latin typeface="標楷體" panose="03000509000000000000" pitchFamily="65" charset="-120"/>
                <a:ea typeface="標楷體" panose="03000509000000000000" pitchFamily="65" charset="-120"/>
                <a:cs typeface="標楷體" panose="03000509000000000000" pitchFamily="65" charset="-120"/>
              </a:rPr>
              <a:t>，從來沒有想過在寫程式之前要先規劃</a:t>
            </a:r>
            <a:r>
              <a:rPr lang="en-US" altLang="zh-TW" sz="1600" dirty="0">
                <a:effectLst/>
                <a:latin typeface="標楷體" panose="03000509000000000000" pitchFamily="65" charset="-120"/>
                <a:ea typeface="標楷體" panose="03000509000000000000" pitchFamily="65" charset="-120"/>
                <a:cs typeface="標楷體" panose="03000509000000000000" pitchFamily="65" charset="-120"/>
              </a:rPr>
              <a:t> ER Diagram</a:t>
            </a:r>
            <a:r>
              <a:rPr lang="zh-TW" altLang="zh-TW" sz="1600" dirty="0">
                <a:effectLst/>
                <a:latin typeface="標楷體" panose="03000509000000000000" pitchFamily="65" charset="-120"/>
                <a:ea typeface="標楷體" panose="03000509000000000000" pitchFamily="65" charset="-120"/>
                <a:cs typeface="標楷體" panose="03000509000000000000" pitchFamily="65" charset="-120"/>
              </a:rPr>
              <a:t>、定義完整性限制、再決定資料表怎麼設計，雖然在建置前確實麻煩許多，但建置完後遇到的</a:t>
            </a:r>
            <a:r>
              <a:rPr lang="en-US" altLang="zh-TW" sz="1600" dirty="0">
                <a:effectLst/>
                <a:latin typeface="標楷體" panose="03000509000000000000" pitchFamily="65" charset="-120"/>
                <a:ea typeface="標楷體" panose="03000509000000000000" pitchFamily="65" charset="-120"/>
                <a:cs typeface="標楷體" panose="03000509000000000000" pitchFamily="65" charset="-120"/>
              </a:rPr>
              <a:t>BUG</a:t>
            </a:r>
            <a:r>
              <a:rPr lang="zh-TW" altLang="zh-TW" sz="1600" dirty="0">
                <a:effectLst/>
                <a:latin typeface="標楷體" panose="03000509000000000000" pitchFamily="65" charset="-120"/>
                <a:ea typeface="標楷體" panose="03000509000000000000" pitchFamily="65" charset="-120"/>
                <a:cs typeface="標楷體" panose="03000509000000000000" pitchFamily="65" charset="-120"/>
              </a:rPr>
              <a:t>確實比較少，以往也只覺得資料庫只需要負責儲存資料就好，資料限制等只需要給應用端處理就行，但這次透過這堂課讓我學到，可在資料庫就進行管理，減輕應用端的負擔。此外專題也讓我理解到，前期的規劃比寫程式本身更重要，如果一開始設計不好，後面改起來會很麻煩。實作過程中讓我印象最深的是外鍵和</a:t>
            </a:r>
            <a:r>
              <a:rPr lang="en-US" altLang="zh-TW" sz="1600" dirty="0">
                <a:effectLst/>
                <a:latin typeface="標楷體" panose="03000509000000000000" pitchFamily="65" charset="-120"/>
                <a:ea typeface="標楷體" panose="03000509000000000000" pitchFamily="65" charset="-120"/>
                <a:cs typeface="標楷體" panose="03000509000000000000" pitchFamily="65" charset="-120"/>
              </a:rPr>
              <a:t> CHECK </a:t>
            </a:r>
            <a:r>
              <a:rPr lang="zh-TW" altLang="zh-TW" sz="1600" dirty="0">
                <a:effectLst/>
                <a:latin typeface="標楷體" panose="03000509000000000000" pitchFamily="65" charset="-120"/>
                <a:ea typeface="標楷體" panose="03000509000000000000" pitchFamily="65" charset="-120"/>
                <a:cs typeface="標楷體" panose="03000509000000000000" pitchFamily="65" charset="-120"/>
              </a:rPr>
              <a:t>限制的部分。一開始只覺得加上去就好，但實際測試的時候看到系統自動擋掉不合法的資料，才真正體會到完整性限制的意義。另外在設計使用者權限的時候，也讓我理解到三層架構裡「外部層」的概念，不同角色透過</a:t>
            </a:r>
            <a:r>
              <a:rPr lang="en-US" altLang="zh-TW" sz="1600" dirty="0">
                <a:effectLst/>
                <a:latin typeface="標楷體" panose="03000509000000000000" pitchFamily="65" charset="-120"/>
                <a:ea typeface="標楷體" panose="03000509000000000000" pitchFamily="65" charset="-120"/>
                <a:cs typeface="標楷體" panose="03000509000000000000" pitchFamily="65" charset="-120"/>
              </a:rPr>
              <a:t> View </a:t>
            </a:r>
            <a:r>
              <a:rPr lang="zh-TW" altLang="zh-TW" sz="1600" dirty="0">
                <a:effectLst/>
                <a:latin typeface="標楷體" panose="03000509000000000000" pitchFamily="65" charset="-120"/>
                <a:ea typeface="標楷體" panose="03000509000000000000" pitchFamily="65" charset="-120"/>
                <a:cs typeface="標楷體" panose="03000509000000000000" pitchFamily="65" charset="-120"/>
              </a:rPr>
              <a:t>看到不同的資料，這跟課本上講的是同一件事，但實際做出來才有感覺。</a:t>
            </a:r>
          </a:p>
          <a:p>
            <a:pPr>
              <a:spcBef>
                <a:spcPts val="200"/>
              </a:spcBef>
              <a:spcAft>
                <a:spcPts val="200"/>
              </a:spcAft>
              <a:buNone/>
            </a:pPr>
            <a:r>
              <a:rPr lang="en-US" altLang="zh-TW" sz="1600" dirty="0">
                <a:effectLst/>
                <a:latin typeface="標楷體" panose="03000509000000000000" pitchFamily="65" charset="-120"/>
                <a:ea typeface="標楷體" panose="03000509000000000000" pitchFamily="65" charset="-120"/>
                <a:cs typeface="標楷體" panose="03000509000000000000" pitchFamily="65" charset="-120"/>
              </a:rPr>
              <a:t> </a:t>
            </a:r>
            <a:endParaRPr lang="zh-TW" altLang="zh-TW" sz="1600" dirty="0">
              <a:effectLst/>
              <a:latin typeface="標楷體" panose="03000509000000000000" pitchFamily="65" charset="-120"/>
              <a:ea typeface="標楷體" panose="03000509000000000000" pitchFamily="65" charset="-120"/>
              <a:cs typeface="標楷體" panose="03000509000000000000" pitchFamily="65" charset="-120"/>
            </a:endParaRPr>
          </a:p>
        </p:txBody>
      </p:sp>
      <p:sp>
        <p:nvSpPr>
          <p:cNvPr id="11" name="文字方塊 10">
            <a:extLst>
              <a:ext uri="{FF2B5EF4-FFF2-40B4-BE49-F238E27FC236}">
                <a16:creationId xmlns:a16="http://schemas.microsoft.com/office/drawing/2014/main" id="{2E1304CF-77A0-A1CE-62C0-1AA32373F7AB}"/>
              </a:ext>
            </a:extLst>
          </p:cNvPr>
          <p:cNvSpPr txBox="1"/>
          <p:nvPr/>
        </p:nvSpPr>
        <p:spPr>
          <a:xfrm>
            <a:off x="2290618" y="4419408"/>
            <a:ext cx="9517058" cy="1569660"/>
          </a:xfrm>
          <a:prstGeom prst="rect">
            <a:avLst/>
          </a:prstGeom>
          <a:noFill/>
        </p:spPr>
        <p:txBody>
          <a:bodyPr wrap="square">
            <a:spAutoFit/>
          </a:bodyPr>
          <a:lstStyle/>
          <a:p>
            <a:pPr marL="270510" indent="304800" algn="just">
              <a:buNone/>
            </a:pPr>
            <a:r>
              <a:rPr lang="zh-TW" altLang="zh-TW" sz="1600" dirty="0">
                <a:effectLst/>
                <a:latin typeface="Times New Roman" panose="02020603050405020304" pitchFamily="18" charset="0"/>
                <a:ea typeface="標楷體" panose="03000509000000000000" pitchFamily="65" charset="-120"/>
                <a:cs typeface="Times New Roman" panose="02020603050405020304" pitchFamily="18" charset="0"/>
              </a:rPr>
              <a:t>資料庫系統這門課程，對我來說是充滿挑戰卻也收穫滿滿的課程。這次參與「資工系設備管理與維護系統」的期末專題，是我第一次學習到如何從無到有的做一項資料庫專題，並且知識不是只有在課本及</a:t>
            </a:r>
            <a:r>
              <a:rPr lang="en-US" altLang="zh-TW" sz="1600" dirty="0">
                <a:effectLst/>
                <a:latin typeface="Times New Roman" panose="02020603050405020304" pitchFamily="18" charset="0"/>
                <a:ea typeface="標楷體" panose="03000509000000000000" pitchFamily="65" charset="-120"/>
                <a:cs typeface="標楷體" panose="03000509000000000000" pitchFamily="65" charset="-120"/>
              </a:rPr>
              <a:t>ppt</a:t>
            </a:r>
            <a:r>
              <a:rPr lang="zh-TW" altLang="zh-TW" sz="1600" dirty="0">
                <a:effectLst/>
                <a:latin typeface="Times New Roman" panose="02020603050405020304" pitchFamily="18" charset="0"/>
                <a:ea typeface="標楷體" panose="03000509000000000000" pitchFamily="65" charset="-120"/>
                <a:cs typeface="Times New Roman" panose="02020603050405020304" pitchFamily="18" charset="0"/>
              </a:rPr>
              <a:t>上而是真實運用到實作上的。從一開始的前期慢慢梳理系上設備的實際管理需求，先規劃出實體表還要繪製成</a:t>
            </a:r>
            <a:r>
              <a:rPr lang="en-US" altLang="zh-TW" sz="1600" dirty="0">
                <a:effectLst/>
                <a:latin typeface="Times New Roman" panose="02020603050405020304" pitchFamily="18" charset="0"/>
                <a:ea typeface="標楷體" panose="03000509000000000000" pitchFamily="65" charset="-120"/>
                <a:cs typeface="標楷體" panose="03000509000000000000" pitchFamily="65" charset="-120"/>
              </a:rPr>
              <a:t> ER Diagram</a:t>
            </a:r>
            <a:r>
              <a:rPr lang="zh-TW" altLang="zh-TW" sz="1600" dirty="0">
                <a:effectLst/>
                <a:latin typeface="Times New Roman" panose="02020603050405020304" pitchFamily="18" charset="0"/>
                <a:ea typeface="標楷體" panose="03000509000000000000" pitchFamily="65" charset="-120"/>
                <a:cs typeface="Times New Roman" panose="02020603050405020304" pitchFamily="18" charset="0"/>
              </a:rPr>
              <a:t>，還要根據可能發生的情況來設計完整性限制，這種將資料一步一步結構化的詳細過程，都是之前在其他課學不到的。跟組員間的合作也讓我學到原來可以用學校</a:t>
            </a:r>
            <a:r>
              <a:rPr lang="en-US" altLang="zh-TW" sz="1600" dirty="0">
                <a:effectLst/>
                <a:latin typeface="Times New Roman" panose="02020603050405020304" pitchFamily="18" charset="0"/>
                <a:ea typeface="標楷體" panose="03000509000000000000" pitchFamily="65" charset="-120"/>
                <a:cs typeface="標楷體" panose="03000509000000000000" pitchFamily="65" charset="-120"/>
              </a:rPr>
              <a:t>SSO</a:t>
            </a:r>
            <a:r>
              <a:rPr lang="zh-TW" altLang="zh-TW" sz="1600" dirty="0">
                <a:effectLst/>
                <a:latin typeface="Times New Roman" panose="02020603050405020304" pitchFamily="18" charset="0"/>
                <a:ea typeface="標楷體" panose="03000509000000000000" pitchFamily="65" charset="-120"/>
                <a:cs typeface="Times New Roman" panose="02020603050405020304" pitchFamily="18" charset="0"/>
              </a:rPr>
              <a:t>驗證讓學校負責密碼驗證。</a:t>
            </a:r>
            <a:r>
              <a:rPr lang="en-US" altLang="zh-TW" sz="1600" dirty="0">
                <a:effectLst/>
                <a:latin typeface="Times New Roman" panose="02020603050405020304" pitchFamily="18" charset="0"/>
                <a:ea typeface="標楷體" panose="03000509000000000000" pitchFamily="65" charset="-120"/>
                <a:cs typeface="標楷體" panose="03000509000000000000" pitchFamily="65" charset="-120"/>
              </a:rPr>
              <a:t>	</a:t>
            </a:r>
            <a:endParaRPr lang="zh-TW" altLang="zh-TW" sz="1600" dirty="0">
              <a:effectLst/>
              <a:latin typeface="標楷體" panose="03000509000000000000" pitchFamily="65" charset="-120"/>
              <a:ea typeface="標楷體" panose="03000509000000000000" pitchFamily="65" charset="-120"/>
              <a:cs typeface="標楷體" panose="03000509000000000000" pitchFamily="65" charset="-120"/>
            </a:endParaRPr>
          </a:p>
        </p:txBody>
      </p:sp>
    </p:spTree>
    <p:extLst>
      <p:ext uri="{BB962C8B-B14F-4D97-AF65-F5344CB8AC3E}">
        <p14:creationId xmlns:p14="http://schemas.microsoft.com/office/powerpoint/2010/main" val="82403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版面配置區 2">
            <a:extLst>
              <a:ext uri="{FF2B5EF4-FFF2-40B4-BE49-F238E27FC236}">
                <a16:creationId xmlns:a16="http://schemas.microsoft.com/office/drawing/2014/main" id="{2A58201F-6BF6-4823-AAB0-868CC4BDD659}"/>
              </a:ext>
            </a:extLst>
          </p:cNvPr>
          <p:cNvSpPr>
            <a:spLocks noGrp="1"/>
          </p:cNvSpPr>
          <p:nvPr>
            <p:ph type="body" idx="1"/>
          </p:nvPr>
        </p:nvSpPr>
        <p:spPr>
          <a:xfrm>
            <a:off x="838200" y="1995622"/>
            <a:ext cx="10515600" cy="4351338"/>
          </a:xfrm>
        </p:spPr>
        <p:txBody>
          <a:bodyPr>
            <a:normAutofit fontScale="92500"/>
          </a:bodyPr>
          <a:lstStyle/>
          <a:p>
            <a:r>
              <a:rPr lang="en-US" altLang="zh-TW" dirty="0"/>
              <a:t>[1] </a:t>
            </a:r>
            <a:r>
              <a:rPr lang="zh-TW" altLang="zh-TW" dirty="0"/>
              <a:t>陳方周</a:t>
            </a:r>
            <a:r>
              <a:rPr lang="en-US" altLang="zh-TW" dirty="0"/>
              <a:t>, "</a:t>
            </a:r>
            <a:r>
              <a:rPr lang="zh-TW" altLang="zh-TW" dirty="0"/>
              <a:t>系設備報修系統需求文件</a:t>
            </a:r>
            <a:r>
              <a:rPr lang="en-US" altLang="zh-TW" dirty="0"/>
              <a:t>," </a:t>
            </a:r>
            <a:r>
              <a:rPr lang="en-US" altLang="zh-TW" i="1" dirty="0"/>
              <a:t>fgchen.com</a:t>
            </a:r>
            <a:r>
              <a:rPr lang="en-US" altLang="zh-TW" dirty="0"/>
              <a:t>, 2024</a:t>
            </a:r>
            <a:r>
              <a:rPr lang="zh-TW" altLang="zh-TW" dirty="0"/>
              <a:t>年</a:t>
            </a:r>
            <a:r>
              <a:rPr lang="en-US" altLang="zh-TW" dirty="0"/>
              <a:t>7</a:t>
            </a:r>
            <a:r>
              <a:rPr lang="zh-TW" altLang="zh-TW" dirty="0"/>
              <a:t>月</a:t>
            </a:r>
            <a:r>
              <a:rPr lang="en-US" altLang="zh-TW" dirty="0"/>
              <a:t>. [Online]. Available: </a:t>
            </a:r>
            <a:r>
              <a:rPr lang="en-US" altLang="zh-TW" u="sng" dirty="0">
                <a:hlinkClick r:id="rId2"/>
              </a:rPr>
              <a:t>https://fgchen.com/wpedu/2024/07/%E7%B3%BB%E8%A8%AD%E5%82%99%E5%A0%B1%E4%BF%AE%E7%B3%BB%E7%B5%B1%E9%9C%80%E6%B1%82%E6%96%87%E4%BB%B6/</a:t>
            </a:r>
            <a:endParaRPr lang="zh-TW" altLang="zh-TW" dirty="0"/>
          </a:p>
          <a:p>
            <a:r>
              <a:rPr lang="en-US" altLang="zh-TW" dirty="0"/>
              <a:t>[2] "</a:t>
            </a:r>
            <a:r>
              <a:rPr lang="zh-TW" altLang="zh-TW" dirty="0"/>
              <a:t>報修系統需求分析與系統設計</a:t>
            </a:r>
            <a:r>
              <a:rPr lang="en-US" altLang="zh-TW" dirty="0"/>
              <a:t>," </a:t>
            </a:r>
            <a:r>
              <a:rPr lang="zh-TW" altLang="zh-TW" i="1" dirty="0"/>
              <a:t>方格子</a:t>
            </a:r>
            <a:r>
              <a:rPr lang="en-US" altLang="zh-TW" i="1" dirty="0"/>
              <a:t> </a:t>
            </a:r>
            <a:r>
              <a:rPr lang="en-US" altLang="zh-TW" i="1" dirty="0" err="1"/>
              <a:t>vocus</a:t>
            </a:r>
            <a:r>
              <a:rPr lang="en-US" altLang="zh-TW" dirty="0"/>
              <a:t>, 2024</a:t>
            </a:r>
            <a:r>
              <a:rPr lang="zh-TW" altLang="zh-TW" dirty="0"/>
              <a:t>年</a:t>
            </a:r>
            <a:r>
              <a:rPr lang="en-US" altLang="zh-TW" dirty="0"/>
              <a:t>11</a:t>
            </a:r>
            <a:r>
              <a:rPr lang="zh-TW" altLang="zh-TW" dirty="0"/>
              <a:t>月</a:t>
            </a:r>
            <a:r>
              <a:rPr lang="en-US" altLang="zh-TW" dirty="0"/>
              <a:t>. [Online]. Available: </a:t>
            </a:r>
            <a:r>
              <a:rPr lang="en-US" altLang="zh-TW" u="sng" dirty="0">
                <a:hlinkClick r:id="rId3"/>
              </a:rPr>
              <a:t>https://vocus.cc/article/672a1623fd897800010ba2d6</a:t>
            </a:r>
            <a:endParaRPr lang="zh-TW" altLang="zh-TW" dirty="0"/>
          </a:p>
          <a:p>
            <a:r>
              <a:rPr lang="en-US" altLang="zh-TW" dirty="0"/>
              <a:t> [3] </a:t>
            </a:r>
            <a:r>
              <a:rPr lang="en-US" altLang="zh-TW" dirty="0" err="1"/>
              <a:t>Kenming</a:t>
            </a:r>
            <a:r>
              <a:rPr lang="en-US" altLang="zh-TW" dirty="0"/>
              <a:t>, "</a:t>
            </a:r>
            <a:r>
              <a:rPr lang="zh-TW" altLang="zh-TW" dirty="0"/>
              <a:t>【案例研究】關於「客服運維」的業務流程分析</a:t>
            </a:r>
            <a:r>
              <a:rPr lang="en-US" altLang="zh-TW" dirty="0"/>
              <a:t> (Business Process Analysis)," </a:t>
            </a:r>
            <a:r>
              <a:rPr lang="en-US" altLang="zh-TW" i="1" dirty="0" err="1"/>
              <a:t>Kenming</a:t>
            </a:r>
            <a:r>
              <a:rPr lang="en-US" altLang="zh-TW" i="1" dirty="0"/>
              <a:t> </a:t>
            </a:r>
            <a:r>
              <a:rPr lang="zh-TW" altLang="zh-TW" i="1" dirty="0"/>
              <a:t>的軟體設計與思考</a:t>
            </a:r>
            <a:r>
              <a:rPr lang="en-US" altLang="zh-TW" dirty="0"/>
              <a:t>. [Online]. Available: </a:t>
            </a:r>
            <a:r>
              <a:rPr lang="en-US" altLang="zh-TW" u="sng" dirty="0">
                <a:hlinkClick r:id="rId4"/>
              </a:rPr>
              <a:t>https://kenming.idv.tw/case-study_about-customer-operation-maintain_business-process_analysis/</a:t>
            </a:r>
            <a:endParaRPr lang="zh-TW" altLang="zh-TW" dirty="0"/>
          </a:p>
          <a:p>
            <a:endParaRPr lang="zh-TW" altLang="zh-TW" dirty="0"/>
          </a:p>
          <a:p>
            <a:endParaRPr lang="zh-TW" altLang="en-US" dirty="0"/>
          </a:p>
        </p:txBody>
      </p:sp>
      <p:sp>
        <p:nvSpPr>
          <p:cNvPr id="6" name="文字方塊 5">
            <a:extLst>
              <a:ext uri="{FF2B5EF4-FFF2-40B4-BE49-F238E27FC236}">
                <a16:creationId xmlns:a16="http://schemas.microsoft.com/office/drawing/2014/main" id="{7E1E1D5B-BF70-659D-EAC8-254869655CF6}"/>
              </a:ext>
            </a:extLst>
          </p:cNvPr>
          <p:cNvSpPr txBox="1"/>
          <p:nvPr/>
        </p:nvSpPr>
        <p:spPr>
          <a:xfrm>
            <a:off x="1427037" y="30087"/>
            <a:ext cx="938792" cy="1200329"/>
          </a:xfrm>
          <a:prstGeom prst="rect">
            <a:avLst/>
          </a:prstGeom>
          <a:noFill/>
        </p:spPr>
        <p:txBody>
          <a:bodyPr wrap="square">
            <a:spAutoFit/>
          </a:bodyPr>
          <a:lstStyle/>
          <a:p>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nvGrpSpPr>
          <p:cNvPr id="7" name="群組 6">
            <a:extLst>
              <a:ext uri="{FF2B5EF4-FFF2-40B4-BE49-F238E27FC236}">
                <a16:creationId xmlns:a16="http://schemas.microsoft.com/office/drawing/2014/main" id="{E44F2F14-EC6F-30F1-4D7E-2E062C1869F9}"/>
              </a:ext>
            </a:extLst>
          </p:cNvPr>
          <p:cNvGrpSpPr/>
          <p:nvPr/>
        </p:nvGrpSpPr>
        <p:grpSpPr>
          <a:xfrm>
            <a:off x="-3638551" y="460255"/>
            <a:ext cx="9226551" cy="1200329"/>
            <a:chOff x="368300" y="1442660"/>
            <a:chExt cx="4722578" cy="1200329"/>
          </a:xfrm>
        </p:grpSpPr>
        <p:sp>
          <p:nvSpPr>
            <p:cNvPr id="8" name="矩形 7">
              <a:extLst>
                <a:ext uri="{FF2B5EF4-FFF2-40B4-BE49-F238E27FC236}">
                  <a16:creationId xmlns:a16="http://schemas.microsoft.com/office/drawing/2014/main" id="{51575678-98B8-68CF-96B0-8C141EB7C49B}"/>
                </a:ext>
              </a:extLst>
            </p:cNvPr>
            <p:cNvSpPr/>
            <p:nvPr/>
          </p:nvSpPr>
          <p:spPr>
            <a:xfrm>
              <a:off x="368300" y="1690688"/>
              <a:ext cx="4254500" cy="658812"/>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546CB8D6-3288-6DF6-EC61-74A54DD67C8A}"/>
                </a:ext>
              </a:extLst>
            </p:cNvPr>
            <p:cNvSpPr txBox="1"/>
            <p:nvPr/>
          </p:nvSpPr>
          <p:spPr>
            <a:xfrm>
              <a:off x="4354278" y="1442660"/>
              <a:ext cx="736600" cy="1200329"/>
            </a:xfrm>
            <a:prstGeom prst="rect">
              <a:avLst/>
            </a:prstGeom>
            <a:noFill/>
          </p:spPr>
          <p:txBody>
            <a:bodyPr wrap="square">
              <a:spAutoFit/>
            </a:bodyPr>
            <a:lstStyle/>
            <a:p>
              <a:r>
                <a:rPr lang="en-US" altLang="zh-TW" sz="7200" dirty="0">
                  <a:solidFill>
                    <a:schemeClr val="tx2">
                      <a:lumMod val="10000"/>
                      <a:lumOff val="90000"/>
                    </a:schemeClr>
                  </a:solidFill>
                  <a:effectLst>
                    <a:outerShdw blurRad="63500" dist="25400" sx="102000" sy="102000" algn="ctr" rotWithShape="0">
                      <a:prstClr val="black">
                        <a:alpha val="70000"/>
                      </a:prstClr>
                    </a:outerShdw>
                  </a:effectLst>
                </a:rPr>
                <a:t>10</a:t>
              </a:r>
              <a:endParaRPr lang="zh-TW" altLang="en-US" sz="7200" dirty="0">
                <a:solidFill>
                  <a:schemeClr val="tx2">
                    <a:lumMod val="10000"/>
                    <a:lumOff val="90000"/>
                  </a:schemeClr>
                </a:solidFill>
                <a:effectLst>
                  <a:outerShdw blurRad="63500" dist="25400" sx="102000" sy="102000" algn="ctr" rotWithShape="0">
                    <a:prstClr val="black">
                      <a:alpha val="70000"/>
                    </a:prstClr>
                  </a:outerShdw>
                </a:effectLst>
              </a:endParaRPr>
            </a:p>
          </p:txBody>
        </p:sp>
      </p:grpSp>
      <p:sp>
        <p:nvSpPr>
          <p:cNvPr id="10" name="文字方塊 9">
            <a:extLst>
              <a:ext uri="{FF2B5EF4-FFF2-40B4-BE49-F238E27FC236}">
                <a16:creationId xmlns:a16="http://schemas.microsoft.com/office/drawing/2014/main" id="{A2D54041-880C-ABB7-0177-699AF88CEFE9}"/>
              </a:ext>
            </a:extLst>
          </p:cNvPr>
          <p:cNvSpPr txBox="1"/>
          <p:nvPr/>
        </p:nvSpPr>
        <p:spPr>
          <a:xfrm>
            <a:off x="1780634" y="708283"/>
            <a:ext cx="2152737" cy="646331"/>
          </a:xfrm>
          <a:prstGeom prst="rect">
            <a:avLst/>
          </a:prstGeom>
          <a:noFill/>
        </p:spPr>
        <p:txBody>
          <a:bodyPr wrap="square">
            <a:spAutoFit/>
          </a:bodyPr>
          <a:lstStyle/>
          <a:p>
            <a:r>
              <a:rPr lang="zh-TW" altLang="en-US" sz="3600" dirty="0">
                <a:solidFill>
                  <a:schemeClr val="bg1"/>
                </a:solidFill>
                <a:latin typeface="標楷體" panose="03000509000000000000" pitchFamily="65" charset="-120"/>
                <a:ea typeface="標楷體" panose="03000509000000000000" pitchFamily="65" charset="-120"/>
              </a:rPr>
              <a:t>參考資料</a:t>
            </a:r>
          </a:p>
        </p:txBody>
      </p:sp>
    </p:spTree>
    <p:extLst>
      <p:ext uri="{BB962C8B-B14F-4D97-AF65-F5344CB8AC3E}">
        <p14:creationId xmlns:p14="http://schemas.microsoft.com/office/powerpoint/2010/main" val="3730732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0-#ppt_w/2"/>
                                          </p:val>
                                        </p:tav>
                                        <p:tav tm="100000">
                                          <p:val>
                                            <p:strVal val="#ppt_x"/>
                                          </p:val>
                                        </p:tav>
                                      </p:tavLst>
                                    </p:anim>
                                    <p:anim calcmode="lin" valueType="num">
                                      <p:cBhvr additive="base">
                                        <p:cTn id="8" dur="500" fill="hold"/>
                                        <p:tgtEl>
                                          <p:spTgt spid="7"/>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0-#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自訂 1">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AF8150ECD0D2740B048A1F2DBADCEA7" ma:contentTypeVersion="4" ma:contentTypeDescription="Create a new document." ma:contentTypeScope="" ma:versionID="4267f1183aa3307aeb3366ce46141a57">
  <xsd:schema xmlns:xsd="http://www.w3.org/2001/XMLSchema" xmlns:xs="http://www.w3.org/2001/XMLSchema" xmlns:p="http://schemas.microsoft.com/office/2006/metadata/properties" xmlns:ns3="6bef4f0c-891e-4b83-9a0f-4e876e356cf2" targetNamespace="http://schemas.microsoft.com/office/2006/metadata/properties" ma:root="true" ma:fieldsID="89887e1dfcc54f6cbf24cb2ce9b8a79d" ns3:_="">
    <xsd:import namespace="6bef4f0c-891e-4b83-9a0f-4e876e356cf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bef4f0c-891e-4b83-9a0f-4e876e356cf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3406BD3-950E-4F24-8609-0706872B7BA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bef4f0c-891e-4b83-9a0f-4e876e356c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043D95E-002B-4580-A635-53BB0B4B4A64}">
  <ds:schemaRefs>
    <ds:schemaRef ds:uri="http://purl.org/dc/dcmitype/"/>
    <ds:schemaRef ds:uri="http://schemas.microsoft.com/office/2006/metadata/properties"/>
    <ds:schemaRef ds:uri="http://schemas.microsoft.com/office/2006/documentManagement/types"/>
    <ds:schemaRef ds:uri="http://schemas.microsoft.com/office/infopath/2007/PartnerControls"/>
    <ds:schemaRef ds:uri="http://www.w3.org/XML/1998/namespace"/>
    <ds:schemaRef ds:uri="http://purl.org/dc/terms/"/>
    <ds:schemaRef ds:uri="http://purl.org/dc/elements/1.1/"/>
    <ds:schemaRef ds:uri="6bef4f0c-891e-4b83-9a0f-4e876e356cf2"/>
    <ds:schemaRef ds:uri="http://schemas.openxmlformats.org/package/2006/metadata/core-properties"/>
  </ds:schemaRefs>
</ds:datastoreItem>
</file>

<file path=customXml/itemProps3.xml><?xml version="1.0" encoding="utf-8"?>
<ds:datastoreItem xmlns:ds="http://schemas.openxmlformats.org/officeDocument/2006/customXml" ds:itemID="{7A096FAE-66D5-44C4-ADC5-19524CB678FF}">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12891</TotalTime>
  <Words>6945</Words>
  <Application>Microsoft Office PowerPoint</Application>
  <PresentationFormat>寬螢幕</PresentationFormat>
  <Paragraphs>1207</Paragraphs>
  <Slides>46</Slides>
  <Notes>1</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46</vt:i4>
      </vt:variant>
    </vt:vector>
  </HeadingPairs>
  <TitlesOfParts>
    <vt:vector size="53" baseType="lpstr">
      <vt:lpstr>標楷體</vt:lpstr>
      <vt:lpstr>Aptos</vt:lpstr>
      <vt:lpstr>Arial</vt:lpstr>
      <vt:lpstr>Courier New</vt:lpstr>
      <vt:lpstr>Times New Roman</vt:lpstr>
      <vt:lpstr>Wingdings</vt:lpstr>
      <vt:lpstr>Office 佈景主題</vt:lpstr>
      <vt:lpstr>設備管理與維護系統</vt:lpstr>
      <vt:lpstr>系辦日常</vt:lpstr>
      <vt:lpstr>專題急需</vt:lpstr>
      <vt:lpstr>專題急需</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宋沛玲</dc:creator>
  <cp:lastModifiedBy>宋沛玲</cp:lastModifiedBy>
  <cp:revision>21</cp:revision>
  <dcterms:created xsi:type="dcterms:W3CDTF">2026-04-24T12:49:32Z</dcterms:created>
  <dcterms:modified xsi:type="dcterms:W3CDTF">2026-06-09T14:35:39Z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0x0101009AF8150ECD0D2740B048A1F2DBADCEA7</vt:lpwstr>
  </property>
</Properties>
</file>