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56" r:id="rId5"/>
    <p:sldId id="257" r:id="rId6"/>
    <p:sldId id="258" r:id="rId7"/>
    <p:sldId id="259" r:id="rId8"/>
    <p:sldId id="260" r:id="rId9"/>
    <p:sldId id="261" r:id="rId10"/>
    <p:sldId id="273" r:id="rId11"/>
    <p:sldId id="274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0"/>
    <p:sldId id="275" r:id="rId21"/>
    <p:sldId id="281" r:id="rId22"/>
    <p:sldId id="277" r:id="rId23"/>
    <p:sldId id="283" r:id="rId24"/>
    <p:sldId id="276" r:id="rId25"/>
    <p:sldId id="282" r:id="rId26"/>
    <p:sldId id="278" r:id="rId27"/>
    <p:sldId id="284" r:id="rId28"/>
    <p:sldId id="279" r:id="rId29"/>
    <p:sldId id="285" r:id="rId30"/>
    <p:sldId id="280" r:id="rId31"/>
    <p:sldId id="286" r:id="rId32"/>
    <p:sldId id="287" r:id="rId3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F080F-4872-4AE8-B942-73B81574DF63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A70C3-14D1-4228-BDEE-8FBB7AE947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716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A70C3-14D1-4228-BDEE-8FBB7AE947A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65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086BD-2C82-7DB4-0EE5-DFACE9152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FC3D796-3942-2500-4429-02FF28B31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30E3B5-9299-4BCE-7407-316120ADC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F548FC-3C2A-4CDD-983C-F449EB02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C760C-F4C0-D969-09B6-37E8574F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68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2C85C9-B1F7-7CDD-A1DB-C751B539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92695E-021A-C4FA-17E6-31CD31301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A9C093-6A2B-3C9D-AD6C-9C211021E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7762A5-9415-6F69-2C41-7B717F11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9987F4-A994-BB94-C68C-1C0A064D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19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106A1-502B-D97D-2F84-CBB1660D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3C2A08-B240-6F16-5C12-B95B0AF8A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7D878D-BE87-16D3-67E2-D9EF7E8EA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E53E73-D177-62C8-0CD4-99423A77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71555A-441A-6177-B998-694EBC9A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68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224736-6CE4-70EF-48AD-85975B61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5702AD-136D-5205-248B-9A7D34B5D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A0CCFD-EAF1-720F-0F56-CCF63821C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C10DA-9B4F-F3FB-7416-D51D8FBF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A197F9-DEE6-5D8F-E751-EF3A29D6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B22A36-DB77-924A-85EB-73398142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15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44A3CB-BFB6-E406-EC06-CCBBAAA98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A778F31-86E0-2F7E-0F85-58946EA5D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E356E8-7A85-0A93-3A7C-541AB538F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4ADD9B1-F0B8-190A-BFF7-B548DB127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08CA89A-BF46-87F0-2123-F8027D3B6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5EC3D97-F04C-DB47-FD3C-1C8808D82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19A1C6-6F16-FB88-1573-E4171EA0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DA7DDF9-81BD-F536-DEA8-ED27D135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52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7BFD82-BD46-2AE3-8C10-C754487A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C27F69-4C67-ABB9-34E2-0F2C03B15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5B1B846-0866-9CE6-8301-8EDC9F13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D4E982-C744-FF26-6DB2-FB993B92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910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C2CD7D8-5E36-D9BC-86E5-5A4B110C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6AC575D-EC38-E388-EDD1-C0B2563CE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BFFF70-5BD4-5115-098E-3FEE7A5C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0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4A5EF-0209-6C57-8155-80C6A7A11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61D177-BAB3-C3CD-9EE5-782F890DC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51B6382-84FD-DD5C-BFC8-7BC1FB911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7A3C8F-F02A-8750-84C0-A4997EEE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CDB53E-58BD-29AE-56D4-EED51FAB7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D054DA-BE75-3693-C0FC-0707BF8E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35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E4F57-F78C-4660-81BD-88ED38C8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3B1EA66-6E75-8D5E-CE83-2F3287322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610C590-5100-8B7E-F2AA-5FA7DF998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AA37E9-1B2D-98BF-0EF4-D0CD172E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09CB46-0231-E690-D273-B5BAD803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61F7A4-5724-2FF6-17C4-B6B79767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51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DA7995-4EEC-EC0D-8D67-281A95EDD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BCD0CCF-3D2C-CB2C-BC49-AF2BE37D5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63DB99-AC20-91CA-675C-9D943F15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524A81-C24F-1FA3-A57D-055342D2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82021F-F80C-7E39-78F9-D1418680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32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75FD24-2718-6EE2-453B-5A7A333D3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506E7E2-7BF6-F951-2DDA-683EC41B4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9579A3-3D5F-D1FC-508C-3C9BCE57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6EDEBC-27F5-9B85-408D-445AD5B0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101B44-7E2A-A413-231D-D99B0E8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6492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4D0FAE-CA5C-848C-ED52-3B6DB6AE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DA8617-E6A8-9BF8-6787-4078167B4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35818B-1D7F-7C5C-91AF-79951B0D1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FFC72F-2052-0D1F-60BB-DDFAF36C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A1D4FE-680F-3FFD-6C2A-77E09629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928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3D92FF4-3EC5-AE65-7713-00AEA5AF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794629-82C0-9A43-623F-E64DF2E69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E87296-CDDB-19B8-40EA-C506F85EB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8C760-4BF8-4DF7-8FC8-B9A0432FCF74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9096C9-B0E4-1642-8C14-AC08C7F44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A76158-3A38-FD22-760F-2501FDB29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DC8B6-D9B8-4EA0-85D0-B0A9C82D6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31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teach002@mail.com" TargetMode="External"/><Relationship Id="rId2" Type="http://schemas.openxmlformats.org/officeDocument/2006/relationships/hyperlink" Target="mailto:admin001@mail.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teach005@mail.com" TargetMode="External"/><Relationship Id="rId5" Type="http://schemas.openxmlformats.org/officeDocument/2006/relationships/hyperlink" Target="mailto:stud004@mail.com" TargetMode="External"/><Relationship Id="rId4" Type="http://schemas.openxmlformats.org/officeDocument/2006/relationships/hyperlink" Target="mailto:stud003@mail.com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vocus.cc/article/672a1623fd897800010ba2d6" TargetMode="External"/><Relationship Id="rId2" Type="http://schemas.openxmlformats.org/officeDocument/2006/relationships/hyperlink" Target="https://fgchen.com/wpedu/2024/07/%E7%B3%BB%E8%A8%AD%E5%82%99%E5%A0%B1%E4%BF%AE%E7%B3%BB%E7%B5%B1%E9%9C%80%E6%B1%82%E6%96%87%E4%BB%B6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kenming.idv.tw/case-study_about-customer-operation-maintain_business-process_analysi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3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127CEB5-0767-FF50-6947-855C2BE9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0" r="763"/>
          <a:stretch>
            <a:fillRect/>
          </a:stretch>
        </p:blipFill>
        <p:spPr>
          <a:xfrm>
            <a:off x="6192158" y="-224626"/>
            <a:ext cx="6994740" cy="6857997"/>
          </a:xfrm>
          <a:prstGeom prst="rect">
            <a:avLst/>
          </a:prstGeom>
        </p:spPr>
      </p:pic>
      <p:sp>
        <p:nvSpPr>
          <p:cNvPr id="23" name="Rectangle 15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77AC56-1184-5D87-7F22-59FB6D75088C}"/>
              </a:ext>
            </a:extLst>
          </p:cNvPr>
          <p:cNvSpPr/>
          <p:nvPr/>
        </p:nvSpPr>
        <p:spPr>
          <a:xfrm>
            <a:off x="6223624" y="63500"/>
            <a:ext cx="6931809" cy="6284407"/>
          </a:xfrm>
          <a:prstGeom prst="rect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38B89D7-062C-273C-E9AC-7054B5379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443" y="3020138"/>
            <a:ext cx="7696479" cy="424363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Database System Final Project</a:t>
            </a:r>
          </a:p>
          <a:p>
            <a:pPr algn="l"/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lang="en-US" altLang="zh-TW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Group 04</a:t>
            </a:r>
          </a:p>
          <a:p>
            <a:pPr algn="l"/>
            <a:endParaRPr lang="en-US" altLang="zh-TW" sz="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41243167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楊芷寧 </a:t>
            </a:r>
            <a:r>
              <a:rPr lang="en-US" altLang="zh-TW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|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41243168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陳有臨</a:t>
            </a:r>
          </a:p>
          <a:p>
            <a:pPr algn="l"/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41243169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宋沛玲 </a:t>
            </a:r>
            <a:r>
              <a:rPr lang="en-US" altLang="zh-TW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|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41243260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蕭文成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D15DA91-BD6A-DC15-742B-3E03134A2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443" y="2066501"/>
            <a:ext cx="7213599" cy="79419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設備管理與維護系統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1258931-2588-8F8C-C459-89148D740F8A}"/>
              </a:ext>
            </a:extLst>
          </p:cNvPr>
          <p:cNvSpPr/>
          <p:nvPr/>
        </p:nvSpPr>
        <p:spPr>
          <a:xfrm>
            <a:off x="303948" y="4160017"/>
            <a:ext cx="6452452" cy="2024096"/>
          </a:xfrm>
          <a:prstGeom prst="roundRect">
            <a:avLst>
              <a:gd name="adj" fmla="val 25527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BF99CF20-3F76-D90D-2E4E-540588FE214A}"/>
              </a:ext>
            </a:extLst>
          </p:cNvPr>
          <p:cNvSpPr/>
          <p:nvPr/>
        </p:nvSpPr>
        <p:spPr>
          <a:xfrm>
            <a:off x="221398" y="4082092"/>
            <a:ext cx="6617552" cy="2179946"/>
          </a:xfrm>
          <a:prstGeom prst="roundRect">
            <a:avLst>
              <a:gd name="adj" fmla="val 25527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6452452"/>
                      <a:gd name="csY0" fmla="*/ 516691 h 2024096"/>
                      <a:gd name="csX1" fmla="*/ 516691 w 6452452"/>
                      <a:gd name="csY1" fmla="*/ 0 h 2024096"/>
                      <a:gd name="csX2" fmla="*/ 1166979 w 6452452"/>
                      <a:gd name="csY2" fmla="*/ 0 h 2024096"/>
                      <a:gd name="csX3" fmla="*/ 1654696 w 6452452"/>
                      <a:gd name="csY3" fmla="*/ 0 h 2024096"/>
                      <a:gd name="csX4" fmla="*/ 2088221 w 6452452"/>
                      <a:gd name="csY4" fmla="*/ 0 h 2024096"/>
                      <a:gd name="csX5" fmla="*/ 2684319 w 6452452"/>
                      <a:gd name="csY5" fmla="*/ 0 h 2024096"/>
                      <a:gd name="csX6" fmla="*/ 3172035 w 6452452"/>
                      <a:gd name="csY6" fmla="*/ 0 h 2024096"/>
                      <a:gd name="csX7" fmla="*/ 3822324 w 6452452"/>
                      <a:gd name="csY7" fmla="*/ 0 h 2024096"/>
                      <a:gd name="csX8" fmla="*/ 4255849 w 6452452"/>
                      <a:gd name="csY8" fmla="*/ 0 h 2024096"/>
                      <a:gd name="csX9" fmla="*/ 4906138 w 6452452"/>
                      <a:gd name="csY9" fmla="*/ 0 h 2024096"/>
                      <a:gd name="csX10" fmla="*/ 5285473 w 6452452"/>
                      <a:gd name="csY10" fmla="*/ 0 h 2024096"/>
                      <a:gd name="csX11" fmla="*/ 5935761 w 6452452"/>
                      <a:gd name="csY11" fmla="*/ 0 h 2024096"/>
                      <a:gd name="csX12" fmla="*/ 6452452 w 6452452"/>
                      <a:gd name="csY12" fmla="*/ 516691 h 2024096"/>
                      <a:gd name="csX13" fmla="*/ 6452452 w 6452452"/>
                      <a:gd name="csY13" fmla="*/ 982327 h 2024096"/>
                      <a:gd name="csX14" fmla="*/ 6452452 w 6452452"/>
                      <a:gd name="csY14" fmla="*/ 1507405 h 2024096"/>
                      <a:gd name="csX15" fmla="*/ 5935761 w 6452452"/>
                      <a:gd name="csY15" fmla="*/ 2024096 h 2024096"/>
                      <a:gd name="csX16" fmla="*/ 5339663 w 6452452"/>
                      <a:gd name="csY16" fmla="*/ 2024096 h 2024096"/>
                      <a:gd name="csX17" fmla="*/ 4797756 w 6452452"/>
                      <a:gd name="csY17" fmla="*/ 2024096 h 2024096"/>
                      <a:gd name="csX18" fmla="*/ 4418421 w 6452452"/>
                      <a:gd name="csY18" fmla="*/ 2024096 h 2024096"/>
                      <a:gd name="csX19" fmla="*/ 3984896 w 6452452"/>
                      <a:gd name="csY19" fmla="*/ 2024096 h 2024096"/>
                      <a:gd name="csX20" fmla="*/ 3334607 w 6452452"/>
                      <a:gd name="csY20" fmla="*/ 2024096 h 2024096"/>
                      <a:gd name="csX21" fmla="*/ 2792700 w 6452452"/>
                      <a:gd name="csY21" fmla="*/ 2024096 h 2024096"/>
                      <a:gd name="csX22" fmla="*/ 2359175 w 6452452"/>
                      <a:gd name="csY22" fmla="*/ 2024096 h 2024096"/>
                      <a:gd name="csX23" fmla="*/ 1817268 w 6452452"/>
                      <a:gd name="csY23" fmla="*/ 2024096 h 2024096"/>
                      <a:gd name="csX24" fmla="*/ 1437933 w 6452452"/>
                      <a:gd name="csY24" fmla="*/ 2024096 h 2024096"/>
                      <a:gd name="csX25" fmla="*/ 1058598 w 6452452"/>
                      <a:gd name="csY25" fmla="*/ 2024096 h 2024096"/>
                      <a:gd name="csX26" fmla="*/ 516691 w 6452452"/>
                      <a:gd name="csY26" fmla="*/ 2024096 h 2024096"/>
                      <a:gd name="csX27" fmla="*/ 0 w 6452452"/>
                      <a:gd name="csY27" fmla="*/ 1507405 h 2024096"/>
                      <a:gd name="csX28" fmla="*/ 0 w 6452452"/>
                      <a:gd name="csY28" fmla="*/ 1041769 h 2024096"/>
                      <a:gd name="csX29" fmla="*/ 0 w 6452452"/>
                      <a:gd name="csY29" fmla="*/ 516691 h 202409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</a:cxnLst>
                    <a:rect l="l" t="t" r="r" b="b"/>
                    <a:pathLst>
                      <a:path w="6452452" h="2024096" extrusionOk="0">
                        <a:moveTo>
                          <a:pt x="0" y="516691"/>
                        </a:moveTo>
                        <a:cubicBezTo>
                          <a:pt x="-39183" y="207161"/>
                          <a:pt x="160606" y="26544"/>
                          <a:pt x="516691" y="0"/>
                        </a:cubicBezTo>
                        <a:cubicBezTo>
                          <a:pt x="732804" y="-36074"/>
                          <a:pt x="884974" y="23344"/>
                          <a:pt x="1166979" y="0"/>
                        </a:cubicBezTo>
                        <a:cubicBezTo>
                          <a:pt x="1448984" y="-23344"/>
                          <a:pt x="1545106" y="7235"/>
                          <a:pt x="1654696" y="0"/>
                        </a:cubicBezTo>
                        <a:cubicBezTo>
                          <a:pt x="1764286" y="-7235"/>
                          <a:pt x="1896475" y="11663"/>
                          <a:pt x="2088221" y="0"/>
                        </a:cubicBezTo>
                        <a:cubicBezTo>
                          <a:pt x="2279968" y="-11663"/>
                          <a:pt x="2515565" y="38586"/>
                          <a:pt x="2684319" y="0"/>
                        </a:cubicBezTo>
                        <a:cubicBezTo>
                          <a:pt x="2853073" y="-38586"/>
                          <a:pt x="2996842" y="54825"/>
                          <a:pt x="3172035" y="0"/>
                        </a:cubicBezTo>
                        <a:cubicBezTo>
                          <a:pt x="3347228" y="-54825"/>
                          <a:pt x="3570300" y="53972"/>
                          <a:pt x="3822324" y="0"/>
                        </a:cubicBezTo>
                        <a:cubicBezTo>
                          <a:pt x="4074348" y="-53972"/>
                          <a:pt x="4120587" y="329"/>
                          <a:pt x="4255849" y="0"/>
                        </a:cubicBezTo>
                        <a:cubicBezTo>
                          <a:pt x="4391112" y="-329"/>
                          <a:pt x="4629112" y="48097"/>
                          <a:pt x="4906138" y="0"/>
                        </a:cubicBezTo>
                        <a:cubicBezTo>
                          <a:pt x="5183164" y="-48097"/>
                          <a:pt x="5186188" y="31554"/>
                          <a:pt x="5285473" y="0"/>
                        </a:cubicBezTo>
                        <a:cubicBezTo>
                          <a:pt x="5384758" y="-31554"/>
                          <a:pt x="5632903" y="47323"/>
                          <a:pt x="5935761" y="0"/>
                        </a:cubicBezTo>
                        <a:cubicBezTo>
                          <a:pt x="6230348" y="13734"/>
                          <a:pt x="6453777" y="245052"/>
                          <a:pt x="6452452" y="516691"/>
                        </a:cubicBezTo>
                        <a:cubicBezTo>
                          <a:pt x="6472595" y="635825"/>
                          <a:pt x="6443722" y="847140"/>
                          <a:pt x="6452452" y="982327"/>
                        </a:cubicBezTo>
                        <a:cubicBezTo>
                          <a:pt x="6461182" y="1117514"/>
                          <a:pt x="6417452" y="1244937"/>
                          <a:pt x="6452452" y="1507405"/>
                        </a:cubicBezTo>
                        <a:cubicBezTo>
                          <a:pt x="6397615" y="1801771"/>
                          <a:pt x="6159910" y="1981861"/>
                          <a:pt x="5935761" y="2024096"/>
                        </a:cubicBezTo>
                        <a:cubicBezTo>
                          <a:pt x="5687850" y="2083461"/>
                          <a:pt x="5468916" y="1960712"/>
                          <a:pt x="5339663" y="2024096"/>
                        </a:cubicBezTo>
                        <a:cubicBezTo>
                          <a:pt x="5210410" y="2087480"/>
                          <a:pt x="5036686" y="2012692"/>
                          <a:pt x="4797756" y="2024096"/>
                        </a:cubicBezTo>
                        <a:cubicBezTo>
                          <a:pt x="4558826" y="2035500"/>
                          <a:pt x="4541897" y="1986147"/>
                          <a:pt x="4418421" y="2024096"/>
                        </a:cubicBezTo>
                        <a:cubicBezTo>
                          <a:pt x="4294945" y="2062045"/>
                          <a:pt x="4140554" y="2017033"/>
                          <a:pt x="3984896" y="2024096"/>
                        </a:cubicBezTo>
                        <a:cubicBezTo>
                          <a:pt x="3829238" y="2031159"/>
                          <a:pt x="3579847" y="1948207"/>
                          <a:pt x="3334607" y="2024096"/>
                        </a:cubicBezTo>
                        <a:cubicBezTo>
                          <a:pt x="3089367" y="2099985"/>
                          <a:pt x="3053203" y="2004684"/>
                          <a:pt x="2792700" y="2024096"/>
                        </a:cubicBezTo>
                        <a:cubicBezTo>
                          <a:pt x="2532197" y="2043508"/>
                          <a:pt x="2570285" y="2002676"/>
                          <a:pt x="2359175" y="2024096"/>
                        </a:cubicBezTo>
                        <a:cubicBezTo>
                          <a:pt x="2148066" y="2045516"/>
                          <a:pt x="1932522" y="2012414"/>
                          <a:pt x="1817268" y="2024096"/>
                        </a:cubicBezTo>
                        <a:cubicBezTo>
                          <a:pt x="1702014" y="2035778"/>
                          <a:pt x="1615457" y="1984121"/>
                          <a:pt x="1437933" y="2024096"/>
                        </a:cubicBezTo>
                        <a:cubicBezTo>
                          <a:pt x="1260409" y="2064071"/>
                          <a:pt x="1206530" y="2001491"/>
                          <a:pt x="1058598" y="2024096"/>
                        </a:cubicBezTo>
                        <a:cubicBezTo>
                          <a:pt x="910666" y="2046701"/>
                          <a:pt x="756106" y="1997476"/>
                          <a:pt x="516691" y="2024096"/>
                        </a:cubicBezTo>
                        <a:cubicBezTo>
                          <a:pt x="275574" y="2039581"/>
                          <a:pt x="6093" y="1813289"/>
                          <a:pt x="0" y="1507405"/>
                        </a:cubicBezTo>
                        <a:cubicBezTo>
                          <a:pt x="-7181" y="1366037"/>
                          <a:pt x="44881" y="1200146"/>
                          <a:pt x="0" y="1041769"/>
                        </a:cubicBezTo>
                        <a:cubicBezTo>
                          <a:pt x="-44881" y="883392"/>
                          <a:pt x="43464" y="702451"/>
                          <a:pt x="0" y="51669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66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 20">
            <a:extLst>
              <a:ext uri="{FF2B5EF4-FFF2-40B4-BE49-F238E27FC236}">
                <a16:creationId xmlns:a16="http://schemas.microsoft.com/office/drawing/2014/main" id="{C096C71F-D6EC-1ACD-BA0B-A650872266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-3073399" y="-351292"/>
            <a:ext cx="14027154" cy="765740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91E2B62-4092-7304-4D9A-62F3C5ED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168" y="1131568"/>
            <a:ext cx="4912519" cy="1325563"/>
          </a:xfrm>
        </p:spPr>
        <p:txBody>
          <a:bodyPr>
            <a:noAutofit/>
          </a:bodyPr>
          <a:lstStyle/>
          <a:p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系辦日常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1360CE-CE8A-5C73-5F04-C786DF6D4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4147" y="2932556"/>
            <a:ext cx="5200654" cy="3147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情境描述：</a:t>
            </a: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資工系系辦剛採購了一批新的桌上型電腦與網路交換器。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過去用紙本登記容易造成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資料遺漏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、設備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去向不明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管理員需要一個系統來追蹤借用與報修狀況。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DC2F21-CDAE-8646-F201-4EE24B26A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72098" y="2969332"/>
            <a:ext cx="6984997" cy="4351338"/>
          </a:xfrm>
        </p:spPr>
        <p:txBody>
          <a:bodyPr>
            <a:normAutofit/>
          </a:bodyPr>
          <a:lstStyle/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系統應用：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管理員透過學校 SSO 單一登入系統。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系統自動產生設備紀錄，狀態預設為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可用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日後若遇設備年限到期，管理員可直接在系統提出報廢申請，審核後系統標記為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報廢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249E70EC-B31F-0CBF-E4EE-CA507A2230F7}"/>
              </a:ext>
            </a:extLst>
          </p:cNvPr>
          <p:cNvGrpSpPr/>
          <p:nvPr/>
        </p:nvGrpSpPr>
        <p:grpSpPr>
          <a:xfrm>
            <a:off x="-1200150" y="58142"/>
            <a:ext cx="4622800" cy="1200329"/>
            <a:chOff x="368300" y="1419930"/>
            <a:chExt cx="4622800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6856ED7-B041-E72D-25B3-D87BC1D11A51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173FCCA7-006E-13A2-8A4E-C96943DE9763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1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3AEBEFC-50C8-46BD-5641-2CEA444E5B7E}"/>
              </a:ext>
            </a:extLst>
          </p:cNvPr>
          <p:cNvSpPr txBox="1"/>
          <p:nvPr/>
        </p:nvSpPr>
        <p:spPr>
          <a:xfrm>
            <a:off x="374650" y="290284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129E4F8D-86B8-B5EF-7F96-2D9CFD7B425C}"/>
              </a:ext>
            </a:extLst>
          </p:cNvPr>
          <p:cNvCxnSpPr>
            <a:cxnSpLocks/>
          </p:cNvCxnSpPr>
          <p:nvPr/>
        </p:nvCxnSpPr>
        <p:spPr>
          <a:xfrm>
            <a:off x="5257801" y="2848592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:a16="http://schemas.microsoft.com/office/drawing/2014/main" id="{F5BA5029-CF3A-9E83-3002-2D221D8F8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06" y="196825"/>
            <a:ext cx="3295647" cy="2735731"/>
          </a:xfrm>
          <a:prstGeom prst="rect">
            <a:avLst/>
          </a:prstGeom>
        </p:spPr>
      </p:pic>
      <p:sp>
        <p:nvSpPr>
          <p:cNvPr id="2074" name="標題 1">
            <a:extLst>
              <a:ext uri="{FF2B5EF4-FFF2-40B4-BE49-F238E27FC236}">
                <a16:creationId xmlns:a16="http://schemas.microsoft.com/office/drawing/2014/main" id="{F778BB3F-D999-35DC-43B8-58DACBE9793D}"/>
              </a:ext>
            </a:extLst>
          </p:cNvPr>
          <p:cNvSpPr txBox="1">
            <a:spLocks/>
          </p:cNvSpPr>
          <p:nvPr/>
        </p:nvSpPr>
        <p:spPr>
          <a:xfrm>
            <a:off x="3209923" y="10165558"/>
            <a:ext cx="43243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>
                <a:latin typeface="標楷體" panose="03000509000000000000" pitchFamily="65" charset="-120"/>
                <a:ea typeface="標楷體" panose="03000509000000000000" pitchFamily="65" charset="-120"/>
              </a:rPr>
              <a:t>專題急需</a:t>
            </a:r>
            <a:endParaRPr lang="zh-TW" altLang="en-US" sz="7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75" name="內容版面配置區 2">
            <a:extLst>
              <a:ext uri="{FF2B5EF4-FFF2-40B4-BE49-F238E27FC236}">
                <a16:creationId xmlns:a16="http://schemas.microsoft.com/office/drawing/2014/main" id="{94E86047-EBA1-3E57-8629-F23172C25BA2}"/>
              </a:ext>
            </a:extLst>
          </p:cNvPr>
          <p:cNvSpPr txBox="1">
            <a:spLocks/>
          </p:cNvSpPr>
          <p:nvPr/>
        </p:nvSpPr>
        <p:spPr>
          <a:xfrm>
            <a:off x="530223" y="11849610"/>
            <a:ext cx="50101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學生器材借用與通報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400" b="1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學生小明最近在趕專題展演，急需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特定的投影機與實驗器材。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同時，他發現實驗室的一台電腦故障了，需要即時向系辦發出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維修通報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76" name="內容版面配置區 3">
            <a:extLst>
              <a:ext uri="{FF2B5EF4-FFF2-40B4-BE49-F238E27FC236}">
                <a16:creationId xmlns:a16="http://schemas.microsoft.com/office/drawing/2014/main" id="{57B980C2-7F38-DAFD-918B-B81E4F3585F2}"/>
              </a:ext>
            </a:extLst>
          </p:cNvPr>
          <p:cNvSpPr txBox="1">
            <a:spLocks/>
          </p:cNvSpPr>
          <p:nvPr/>
        </p:nvSpPr>
        <p:spPr>
          <a:xfrm>
            <a:off x="5645158" y="11630912"/>
            <a:ext cx="6597640" cy="1684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條件篩選：依「投影機」與「可用」狀態找尋。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提出申請單：填寫借用起迄日，或填寫損壞描述。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後台審核聯動：管理員核准後，自動變更為</a:t>
            </a:r>
            <a:r>
              <a:rPr lang="zh-TW" altLang="en-US" sz="20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借出中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077" name="群組 2076">
            <a:extLst>
              <a:ext uri="{FF2B5EF4-FFF2-40B4-BE49-F238E27FC236}">
                <a16:creationId xmlns:a16="http://schemas.microsoft.com/office/drawing/2014/main" id="{001D9357-88FE-8089-6B9C-876AF17798CB}"/>
              </a:ext>
            </a:extLst>
          </p:cNvPr>
          <p:cNvGrpSpPr/>
          <p:nvPr/>
        </p:nvGrpSpPr>
        <p:grpSpPr>
          <a:xfrm>
            <a:off x="-1044577" y="8874942"/>
            <a:ext cx="4622800" cy="1200329"/>
            <a:chOff x="368300" y="1419930"/>
            <a:chExt cx="4622800" cy="1200329"/>
          </a:xfrm>
        </p:grpSpPr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DBA78BCB-AFF1-5A0A-6868-C227F1153D7A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79" name="文字方塊 2078">
              <a:extLst>
                <a:ext uri="{FF2B5EF4-FFF2-40B4-BE49-F238E27FC236}">
                  <a16:creationId xmlns:a16="http://schemas.microsoft.com/office/drawing/2014/main" id="{EA40877F-DAF4-3756-6DC2-15B31E2FA408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2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2080" name="文字方塊 2079">
            <a:extLst>
              <a:ext uri="{FF2B5EF4-FFF2-40B4-BE49-F238E27FC236}">
                <a16:creationId xmlns:a16="http://schemas.microsoft.com/office/drawing/2014/main" id="{B9532F5C-49C8-6BD1-8D0F-86C2149CD267}"/>
              </a:ext>
            </a:extLst>
          </p:cNvPr>
          <p:cNvSpPr txBox="1"/>
          <p:nvPr/>
        </p:nvSpPr>
        <p:spPr>
          <a:xfrm>
            <a:off x="530223" y="9107084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2081" name="直線接點 2080">
            <a:extLst>
              <a:ext uri="{FF2B5EF4-FFF2-40B4-BE49-F238E27FC236}">
                <a16:creationId xmlns:a16="http://schemas.microsoft.com/office/drawing/2014/main" id="{334E30E0-DC08-DCC3-513D-20BDEF15A98E}"/>
              </a:ext>
            </a:extLst>
          </p:cNvPr>
          <p:cNvCxnSpPr>
            <a:cxnSpLocks/>
          </p:cNvCxnSpPr>
          <p:nvPr/>
        </p:nvCxnSpPr>
        <p:spPr>
          <a:xfrm>
            <a:off x="5540374" y="11665392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82" name="Picture 2">
            <a:extLst>
              <a:ext uri="{FF2B5EF4-FFF2-40B4-BE49-F238E27FC236}">
                <a16:creationId xmlns:a16="http://schemas.microsoft.com/office/drawing/2014/main" id="{1DB379EB-3CF3-8B03-08FE-B87C97C339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523" t="19527" r="16250" b="18428"/>
          <a:stretch>
            <a:fillRect/>
          </a:stretch>
        </p:blipFill>
        <p:spPr>
          <a:xfrm>
            <a:off x="7038979" y="8980194"/>
            <a:ext cx="5073649" cy="2612001"/>
          </a:xfrm>
          <a:prstGeom prst="rect">
            <a:avLst/>
          </a:prstGeom>
        </p:spPr>
      </p:pic>
      <p:sp>
        <p:nvSpPr>
          <p:cNvPr id="2083" name="內容版面配置區 3">
            <a:extLst>
              <a:ext uri="{FF2B5EF4-FFF2-40B4-BE49-F238E27FC236}">
                <a16:creationId xmlns:a16="http://schemas.microsoft.com/office/drawing/2014/main" id="{8B8699F6-3AE0-0C20-3691-B1C16B1B057A}"/>
              </a:ext>
            </a:extLst>
          </p:cNvPr>
          <p:cNvSpPr txBox="1">
            <a:spLocks/>
          </p:cNvSpPr>
          <p:nvPr/>
        </p:nvSpPr>
        <p:spPr>
          <a:xfrm>
            <a:off x="5645158" y="13572144"/>
            <a:ext cx="6597640" cy="1684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維修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條件篩選：依「電腦」與「可用」狀態找尋。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提交設備損壞通報。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後台審核聯動：管理員建立維護紀錄並追蹤處理進度。</a:t>
            </a:r>
          </a:p>
        </p:txBody>
      </p:sp>
    </p:spTree>
    <p:extLst>
      <p:ext uri="{BB962C8B-B14F-4D97-AF65-F5344CB8AC3E}">
        <p14:creationId xmlns:p14="http://schemas.microsoft.com/office/powerpoint/2010/main" val="1144548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5A67A-8A6A-90F2-C684-4BC4F3F2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4350" y="1348758"/>
            <a:ext cx="4324350" cy="1325563"/>
          </a:xfrm>
        </p:spPr>
        <p:txBody>
          <a:bodyPr>
            <a:noAutofit/>
          </a:bodyPr>
          <a:lstStyle/>
          <a:p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專題急需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409844-6D9C-933F-6D50-768833F74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4650" y="3032810"/>
            <a:ext cx="50101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學生器材借用與通報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0" indent="0">
              <a:buNone/>
            </a:pPr>
            <a:endParaRPr lang="en-US" altLang="zh-TW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學生小明最近在趕專題展演，急需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特定的投影機與實驗器材。</a:t>
            </a:r>
          </a:p>
          <a:p>
            <a:pPr marL="0" indent="0">
              <a:buNone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同時，他發現實驗室的一台電腦故障了，需要即時向系辦發出</a:t>
            </a:r>
            <a:r>
              <a:rPr lang="zh-TW" alt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維修通報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3D05F2-1967-C102-B3AB-43608A413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9585" y="2814112"/>
            <a:ext cx="6597640" cy="1684691"/>
          </a:xfrm>
        </p:spPr>
        <p:txBody>
          <a:bodyPr>
            <a:normAutofit/>
          </a:bodyPr>
          <a:lstStyle/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條件篩選：依「投影機」與「可用」狀態找尋。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提出申請單：填寫借用起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迄日。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後台審核聯動：管理員核准後，自動變更為</a:t>
            </a:r>
            <a:r>
              <a:rPr lang="zh-TW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借出中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CA7DF87-10C5-C7E0-7CAC-2D44CA988794}"/>
              </a:ext>
            </a:extLst>
          </p:cNvPr>
          <p:cNvGrpSpPr/>
          <p:nvPr/>
        </p:nvGrpSpPr>
        <p:grpSpPr>
          <a:xfrm>
            <a:off x="-1200150" y="58142"/>
            <a:ext cx="4622800" cy="1200329"/>
            <a:chOff x="368300" y="1419930"/>
            <a:chExt cx="4622800" cy="1200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6B9BBC8-B0D2-0253-7FC0-4071232AE386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F29A566D-ECCF-DE5C-04B8-86A13F32F687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2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3CC25E8-3D1C-77CE-1238-F1964257570F}"/>
              </a:ext>
            </a:extLst>
          </p:cNvPr>
          <p:cNvSpPr txBox="1"/>
          <p:nvPr/>
        </p:nvSpPr>
        <p:spPr>
          <a:xfrm>
            <a:off x="374650" y="290284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521D9FD-0C19-92F9-7E9F-23071E04F42E}"/>
              </a:ext>
            </a:extLst>
          </p:cNvPr>
          <p:cNvCxnSpPr>
            <a:cxnSpLocks/>
          </p:cNvCxnSpPr>
          <p:nvPr/>
        </p:nvCxnSpPr>
        <p:spPr>
          <a:xfrm>
            <a:off x="5384801" y="2848592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5A1425FA-8DD3-E1B8-BB95-41B6EF42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3" t="19527" r="16250" b="18428"/>
          <a:stretch>
            <a:fillRect/>
          </a:stretch>
        </p:blipFill>
        <p:spPr>
          <a:xfrm>
            <a:off x="6883406" y="163394"/>
            <a:ext cx="5073649" cy="2612001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531C0E30-DAC6-3320-C170-00A4A9990C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-3124197" y="-8389666"/>
            <a:ext cx="14027154" cy="7657401"/>
          </a:xfrm>
          <a:prstGeom prst="rect">
            <a:avLst/>
          </a:prstGeom>
        </p:spPr>
      </p:pic>
      <p:sp>
        <p:nvSpPr>
          <p:cNvPr id="30" name="標題 1">
            <a:extLst>
              <a:ext uri="{FF2B5EF4-FFF2-40B4-BE49-F238E27FC236}">
                <a16:creationId xmlns:a16="http://schemas.microsoft.com/office/drawing/2014/main" id="{B2A1980B-8561-63B6-82D2-E065952C7F11}"/>
              </a:ext>
            </a:extLst>
          </p:cNvPr>
          <p:cNvSpPr txBox="1">
            <a:spLocks/>
          </p:cNvSpPr>
          <p:nvPr/>
        </p:nvSpPr>
        <p:spPr>
          <a:xfrm>
            <a:off x="3560370" y="-6906806"/>
            <a:ext cx="49125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>
                <a:latin typeface="標楷體" panose="03000509000000000000" pitchFamily="65" charset="-120"/>
                <a:ea typeface="標楷體" panose="03000509000000000000" pitchFamily="65" charset="-120"/>
              </a:rPr>
              <a:t>系辦日常</a:t>
            </a:r>
            <a:endParaRPr lang="zh-TW" altLang="en-US" sz="7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EB4217BC-BBFE-C78E-8E59-EDBDA52BF9E8}"/>
              </a:ext>
            </a:extLst>
          </p:cNvPr>
          <p:cNvSpPr txBox="1">
            <a:spLocks/>
          </p:cNvSpPr>
          <p:nvPr/>
        </p:nvSpPr>
        <p:spPr>
          <a:xfrm>
            <a:off x="133349" y="-5105818"/>
            <a:ext cx="5200654" cy="3147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情境描述：</a:t>
            </a:r>
            <a:endParaRPr lang="en-US" altLang="zh-TW" sz="2400" b="1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資工系系辦剛採購了一批新的桌上型電腦與網路交換器。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過去用紙本登記容易造成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資料遺漏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、設備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去向不明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管理員需要一個系統來建立這批設備的財產清單，並後續追蹤借用與報修狀況。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內容版面配置區 3">
            <a:extLst>
              <a:ext uri="{FF2B5EF4-FFF2-40B4-BE49-F238E27FC236}">
                <a16:creationId xmlns:a16="http://schemas.microsoft.com/office/drawing/2014/main" id="{01747611-92F1-2283-3EDE-D0C8ED83B925}"/>
              </a:ext>
            </a:extLst>
          </p:cNvPr>
          <p:cNvSpPr txBox="1">
            <a:spLocks/>
          </p:cNvSpPr>
          <p:nvPr/>
        </p:nvSpPr>
        <p:spPr>
          <a:xfrm>
            <a:off x="5207003" y="-5094711"/>
            <a:ext cx="698499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系統應用：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管理員透過學校 SSO 單一登入系統。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管理員新增設備資料，鍵入財產編號、類別、存放地點與保固期限。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系統自動產生設備紀錄，狀態預設為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日後若遇設備年限到期，管理員可直接在系統提出報廢申請，審核後系統標記為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報廢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1BBB3756-6946-4900-750B-9D26A66BE4AF}"/>
              </a:ext>
            </a:extLst>
          </p:cNvPr>
          <p:cNvGrpSpPr/>
          <p:nvPr/>
        </p:nvGrpSpPr>
        <p:grpSpPr>
          <a:xfrm>
            <a:off x="-1250948" y="-7980232"/>
            <a:ext cx="4622800" cy="1200329"/>
            <a:chOff x="368300" y="1419930"/>
            <a:chExt cx="4622800" cy="1200329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4CA2A10-E1DD-B813-E5EC-FF453FB3499E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D230B999-8BC9-52D1-57B6-A06CD1514314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1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0EA3833-F91C-4A91-DF6A-5B4A28048C17}"/>
              </a:ext>
            </a:extLst>
          </p:cNvPr>
          <p:cNvSpPr txBox="1"/>
          <p:nvPr/>
        </p:nvSpPr>
        <p:spPr>
          <a:xfrm>
            <a:off x="323852" y="-7748090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AB2EB42A-64E4-8E0B-1D36-8CA71D142A3B}"/>
              </a:ext>
            </a:extLst>
          </p:cNvPr>
          <p:cNvCxnSpPr>
            <a:cxnSpLocks/>
          </p:cNvCxnSpPr>
          <p:nvPr/>
        </p:nvCxnSpPr>
        <p:spPr>
          <a:xfrm>
            <a:off x="5207003" y="-5189782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圖片 37">
            <a:extLst>
              <a:ext uri="{FF2B5EF4-FFF2-40B4-BE49-F238E27FC236}">
                <a16:creationId xmlns:a16="http://schemas.microsoft.com/office/drawing/2014/main" id="{4C81F84B-AD62-C2BE-56AD-02BABB467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408" y="-7841549"/>
            <a:ext cx="3295647" cy="2735731"/>
          </a:xfrm>
          <a:prstGeom prst="rect">
            <a:avLst/>
          </a:prstGeom>
        </p:spPr>
      </p:pic>
      <p:sp>
        <p:nvSpPr>
          <p:cNvPr id="39" name="內容版面配置區 3">
            <a:extLst>
              <a:ext uri="{FF2B5EF4-FFF2-40B4-BE49-F238E27FC236}">
                <a16:creationId xmlns:a16="http://schemas.microsoft.com/office/drawing/2014/main" id="{31D8FCB2-DCF4-76C1-0CA1-CF5BEE75AAD7}"/>
              </a:ext>
            </a:extLst>
          </p:cNvPr>
          <p:cNvSpPr txBox="1">
            <a:spLocks/>
          </p:cNvSpPr>
          <p:nvPr/>
        </p:nvSpPr>
        <p:spPr>
          <a:xfrm>
            <a:off x="5489585" y="4755344"/>
            <a:ext cx="6597640" cy="1684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維修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條件篩選：依「電腦」與「可用」狀態找尋。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提交設備損壞通報。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後台審核聯動：管理員建立維護紀錄並追蹤處理進度。</a:t>
            </a:r>
          </a:p>
        </p:txBody>
      </p:sp>
      <p:sp>
        <p:nvSpPr>
          <p:cNvPr id="40" name="文字版面配置區 2">
            <a:extLst>
              <a:ext uri="{FF2B5EF4-FFF2-40B4-BE49-F238E27FC236}">
                <a16:creationId xmlns:a16="http://schemas.microsoft.com/office/drawing/2014/main" id="{40D1BA38-BDB6-EF91-5F97-932E332CD8E1}"/>
              </a:ext>
            </a:extLst>
          </p:cNvPr>
          <p:cNvSpPr txBox="1">
            <a:spLocks/>
          </p:cNvSpPr>
          <p:nvPr/>
        </p:nvSpPr>
        <p:spPr>
          <a:xfrm>
            <a:off x="1023543" y="9421414"/>
            <a:ext cx="10515600" cy="924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本系統以「關聯式資料庫」為核心，管理資工系所有具財產編號設備的完整生命週期，提供高安全、高效率的管理方案。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3A2B5FC2-B949-64D1-2B70-361543AEF2B8}"/>
              </a:ext>
            </a:extLst>
          </p:cNvPr>
          <p:cNvGrpSpPr/>
          <p:nvPr/>
        </p:nvGrpSpPr>
        <p:grpSpPr>
          <a:xfrm>
            <a:off x="-1278601" y="8303439"/>
            <a:ext cx="5206093" cy="1200329"/>
            <a:chOff x="368300" y="1419930"/>
            <a:chExt cx="4622800" cy="1200329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3ACD635-3E77-C6E9-E770-C054171EFA90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588D9330-56A9-CBC3-1851-EACD8B68210B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3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BF0E627-4B71-9997-CEAA-129850B14880}"/>
              </a:ext>
            </a:extLst>
          </p:cNvPr>
          <p:cNvSpPr txBox="1"/>
          <p:nvPr/>
        </p:nvSpPr>
        <p:spPr>
          <a:xfrm>
            <a:off x="94361" y="8569268"/>
            <a:ext cx="3171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系統需求概述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F3BBE1E4-D87A-BF1A-2383-88F40098A98F}"/>
              </a:ext>
            </a:extLst>
          </p:cNvPr>
          <p:cNvSpPr/>
          <p:nvPr/>
        </p:nvSpPr>
        <p:spPr>
          <a:xfrm>
            <a:off x="94361" y="10526245"/>
            <a:ext cx="11952514" cy="141693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BAB1EEBD-E216-F520-D034-1CC748BBF115}"/>
              </a:ext>
            </a:extLst>
          </p:cNvPr>
          <p:cNvSpPr/>
          <p:nvPr/>
        </p:nvSpPr>
        <p:spPr>
          <a:xfrm>
            <a:off x="308563" y="10603523"/>
            <a:ext cx="11319212" cy="777146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全生命週期</a:t>
            </a: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EDE07547-44C1-3479-D66A-78A967A3A3F7}"/>
              </a:ext>
            </a:extLst>
          </p:cNvPr>
          <p:cNvSpPr/>
          <p:nvPr/>
        </p:nvSpPr>
        <p:spPr>
          <a:xfrm>
            <a:off x="94361" y="12059558"/>
            <a:ext cx="11888467" cy="1367340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130B0473-2BBF-79DB-07D0-9F0557B8AD72}"/>
              </a:ext>
            </a:extLst>
          </p:cNvPr>
          <p:cNvSpPr/>
          <p:nvPr/>
        </p:nvSpPr>
        <p:spPr>
          <a:xfrm>
            <a:off x="308563" y="12120925"/>
            <a:ext cx="11319212" cy="604410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存取控制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(RBAC)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14A370BF-E91E-FC18-3507-AD9AB419E942}"/>
              </a:ext>
            </a:extLst>
          </p:cNvPr>
          <p:cNvSpPr/>
          <p:nvPr/>
        </p:nvSpPr>
        <p:spPr>
          <a:xfrm>
            <a:off x="94361" y="13542889"/>
            <a:ext cx="11888467" cy="1317741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AFAF01C1-54D9-CB12-76AF-0512E387775C}"/>
              </a:ext>
            </a:extLst>
          </p:cNvPr>
          <p:cNvSpPr/>
          <p:nvPr/>
        </p:nvSpPr>
        <p:spPr>
          <a:xfrm>
            <a:off x="308563" y="13659337"/>
            <a:ext cx="11333217" cy="523220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操作稽核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9DC09029-2A55-678B-327A-DB5D8DBBC33F}"/>
              </a:ext>
            </a:extLst>
          </p:cNvPr>
          <p:cNvSpPr txBox="1"/>
          <p:nvPr/>
        </p:nvSpPr>
        <p:spPr>
          <a:xfrm>
            <a:off x="3266186" y="11380669"/>
            <a:ext cx="83755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涵蓋登錄、借用、維護及報廢作業。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2DA1927-844D-ACF2-ADDA-9F580415F472}"/>
              </a:ext>
            </a:extLst>
          </p:cNvPr>
          <p:cNvSpPr txBox="1"/>
          <p:nvPr/>
        </p:nvSpPr>
        <p:spPr>
          <a:xfrm>
            <a:off x="3266186" y="12797604"/>
            <a:ext cx="10150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依身份嚴格劃分管理員與師生權限。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27E46240-E085-81B6-03E8-0C210094899D}"/>
              </a:ext>
            </a:extLst>
          </p:cNvPr>
          <p:cNvSpPr txBox="1"/>
          <p:nvPr/>
        </p:nvSpPr>
        <p:spPr>
          <a:xfrm>
            <a:off x="2407782" y="14175248"/>
            <a:ext cx="10398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保留完整操作歷史與審核軌跡，責任清晰可查。</a:t>
            </a:r>
          </a:p>
        </p:txBody>
      </p:sp>
    </p:spTree>
    <p:extLst>
      <p:ext uri="{BB962C8B-B14F-4D97-AF65-F5344CB8AC3E}">
        <p14:creationId xmlns:p14="http://schemas.microsoft.com/office/powerpoint/2010/main" val="3029470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29B23D-F203-E278-77AC-688135752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993" y="1176117"/>
            <a:ext cx="10515600" cy="924754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本系統以「關聯式資料庫」為核心，管理資工系所有具財產編號設備的完整生命週期，提供高安全、高效率的管理方案。</a:t>
            </a:r>
          </a:p>
          <a:p>
            <a:pPr marL="0" indent="0">
              <a:buNone/>
            </a:pP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9D928E55-49D3-ECA4-8063-CB64AE307E9D}"/>
              </a:ext>
            </a:extLst>
          </p:cNvPr>
          <p:cNvGrpSpPr/>
          <p:nvPr/>
        </p:nvGrpSpPr>
        <p:grpSpPr>
          <a:xfrm>
            <a:off x="-1200151" y="58142"/>
            <a:ext cx="5206093" cy="1200329"/>
            <a:chOff x="368300" y="1419930"/>
            <a:chExt cx="4622800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F6A3C55-BF3E-C35A-5DF6-38A9F5DA18A3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A716147-FCBA-6BA1-286E-1CE0DB7FF434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3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FF9CAB57-9C0E-9A45-E50F-B7673338AEE0}"/>
              </a:ext>
            </a:extLst>
          </p:cNvPr>
          <p:cNvSpPr txBox="1"/>
          <p:nvPr/>
        </p:nvSpPr>
        <p:spPr>
          <a:xfrm>
            <a:off x="172811" y="323971"/>
            <a:ext cx="3171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系統需求概述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87CDA37-0480-D7C3-C154-5D1EA9AACE44}"/>
              </a:ext>
            </a:extLst>
          </p:cNvPr>
          <p:cNvSpPr/>
          <p:nvPr/>
        </p:nvSpPr>
        <p:spPr>
          <a:xfrm>
            <a:off x="172811" y="2280948"/>
            <a:ext cx="11952514" cy="141693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BAB0BD7-4651-6737-3EE0-E64BD4630DD1}"/>
              </a:ext>
            </a:extLst>
          </p:cNvPr>
          <p:cNvSpPr/>
          <p:nvPr/>
        </p:nvSpPr>
        <p:spPr>
          <a:xfrm>
            <a:off x="387013" y="2358226"/>
            <a:ext cx="11319212" cy="777146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全生命週期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EE32B915-D515-26F6-EFF4-8093343D0E7A}"/>
              </a:ext>
            </a:extLst>
          </p:cNvPr>
          <p:cNvSpPr/>
          <p:nvPr/>
        </p:nvSpPr>
        <p:spPr>
          <a:xfrm>
            <a:off x="172811" y="3814261"/>
            <a:ext cx="11888467" cy="1367340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96D0BB1-EE0A-3ADB-3086-47EF0F532C74}"/>
              </a:ext>
            </a:extLst>
          </p:cNvPr>
          <p:cNvSpPr/>
          <p:nvPr/>
        </p:nvSpPr>
        <p:spPr>
          <a:xfrm>
            <a:off x="387013" y="3875628"/>
            <a:ext cx="11319212" cy="604410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存取控制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(RBAC)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7CE4C22-B8A4-B7BE-3CFA-28AF787A7B26}"/>
              </a:ext>
            </a:extLst>
          </p:cNvPr>
          <p:cNvSpPr/>
          <p:nvPr/>
        </p:nvSpPr>
        <p:spPr>
          <a:xfrm>
            <a:off x="172811" y="5297592"/>
            <a:ext cx="11888467" cy="1317741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4DE8F76-3611-EA3F-D394-85E691AFD5D2}"/>
              </a:ext>
            </a:extLst>
          </p:cNvPr>
          <p:cNvSpPr/>
          <p:nvPr/>
        </p:nvSpPr>
        <p:spPr>
          <a:xfrm>
            <a:off x="387013" y="5414040"/>
            <a:ext cx="11333217" cy="523220"/>
          </a:xfrm>
          <a:prstGeom prst="roundRect">
            <a:avLst>
              <a:gd name="adj" fmla="val 35245"/>
            </a:avLst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操作稽核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14023D1-8D4A-6D48-2F34-6BEAFA85F8A5}"/>
              </a:ext>
            </a:extLst>
          </p:cNvPr>
          <p:cNvSpPr txBox="1"/>
          <p:nvPr/>
        </p:nvSpPr>
        <p:spPr>
          <a:xfrm>
            <a:off x="3344636" y="3135372"/>
            <a:ext cx="83755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涵蓋登錄、借用、維護及報廢作業。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8B393FA-3A2F-0EAD-09A3-2D83E5724BBD}"/>
              </a:ext>
            </a:extLst>
          </p:cNvPr>
          <p:cNvSpPr txBox="1"/>
          <p:nvPr/>
        </p:nvSpPr>
        <p:spPr>
          <a:xfrm>
            <a:off x="3344636" y="4552307"/>
            <a:ext cx="10150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依身份嚴格劃分管理員與師生權限。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0ED61D-1E8B-CA36-8D71-0BBE74AAD765}"/>
              </a:ext>
            </a:extLst>
          </p:cNvPr>
          <p:cNvSpPr txBox="1"/>
          <p:nvPr/>
        </p:nvSpPr>
        <p:spPr>
          <a:xfrm>
            <a:off x="2486232" y="5929951"/>
            <a:ext cx="10398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2">
                    <a:lumMod val="90000"/>
                    <a:lumOff val="1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保留完整操作歷史與審核軌跡，責任清晰可查。</a:t>
            </a:r>
          </a:p>
        </p:txBody>
      </p:sp>
      <p:sp>
        <p:nvSpPr>
          <p:cNvPr id="22" name="標題 1">
            <a:extLst>
              <a:ext uri="{FF2B5EF4-FFF2-40B4-BE49-F238E27FC236}">
                <a16:creationId xmlns:a16="http://schemas.microsoft.com/office/drawing/2014/main" id="{B196DBF6-810F-4B2C-A93A-2771175CE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25" y="-7170310"/>
            <a:ext cx="4324350" cy="1325563"/>
          </a:xfrm>
        </p:spPr>
        <p:txBody>
          <a:bodyPr>
            <a:noAutofit/>
          </a:bodyPr>
          <a:lstStyle/>
          <a:p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專題急需</a:t>
            </a:r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D4F44EE3-1271-033E-E20D-FC23A6F7D495}"/>
              </a:ext>
            </a:extLst>
          </p:cNvPr>
          <p:cNvSpPr txBox="1">
            <a:spLocks/>
          </p:cNvSpPr>
          <p:nvPr/>
        </p:nvSpPr>
        <p:spPr>
          <a:xfrm>
            <a:off x="479425" y="-5486258"/>
            <a:ext cx="50101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學生器材借用與通報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400" b="1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學生小明最近在趕專題展演，急需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特定的投影機與實驗器材。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同時，他發現實驗室的一台電腦故障了，需要即時向系辦發出</a:t>
            </a:r>
            <a:r>
              <a:rPr lang="zh-TW" altLang="en-US" sz="24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維修通報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內容版面配置區 3">
            <a:extLst>
              <a:ext uri="{FF2B5EF4-FFF2-40B4-BE49-F238E27FC236}">
                <a16:creationId xmlns:a16="http://schemas.microsoft.com/office/drawing/2014/main" id="{901181A8-FB22-15E6-26AA-6C00E8D4D13A}"/>
              </a:ext>
            </a:extLst>
          </p:cNvPr>
          <p:cNvSpPr txBox="1">
            <a:spLocks/>
          </p:cNvSpPr>
          <p:nvPr/>
        </p:nvSpPr>
        <p:spPr>
          <a:xfrm>
            <a:off x="5594360" y="-5704956"/>
            <a:ext cx="6597640" cy="168469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>
                <a:latin typeface="標楷體" panose="03000509000000000000" pitchFamily="65" charset="-120"/>
                <a:ea typeface="標楷體" panose="03000509000000000000" pitchFamily="65" charset="-120"/>
              </a:rPr>
              <a:t>借用</a:t>
            </a:r>
            <a:r>
              <a:rPr lang="en-US" altLang="zh-TW" sz="2400" b="1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條件篩選：依「投影機」與「可用」狀態找尋。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提出申請單：填寫借用起迄日，或填寫損壞描述。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後台審核聯動：管理員核准後，自動變更為</a:t>
            </a:r>
            <a:r>
              <a:rPr lang="zh-TW" altLang="en-US" sz="200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借出中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07A1F1A8-51B7-1524-36F3-8D42D693FFAC}"/>
              </a:ext>
            </a:extLst>
          </p:cNvPr>
          <p:cNvGrpSpPr/>
          <p:nvPr/>
        </p:nvGrpSpPr>
        <p:grpSpPr>
          <a:xfrm>
            <a:off x="-1095375" y="-8460926"/>
            <a:ext cx="4622800" cy="1200329"/>
            <a:chOff x="368300" y="1419930"/>
            <a:chExt cx="4622800" cy="1200329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4AD3276-C00D-5ACC-5B2E-F4FD1EDF24D0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28384212-B0C1-954C-8891-90826EEBF368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2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5D1E5C9-EC50-904A-07E3-EC23DEA5D877}"/>
              </a:ext>
            </a:extLst>
          </p:cNvPr>
          <p:cNvSpPr txBox="1"/>
          <p:nvPr/>
        </p:nvSpPr>
        <p:spPr>
          <a:xfrm>
            <a:off x="479425" y="-8228784"/>
            <a:ext cx="2482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應用情境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1012BFE7-426F-2211-780F-BA3D09B87413}"/>
              </a:ext>
            </a:extLst>
          </p:cNvPr>
          <p:cNvCxnSpPr>
            <a:cxnSpLocks/>
          </p:cNvCxnSpPr>
          <p:nvPr/>
        </p:nvCxnSpPr>
        <p:spPr>
          <a:xfrm>
            <a:off x="5489576" y="-5670476"/>
            <a:ext cx="0" cy="368050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">
            <a:extLst>
              <a:ext uri="{FF2B5EF4-FFF2-40B4-BE49-F238E27FC236}">
                <a16:creationId xmlns:a16="http://schemas.microsoft.com/office/drawing/2014/main" id="{F7A037FE-70A2-1A18-524C-65F55B9A0C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3" t="19527" r="16250" b="18428"/>
          <a:stretch>
            <a:fillRect/>
          </a:stretch>
        </p:blipFill>
        <p:spPr>
          <a:xfrm>
            <a:off x="6988181" y="-8355674"/>
            <a:ext cx="5073649" cy="2612001"/>
          </a:xfrm>
          <a:prstGeom prst="rect">
            <a:avLst/>
          </a:prstGeom>
        </p:spPr>
      </p:pic>
      <p:sp>
        <p:nvSpPr>
          <p:cNvPr id="31" name="內容版面配置區 3">
            <a:extLst>
              <a:ext uri="{FF2B5EF4-FFF2-40B4-BE49-F238E27FC236}">
                <a16:creationId xmlns:a16="http://schemas.microsoft.com/office/drawing/2014/main" id="{DF6DA1EF-F13C-BE44-436F-31A2EA3D67FF}"/>
              </a:ext>
            </a:extLst>
          </p:cNvPr>
          <p:cNvSpPr txBox="1">
            <a:spLocks/>
          </p:cNvSpPr>
          <p:nvPr/>
        </p:nvSpPr>
        <p:spPr>
          <a:xfrm>
            <a:off x="5594360" y="-3763724"/>
            <a:ext cx="6597640" cy="1684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</a:pP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操作流程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維修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</a:p>
          <a:p>
            <a:pPr marL="457200" indent="-45720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條件篩選：依「電腦」與「可用」狀態找尋。</a:t>
            </a: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提交設備損壞通報。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Clr>
                <a:schemeClr val="tx2">
                  <a:lumMod val="75000"/>
                  <a:lumOff val="25000"/>
                </a:schemeClr>
              </a:buClr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後台審核聯動：管理員建立維護紀錄並追蹤處理進度。</a:t>
            </a:r>
          </a:p>
        </p:txBody>
      </p:sp>
    </p:spTree>
    <p:extLst>
      <p:ext uri="{BB962C8B-B14F-4D97-AF65-F5344CB8AC3E}">
        <p14:creationId xmlns:p14="http://schemas.microsoft.com/office/powerpoint/2010/main" val="2434786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5FE1AD28-F716-3466-6E0F-31FB241540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68" r="18359"/>
          <a:stretch>
            <a:fillRect/>
          </a:stretch>
        </p:blipFill>
        <p:spPr>
          <a:xfrm>
            <a:off x="-114300" y="1689941"/>
            <a:ext cx="5644243" cy="4839159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3F7F1-0F9B-FF33-E9AE-A972CB996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29943" y="1154091"/>
            <a:ext cx="7302500" cy="2159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使用者管理：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新帳號註冊及登入驗證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忘記密碼與重設功能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角色權限控管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教師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學生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0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9CE87ED-0627-DFB1-8777-C8C06FC3D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13198" y="4646872"/>
            <a:ext cx="881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設備管理：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管理員新增、修改、刪除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依類別、狀態、地點瀏覽與搜尋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設備狀態隨流程自動更新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4D844D11-2321-057E-94D5-221356A5A30D}"/>
              </a:ext>
            </a:extLst>
          </p:cNvPr>
          <p:cNvGrpSpPr/>
          <p:nvPr/>
        </p:nvGrpSpPr>
        <p:grpSpPr>
          <a:xfrm>
            <a:off x="-1200150" y="51900"/>
            <a:ext cx="7733595" cy="1200329"/>
            <a:chOff x="368300" y="1413688"/>
            <a:chExt cx="4703473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8703ACA-22DC-C3C9-AFC9-C4E70FBC32E2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8A439A37-4F5A-9FD4-4DEE-21DC1764B964}"/>
                </a:ext>
              </a:extLst>
            </p:cNvPr>
            <p:cNvSpPr txBox="1"/>
            <p:nvPr/>
          </p:nvSpPr>
          <p:spPr>
            <a:xfrm>
              <a:off x="4335173" y="1413688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4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E9E091AE-900C-5A70-835E-4343F546E6F3}"/>
              </a:ext>
            </a:extLst>
          </p:cNvPr>
          <p:cNvSpPr txBox="1"/>
          <p:nvPr/>
        </p:nvSpPr>
        <p:spPr>
          <a:xfrm>
            <a:off x="114754" y="328900"/>
            <a:ext cx="5415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功能需求：基礎管理模組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96BF995-FAE2-A71C-58F0-CA25E4E3F2E1}"/>
              </a:ext>
            </a:extLst>
          </p:cNvPr>
          <p:cNvSpPr txBox="1"/>
          <p:nvPr/>
        </p:nvSpPr>
        <p:spPr>
          <a:xfrm>
            <a:off x="5613198" y="3212692"/>
            <a:ext cx="66992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類別管理：</a:t>
            </a:r>
          </a:p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建立清晰的資產分類目錄</a:t>
            </a:r>
          </a:p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‧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管理員專屬：新增、修改、刪除</a:t>
            </a:r>
          </a:p>
        </p:txBody>
      </p:sp>
    </p:spTree>
    <p:extLst>
      <p:ext uri="{BB962C8B-B14F-4D97-AF65-F5344CB8AC3E}">
        <p14:creationId xmlns:p14="http://schemas.microsoft.com/office/powerpoint/2010/main" val="19579382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0DD408-F672-FCC0-E1F4-FE623D953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1936" y="1803400"/>
            <a:ext cx="58721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借用管理：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提交申請，管理員審核並更新狀態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系統內建自動偵測逾期功能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維護管理：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提供設備故障通報機制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追蹤進度，完成後自動恢復「可用」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A034FB-9855-43AE-D67B-604804920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832" y="1803400"/>
            <a:ext cx="6019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報廢管理：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申請設備報廢並附上原因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審核後鎖定設備狀態為「報廢」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安全性設計：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採學校 SSO 單一登入，系統不儲存密碼，降低資料外洩風險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落實角色操作存取控制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A1192A55-B082-18CF-ADBA-5048790FD9FB}"/>
              </a:ext>
            </a:extLst>
          </p:cNvPr>
          <p:cNvGrpSpPr/>
          <p:nvPr/>
        </p:nvGrpSpPr>
        <p:grpSpPr>
          <a:xfrm>
            <a:off x="-1200150" y="58142"/>
            <a:ext cx="8152494" cy="1200329"/>
            <a:chOff x="368300" y="1419930"/>
            <a:chExt cx="4622800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4A199EE-D957-E035-C13A-0B7609F9486E}"/>
                </a:ext>
              </a:extLst>
            </p:cNvPr>
            <p:cNvSpPr/>
            <p:nvPr/>
          </p:nvSpPr>
          <p:spPr>
            <a:xfrm>
              <a:off x="368300" y="1690688"/>
              <a:ext cx="4180426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E9F17B1E-127E-7F60-5AC2-5C9F1AEEFD4B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5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BD353555-052C-3ED2-5041-63AEC5B02E1F}"/>
              </a:ext>
            </a:extLst>
          </p:cNvPr>
          <p:cNvSpPr txBox="1"/>
          <p:nvPr/>
        </p:nvSpPr>
        <p:spPr>
          <a:xfrm>
            <a:off x="0" y="328900"/>
            <a:ext cx="5705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功能需求：流程與資安模組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CAB8FF1-8CA2-CF26-DAB1-410CB9FFAE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-57150" y="-1327"/>
            <a:ext cx="12458700" cy="68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635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15A9AE-5671-1F7E-65B8-DC8E99C6D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30DCDD2-CF2D-4088-86BD-D1F6055125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2" b="3886"/>
          <a:stretch>
            <a:fillRect/>
          </a:stretch>
        </p:blipFill>
        <p:spPr>
          <a:xfrm>
            <a:off x="6004619" y="2748989"/>
            <a:ext cx="6034980" cy="2781016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F83F1D7C-421E-A9C5-8DDA-9127F54A21B7}"/>
              </a:ext>
            </a:extLst>
          </p:cNvPr>
          <p:cNvGrpSpPr/>
          <p:nvPr/>
        </p:nvGrpSpPr>
        <p:grpSpPr>
          <a:xfrm>
            <a:off x="-1069521" y="687341"/>
            <a:ext cx="8152494" cy="1200329"/>
            <a:chOff x="368300" y="1419930"/>
            <a:chExt cx="4622800" cy="1200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4163951-A541-478D-66E1-5B0F7EBA3678}"/>
                </a:ext>
              </a:extLst>
            </p:cNvPr>
            <p:cNvSpPr/>
            <p:nvPr/>
          </p:nvSpPr>
          <p:spPr>
            <a:xfrm>
              <a:off x="368300" y="1690688"/>
              <a:ext cx="4180426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3B132383-70F2-05AA-02A5-E79683ABC8DE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5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398870C-D56A-5D8B-E870-DD915AEA8462}"/>
              </a:ext>
            </a:extLst>
          </p:cNvPr>
          <p:cNvSpPr txBox="1"/>
          <p:nvPr/>
        </p:nvSpPr>
        <p:spPr>
          <a:xfrm>
            <a:off x="130629" y="958099"/>
            <a:ext cx="5705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功能需求：流程與資安模組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B7F45B2E-40F6-FC6C-927C-FC5A02A4C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74"/>
          <a:stretch>
            <a:fillRect/>
          </a:stretch>
        </p:blipFill>
        <p:spPr>
          <a:xfrm>
            <a:off x="359230" y="2748989"/>
            <a:ext cx="5943599" cy="282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139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15D53-1505-AEA7-F6EB-6AB291B5C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6DFF0353-BDF1-EF8F-0160-6723E1A29D7F}"/>
              </a:ext>
            </a:extLst>
          </p:cNvPr>
          <p:cNvGrpSpPr/>
          <p:nvPr/>
        </p:nvGrpSpPr>
        <p:grpSpPr>
          <a:xfrm>
            <a:off x="-2562121" y="242709"/>
            <a:ext cx="8152494" cy="1200329"/>
            <a:chOff x="368300" y="1419930"/>
            <a:chExt cx="4622800" cy="1200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0AF2B56-B4BA-1FE6-E55B-8A41049F1AAE}"/>
                </a:ext>
              </a:extLst>
            </p:cNvPr>
            <p:cNvSpPr/>
            <p:nvPr/>
          </p:nvSpPr>
          <p:spPr>
            <a:xfrm>
              <a:off x="368300" y="1690688"/>
              <a:ext cx="4180426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801EC89-8510-B8C4-9BF2-78E3C086768C}"/>
                </a:ext>
              </a:extLst>
            </p:cNvPr>
            <p:cNvSpPr txBox="1"/>
            <p:nvPr/>
          </p:nvSpPr>
          <p:spPr>
            <a:xfrm>
              <a:off x="4254500" y="141993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652C257-6C2D-6C51-D97D-BA449D4BECAD}"/>
              </a:ext>
            </a:extLst>
          </p:cNvPr>
          <p:cNvSpPr txBox="1"/>
          <p:nvPr/>
        </p:nvSpPr>
        <p:spPr>
          <a:xfrm>
            <a:off x="977964" y="490359"/>
            <a:ext cx="3641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實體關係摘要 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BC3181F-3528-BB50-3967-DBF7DBAC2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667" y="314439"/>
            <a:ext cx="5908334" cy="6339456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436280E-70E5-C0AF-3C7A-83F04B870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93777"/>
              </p:ext>
            </p:extLst>
          </p:nvPr>
        </p:nvGraphicFramePr>
        <p:xfrm>
          <a:off x="310718" y="1713796"/>
          <a:ext cx="6136906" cy="38904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8385">
                  <a:extLst>
                    <a:ext uri="{9D8B030D-6E8A-4147-A177-3AD203B41FA5}">
                      <a16:colId xmlns:a16="http://schemas.microsoft.com/office/drawing/2014/main" val="4206831313"/>
                    </a:ext>
                  </a:extLst>
                </a:gridCol>
                <a:gridCol w="3618521">
                  <a:extLst>
                    <a:ext uri="{9D8B030D-6E8A-4147-A177-3AD203B41FA5}">
                      <a16:colId xmlns:a16="http://schemas.microsoft.com/office/drawing/2014/main" val="4205606413"/>
                    </a:ext>
                  </a:extLst>
                </a:gridCol>
              </a:tblGrid>
              <a:tr h="416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effectLst/>
                        </a:rPr>
                        <a:t>關係描述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effectLst/>
                        </a:rPr>
                        <a:t>基數與說明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444792351"/>
                  </a:ext>
                </a:extLst>
              </a:tr>
              <a:tr h="41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Member ─── </a:t>
                      </a:r>
                      <a:r>
                        <a:rPr lang="en-US" sz="1400" dirty="0" err="1">
                          <a:effectLst/>
                        </a:rPr>
                        <a:t>BorrowRecord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1:N</a:t>
                      </a:r>
                      <a:r>
                        <a:rPr lang="zh-TW" sz="1400" dirty="0">
                          <a:effectLst/>
                        </a:rPr>
                        <a:t>　　一位使用者可申請多筆借用紀錄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018353799"/>
                  </a:ext>
                </a:extLst>
              </a:tr>
              <a:tr h="41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Equipment ─── BorrowRecord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1:N</a:t>
                      </a:r>
                      <a:r>
                        <a:rPr lang="zh-TW" sz="1400" dirty="0">
                          <a:effectLst/>
                        </a:rPr>
                        <a:t>　　一項設備可有多筆借用紀錄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26983945"/>
                  </a:ext>
                </a:extLst>
              </a:tr>
              <a:tr h="41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Member ─── MaintenanceRecord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1:N</a:t>
                      </a:r>
                      <a:r>
                        <a:rPr lang="zh-TW" sz="1400" dirty="0">
                          <a:effectLst/>
                        </a:rPr>
                        <a:t>　　一位使用者可申報多筆維護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82421016"/>
                  </a:ext>
                </a:extLst>
              </a:tr>
              <a:tr h="41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Equipment ─── MaintenanceRecord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1:N</a:t>
                      </a:r>
                      <a:r>
                        <a:rPr lang="zh-TW" sz="1400" dirty="0">
                          <a:effectLst/>
                        </a:rPr>
                        <a:t>　　一項設備可累積多筆維護紀錄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10327589"/>
                  </a:ext>
                </a:extLst>
              </a:tr>
              <a:tr h="41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Member ─── RetirementRequest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1:N</a:t>
                      </a:r>
                      <a:r>
                        <a:rPr lang="zh-TW" sz="1400" dirty="0">
                          <a:effectLst/>
                        </a:rPr>
                        <a:t>　　一位使用者可提出多筆報廢申請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83499293"/>
                  </a:ext>
                </a:extLst>
              </a:tr>
              <a:tr h="41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Equipment ─── </a:t>
                      </a:r>
                      <a:r>
                        <a:rPr lang="en-US" sz="1400" dirty="0" err="1">
                          <a:effectLst/>
                        </a:rPr>
                        <a:t>RetirementRequest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1:N</a:t>
                      </a:r>
                      <a:r>
                        <a:rPr lang="zh-TW" sz="1400" dirty="0">
                          <a:effectLst/>
                        </a:rPr>
                        <a:t>　　一項設備可被多筆報廢申請請求將其進行報廢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54639047"/>
                  </a:ext>
                </a:extLst>
              </a:tr>
              <a:tr h="41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Category ─── Equipment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1:N</a:t>
                      </a:r>
                      <a:r>
                        <a:rPr lang="zh-TW" sz="1400" dirty="0">
                          <a:effectLst/>
                        </a:rPr>
                        <a:t>　　一個類別下包含多項設備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1322830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50C5353B-2926-C233-B98A-60DFF4D9DAE7}"/>
              </a:ext>
            </a:extLst>
          </p:cNvPr>
          <p:cNvSpPr txBox="1"/>
          <p:nvPr/>
        </p:nvSpPr>
        <p:spPr>
          <a:xfrm>
            <a:off x="403566" y="5772566"/>
            <a:ext cx="5880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None/>
            </a:pPr>
            <a:r>
              <a:rPr lang="zh-TW" altLang="zh-TW" sz="18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標楷體" panose="03000509000000000000" pitchFamily="65" charset="-120"/>
              </a:rPr>
              <a:t>＊本系統採學校</a:t>
            </a:r>
            <a:r>
              <a:rPr lang="en-US" altLang="zh-TW" sz="18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標楷體" panose="03000509000000000000" pitchFamily="65" charset="-120"/>
              </a:rPr>
              <a:t> SSO </a:t>
            </a:r>
            <a:r>
              <a:rPr lang="zh-TW" altLang="zh-TW" sz="18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標楷體" panose="03000509000000000000" pitchFamily="65" charset="-120"/>
              </a:rPr>
              <a:t>單一登入驗證，不自行儲存密碼，故無</a:t>
            </a:r>
            <a:r>
              <a:rPr lang="en-US" altLang="zh-TW" sz="18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標楷體" panose="03000509000000000000" pitchFamily="65" charset="-120"/>
              </a:rPr>
              <a:t> Password </a:t>
            </a:r>
            <a:r>
              <a:rPr lang="zh-TW" altLang="zh-TW" sz="18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標楷體" panose="03000509000000000000" pitchFamily="65" charset="-120"/>
              </a:rPr>
              <a:t>資料表。</a:t>
            </a:r>
            <a:endParaRPr lang="zh-TW" altLang="zh-TW" sz="2800" dirty="0">
              <a:effectLst/>
              <a:latin typeface="標楷體" panose="03000509000000000000" pitchFamily="65" charset="-120"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6164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A74A24C7-D8F7-A73E-4AEF-F97B7498F865}"/>
              </a:ext>
            </a:extLst>
          </p:cNvPr>
          <p:cNvGrpSpPr/>
          <p:nvPr/>
        </p:nvGrpSpPr>
        <p:grpSpPr>
          <a:xfrm>
            <a:off x="-1200150" y="80872"/>
            <a:ext cx="7913284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1A36DB9-54FB-BE2E-C975-C0638787E256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790B9DC8-263E-8181-D411-460A0EBEA513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925F6F65-3223-1AF7-22FA-2D537FB1FEF4}"/>
              </a:ext>
            </a:extLst>
          </p:cNvPr>
          <p:cNvSpPr txBox="1"/>
          <p:nvPr/>
        </p:nvSpPr>
        <p:spPr>
          <a:xfrm>
            <a:off x="49716" y="341381"/>
            <a:ext cx="5429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實體表：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Member (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使用者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CE6C16E-BB63-750A-16DE-0FBEF24E7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8644"/>
            <a:ext cx="5818715" cy="3422774"/>
          </a:xfrm>
          <a:prstGeom prst="rect">
            <a:avLst/>
          </a:prstGeom>
        </p:spPr>
      </p:pic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AC419BF6-983F-E516-3E0E-2832AB870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440353"/>
              </p:ext>
            </p:extLst>
          </p:nvPr>
        </p:nvGraphicFramePr>
        <p:xfrm>
          <a:off x="5590094" y="1162527"/>
          <a:ext cx="6457360" cy="544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0038">
                  <a:extLst>
                    <a:ext uri="{9D8B030D-6E8A-4147-A177-3AD203B41FA5}">
                      <a16:colId xmlns:a16="http://schemas.microsoft.com/office/drawing/2014/main" val="2670266609"/>
                    </a:ext>
                  </a:extLst>
                </a:gridCol>
                <a:gridCol w="1385938">
                  <a:extLst>
                    <a:ext uri="{9D8B030D-6E8A-4147-A177-3AD203B41FA5}">
                      <a16:colId xmlns:a16="http://schemas.microsoft.com/office/drawing/2014/main" val="1993058790"/>
                    </a:ext>
                  </a:extLst>
                </a:gridCol>
                <a:gridCol w="1472557">
                  <a:extLst>
                    <a:ext uri="{9D8B030D-6E8A-4147-A177-3AD203B41FA5}">
                      <a16:colId xmlns:a16="http://schemas.microsoft.com/office/drawing/2014/main" val="780937139"/>
                    </a:ext>
                  </a:extLst>
                </a:gridCol>
                <a:gridCol w="2288827">
                  <a:extLst>
                    <a:ext uri="{9D8B030D-6E8A-4147-A177-3AD203B41FA5}">
                      <a16:colId xmlns:a16="http://schemas.microsoft.com/office/drawing/2014/main" val="2470827280"/>
                    </a:ext>
                  </a:extLst>
                </a:gridCol>
              </a:tblGrid>
              <a:tr h="306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屬性名稱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說明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值域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完整性限制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05630465"/>
                  </a:ext>
                </a:extLst>
              </a:tr>
              <a:tr h="955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mId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使用者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整數，從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 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開始遞增（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AUTO_INCREMENT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）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PK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、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495667654"/>
                  </a:ext>
                </a:extLst>
              </a:tr>
              <a:tr h="52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mAccount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帳號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長度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6~20 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英數字混合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UNIQUE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、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415568972"/>
                  </a:ext>
                </a:extLst>
              </a:tr>
              <a:tr h="52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mName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姓名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長度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2~12 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的文字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995146673"/>
                  </a:ext>
                </a:extLst>
              </a:tr>
              <a:tr h="52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mEmail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電子郵件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需含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@ 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與網域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UNIQUE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、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952586079"/>
                  </a:ext>
                </a:extLst>
              </a:tr>
              <a:tr h="738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mPhone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連絡電話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09xxxxxxxx 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格式（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10 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位數字）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033490188"/>
                  </a:ext>
                </a:extLst>
              </a:tr>
              <a:tr h="522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mRole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角色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管理員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教師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學生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711287352"/>
                  </a:ext>
                </a:extLst>
              </a:tr>
              <a:tr h="738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mCreateDate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建立日期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日期格式，建立時自動填入當日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2586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1362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BC4A04C-7088-6B01-711F-37EAB6CAA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09" y="2269383"/>
            <a:ext cx="5503956" cy="3136445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3B05EA3-1DDE-EB8C-AAD1-3F1BE06E4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726550"/>
              </p:ext>
            </p:extLst>
          </p:nvPr>
        </p:nvGraphicFramePr>
        <p:xfrm>
          <a:off x="5430689" y="1281201"/>
          <a:ext cx="6433764" cy="5303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0202">
                  <a:extLst>
                    <a:ext uri="{9D8B030D-6E8A-4147-A177-3AD203B41FA5}">
                      <a16:colId xmlns:a16="http://schemas.microsoft.com/office/drawing/2014/main" val="2636085727"/>
                    </a:ext>
                  </a:extLst>
                </a:gridCol>
                <a:gridCol w="1417368">
                  <a:extLst>
                    <a:ext uri="{9D8B030D-6E8A-4147-A177-3AD203B41FA5}">
                      <a16:colId xmlns:a16="http://schemas.microsoft.com/office/drawing/2014/main" val="1111709749"/>
                    </a:ext>
                  </a:extLst>
                </a:gridCol>
                <a:gridCol w="2030282">
                  <a:extLst>
                    <a:ext uri="{9D8B030D-6E8A-4147-A177-3AD203B41FA5}">
                      <a16:colId xmlns:a16="http://schemas.microsoft.com/office/drawing/2014/main" val="1310703435"/>
                    </a:ext>
                  </a:extLst>
                </a:gridCol>
                <a:gridCol w="1745912">
                  <a:extLst>
                    <a:ext uri="{9D8B030D-6E8A-4147-A177-3AD203B41FA5}">
                      <a16:colId xmlns:a16="http://schemas.microsoft.com/office/drawing/2014/main" val="1852199078"/>
                    </a:ext>
                  </a:extLst>
                </a:gridCol>
              </a:tblGrid>
              <a:tr h="2521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屬性名稱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說明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值域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完整性限制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551030245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eId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設備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從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 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開始遞增（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AUTO_INCREMENT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）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PK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、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54195829"/>
                  </a:ext>
                </a:extLst>
              </a:tr>
              <a:tr h="430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ePropertyNo</a:t>
                      </a:r>
                      <a:endParaRPr lang="zh-TW" sz="16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財產編號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財產編號格式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(EQ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開頭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)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UNIQUE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、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822735172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eName</a:t>
                      </a:r>
                      <a:endParaRPr lang="zh-TW" sz="16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設備名稱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長度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1~40 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的文字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889003790"/>
                  </a:ext>
                </a:extLst>
              </a:tr>
              <a:tr h="533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cId</a:t>
                      </a:r>
                      <a:endParaRPr lang="zh-TW" sz="16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類別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FK →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Category.cId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791087976"/>
                  </a:ext>
                </a:extLst>
              </a:tr>
              <a:tr h="43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eStatus</a:t>
                      </a:r>
                      <a:endParaRPr lang="zh-TW" sz="16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設備狀態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可用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借出中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維修中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報廢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83556048"/>
                  </a:ext>
                </a:extLst>
              </a:tr>
              <a:tr h="43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eLocation</a:t>
                      </a:r>
                      <a:endParaRPr lang="zh-TW" sz="16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存放地點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如「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B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棟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307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室」；長度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1~64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194371425"/>
                  </a:ext>
                </a:extLst>
              </a:tr>
              <a:tr h="430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ePurchaseDate</a:t>
                      </a:r>
                      <a:endParaRPr lang="zh-TW" sz="16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購入日期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日期格式，不得為未來日期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647029497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eWarrantyDate</a:t>
                      </a:r>
                      <a:endParaRPr lang="zh-TW" sz="16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保固到期日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日期格式，需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&gt;= ePurchaseDate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8093402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eNote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備註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長度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1~256 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的文字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299455092"/>
                  </a:ext>
                </a:extLst>
              </a:tr>
            </a:tbl>
          </a:graphicData>
        </a:graphic>
      </p:graphicFrame>
      <p:grpSp>
        <p:nvGrpSpPr>
          <p:cNvPr id="13" name="群組 12">
            <a:extLst>
              <a:ext uri="{FF2B5EF4-FFF2-40B4-BE49-F238E27FC236}">
                <a16:creationId xmlns:a16="http://schemas.microsoft.com/office/drawing/2014/main" id="{56542EB4-1FFB-17EF-102D-693D60EF7B97}"/>
              </a:ext>
            </a:extLst>
          </p:cNvPr>
          <p:cNvGrpSpPr/>
          <p:nvPr/>
        </p:nvGrpSpPr>
        <p:grpSpPr>
          <a:xfrm>
            <a:off x="-1200151" y="80872"/>
            <a:ext cx="9095921" cy="1200329"/>
            <a:chOff x="368300" y="1442660"/>
            <a:chExt cx="4722578" cy="120032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01688BC-F35F-C4F2-ABE1-292EE275C86C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7C92D44-A635-1156-D6D5-D93AE5141E77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BC78263-AD0E-4730-E75D-B91664D22BCF}"/>
              </a:ext>
            </a:extLst>
          </p:cNvPr>
          <p:cNvSpPr txBox="1"/>
          <p:nvPr/>
        </p:nvSpPr>
        <p:spPr>
          <a:xfrm>
            <a:off x="49716" y="341381"/>
            <a:ext cx="6655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實體表：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Equipment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（設備資料）</a:t>
            </a:r>
          </a:p>
        </p:txBody>
      </p:sp>
    </p:spTree>
    <p:extLst>
      <p:ext uri="{BB962C8B-B14F-4D97-AF65-F5344CB8AC3E}">
        <p14:creationId xmlns:p14="http://schemas.microsoft.com/office/powerpoint/2010/main" val="31008197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3C384B6-40CD-1C39-CCBD-80FD4C00B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909930"/>
              </p:ext>
            </p:extLst>
          </p:nvPr>
        </p:nvGraphicFramePr>
        <p:xfrm>
          <a:off x="5278990" y="2299295"/>
          <a:ext cx="6268824" cy="3359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3243">
                  <a:extLst>
                    <a:ext uri="{9D8B030D-6E8A-4147-A177-3AD203B41FA5}">
                      <a16:colId xmlns:a16="http://schemas.microsoft.com/office/drawing/2014/main" val="1920340815"/>
                    </a:ext>
                  </a:extLst>
                </a:gridCol>
                <a:gridCol w="1292837">
                  <a:extLst>
                    <a:ext uri="{9D8B030D-6E8A-4147-A177-3AD203B41FA5}">
                      <a16:colId xmlns:a16="http://schemas.microsoft.com/office/drawing/2014/main" val="2661460474"/>
                    </a:ext>
                  </a:extLst>
                </a:gridCol>
                <a:gridCol w="2145346">
                  <a:extLst>
                    <a:ext uri="{9D8B030D-6E8A-4147-A177-3AD203B41FA5}">
                      <a16:colId xmlns:a16="http://schemas.microsoft.com/office/drawing/2014/main" val="2659979923"/>
                    </a:ext>
                  </a:extLst>
                </a:gridCol>
                <a:gridCol w="1687398">
                  <a:extLst>
                    <a:ext uri="{9D8B030D-6E8A-4147-A177-3AD203B41FA5}">
                      <a16:colId xmlns:a16="http://schemas.microsoft.com/office/drawing/2014/main" val="490782694"/>
                    </a:ext>
                  </a:extLst>
                </a:gridCol>
              </a:tblGrid>
              <a:tr h="5499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b="1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屬性名稱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說明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值域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完整性限制</a:t>
                      </a:r>
                      <a:endParaRPr lang="zh-TW" alt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277161510"/>
                  </a:ext>
                </a:extLst>
              </a:tr>
              <a:tr h="1246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cId</a:t>
                      </a:r>
                      <a:endParaRPr lang="zh-TW" sz="18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類別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整數，從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 </a:t>
                      </a:r>
                      <a:r>
                        <a:rPr lang="zh-TW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開始遞增（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AUTO_INCREMENT</a:t>
                      </a:r>
                      <a:r>
                        <a:rPr lang="zh-TW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）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PK</a:t>
                      </a:r>
                      <a:r>
                        <a:rPr lang="zh-TW" sz="18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、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141214976"/>
                  </a:ext>
                </a:extLst>
              </a:tr>
              <a:tr h="1014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cName</a:t>
                      </a:r>
                      <a:endParaRPr lang="zh-TW" sz="18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類別名稱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長度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1~16</a:t>
                      </a:r>
                      <a:r>
                        <a:rPr lang="zh-TW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；如電腦、投影機、網路設備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134834281"/>
                  </a:ext>
                </a:extLst>
              </a:tr>
              <a:tr h="549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cOutline</a:t>
                      </a:r>
                      <a:endParaRPr lang="zh-TW" sz="18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類別概述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長度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1~64 </a:t>
                      </a:r>
                      <a:r>
                        <a:rPr lang="zh-TW" sz="18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的文字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310967228"/>
                  </a:ext>
                </a:extLst>
              </a:tr>
            </a:tbl>
          </a:graphicData>
        </a:graphic>
      </p:graphicFrame>
      <p:grpSp>
        <p:nvGrpSpPr>
          <p:cNvPr id="13" name="群組 12">
            <a:extLst>
              <a:ext uri="{FF2B5EF4-FFF2-40B4-BE49-F238E27FC236}">
                <a16:creationId xmlns:a16="http://schemas.microsoft.com/office/drawing/2014/main" id="{F0A24BB4-098C-CF83-2BF9-DC0D8A825527}"/>
              </a:ext>
            </a:extLst>
          </p:cNvPr>
          <p:cNvGrpSpPr/>
          <p:nvPr/>
        </p:nvGrpSpPr>
        <p:grpSpPr>
          <a:xfrm>
            <a:off x="-1200151" y="80872"/>
            <a:ext cx="10426701" cy="1200329"/>
            <a:chOff x="368300" y="1442660"/>
            <a:chExt cx="4722578" cy="120032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6288395-EE1E-0CA8-F08A-498CEE88D5BD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9A921029-DA28-90B7-B15E-EF3782400D2F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6067953-8833-B051-17B6-E07EE4DB4FA6}"/>
              </a:ext>
            </a:extLst>
          </p:cNvPr>
          <p:cNvSpPr txBox="1"/>
          <p:nvPr/>
        </p:nvSpPr>
        <p:spPr>
          <a:xfrm>
            <a:off x="49716" y="341381"/>
            <a:ext cx="7629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實體表：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Category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（設備類別）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13E8221-328C-143A-0B1E-D2AA29A71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56" y="2393141"/>
            <a:ext cx="3886742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454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DC0BB44-F84F-B22B-AE34-7E1069FD6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6" y="2180456"/>
            <a:ext cx="5140182" cy="3937540"/>
          </a:xfrm>
          <a:prstGeom prst="rect">
            <a:avLst/>
          </a:prstGeom>
        </p:spPr>
      </p:pic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FDCFE7A-0660-17F1-914F-D5343D19E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133687"/>
              </p:ext>
            </p:extLst>
          </p:nvPr>
        </p:nvGraphicFramePr>
        <p:xfrm>
          <a:off x="5189898" y="1187190"/>
          <a:ext cx="6922197" cy="56162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5024">
                  <a:extLst>
                    <a:ext uri="{9D8B030D-6E8A-4147-A177-3AD203B41FA5}">
                      <a16:colId xmlns:a16="http://schemas.microsoft.com/office/drawing/2014/main" val="1938562011"/>
                    </a:ext>
                  </a:extLst>
                </a:gridCol>
                <a:gridCol w="1303007">
                  <a:extLst>
                    <a:ext uri="{9D8B030D-6E8A-4147-A177-3AD203B41FA5}">
                      <a16:colId xmlns:a16="http://schemas.microsoft.com/office/drawing/2014/main" val="3097408967"/>
                    </a:ext>
                  </a:extLst>
                </a:gridCol>
                <a:gridCol w="2018189">
                  <a:extLst>
                    <a:ext uri="{9D8B030D-6E8A-4147-A177-3AD203B41FA5}">
                      <a16:colId xmlns:a16="http://schemas.microsoft.com/office/drawing/2014/main" val="437994860"/>
                    </a:ext>
                  </a:extLst>
                </a:gridCol>
                <a:gridCol w="2055977">
                  <a:extLst>
                    <a:ext uri="{9D8B030D-6E8A-4147-A177-3AD203B41FA5}">
                      <a16:colId xmlns:a16="http://schemas.microsoft.com/office/drawing/2014/main" val="845953157"/>
                    </a:ext>
                  </a:extLst>
                </a:gridCol>
              </a:tblGrid>
              <a:tr h="3245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5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屬性名稱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500" b="1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說明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5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值域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5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完整性限制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917633793"/>
                  </a:ext>
                </a:extLst>
              </a:tr>
              <a:tr h="553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bId</a:t>
                      </a:r>
                      <a:endParaRPr lang="zh-TW" sz="15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借用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整數，從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 </a:t>
                      </a:r>
                      <a:r>
                        <a:rPr lang="zh-TW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開始遞增（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AUTO_INCREMENT</a:t>
                      </a:r>
                      <a:r>
                        <a:rPr lang="zh-TW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）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PK</a:t>
                      </a: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、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555631134"/>
                  </a:ext>
                </a:extLst>
              </a:tr>
              <a:tr h="458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mId</a:t>
                      </a:r>
                      <a:endParaRPr lang="zh-TW" sz="15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使用者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FK → </a:t>
                      </a:r>
                      <a:r>
                        <a:rPr lang="en-US" sz="1500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Member.mId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427382105"/>
                  </a:ext>
                </a:extLst>
              </a:tr>
              <a:tr h="458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eId</a:t>
                      </a:r>
                      <a:endParaRPr lang="zh-TW" sz="15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設備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FK → </a:t>
                      </a:r>
                      <a:r>
                        <a:rPr lang="en-US" sz="1500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Equipment.eId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523498487"/>
                  </a:ext>
                </a:extLst>
              </a:tr>
              <a:tr h="553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bApplyDate</a:t>
                      </a:r>
                      <a:endParaRPr lang="zh-TW" sz="15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申請日期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日期格式，申請當日日期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66961833"/>
                  </a:ext>
                </a:extLst>
              </a:tr>
              <a:tr h="458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bApprovedBy</a:t>
                      </a:r>
                      <a:endParaRPr lang="zh-TW" sz="15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審核員 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FK -&gt; </a:t>
                      </a:r>
                      <a:r>
                        <a:rPr lang="en-US" sz="1500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Member.mId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NULL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385576629"/>
                  </a:ext>
                </a:extLst>
              </a:tr>
              <a:tr h="324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bApprovedDate</a:t>
                      </a:r>
                      <a:endParaRPr lang="zh-TW" sz="15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審核日期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審核通過日期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45574243"/>
                  </a:ext>
                </a:extLst>
              </a:tr>
              <a:tr h="553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bStartDate</a:t>
                      </a:r>
                      <a:endParaRPr lang="zh-TW" sz="15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借用開始日期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日期格式，借用起始日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352311691"/>
                  </a:ext>
                </a:extLst>
              </a:tr>
              <a:tr h="553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bEndDate</a:t>
                      </a:r>
                      <a:endParaRPr lang="zh-TW" sz="15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預計歸還日期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日期格式，需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&gt;= bStartDate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0907558"/>
                  </a:ext>
                </a:extLst>
              </a:tr>
              <a:tr h="782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bReturnDate</a:t>
                      </a:r>
                      <a:endParaRPr lang="zh-TW" sz="150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實際歸還日期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日期格式，歸還後填入；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需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&gt;= bStartDate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17363893"/>
                  </a:ext>
                </a:extLst>
              </a:tr>
              <a:tr h="553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bStatus</a:t>
                      </a:r>
                      <a:endParaRPr lang="zh-TW" sz="15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借用狀態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申請中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核准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已歸還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逾期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5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拒絕</a:t>
                      </a:r>
                      <a:endParaRPr lang="zh-TW" sz="15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5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286955432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D43A8A96-B2C2-C8D9-1A1A-99DCBAE177E8}"/>
              </a:ext>
            </a:extLst>
          </p:cNvPr>
          <p:cNvGrpSpPr/>
          <p:nvPr/>
        </p:nvGrpSpPr>
        <p:grpSpPr>
          <a:xfrm>
            <a:off x="-1416966" y="64556"/>
            <a:ext cx="10426701" cy="1200329"/>
            <a:chOff x="368300" y="1442660"/>
            <a:chExt cx="4722578" cy="120032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CC28BC1-62E8-B462-F144-07A83BA6BA5E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2EA5394C-887E-B90E-A611-D217A236CF6A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C6CB38D-20BC-5C51-15CA-3EDBB3CFC403}"/>
              </a:ext>
            </a:extLst>
          </p:cNvPr>
          <p:cNvSpPr txBox="1"/>
          <p:nvPr/>
        </p:nvSpPr>
        <p:spPr>
          <a:xfrm>
            <a:off x="49716" y="341381"/>
            <a:ext cx="7629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實體表：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BorrowRecord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（借用紀錄）</a:t>
            </a:r>
          </a:p>
        </p:txBody>
      </p:sp>
    </p:spTree>
    <p:extLst>
      <p:ext uri="{BB962C8B-B14F-4D97-AF65-F5344CB8AC3E}">
        <p14:creationId xmlns:p14="http://schemas.microsoft.com/office/powerpoint/2010/main" val="21664987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3C918F17-1B7A-886A-4967-12BD68DDE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7" y="1399413"/>
            <a:ext cx="5010849" cy="5458587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BB9620D-AA8F-32BC-609F-953742666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386383"/>
              </p:ext>
            </p:extLst>
          </p:nvPr>
        </p:nvGraphicFramePr>
        <p:xfrm>
          <a:off x="4983217" y="1734147"/>
          <a:ext cx="6834287" cy="45342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1026">
                  <a:extLst>
                    <a:ext uri="{9D8B030D-6E8A-4147-A177-3AD203B41FA5}">
                      <a16:colId xmlns:a16="http://schemas.microsoft.com/office/drawing/2014/main" val="3813760441"/>
                    </a:ext>
                  </a:extLst>
                </a:gridCol>
                <a:gridCol w="1613362">
                  <a:extLst>
                    <a:ext uri="{9D8B030D-6E8A-4147-A177-3AD203B41FA5}">
                      <a16:colId xmlns:a16="http://schemas.microsoft.com/office/drawing/2014/main" val="1555622788"/>
                    </a:ext>
                  </a:extLst>
                </a:gridCol>
                <a:gridCol w="2424184">
                  <a:extLst>
                    <a:ext uri="{9D8B030D-6E8A-4147-A177-3AD203B41FA5}">
                      <a16:colId xmlns:a16="http://schemas.microsoft.com/office/drawing/2014/main" val="2331807976"/>
                    </a:ext>
                  </a:extLst>
                </a:gridCol>
                <a:gridCol w="1675715">
                  <a:extLst>
                    <a:ext uri="{9D8B030D-6E8A-4147-A177-3AD203B41FA5}">
                      <a16:colId xmlns:a16="http://schemas.microsoft.com/office/drawing/2014/main" val="4184786413"/>
                    </a:ext>
                  </a:extLst>
                </a:gridCol>
              </a:tblGrid>
              <a:tr h="340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屬性名稱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說明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值域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完整性限制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016052782"/>
                  </a:ext>
                </a:extLst>
              </a:tr>
              <a:tr h="655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mRecId</a:t>
                      </a:r>
                      <a:endParaRPr lang="zh-TW" sz="14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維護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整數，從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 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開始遞增（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AUTO_INCREMENT</a:t>
                      </a: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）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PK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、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703305680"/>
                  </a:ext>
                </a:extLst>
              </a:tr>
              <a:tr h="665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eId</a:t>
                      </a:r>
                      <a:endParaRPr lang="zh-TW" sz="14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設備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FK → Equipment.eId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873116233"/>
                  </a:ext>
                </a:extLst>
              </a:tr>
              <a:tr h="503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mId</a:t>
                      </a:r>
                      <a:endParaRPr lang="zh-TW" sz="14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申報人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FK →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Member.mId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979742838"/>
                  </a:ext>
                </a:extLst>
              </a:tr>
              <a:tr h="40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mRecDate</a:t>
                      </a:r>
                      <a:endParaRPr lang="zh-TW" sz="14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維護日期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日期格式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68875566"/>
                  </a:ext>
                </a:extLst>
              </a:tr>
              <a:tr h="40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mIssue</a:t>
                      </a:r>
                      <a:endParaRPr lang="zh-TW" sz="14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問題描述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長度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1~256 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的文字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981153063"/>
                  </a:ext>
                </a:extLst>
              </a:tr>
              <a:tr h="578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mResult</a:t>
                      </a:r>
                      <a:endParaRPr lang="zh-TW" sz="14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處理結果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完成後填入；長度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1~256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876101738"/>
                  </a:ext>
                </a:extLst>
              </a:tr>
              <a:tr h="40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mStaff</a:t>
                      </a:r>
                      <a:endParaRPr lang="zh-TW" sz="14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負責人員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處理人員姓名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13722428"/>
                  </a:ext>
                </a:extLst>
              </a:tr>
              <a:tr h="578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mStatus</a:t>
                      </a:r>
                      <a:endParaRPr lang="zh-TW" sz="14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維護狀態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待處理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處理中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4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已完成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988243261"/>
                  </a:ext>
                </a:extLst>
              </a:tr>
            </a:tbl>
          </a:graphicData>
        </a:graphic>
      </p:graphicFrame>
      <p:grpSp>
        <p:nvGrpSpPr>
          <p:cNvPr id="6" name="群組 5">
            <a:extLst>
              <a:ext uri="{FF2B5EF4-FFF2-40B4-BE49-F238E27FC236}">
                <a16:creationId xmlns:a16="http://schemas.microsoft.com/office/drawing/2014/main" id="{555DD0E9-DD78-F716-6FD6-E2465E953E72}"/>
              </a:ext>
            </a:extLst>
          </p:cNvPr>
          <p:cNvGrpSpPr/>
          <p:nvPr/>
        </p:nvGrpSpPr>
        <p:grpSpPr>
          <a:xfrm>
            <a:off x="-1200151" y="80872"/>
            <a:ext cx="11374665" cy="1200329"/>
            <a:chOff x="368300" y="1442660"/>
            <a:chExt cx="4722578" cy="120032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4E6EE9D-0060-CD27-1DF2-268B1D127C3C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D46B6F4-FA39-B8EA-A06F-ECADB12E7CC1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08B60E-E4A5-C539-BF71-A44EAF0A2A06}"/>
              </a:ext>
            </a:extLst>
          </p:cNvPr>
          <p:cNvSpPr txBox="1"/>
          <p:nvPr/>
        </p:nvSpPr>
        <p:spPr>
          <a:xfrm>
            <a:off x="49716" y="341381"/>
            <a:ext cx="8673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實體表：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MaintenanceRecord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（維護紀錄）</a:t>
            </a:r>
          </a:p>
        </p:txBody>
      </p:sp>
    </p:spTree>
    <p:extLst>
      <p:ext uri="{BB962C8B-B14F-4D97-AF65-F5344CB8AC3E}">
        <p14:creationId xmlns:p14="http://schemas.microsoft.com/office/powerpoint/2010/main" val="18099437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E4240CA-11BB-AD48-D1FC-3172B31A2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10" y="2295251"/>
            <a:ext cx="4410691" cy="3610479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FCED24-74BC-B920-E9EB-752E01A8E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192829"/>
              </p:ext>
            </p:extLst>
          </p:nvPr>
        </p:nvGraphicFramePr>
        <p:xfrm>
          <a:off x="4572486" y="1755370"/>
          <a:ext cx="7525732" cy="46902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808">
                  <a:extLst>
                    <a:ext uri="{9D8B030D-6E8A-4147-A177-3AD203B41FA5}">
                      <a16:colId xmlns:a16="http://schemas.microsoft.com/office/drawing/2014/main" val="3629745194"/>
                    </a:ext>
                  </a:extLst>
                </a:gridCol>
                <a:gridCol w="1708351">
                  <a:extLst>
                    <a:ext uri="{9D8B030D-6E8A-4147-A177-3AD203B41FA5}">
                      <a16:colId xmlns:a16="http://schemas.microsoft.com/office/drawing/2014/main" val="4029629007"/>
                    </a:ext>
                  </a:extLst>
                </a:gridCol>
                <a:gridCol w="2197913">
                  <a:extLst>
                    <a:ext uri="{9D8B030D-6E8A-4147-A177-3AD203B41FA5}">
                      <a16:colId xmlns:a16="http://schemas.microsoft.com/office/drawing/2014/main" val="87474195"/>
                    </a:ext>
                  </a:extLst>
                </a:gridCol>
                <a:gridCol w="2124660">
                  <a:extLst>
                    <a:ext uri="{9D8B030D-6E8A-4147-A177-3AD203B41FA5}">
                      <a16:colId xmlns:a16="http://schemas.microsoft.com/office/drawing/2014/main" val="2045914200"/>
                    </a:ext>
                  </a:extLst>
                </a:gridCol>
              </a:tblGrid>
              <a:tr h="4001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屬性名稱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說明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值域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solidFill>
                            <a:srgbClr val="FFFF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完整性限制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669882944"/>
                  </a:ext>
                </a:extLst>
              </a:tr>
              <a:tr h="986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retId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申請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整數，從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 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開始遞增（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AUTO_INCREMENT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）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PK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、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727841748"/>
                  </a:ext>
                </a:extLst>
              </a:tr>
              <a:tr h="661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eId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設備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FK → Equipment.eId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802337068"/>
                  </a:ext>
                </a:extLst>
              </a:tr>
              <a:tr h="542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mId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申請人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ID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整數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FK →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Member.mId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910181683"/>
                  </a:ext>
                </a:extLst>
              </a:tr>
              <a:tr h="766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retDate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申請日期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日期格式，申請當日日期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810497024"/>
                  </a:ext>
                </a:extLst>
              </a:tr>
              <a:tr h="567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retReason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報廢原因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長度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1~256 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的文字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343498852"/>
                  </a:ext>
                </a:extLst>
              </a:tr>
              <a:tr h="766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retStatus</a:t>
                      </a:r>
                      <a:endParaRPr lang="zh-TW" sz="1600" dirty="0">
                        <a:solidFill>
                          <a:schemeClr val="bg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審核狀態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待審核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核准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 / 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駁回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NOT NULL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229247603"/>
                  </a:ext>
                </a:extLst>
              </a:tr>
            </a:tbl>
          </a:graphicData>
        </a:graphic>
      </p:graphicFrame>
      <p:grpSp>
        <p:nvGrpSpPr>
          <p:cNvPr id="5" name="群組 4">
            <a:extLst>
              <a:ext uri="{FF2B5EF4-FFF2-40B4-BE49-F238E27FC236}">
                <a16:creationId xmlns:a16="http://schemas.microsoft.com/office/drawing/2014/main" id="{D677DCC6-446A-2381-D6FB-C66EB4BF79F0}"/>
              </a:ext>
            </a:extLst>
          </p:cNvPr>
          <p:cNvGrpSpPr/>
          <p:nvPr/>
        </p:nvGrpSpPr>
        <p:grpSpPr>
          <a:xfrm>
            <a:off x="-1301750" y="0"/>
            <a:ext cx="11526405" cy="1200329"/>
            <a:chOff x="368300" y="1373634"/>
            <a:chExt cx="4787588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F74734B-33EE-BE68-2283-70E0C7E24471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62F94417-ED7E-28D8-9257-B525587DD566}"/>
                </a:ext>
              </a:extLst>
            </p:cNvPr>
            <p:cNvSpPr txBox="1"/>
            <p:nvPr/>
          </p:nvSpPr>
          <p:spPr>
            <a:xfrm>
              <a:off x="4419288" y="1373634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E784A299-1D5F-7121-BE92-B5816FD4D899}"/>
              </a:ext>
            </a:extLst>
          </p:cNvPr>
          <p:cNvSpPr txBox="1"/>
          <p:nvPr/>
        </p:nvSpPr>
        <p:spPr>
          <a:xfrm>
            <a:off x="-51884" y="329535"/>
            <a:ext cx="8503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實體表：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RetirementRequest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（報廢申請）</a:t>
            </a:r>
          </a:p>
        </p:txBody>
      </p:sp>
    </p:spTree>
    <p:extLst>
      <p:ext uri="{BB962C8B-B14F-4D97-AF65-F5344CB8AC3E}">
        <p14:creationId xmlns:p14="http://schemas.microsoft.com/office/powerpoint/2010/main" val="4435850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AD2160CF-EF2C-BE15-B650-DF971FCAFCEF}"/>
              </a:ext>
            </a:extLst>
          </p:cNvPr>
          <p:cNvGrpSpPr/>
          <p:nvPr/>
        </p:nvGrpSpPr>
        <p:grpSpPr>
          <a:xfrm>
            <a:off x="-1388837" y="806586"/>
            <a:ext cx="10426701" cy="1200329"/>
            <a:chOff x="368300" y="1442660"/>
            <a:chExt cx="4722578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1E56BDD-F311-CC73-D08D-40DFE75A57C8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19249372-7CEE-8A07-7784-2743A2B5106E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CED02A04-AC32-D6CD-928F-28E1D5021D2B}"/>
              </a:ext>
            </a:extLst>
          </p:cNvPr>
          <p:cNvSpPr txBox="1"/>
          <p:nvPr/>
        </p:nvSpPr>
        <p:spPr>
          <a:xfrm>
            <a:off x="-138970" y="1067095"/>
            <a:ext cx="7629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資料表：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BorrowRecord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（借用紀錄）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2C83D9F3-ECED-4055-4396-2E4C995B8483}"/>
              </a:ext>
            </a:extLst>
          </p:cNvPr>
          <p:cNvGrpSpPr/>
          <p:nvPr/>
        </p:nvGrpSpPr>
        <p:grpSpPr>
          <a:xfrm>
            <a:off x="-1490436" y="794740"/>
            <a:ext cx="11374665" cy="1200329"/>
            <a:chOff x="368300" y="1442660"/>
            <a:chExt cx="4722578" cy="1200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6987354-74A7-1E18-68F3-FA8E280B4ACB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DFD4FB2-73FE-3A20-6FD2-B22119E1A9FE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73B5D05-4EF0-DC6A-1062-53D2339FA2AB}"/>
              </a:ext>
            </a:extLst>
          </p:cNvPr>
          <p:cNvSpPr txBox="1"/>
          <p:nvPr/>
        </p:nvSpPr>
        <p:spPr>
          <a:xfrm>
            <a:off x="-240569" y="1055249"/>
            <a:ext cx="8673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安全性設計：採用學校 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SSO 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單一登入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D82DBB2-36DD-3EC6-4DB5-24FC13BC803A}"/>
              </a:ext>
            </a:extLst>
          </p:cNvPr>
          <p:cNvSpPr txBox="1"/>
          <p:nvPr/>
        </p:nvSpPr>
        <p:spPr>
          <a:xfrm>
            <a:off x="142488" y="2834684"/>
            <a:ext cx="12191052" cy="2028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本系統不自行管理密碼改採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使用者以學校   （如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41243168@nfu.edu.tw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）作為身份識別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系統收到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SSO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回傳的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Token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後，比對 </a:t>
            </a:r>
            <a:r>
              <a:rPr lang="en-US" altLang="zh-TW" sz="2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Member.mEmail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確認使用者角色</a:t>
            </a:r>
            <a:endParaRPr lang="en-US" altLang="zh-TW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藉此避免在資料庫儲存密碼等敏感資訊，提升安全性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DFB843-A2A8-1AF4-EA20-54CD91C3B293}"/>
              </a:ext>
            </a:extLst>
          </p:cNvPr>
          <p:cNvSpPr/>
          <p:nvPr/>
        </p:nvSpPr>
        <p:spPr>
          <a:xfrm>
            <a:off x="4495800" y="2822838"/>
            <a:ext cx="478712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TW" altLang="en-US" sz="2800" b="1" cap="none" spc="0" dirty="0">
                <a:ln/>
                <a:solidFill>
                  <a:schemeClr val="accent4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學校 </a:t>
            </a:r>
            <a:r>
              <a:rPr lang="en-US" altLang="zh-TW" sz="2800" b="1" cap="none" spc="0" dirty="0">
                <a:ln/>
                <a:solidFill>
                  <a:schemeClr val="accent4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SSO </a:t>
            </a:r>
            <a:r>
              <a:rPr lang="zh-TW" altLang="en-US" sz="2800" b="1" cap="none" spc="0" dirty="0">
                <a:ln/>
                <a:solidFill>
                  <a:schemeClr val="accent4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單一登入驗證</a:t>
            </a:r>
            <a:endParaRPr lang="zh-TW" altLang="en-US" sz="28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8784DE-4158-1466-4B54-7C5AE105DC6C}"/>
              </a:ext>
            </a:extLst>
          </p:cNvPr>
          <p:cNvSpPr/>
          <p:nvPr/>
        </p:nvSpPr>
        <p:spPr>
          <a:xfrm>
            <a:off x="2730386" y="3325588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TW" altLang="en-US" sz="2800" b="1" cap="none" spc="0" dirty="0">
                <a:ln/>
                <a:solidFill>
                  <a:schemeClr val="accent4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信箱</a:t>
            </a:r>
            <a:endParaRPr lang="zh-TW" altLang="en-US" sz="28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54B9C090-2B76-FE8C-0AB2-3E2A750178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27578" t="3723" r="26563" b="23667"/>
          <a:stretch>
            <a:fillRect/>
          </a:stretch>
        </p:blipFill>
        <p:spPr>
          <a:xfrm>
            <a:off x="8686688" y="551281"/>
            <a:ext cx="7296651" cy="630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2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0B45E7-F750-00C8-7441-82C7FA17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09A22D0-9561-6CE1-1A9B-A7D5EBCF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732" y="0"/>
            <a:ext cx="6223634" cy="6858000"/>
          </a:xfrm>
          <a:prstGeom prst="rect">
            <a:avLst/>
          </a:prstGeom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E934A8-252C-97C1-E411-8F02406CC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6DC2C56A-40EB-9C05-6A9B-8901A5779350}"/>
              </a:ext>
            </a:extLst>
          </p:cNvPr>
          <p:cNvGrpSpPr/>
          <p:nvPr/>
        </p:nvGrpSpPr>
        <p:grpSpPr>
          <a:xfrm>
            <a:off x="-1024495" y="109630"/>
            <a:ext cx="4581978" cy="1200329"/>
            <a:chOff x="368300" y="1419929"/>
            <a:chExt cx="4515365" cy="120032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7E39F60-EDEC-51A3-B206-CC4F73B1F301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DEE7621C-FEF5-2735-C3DE-FB745B99303F}"/>
                </a:ext>
              </a:extLst>
            </p:cNvPr>
            <p:cNvSpPr txBox="1"/>
            <p:nvPr/>
          </p:nvSpPr>
          <p:spPr>
            <a:xfrm>
              <a:off x="4147065" y="1419929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6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F76B2F3C-68CC-BE72-2798-78C929A0E549}"/>
              </a:ext>
            </a:extLst>
          </p:cNvPr>
          <p:cNvSpPr txBox="1"/>
          <p:nvPr/>
        </p:nvSpPr>
        <p:spPr>
          <a:xfrm>
            <a:off x="225370" y="392870"/>
            <a:ext cx="2639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ER Diagram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9" name="SSO備註"/>
          <p:cNvSpPr txBox="1"/>
          <p:nvPr/>
        </p:nvSpPr>
        <p:spPr>
          <a:xfrm>
            <a:off x="448770" y="5715298"/>
            <a:ext cx="3737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＊本系統採學校 SSO 單一登入驗證，不自行儲存密碼，故無 Password 資料表。</a:t>
            </a:r>
          </a:p>
        </p:txBody>
      </p:sp>
    </p:spTree>
    <p:extLst>
      <p:ext uri="{BB962C8B-B14F-4D97-AF65-F5344CB8AC3E}">
        <p14:creationId xmlns:p14="http://schemas.microsoft.com/office/powerpoint/2010/main" val="18484621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ECBE7-47AB-85B3-DCCB-AAB68682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413518DB-F23F-95F9-FEF5-1F804267B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319" y="4630057"/>
            <a:ext cx="4050681" cy="2211260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5D1D5926-A490-7B8E-E40B-580818582410}"/>
              </a:ext>
            </a:extLst>
          </p:cNvPr>
          <p:cNvGrpSpPr/>
          <p:nvPr/>
        </p:nvGrpSpPr>
        <p:grpSpPr>
          <a:xfrm>
            <a:off x="-1200151" y="80872"/>
            <a:ext cx="9226551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EB463B0-BE58-110E-0FA1-0CF6E6ECE4C0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F753D8C2-F958-9987-DC3D-6EFE9EE571B6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7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83F6C1-D5C4-24DB-35A3-03B9FDCDD9B0}"/>
              </a:ext>
            </a:extLst>
          </p:cNvPr>
          <p:cNvSpPr txBox="1"/>
          <p:nvPr/>
        </p:nvSpPr>
        <p:spPr>
          <a:xfrm>
            <a:off x="49716" y="341381"/>
            <a:ext cx="6409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Member 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使用者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1D60DE3-0589-052F-315F-35DE09C86E39}"/>
              </a:ext>
            </a:extLst>
          </p:cNvPr>
          <p:cNvSpPr txBox="1"/>
          <p:nvPr/>
        </p:nvSpPr>
        <p:spPr>
          <a:xfrm>
            <a:off x="1632857" y="1529229"/>
            <a:ext cx="732245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CREATE TABLE Member (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 INT          NOT NULL AUTO_INCREMENT,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mAccount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VARCHAR(20)  NOT NULL,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mName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VARCHAR(12)  NOT NULL,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mEmail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VARCHAR(50)  NOT NULL,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mPhone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CHAR(10)     NULL,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mRole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VARCHAR(6)   NOT NULL,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mCreateDate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DATE         NOT NULL DEFAULT CURRENT_DATE,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PRIMARY KEY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UNIQUE KEY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uq_mAccount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mAccount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UNIQUE KEY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uq_mEmail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mEmail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chk_mEmail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CHECK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mEmail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LIKE '%@%'),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chk_mRole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CHECK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mRole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IN ('</a:t>
            </a:r>
            <a:r>
              <a:rPr lang="zh-TW" altLang="zh-TW" sz="16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管理員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6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教師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6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學生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')),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chk_mPhone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CHECK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mPhone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IS NULL OR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mPhone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REGEXP '^09[0-9]{8}$')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ENGINE=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InnoDB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DEFAULT CHARSET=utf8mb4;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</a:t>
            </a: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14075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759AF-5BB9-979B-0E06-EB306A50C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F81E1E7A-C186-A50C-4BA2-62010920BE2D}"/>
              </a:ext>
            </a:extLst>
          </p:cNvPr>
          <p:cNvGrpSpPr/>
          <p:nvPr/>
        </p:nvGrpSpPr>
        <p:grpSpPr>
          <a:xfrm>
            <a:off x="-1200150" y="80872"/>
            <a:ext cx="6018893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8DF7D3E-DBD1-88B0-58EA-7510152E6528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246CE53C-FD65-EE3C-DD46-CF8111DB3754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3486DFEC-B4A3-2D6E-F538-5FF3D662A4DF}"/>
              </a:ext>
            </a:extLst>
          </p:cNvPr>
          <p:cNvSpPr txBox="1"/>
          <p:nvPr/>
        </p:nvSpPr>
        <p:spPr>
          <a:xfrm>
            <a:off x="246742" y="357870"/>
            <a:ext cx="6409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插入範例資料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74F63FD-DB03-B17F-8A50-EF4D1CD125D0}"/>
              </a:ext>
            </a:extLst>
          </p:cNvPr>
          <p:cNvSpPr txBox="1"/>
          <p:nvPr/>
        </p:nvSpPr>
        <p:spPr>
          <a:xfrm>
            <a:off x="0" y="2137740"/>
            <a:ext cx="628206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INSERT INTO Member 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mId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,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mAccount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,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mName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,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mEmail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,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mPhone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,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mRole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,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mCreateDate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VALUES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(1,'admin001','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王小明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','admin001@mail.com','0912345678','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管理員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','2026-05-01'),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(2,'teach002','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李佳玲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','teach002@mail.com','0922333444','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教師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  '2026-05-02'),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(3,'stud003',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陳冠宇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','stud003@mail.com', '0933444555','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學生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  '2026-05-02'),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(4,'stud004',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林怡君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','stud004@mail.com', '0944555666','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學生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  '2026-05-03'),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(5,'teach005','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張志豪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','teach005@mail.com','0955666777','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教師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  '2026-05-03');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F49FD49-DE60-8ED0-80B8-6DD7CBECA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887372"/>
              </p:ext>
            </p:extLst>
          </p:nvPr>
        </p:nvGraphicFramePr>
        <p:xfrm>
          <a:off x="6398179" y="1857829"/>
          <a:ext cx="5677706" cy="41075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420">
                  <a:extLst>
                    <a:ext uri="{9D8B030D-6E8A-4147-A177-3AD203B41FA5}">
                      <a16:colId xmlns:a16="http://schemas.microsoft.com/office/drawing/2014/main" val="562723117"/>
                    </a:ext>
                  </a:extLst>
                </a:gridCol>
                <a:gridCol w="764463">
                  <a:extLst>
                    <a:ext uri="{9D8B030D-6E8A-4147-A177-3AD203B41FA5}">
                      <a16:colId xmlns:a16="http://schemas.microsoft.com/office/drawing/2014/main" val="2787114748"/>
                    </a:ext>
                  </a:extLst>
                </a:gridCol>
                <a:gridCol w="637263">
                  <a:extLst>
                    <a:ext uri="{9D8B030D-6E8A-4147-A177-3AD203B41FA5}">
                      <a16:colId xmlns:a16="http://schemas.microsoft.com/office/drawing/2014/main" val="4177878988"/>
                    </a:ext>
                  </a:extLst>
                </a:gridCol>
                <a:gridCol w="1413631">
                  <a:extLst>
                    <a:ext uri="{9D8B030D-6E8A-4147-A177-3AD203B41FA5}">
                      <a16:colId xmlns:a16="http://schemas.microsoft.com/office/drawing/2014/main" val="2437864971"/>
                    </a:ext>
                  </a:extLst>
                </a:gridCol>
                <a:gridCol w="812085">
                  <a:extLst>
                    <a:ext uri="{9D8B030D-6E8A-4147-A177-3AD203B41FA5}">
                      <a16:colId xmlns:a16="http://schemas.microsoft.com/office/drawing/2014/main" val="459487758"/>
                    </a:ext>
                  </a:extLst>
                </a:gridCol>
                <a:gridCol w="629742">
                  <a:extLst>
                    <a:ext uri="{9D8B030D-6E8A-4147-A177-3AD203B41FA5}">
                      <a16:colId xmlns:a16="http://schemas.microsoft.com/office/drawing/2014/main" val="789125627"/>
                    </a:ext>
                  </a:extLst>
                </a:gridCol>
                <a:gridCol w="1062102">
                  <a:extLst>
                    <a:ext uri="{9D8B030D-6E8A-4147-A177-3AD203B41FA5}">
                      <a16:colId xmlns:a16="http://schemas.microsoft.com/office/drawing/2014/main" val="4181554759"/>
                    </a:ext>
                  </a:extLst>
                </a:gridCol>
              </a:tblGrid>
              <a:tr h="8019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mId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mAccount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mName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mEmail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mPhone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mRole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mCreateDate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767560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admin001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王小明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hlinkClick r:id="rId2"/>
                        </a:rPr>
                        <a:t>admin001@mail.com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0912345678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管理員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5579625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teach002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李佳玲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hlinkClick r:id="rId3"/>
                        </a:rPr>
                        <a:t>teach002@mail.com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0922333444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教師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2026/5/2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2292449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stud003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陳冠宇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hlinkClick r:id="rId4"/>
                        </a:rPr>
                        <a:t>stud003@mail.com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0933444555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學生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2026/5/2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0877503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stud004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林怡君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hlinkClick r:id="rId5"/>
                        </a:rPr>
                        <a:t>stud004@mail.com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0944555666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學生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2026/5/3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4458260"/>
                  </a:ext>
                </a:extLst>
              </a:tr>
              <a:tr h="5061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teach005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張志豪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hlinkClick r:id="rId6"/>
                        </a:rPr>
                        <a:t>teach005@mail.com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955666777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教師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2026/5/3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865315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2554935F-F95A-72C8-FFCF-D0BEABD86DAB}"/>
              </a:ext>
            </a:extLst>
          </p:cNvPr>
          <p:cNvSpPr txBox="1"/>
          <p:nvPr/>
        </p:nvSpPr>
        <p:spPr>
          <a:xfrm>
            <a:off x="8704943" y="1337063"/>
            <a:ext cx="1919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  <a:buNone/>
            </a:pPr>
            <a:r>
              <a:rPr lang="zh-TW" altLang="zh-TW" sz="2400" b="1" dirty="0">
                <a:solidFill>
                  <a:srgbClr val="1F3A6B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標楷體" panose="03000509000000000000" pitchFamily="65" charset="-120"/>
              </a:rPr>
              <a:t>使用者實例</a:t>
            </a:r>
            <a:endParaRPr lang="zh-TW" altLang="zh-TW" sz="2400" dirty="0">
              <a:effectLst/>
              <a:latin typeface="標楷體" panose="03000509000000000000" pitchFamily="65" charset="-120"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08300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829DE-C896-23B3-511A-C7D3C76F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9FB6E79F-066D-FBE0-D0A2-09B20C993B8F}"/>
              </a:ext>
            </a:extLst>
          </p:cNvPr>
          <p:cNvGrpSpPr/>
          <p:nvPr/>
        </p:nvGrpSpPr>
        <p:grpSpPr>
          <a:xfrm>
            <a:off x="-1200151" y="80872"/>
            <a:ext cx="9226551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49E15F-EA26-0D5F-E84D-C4CC6B8FCA0C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919FD7CE-1B81-A198-9365-F3033FE2933D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7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C6887D-CC46-FEAB-5035-FB31DE9E61D4}"/>
              </a:ext>
            </a:extLst>
          </p:cNvPr>
          <p:cNvSpPr txBox="1"/>
          <p:nvPr/>
        </p:nvSpPr>
        <p:spPr>
          <a:xfrm>
            <a:off x="49716" y="341381"/>
            <a:ext cx="6409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Equipment 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設備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96993B9-D51F-D378-DA15-D9C5F30A8FC0}"/>
              </a:ext>
            </a:extLst>
          </p:cNvPr>
          <p:cNvSpPr txBox="1"/>
          <p:nvPr/>
        </p:nvSpPr>
        <p:spPr>
          <a:xfrm>
            <a:off x="3254286" y="1281201"/>
            <a:ext cx="10878457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CREATE TABLE Equipment (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   INT          NOT NULL AUTO_INCREMENT,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ePropertyNo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VARCHAR(20)  NOT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eName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 VARCHAR(40)  NOT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   INT          NOT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eStatus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VARCHAR(6)   NOT NULL DEFAULT '</a:t>
            </a:r>
            <a:r>
              <a:rPr lang="zh-TW" altLang="en-US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可用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eLocation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VARCHAR(64)  NOT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ePurchaseDate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DATE         NOT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eWarrantyDate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DATE        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eNote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 VARCHAR(256)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PRIMARY KEY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UNIQUE KEY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uq_ePropertyNo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ePropertyNo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fk_equipment_category</a:t>
            </a:r>
            <a:endParaRPr lang="en-US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FOREIGN KEY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REFERENCES Category(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ON UPDATE RESTRICT ON DELETE RESTRICT,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chk_eStatus</a:t>
            </a:r>
            <a:endParaRPr lang="en-US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CHECK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eStatus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IN ('</a:t>
            </a:r>
            <a:r>
              <a:rPr lang="zh-TW" altLang="en-US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可用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en-US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借出中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en-US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維修中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en-US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報廢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')),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chk_ePurchaseDate</a:t>
            </a:r>
            <a:endParaRPr lang="en-US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CHECK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ePurchaseDate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&lt;= CURRENT_DATE),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chk_eWarrantyDate</a:t>
            </a:r>
            <a:endParaRPr lang="en-US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CHECK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eWarrantyDate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IS NULL OR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eWarrantyDate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&gt;=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ePurchaseDate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ENGINE=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InnoDB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DEFAULT CHARSET=utf8mb4;</a:t>
            </a:r>
          </a:p>
          <a:p>
            <a:pPr marL="228600">
              <a:buNone/>
            </a:pPr>
            <a:endParaRPr lang="zh-TW" altLang="zh-TW" sz="1600" dirty="0">
              <a:effectLst/>
              <a:latin typeface="標楷體" panose="03000509000000000000" pitchFamily="65" charset="-120"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43982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35E2C-83AF-E9B6-815B-EBA3FD269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71EE7802-60A3-3961-14C0-804CA215DE67}"/>
              </a:ext>
            </a:extLst>
          </p:cNvPr>
          <p:cNvGrpSpPr/>
          <p:nvPr/>
        </p:nvGrpSpPr>
        <p:grpSpPr>
          <a:xfrm>
            <a:off x="-1200150" y="80872"/>
            <a:ext cx="6018893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FA95276-606F-4FBC-DD42-C7B574056058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7BC0F21B-4E57-3B5B-D45C-60A1778AC689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0C54046D-4196-BF08-670E-C5085CD9CE2C}"/>
              </a:ext>
            </a:extLst>
          </p:cNvPr>
          <p:cNvSpPr txBox="1"/>
          <p:nvPr/>
        </p:nvSpPr>
        <p:spPr>
          <a:xfrm>
            <a:off x="246742" y="357870"/>
            <a:ext cx="6409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插入範例資料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14D98E1-1F81-488E-51ED-DBD395332241}"/>
              </a:ext>
            </a:extLst>
          </p:cNvPr>
          <p:cNvSpPr txBox="1"/>
          <p:nvPr/>
        </p:nvSpPr>
        <p:spPr>
          <a:xfrm>
            <a:off x="418294" y="1724003"/>
            <a:ext cx="56777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INSERT INTO Equipment</a:t>
            </a:r>
            <a:endParaRPr lang="zh-TW" altLang="zh-TW" dirty="0"/>
          </a:p>
          <a:p>
            <a:r>
              <a:rPr lang="en-US" altLang="zh-TW" dirty="0"/>
              <a:t>  (eId,ePropertyNo,eName,cId,eStatus,eLocation,ePurchaseDate,eWarrantyDate,eNote)</a:t>
            </a:r>
            <a:endParaRPr lang="zh-TW" altLang="zh-TW" dirty="0"/>
          </a:p>
          <a:p>
            <a:r>
              <a:rPr lang="en-US" altLang="zh-TW" dirty="0"/>
              <a:t>VALUES</a:t>
            </a:r>
            <a:endParaRPr lang="zh-TW" altLang="zh-TW" dirty="0"/>
          </a:p>
          <a:p>
            <a:r>
              <a:rPr lang="en-US" altLang="zh-TW" dirty="0"/>
              <a:t>(1,'EQ2026001','ASUS</a:t>
            </a:r>
            <a:r>
              <a:rPr lang="zh-TW" altLang="zh-TW" dirty="0"/>
              <a:t>筆電</a:t>
            </a:r>
            <a:r>
              <a:rPr lang="en-US" altLang="zh-TW" dirty="0"/>
              <a:t>A15',   1,'</a:t>
            </a:r>
            <a:r>
              <a:rPr lang="zh-TW" altLang="zh-TW" dirty="0"/>
              <a:t>可用</a:t>
            </a:r>
            <a:r>
              <a:rPr lang="en-US" altLang="zh-TW" dirty="0"/>
              <a:t>',  'B</a:t>
            </a:r>
            <a:r>
              <a:rPr lang="zh-TW" altLang="zh-TW" dirty="0"/>
              <a:t>棟</a:t>
            </a:r>
            <a:r>
              <a:rPr lang="en-US" altLang="zh-TW" dirty="0"/>
              <a:t>307</a:t>
            </a:r>
            <a:r>
              <a:rPr lang="zh-TW" altLang="zh-TW" dirty="0"/>
              <a:t>室</a:t>
            </a:r>
            <a:r>
              <a:rPr lang="en-US" altLang="zh-TW" dirty="0"/>
              <a:t>','2025-01-10','2028-01-10','</a:t>
            </a:r>
            <a:r>
              <a:rPr lang="zh-TW" altLang="zh-TW" dirty="0"/>
              <a:t>資訊課使用</a:t>
            </a:r>
            <a:r>
              <a:rPr lang="en-US" altLang="zh-TW" dirty="0"/>
              <a:t>'),</a:t>
            </a:r>
            <a:endParaRPr lang="zh-TW" altLang="zh-TW" dirty="0"/>
          </a:p>
          <a:p>
            <a:r>
              <a:rPr lang="en-US" altLang="zh-TW" dirty="0"/>
              <a:t>(2,'EQ2026002','EPSON</a:t>
            </a:r>
            <a:r>
              <a:rPr lang="zh-TW" altLang="zh-TW" dirty="0"/>
              <a:t>投影機</a:t>
            </a:r>
            <a:r>
              <a:rPr lang="en-US" altLang="zh-TW" dirty="0"/>
              <a:t>',   2,'</a:t>
            </a:r>
            <a:r>
              <a:rPr lang="zh-TW" altLang="zh-TW" dirty="0"/>
              <a:t>借出中</a:t>
            </a:r>
            <a:r>
              <a:rPr lang="en-US" altLang="zh-TW" dirty="0"/>
              <a:t>','A</a:t>
            </a:r>
            <a:r>
              <a:rPr lang="zh-TW" altLang="zh-TW" dirty="0"/>
              <a:t>棟</a:t>
            </a:r>
            <a:r>
              <a:rPr lang="en-US" altLang="zh-TW" dirty="0"/>
              <a:t>201</a:t>
            </a:r>
            <a:r>
              <a:rPr lang="zh-TW" altLang="zh-TW" dirty="0"/>
              <a:t>室</a:t>
            </a:r>
            <a:r>
              <a:rPr lang="en-US" altLang="zh-TW" dirty="0"/>
              <a:t>','2024-08-01','2027-08-01','</a:t>
            </a:r>
            <a:r>
              <a:rPr lang="zh-TW" altLang="zh-TW" dirty="0"/>
              <a:t>教室設備</a:t>
            </a:r>
            <a:r>
              <a:rPr lang="en-US" altLang="zh-TW" dirty="0"/>
              <a:t>'),</a:t>
            </a:r>
            <a:endParaRPr lang="zh-TW" altLang="zh-TW" dirty="0"/>
          </a:p>
          <a:p>
            <a:r>
              <a:rPr lang="en-US" altLang="zh-TW" dirty="0"/>
              <a:t>(3,'EQ2026003','Cisco</a:t>
            </a:r>
            <a:r>
              <a:rPr lang="zh-TW" altLang="zh-TW" dirty="0"/>
              <a:t>交換器</a:t>
            </a:r>
            <a:r>
              <a:rPr lang="en-US" altLang="zh-TW" dirty="0"/>
              <a:t>',   3,'</a:t>
            </a:r>
            <a:r>
              <a:rPr lang="zh-TW" altLang="zh-TW" dirty="0"/>
              <a:t>維修中</a:t>
            </a:r>
            <a:r>
              <a:rPr lang="en-US" altLang="zh-TW" dirty="0"/>
              <a:t>','</a:t>
            </a:r>
            <a:r>
              <a:rPr lang="zh-TW" altLang="zh-TW" dirty="0"/>
              <a:t>機房</a:t>
            </a:r>
            <a:r>
              <a:rPr lang="en-US" altLang="zh-TW" dirty="0"/>
              <a:t>A',   '2023-06-15','2026-06-15','</a:t>
            </a:r>
            <a:r>
              <a:rPr lang="zh-TW" altLang="zh-TW" dirty="0"/>
              <a:t>網路異常</a:t>
            </a:r>
            <a:r>
              <a:rPr lang="en-US" altLang="zh-TW" dirty="0"/>
              <a:t>'),</a:t>
            </a:r>
            <a:endParaRPr lang="zh-TW" altLang="zh-TW" dirty="0"/>
          </a:p>
          <a:p>
            <a:r>
              <a:rPr lang="en-US" altLang="zh-TW" dirty="0"/>
              <a:t>(4,'EQ2026004','Canon EOS R50',4,'</a:t>
            </a:r>
            <a:r>
              <a:rPr lang="zh-TW" altLang="zh-TW" dirty="0"/>
              <a:t>可用</a:t>
            </a:r>
            <a:r>
              <a:rPr lang="en-US" altLang="zh-TW" dirty="0"/>
              <a:t>',  '</a:t>
            </a:r>
            <a:r>
              <a:rPr lang="zh-TW" altLang="zh-TW" dirty="0"/>
              <a:t>媒體教室</a:t>
            </a:r>
            <a:r>
              <a:rPr lang="en-US" altLang="zh-TW" dirty="0"/>
              <a:t>','2025-03-12','2028-03-12','</a:t>
            </a:r>
            <a:r>
              <a:rPr lang="zh-TW" altLang="zh-TW" dirty="0"/>
              <a:t>攝影課程</a:t>
            </a:r>
            <a:r>
              <a:rPr lang="en-US" altLang="zh-TW" dirty="0"/>
              <a:t>'),</a:t>
            </a:r>
            <a:endParaRPr lang="zh-TW" altLang="zh-TW" dirty="0"/>
          </a:p>
          <a:p>
            <a:r>
              <a:rPr lang="en-US" altLang="zh-TW" dirty="0"/>
              <a:t>(5,'EQ2026005','iPad Air',      5,'</a:t>
            </a:r>
            <a:r>
              <a:rPr lang="zh-TW" altLang="zh-TW" dirty="0"/>
              <a:t>報廢</a:t>
            </a:r>
            <a:r>
              <a:rPr lang="en-US" altLang="zh-TW" dirty="0"/>
              <a:t>',  'D</a:t>
            </a:r>
            <a:r>
              <a:rPr lang="zh-TW" altLang="zh-TW" dirty="0"/>
              <a:t>棟</a:t>
            </a:r>
            <a:r>
              <a:rPr lang="en-US" altLang="zh-TW" dirty="0"/>
              <a:t>101</a:t>
            </a:r>
            <a:r>
              <a:rPr lang="zh-TW" altLang="zh-TW" dirty="0"/>
              <a:t>室</a:t>
            </a:r>
            <a:r>
              <a:rPr lang="en-US" altLang="zh-TW" dirty="0"/>
              <a:t>','2021-02-01','2024-02-01','</a:t>
            </a:r>
            <a:r>
              <a:rPr lang="zh-TW" altLang="zh-TW" dirty="0"/>
              <a:t>螢幕故障</a:t>
            </a:r>
            <a:r>
              <a:rPr lang="en-US" altLang="zh-TW" dirty="0"/>
              <a:t>');</a:t>
            </a:r>
            <a:endParaRPr lang="zh-TW" altLang="zh-TW" dirty="0"/>
          </a:p>
          <a:p>
            <a:endParaRPr lang="zh-TW" altLang="zh-TW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3FDC8C3-253B-083F-E127-C8B8E877E4F1}"/>
              </a:ext>
            </a:extLst>
          </p:cNvPr>
          <p:cNvSpPr txBox="1"/>
          <p:nvPr/>
        </p:nvSpPr>
        <p:spPr>
          <a:xfrm>
            <a:off x="8184959" y="1196355"/>
            <a:ext cx="1919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  <a:buNone/>
            </a:pPr>
            <a:r>
              <a:rPr lang="zh-TW" altLang="en-US" sz="2400" b="1" dirty="0">
                <a:solidFill>
                  <a:srgbClr val="1F3A6B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標楷體" panose="03000509000000000000" pitchFamily="65" charset="-120"/>
              </a:rPr>
              <a:t>設備實例</a:t>
            </a:r>
            <a:endParaRPr lang="zh-TW" altLang="zh-TW" sz="2400" dirty="0">
              <a:effectLst/>
              <a:latin typeface="標楷體" panose="03000509000000000000" pitchFamily="65" charset="-120"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27922DA-D406-2CD3-2AE5-F6C10365D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941545"/>
              </p:ext>
            </p:extLst>
          </p:nvPr>
        </p:nvGraphicFramePr>
        <p:xfrm>
          <a:off x="6095999" y="1930400"/>
          <a:ext cx="5950858" cy="42299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948">
                  <a:extLst>
                    <a:ext uri="{9D8B030D-6E8A-4147-A177-3AD203B41FA5}">
                      <a16:colId xmlns:a16="http://schemas.microsoft.com/office/drawing/2014/main" val="1882331684"/>
                    </a:ext>
                  </a:extLst>
                </a:gridCol>
                <a:gridCol w="881608">
                  <a:extLst>
                    <a:ext uri="{9D8B030D-6E8A-4147-A177-3AD203B41FA5}">
                      <a16:colId xmlns:a16="http://schemas.microsoft.com/office/drawing/2014/main" val="1965811057"/>
                    </a:ext>
                  </a:extLst>
                </a:gridCol>
                <a:gridCol w="971345">
                  <a:extLst>
                    <a:ext uri="{9D8B030D-6E8A-4147-A177-3AD203B41FA5}">
                      <a16:colId xmlns:a16="http://schemas.microsoft.com/office/drawing/2014/main" val="2714934904"/>
                    </a:ext>
                  </a:extLst>
                </a:gridCol>
                <a:gridCol w="285474">
                  <a:extLst>
                    <a:ext uri="{9D8B030D-6E8A-4147-A177-3AD203B41FA5}">
                      <a16:colId xmlns:a16="http://schemas.microsoft.com/office/drawing/2014/main" val="914974565"/>
                    </a:ext>
                  </a:extLst>
                </a:gridCol>
                <a:gridCol w="554679">
                  <a:extLst>
                    <a:ext uri="{9D8B030D-6E8A-4147-A177-3AD203B41FA5}">
                      <a16:colId xmlns:a16="http://schemas.microsoft.com/office/drawing/2014/main" val="873854660"/>
                    </a:ext>
                  </a:extLst>
                </a:gridCol>
                <a:gridCol w="631818">
                  <a:extLst>
                    <a:ext uri="{9D8B030D-6E8A-4147-A177-3AD203B41FA5}">
                      <a16:colId xmlns:a16="http://schemas.microsoft.com/office/drawing/2014/main" val="1822989470"/>
                    </a:ext>
                  </a:extLst>
                </a:gridCol>
                <a:gridCol w="767734">
                  <a:extLst>
                    <a:ext uri="{9D8B030D-6E8A-4147-A177-3AD203B41FA5}">
                      <a16:colId xmlns:a16="http://schemas.microsoft.com/office/drawing/2014/main" val="2853989247"/>
                    </a:ext>
                  </a:extLst>
                </a:gridCol>
                <a:gridCol w="767734">
                  <a:extLst>
                    <a:ext uri="{9D8B030D-6E8A-4147-A177-3AD203B41FA5}">
                      <a16:colId xmlns:a16="http://schemas.microsoft.com/office/drawing/2014/main" val="2064246589"/>
                    </a:ext>
                  </a:extLst>
                </a:gridCol>
                <a:gridCol w="805518">
                  <a:extLst>
                    <a:ext uri="{9D8B030D-6E8A-4147-A177-3AD203B41FA5}">
                      <a16:colId xmlns:a16="http://schemas.microsoft.com/office/drawing/2014/main" val="281710980"/>
                    </a:ext>
                  </a:extLst>
                </a:gridCol>
              </a:tblGrid>
              <a:tr h="8185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eId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ePropertyNo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eName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cId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eStatus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eLocation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ePurchaseDate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eWarrantyDate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eNote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356810944"/>
                  </a:ext>
                </a:extLst>
              </a:tr>
              <a:tr h="7309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EQ2026001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ASUS</a:t>
                      </a:r>
                      <a:r>
                        <a:rPr lang="zh-TW" sz="1600" dirty="0">
                          <a:effectLst/>
                        </a:rPr>
                        <a:t>筆電</a:t>
                      </a:r>
                      <a:r>
                        <a:rPr lang="en-US" sz="1600" dirty="0">
                          <a:effectLst/>
                        </a:rPr>
                        <a:t>A15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可用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B</a:t>
                      </a:r>
                      <a:r>
                        <a:rPr lang="zh-TW" sz="1600">
                          <a:effectLst/>
                        </a:rPr>
                        <a:t>棟</a:t>
                      </a:r>
                      <a:r>
                        <a:rPr lang="en-US" sz="1600">
                          <a:effectLst/>
                        </a:rPr>
                        <a:t>307</a:t>
                      </a:r>
                      <a:r>
                        <a:rPr lang="zh-TW" sz="1600">
                          <a:effectLst/>
                        </a:rPr>
                        <a:t>室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2025/1/10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2028/1/10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資訊課使用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21210167"/>
                  </a:ext>
                </a:extLst>
              </a:tr>
              <a:tr h="7309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EQ2026002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EPSON</a:t>
                      </a:r>
                      <a:r>
                        <a:rPr lang="zh-TW" sz="1600">
                          <a:effectLst/>
                        </a:rPr>
                        <a:t>投影機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借出中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A</a:t>
                      </a:r>
                      <a:r>
                        <a:rPr lang="zh-TW" sz="1600">
                          <a:effectLst/>
                        </a:rPr>
                        <a:t>棟</a:t>
                      </a:r>
                      <a:r>
                        <a:rPr lang="en-US" sz="1600">
                          <a:effectLst/>
                        </a:rPr>
                        <a:t>201</a:t>
                      </a:r>
                      <a:r>
                        <a:rPr lang="zh-TW" sz="1600">
                          <a:effectLst/>
                        </a:rPr>
                        <a:t>室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2024/8/1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2027/8/1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教室設備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491705232"/>
                  </a:ext>
                </a:extLst>
              </a:tr>
              <a:tr h="4378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EQ2026003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Cisco</a:t>
                      </a:r>
                      <a:r>
                        <a:rPr lang="zh-TW" sz="1600">
                          <a:effectLst/>
                        </a:rPr>
                        <a:t>交換器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維修中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機房</a:t>
                      </a:r>
                      <a:r>
                        <a:rPr lang="en-US" sz="1600">
                          <a:effectLst/>
                        </a:rPr>
                        <a:t>A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2023/6/15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2026/6/15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網路異常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226775141"/>
                  </a:ext>
                </a:extLst>
              </a:tr>
              <a:tr h="7309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EQ2026004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Canon EOS R50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可用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媒體教室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2025/3/12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2028/3/12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攝影課程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74069526"/>
                  </a:ext>
                </a:extLst>
              </a:tr>
              <a:tr h="7309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EQ2026005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iPad Air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報廢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D</a:t>
                      </a:r>
                      <a:r>
                        <a:rPr lang="zh-TW" sz="1600">
                          <a:effectLst/>
                        </a:rPr>
                        <a:t>棟</a:t>
                      </a:r>
                      <a:r>
                        <a:rPr lang="en-US" sz="1600">
                          <a:effectLst/>
                        </a:rPr>
                        <a:t>101</a:t>
                      </a:r>
                      <a:r>
                        <a:rPr lang="zh-TW" sz="1600">
                          <a:effectLst/>
                        </a:rPr>
                        <a:t>室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2021/2/1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2024/2/1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effectLst/>
                        </a:rPr>
                        <a:t>螢幕故障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414554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4843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06B16-B181-E10F-F890-B829BFCC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7B80B328-EDDA-8FB9-8110-035FEDE596D3}"/>
              </a:ext>
            </a:extLst>
          </p:cNvPr>
          <p:cNvGrpSpPr/>
          <p:nvPr/>
        </p:nvGrpSpPr>
        <p:grpSpPr>
          <a:xfrm>
            <a:off x="-1185637" y="922700"/>
            <a:ext cx="9226551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AE51DDF-1D9F-838D-1C79-FA09497502B1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64FB9CC5-7A00-16BC-A3FA-EDE19EDC9F7A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7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01561266-3295-3199-3776-A442166ADDEA}"/>
              </a:ext>
            </a:extLst>
          </p:cNvPr>
          <p:cNvSpPr txBox="1"/>
          <p:nvPr/>
        </p:nvSpPr>
        <p:spPr>
          <a:xfrm>
            <a:off x="64230" y="1183209"/>
            <a:ext cx="7062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Category 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設備類別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5FE16F7-FED3-C4C2-6ECC-D214B344BAB3}"/>
              </a:ext>
            </a:extLst>
          </p:cNvPr>
          <p:cNvSpPr txBox="1"/>
          <p:nvPr/>
        </p:nvSpPr>
        <p:spPr>
          <a:xfrm>
            <a:off x="2434771" y="2860154"/>
            <a:ext cx="73224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buNone/>
            </a:pPr>
            <a:r>
              <a:rPr lang="en-US" altLang="zh-TW" sz="20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CREATE TABLE Category (</a:t>
            </a:r>
          </a:p>
          <a:p>
            <a:pPr marL="228600">
              <a:buNone/>
            </a:pPr>
            <a:r>
              <a:rPr lang="en-US" altLang="zh-TW" sz="20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20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cId</a:t>
            </a:r>
            <a:r>
              <a:rPr lang="en-US" altLang="zh-TW" sz="20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INT         NOT NULL AUTO_INCREMENT,</a:t>
            </a:r>
          </a:p>
          <a:p>
            <a:pPr marL="228600">
              <a:buNone/>
            </a:pPr>
            <a:r>
              <a:rPr lang="en-US" altLang="zh-TW" sz="20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20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cName</a:t>
            </a:r>
            <a:r>
              <a:rPr lang="en-US" altLang="zh-TW" sz="20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VARCHAR(16) NOT NULL,</a:t>
            </a:r>
          </a:p>
          <a:p>
            <a:pPr marL="228600">
              <a:buNone/>
            </a:pPr>
            <a:r>
              <a:rPr lang="en-US" altLang="zh-TW" sz="20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20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cOutline</a:t>
            </a:r>
            <a:r>
              <a:rPr lang="en-US" altLang="zh-TW" sz="20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VARCHAR(64) NULL,</a:t>
            </a:r>
          </a:p>
          <a:p>
            <a:pPr marL="228600">
              <a:buNone/>
            </a:pPr>
            <a:r>
              <a:rPr lang="en-US" altLang="zh-TW" sz="20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PRIMARY KEY (</a:t>
            </a:r>
            <a:r>
              <a:rPr lang="en-US" altLang="zh-TW" sz="20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cId</a:t>
            </a:r>
            <a:r>
              <a:rPr lang="en-US" altLang="zh-TW" sz="20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</a:t>
            </a:r>
          </a:p>
          <a:p>
            <a:pPr marL="228600">
              <a:buNone/>
            </a:pPr>
            <a:r>
              <a:rPr lang="en-US" altLang="zh-TW" sz="20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ENGINE=</a:t>
            </a:r>
            <a:r>
              <a:rPr lang="en-US" altLang="zh-TW" sz="20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InnoDB</a:t>
            </a:r>
            <a:r>
              <a:rPr lang="en-US" altLang="zh-TW" sz="20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DEFAULT CHARSET=utf8mb4;</a:t>
            </a:r>
          </a:p>
          <a:p>
            <a:pPr marL="228600">
              <a:buNone/>
            </a:pPr>
            <a:endParaRPr lang="zh-TW" altLang="zh-TW" sz="20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01906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CD55A-DBA8-DF11-BB72-8BADF32BF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466AEEDC-F0C1-BFCB-205B-1A7CB99A5842}"/>
              </a:ext>
            </a:extLst>
          </p:cNvPr>
          <p:cNvGrpSpPr/>
          <p:nvPr/>
        </p:nvGrpSpPr>
        <p:grpSpPr>
          <a:xfrm>
            <a:off x="-1200150" y="80872"/>
            <a:ext cx="6018893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89C81BC-A0CF-BD1A-9CA8-06E0F12DF2D5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AE932DA6-1B27-8D3F-C52E-DD148D86A872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9F04AA51-4B29-2611-1519-B3987986E550}"/>
              </a:ext>
            </a:extLst>
          </p:cNvPr>
          <p:cNvSpPr txBox="1"/>
          <p:nvPr/>
        </p:nvSpPr>
        <p:spPr>
          <a:xfrm>
            <a:off x="246742" y="357870"/>
            <a:ext cx="6409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插入範例資料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D409E1D-F2D8-FD87-05CB-361E21E17377}"/>
              </a:ext>
            </a:extLst>
          </p:cNvPr>
          <p:cNvSpPr txBox="1"/>
          <p:nvPr/>
        </p:nvSpPr>
        <p:spPr>
          <a:xfrm>
            <a:off x="418294" y="2804694"/>
            <a:ext cx="56777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INSERT INTO Category (</a:t>
            </a:r>
            <a:r>
              <a:rPr lang="en-US" altLang="zh-TW" dirty="0" err="1"/>
              <a:t>cId</a:t>
            </a:r>
            <a:r>
              <a:rPr lang="en-US" altLang="zh-TW" dirty="0"/>
              <a:t>, </a:t>
            </a:r>
            <a:r>
              <a:rPr lang="en-US" altLang="zh-TW" dirty="0" err="1"/>
              <a:t>cName</a:t>
            </a:r>
            <a:r>
              <a:rPr lang="en-US" altLang="zh-TW" dirty="0"/>
              <a:t>, </a:t>
            </a:r>
            <a:r>
              <a:rPr lang="en-US" altLang="zh-TW" dirty="0" err="1"/>
              <a:t>cOutline</a:t>
            </a:r>
            <a:r>
              <a:rPr lang="en-US" altLang="zh-TW" dirty="0"/>
              <a:t>) VALUES</a:t>
            </a:r>
            <a:endParaRPr lang="zh-TW" altLang="zh-TW" dirty="0"/>
          </a:p>
          <a:p>
            <a:r>
              <a:rPr lang="en-US" altLang="zh-TW" dirty="0"/>
              <a:t>(1,'</a:t>
            </a:r>
            <a:r>
              <a:rPr lang="zh-TW" altLang="zh-TW" dirty="0"/>
              <a:t>電腦</a:t>
            </a:r>
            <a:r>
              <a:rPr lang="en-US" altLang="zh-TW" dirty="0"/>
              <a:t>',    '</a:t>
            </a:r>
            <a:r>
              <a:rPr lang="zh-TW" altLang="zh-TW" dirty="0"/>
              <a:t>桌機與筆電設備</a:t>
            </a:r>
            <a:r>
              <a:rPr lang="en-US" altLang="zh-TW" dirty="0"/>
              <a:t>'),</a:t>
            </a:r>
            <a:endParaRPr lang="zh-TW" altLang="zh-TW" dirty="0"/>
          </a:p>
          <a:p>
            <a:r>
              <a:rPr lang="en-US" altLang="zh-TW" dirty="0"/>
              <a:t>(2,'</a:t>
            </a:r>
            <a:r>
              <a:rPr lang="zh-TW" altLang="zh-TW" dirty="0"/>
              <a:t>投影機</a:t>
            </a:r>
            <a:r>
              <a:rPr lang="en-US" altLang="zh-TW" dirty="0"/>
              <a:t>',  '</a:t>
            </a:r>
            <a:r>
              <a:rPr lang="zh-TW" altLang="zh-TW" dirty="0"/>
              <a:t>教室投影設備</a:t>
            </a:r>
            <a:r>
              <a:rPr lang="en-US" altLang="zh-TW" dirty="0"/>
              <a:t>'),</a:t>
            </a:r>
            <a:endParaRPr lang="zh-TW" altLang="zh-TW" dirty="0"/>
          </a:p>
          <a:p>
            <a:r>
              <a:rPr lang="en-US" altLang="zh-TW" dirty="0"/>
              <a:t>(3,'</a:t>
            </a:r>
            <a:r>
              <a:rPr lang="zh-TW" altLang="zh-TW" dirty="0"/>
              <a:t>網路設備</a:t>
            </a:r>
            <a:r>
              <a:rPr lang="en-US" altLang="zh-TW" dirty="0"/>
              <a:t>','</a:t>
            </a:r>
            <a:r>
              <a:rPr lang="zh-TW" altLang="zh-TW" dirty="0"/>
              <a:t>路由器與交換器</a:t>
            </a:r>
            <a:r>
              <a:rPr lang="en-US" altLang="zh-TW" dirty="0"/>
              <a:t>'),</a:t>
            </a:r>
            <a:endParaRPr lang="zh-TW" altLang="zh-TW" dirty="0"/>
          </a:p>
          <a:p>
            <a:r>
              <a:rPr lang="en-US" altLang="zh-TW" dirty="0"/>
              <a:t>(4,'</a:t>
            </a:r>
            <a:r>
              <a:rPr lang="zh-TW" altLang="zh-TW" dirty="0"/>
              <a:t>攝影設備</a:t>
            </a:r>
            <a:r>
              <a:rPr lang="en-US" altLang="zh-TW" dirty="0"/>
              <a:t>','</a:t>
            </a:r>
            <a:r>
              <a:rPr lang="zh-TW" altLang="zh-TW" dirty="0"/>
              <a:t>相機與攝影器材</a:t>
            </a:r>
            <a:r>
              <a:rPr lang="en-US" altLang="zh-TW" dirty="0"/>
              <a:t>'),</a:t>
            </a:r>
            <a:endParaRPr lang="zh-TW" altLang="zh-TW" dirty="0"/>
          </a:p>
          <a:p>
            <a:r>
              <a:rPr lang="en-US" altLang="zh-TW" dirty="0"/>
              <a:t>(5,'</a:t>
            </a:r>
            <a:r>
              <a:rPr lang="zh-TW" altLang="zh-TW" dirty="0"/>
              <a:t>平板設備</a:t>
            </a:r>
            <a:r>
              <a:rPr lang="en-US" altLang="zh-TW" dirty="0"/>
              <a:t>','</a:t>
            </a:r>
            <a:r>
              <a:rPr lang="zh-TW" altLang="zh-TW" dirty="0"/>
              <a:t>平板與行動裝置</a:t>
            </a:r>
            <a:r>
              <a:rPr lang="en-US" altLang="zh-TW" dirty="0"/>
              <a:t>');</a:t>
            </a:r>
            <a:endParaRPr lang="zh-TW" altLang="zh-TW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E2317A7-06B5-DEFD-24F0-01915B36BFA7}"/>
              </a:ext>
            </a:extLst>
          </p:cNvPr>
          <p:cNvSpPr txBox="1"/>
          <p:nvPr/>
        </p:nvSpPr>
        <p:spPr>
          <a:xfrm>
            <a:off x="7547832" y="1775041"/>
            <a:ext cx="2529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  <a:buNone/>
            </a:pPr>
            <a:r>
              <a:rPr lang="zh-TW" altLang="en-US" sz="2400" b="1" dirty="0">
                <a:solidFill>
                  <a:srgbClr val="1F3A6B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標楷體" panose="03000509000000000000" pitchFamily="65" charset="-120"/>
              </a:rPr>
              <a:t>設備類別實例</a:t>
            </a:r>
            <a:endParaRPr lang="zh-TW" altLang="zh-TW" sz="2400" dirty="0">
              <a:effectLst/>
              <a:latin typeface="標楷體" panose="03000509000000000000" pitchFamily="65" charset="-120"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DBE4E2E-ABE8-5A76-A93D-6BFDD95CB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545231"/>
              </p:ext>
            </p:extLst>
          </p:nvPr>
        </p:nvGraphicFramePr>
        <p:xfrm>
          <a:off x="6365422" y="2381232"/>
          <a:ext cx="4893934" cy="31494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5027">
                  <a:extLst>
                    <a:ext uri="{9D8B030D-6E8A-4147-A177-3AD203B41FA5}">
                      <a16:colId xmlns:a16="http://schemas.microsoft.com/office/drawing/2014/main" val="1513226215"/>
                    </a:ext>
                  </a:extLst>
                </a:gridCol>
                <a:gridCol w="1475948">
                  <a:extLst>
                    <a:ext uri="{9D8B030D-6E8A-4147-A177-3AD203B41FA5}">
                      <a16:colId xmlns:a16="http://schemas.microsoft.com/office/drawing/2014/main" val="847490439"/>
                    </a:ext>
                  </a:extLst>
                </a:gridCol>
                <a:gridCol w="2692959">
                  <a:extLst>
                    <a:ext uri="{9D8B030D-6E8A-4147-A177-3AD203B41FA5}">
                      <a16:colId xmlns:a16="http://schemas.microsoft.com/office/drawing/2014/main" val="3375220306"/>
                    </a:ext>
                  </a:extLst>
                </a:gridCol>
              </a:tblGrid>
              <a:tr h="4091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cId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cName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effectLst/>
                        </a:rPr>
                        <a:t>cOutline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342584905"/>
                  </a:ext>
                </a:extLst>
              </a:tr>
              <a:tr h="548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</a:rPr>
                        <a:t>電腦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dirty="0">
                          <a:effectLst/>
                        </a:rPr>
                        <a:t>桌機與筆電設備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459757707"/>
                  </a:ext>
                </a:extLst>
              </a:tr>
              <a:tr h="548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dirty="0">
                          <a:effectLst/>
                        </a:rPr>
                        <a:t>投影機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</a:rPr>
                        <a:t>教室投影設備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90775455"/>
                  </a:ext>
                </a:extLst>
              </a:tr>
              <a:tr h="548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</a:rPr>
                        <a:t>網路設備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</a:rPr>
                        <a:t>路由器與交換器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612170140"/>
                  </a:ext>
                </a:extLst>
              </a:tr>
              <a:tr h="548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</a:rPr>
                        <a:t>攝影設備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dirty="0">
                          <a:effectLst/>
                        </a:rPr>
                        <a:t>相機與攝影器材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181562186"/>
                  </a:ext>
                </a:extLst>
              </a:tr>
              <a:tr h="548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>
                          <a:effectLst/>
                        </a:rPr>
                        <a:t>平板設備</a:t>
                      </a:r>
                      <a:endParaRPr lang="zh-TW" sz="18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dirty="0">
                          <a:effectLst/>
                        </a:rPr>
                        <a:t>平板與行動裝置</a:t>
                      </a:r>
                      <a:endParaRPr lang="zh-TW" sz="18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757160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5242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69D8-ACAF-B65D-09EE-13E78715D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3AE4B44C-F12B-29A4-3FC5-701201F1D0B0}"/>
              </a:ext>
            </a:extLst>
          </p:cNvPr>
          <p:cNvGrpSpPr/>
          <p:nvPr/>
        </p:nvGrpSpPr>
        <p:grpSpPr>
          <a:xfrm>
            <a:off x="-350247" y="58141"/>
            <a:ext cx="9226551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DB1393A-7F5B-6167-FB4E-B6D1B48F76D5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239A0B37-4C48-6B69-6074-ACA23F7609F2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7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6D21FC91-D319-2443-76D7-DD1C7AA7B121}"/>
              </a:ext>
            </a:extLst>
          </p:cNvPr>
          <p:cNvSpPr txBox="1"/>
          <p:nvPr/>
        </p:nvSpPr>
        <p:spPr>
          <a:xfrm>
            <a:off x="49716" y="341381"/>
            <a:ext cx="8426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BorrowRecord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借用紀錄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17B6154-B621-77C5-1E64-1637546E52BC}"/>
              </a:ext>
            </a:extLst>
          </p:cNvPr>
          <p:cNvSpPr txBox="1"/>
          <p:nvPr/>
        </p:nvSpPr>
        <p:spPr>
          <a:xfrm>
            <a:off x="135441" y="1603886"/>
            <a:ext cx="604628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CREATE TABLE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BorrowRecord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(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   INT        NOT NULL AUTO_INCREMENT,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   INT        NOT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   INT        NOT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bApplyDate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DATE       NOT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bApprovedBy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INT       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bApprovedDate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DATE      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bStartDate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DATE       NOT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bEndDate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DATE       NOT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bReturnDate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DATE       NULL,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bStatus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VARCHAR(6) NOT NULL DEFAULT '</a:t>
            </a:r>
            <a:r>
              <a:rPr lang="zh-TW" altLang="en-US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申請中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PRIMARY KEY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fk_borrow_member</a:t>
            </a:r>
            <a:endParaRPr lang="en-US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FOREIGN KEY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REFERENCES Member(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ON UPDATE RESTRICT ON DELETE RESTRICT,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fk_borrow_equipment</a:t>
            </a:r>
            <a:endParaRPr lang="en-US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FOREIGN KEY 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REFERENCES Equipment(</a:t>
            </a:r>
            <a:r>
              <a:rPr lang="en-US" altLang="zh-TW" sz="16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eId</a:t>
            </a: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</a:t>
            </a:r>
          </a:p>
          <a:p>
            <a:pPr marL="228600">
              <a:buNone/>
            </a:pPr>
            <a:r>
              <a:rPr lang="en-US" altLang="zh-TW" sz="16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ON UPDATE RESTRICT ON DELETE RESTRICT,</a:t>
            </a:r>
          </a:p>
          <a:p>
            <a:pPr marL="228600">
              <a:buNone/>
            </a:pPr>
            <a:endParaRPr lang="zh-TW" altLang="zh-TW" sz="16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B0F4377-E954-369E-DE9F-AE7B3F27BC99}"/>
              </a:ext>
            </a:extLst>
          </p:cNvPr>
          <p:cNvSpPr txBox="1"/>
          <p:nvPr/>
        </p:nvSpPr>
        <p:spPr>
          <a:xfrm>
            <a:off x="6145717" y="1603886"/>
            <a:ext cx="604628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CONSTRAINT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fk_borrow_approver</a:t>
            </a:r>
            <a:endParaRPr lang="en-US" altLang="zh-TW" sz="18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FOREIGN KEY 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bApprovedBy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REFERENCES Member(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mId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</a:t>
            </a: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ON UPDATE RESTRICT ON DELETE RESTRICT,</a:t>
            </a: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chk_bEndDate</a:t>
            </a:r>
            <a:endParaRPr lang="en-US" altLang="zh-TW" sz="18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CHECK 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bEndDate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&gt;=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bStartDate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),</a:t>
            </a: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chk_bReturnDate</a:t>
            </a:r>
            <a:endParaRPr lang="en-US" altLang="zh-TW" sz="18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CHECK 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bReturnDate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IS NULL OR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bReturnDate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&gt;=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bStartDate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),</a:t>
            </a: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chk_bStatus</a:t>
            </a:r>
            <a:endParaRPr lang="en-US" altLang="zh-TW" sz="18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CHECK 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bStatus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IN ('</a:t>
            </a:r>
            <a:r>
              <a:rPr lang="zh-TW" altLang="en-US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申請中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en-US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核准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en-US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已歸還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en-US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逾期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en-US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拒絕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'))</a:t>
            </a: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ENGINE=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InnoDB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DEFAULT CHARSET=utf8mb4;</a:t>
            </a: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E78600C-2F28-3970-5B35-68160288A405}"/>
              </a:ext>
            </a:extLst>
          </p:cNvPr>
          <p:cNvCxnSpPr/>
          <p:nvPr/>
        </p:nvCxnSpPr>
        <p:spPr>
          <a:xfrm>
            <a:off x="6096000" y="1258470"/>
            <a:ext cx="0" cy="5040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8161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80E40-28E3-8F2F-01F3-F9F5FD99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47FC533D-0102-3B95-C83E-68474E400C59}"/>
              </a:ext>
            </a:extLst>
          </p:cNvPr>
          <p:cNvGrpSpPr/>
          <p:nvPr/>
        </p:nvGrpSpPr>
        <p:grpSpPr>
          <a:xfrm>
            <a:off x="-1200150" y="80872"/>
            <a:ext cx="6018893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2AF99E4-C4FB-48EB-82A4-15DDAA1F412F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728C7099-D5CA-7B87-A3CC-7426E993B403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C1D40A4C-7D3E-A76F-847F-D45451854102}"/>
              </a:ext>
            </a:extLst>
          </p:cNvPr>
          <p:cNvSpPr txBox="1"/>
          <p:nvPr/>
        </p:nvSpPr>
        <p:spPr>
          <a:xfrm>
            <a:off x="246742" y="357870"/>
            <a:ext cx="6409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插入範例資料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ED2426D-BDCA-90EF-61AF-F766AC7AB172}"/>
              </a:ext>
            </a:extLst>
          </p:cNvPr>
          <p:cNvSpPr txBox="1"/>
          <p:nvPr/>
        </p:nvSpPr>
        <p:spPr>
          <a:xfrm>
            <a:off x="8255000" y="1637767"/>
            <a:ext cx="1919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  <a:buNone/>
            </a:pPr>
            <a:r>
              <a:rPr lang="zh-TW" altLang="en-US" sz="1800" b="1" dirty="0">
                <a:solidFill>
                  <a:srgbClr val="1F3A6B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標楷體" panose="03000509000000000000" pitchFamily="65" charset="-120"/>
              </a:rPr>
              <a:t>借用紀錄實例</a:t>
            </a:r>
            <a:endParaRPr lang="zh-TW" altLang="zh-TW" sz="1600" dirty="0">
              <a:effectLst/>
              <a:latin typeface="標楷體" panose="03000509000000000000" pitchFamily="65" charset="-120"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D16949B-5954-DAC1-AF48-DFB74256C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597753"/>
              </p:ext>
            </p:extLst>
          </p:nvPr>
        </p:nvGraphicFramePr>
        <p:xfrm>
          <a:off x="6096000" y="2293258"/>
          <a:ext cx="5965372" cy="3753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6779">
                  <a:extLst>
                    <a:ext uri="{9D8B030D-6E8A-4147-A177-3AD203B41FA5}">
                      <a16:colId xmlns:a16="http://schemas.microsoft.com/office/drawing/2014/main" val="1873845159"/>
                    </a:ext>
                  </a:extLst>
                </a:gridCol>
                <a:gridCol w="327327">
                  <a:extLst>
                    <a:ext uri="{9D8B030D-6E8A-4147-A177-3AD203B41FA5}">
                      <a16:colId xmlns:a16="http://schemas.microsoft.com/office/drawing/2014/main" val="966030978"/>
                    </a:ext>
                  </a:extLst>
                </a:gridCol>
                <a:gridCol w="327327">
                  <a:extLst>
                    <a:ext uri="{9D8B030D-6E8A-4147-A177-3AD203B41FA5}">
                      <a16:colId xmlns:a16="http://schemas.microsoft.com/office/drawing/2014/main" val="1211891351"/>
                    </a:ext>
                  </a:extLst>
                </a:gridCol>
                <a:gridCol w="774184">
                  <a:extLst>
                    <a:ext uri="{9D8B030D-6E8A-4147-A177-3AD203B41FA5}">
                      <a16:colId xmlns:a16="http://schemas.microsoft.com/office/drawing/2014/main" val="2024555682"/>
                    </a:ext>
                  </a:extLst>
                </a:gridCol>
                <a:gridCol w="769797">
                  <a:extLst>
                    <a:ext uri="{9D8B030D-6E8A-4147-A177-3AD203B41FA5}">
                      <a16:colId xmlns:a16="http://schemas.microsoft.com/office/drawing/2014/main" val="3481730563"/>
                    </a:ext>
                  </a:extLst>
                </a:gridCol>
                <a:gridCol w="802143">
                  <a:extLst>
                    <a:ext uri="{9D8B030D-6E8A-4147-A177-3AD203B41FA5}">
                      <a16:colId xmlns:a16="http://schemas.microsoft.com/office/drawing/2014/main" val="974774956"/>
                    </a:ext>
                  </a:extLst>
                </a:gridCol>
                <a:gridCol w="674394">
                  <a:extLst>
                    <a:ext uri="{9D8B030D-6E8A-4147-A177-3AD203B41FA5}">
                      <a16:colId xmlns:a16="http://schemas.microsoft.com/office/drawing/2014/main" val="2520205366"/>
                    </a:ext>
                  </a:extLst>
                </a:gridCol>
                <a:gridCol w="703454">
                  <a:extLst>
                    <a:ext uri="{9D8B030D-6E8A-4147-A177-3AD203B41FA5}">
                      <a16:colId xmlns:a16="http://schemas.microsoft.com/office/drawing/2014/main" val="1325012881"/>
                    </a:ext>
                  </a:extLst>
                </a:gridCol>
                <a:gridCol w="681524">
                  <a:extLst>
                    <a:ext uri="{9D8B030D-6E8A-4147-A177-3AD203B41FA5}">
                      <a16:colId xmlns:a16="http://schemas.microsoft.com/office/drawing/2014/main" val="1750917315"/>
                    </a:ext>
                  </a:extLst>
                </a:gridCol>
                <a:gridCol w="578443">
                  <a:extLst>
                    <a:ext uri="{9D8B030D-6E8A-4147-A177-3AD203B41FA5}">
                      <a16:colId xmlns:a16="http://schemas.microsoft.com/office/drawing/2014/main" val="2660574634"/>
                    </a:ext>
                  </a:extLst>
                </a:gridCol>
              </a:tblGrid>
              <a:tr h="993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bId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mId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eId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bApplyDate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bApprovedBy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bApprovedDate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bStartDate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bEndDate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bReturnDate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bStatus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282066980"/>
                  </a:ext>
                </a:extLst>
              </a:tr>
              <a:tr h="552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2026/5/5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2026/5/6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2026/5/7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2026/5/14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2026/5/13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已歸還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69680454"/>
                  </a:ext>
                </a:extLst>
              </a:tr>
              <a:tr h="552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2026/5/10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2026/5/10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2026/5/18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effectLst/>
                        </a:rPr>
                        <a:t>　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核准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304441238"/>
                  </a:ext>
                </a:extLst>
              </a:tr>
              <a:tr h="552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2026/5/12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2026/5/13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2026/5/14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2026/5/20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effectLst/>
                        </a:rPr>
                        <a:t>　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effectLst/>
                        </a:rPr>
                        <a:t>核准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577351295"/>
                  </a:ext>
                </a:extLst>
              </a:tr>
              <a:tr h="552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2026/5/15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2026/5/16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2026/5/17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2026/5/21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　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effectLst/>
                        </a:rPr>
                        <a:t>逾期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710704169"/>
                  </a:ext>
                </a:extLst>
              </a:tr>
              <a:tr h="552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2026/5/18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2026/5/18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2026/5/19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2026/5/22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　</a:t>
                      </a:r>
                      <a:endParaRPr lang="zh-TW" sz="14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dirty="0">
                          <a:effectLst/>
                        </a:rPr>
                        <a:t>申請中</a:t>
                      </a:r>
                      <a:endParaRPr lang="zh-TW" sz="14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15969599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27131B38-D0FA-5CBC-B965-EA2C3C84A736}"/>
              </a:ext>
            </a:extLst>
          </p:cNvPr>
          <p:cNvSpPr txBox="1"/>
          <p:nvPr/>
        </p:nvSpPr>
        <p:spPr>
          <a:xfrm>
            <a:off x="-186593" y="1706395"/>
            <a:ext cx="628259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INSERT INTO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BorrowRecord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(bId,mId,eId,bApplyDate,bApprovedBy,bApprovedDate,bStartDate,bEndDate,bReturnDate,bStatus)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VALUES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(1,3,2,'2026-05-05',1,'2026-05-06','2026-05-07','2026-05-14','2026-05-13','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已歸還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(2,4,1,'2026-05-10',1,'2026-05-10','2026-05-11','2026-05-18',NULL,       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核准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(3,2,4,'2026-05-12',1,'2026-05-13','2026-05-14','2026-05-20',NULL,       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核准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(4,3,1,'2026-05-15',1,'2026-05-16','2026-05-17','2026-05-21',NULL,       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逾期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(5,5,2,'2026-05-18',NULL,NULL,     '2026-05-19','2026-05-22',NULL,       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申請中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');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06569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F510E-783A-21DF-2235-D13E12D8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0492D6EF-9587-AE51-B7D6-433AA65C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27578" t="3723" r="26563" b="23667"/>
          <a:stretch>
            <a:fillRect/>
          </a:stretch>
        </p:blipFill>
        <p:spPr>
          <a:xfrm>
            <a:off x="-3430612" y="155974"/>
            <a:ext cx="7296651" cy="6306719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5A4D4E60-633B-EF52-C97B-B9C499B92670}"/>
              </a:ext>
            </a:extLst>
          </p:cNvPr>
          <p:cNvGrpSpPr/>
          <p:nvPr/>
        </p:nvGrpSpPr>
        <p:grpSpPr>
          <a:xfrm>
            <a:off x="-350248" y="58141"/>
            <a:ext cx="10640875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B1EAD03-A9C5-6651-ED24-326941B72CB2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921E8B8F-5A32-1E54-1F14-F69F19917B91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7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06D15E64-1EDE-A0D3-6246-2688DD34EE6C}"/>
              </a:ext>
            </a:extLst>
          </p:cNvPr>
          <p:cNvSpPr txBox="1"/>
          <p:nvPr/>
        </p:nvSpPr>
        <p:spPr>
          <a:xfrm>
            <a:off x="49716" y="341381"/>
            <a:ext cx="9166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MaintenanceRecord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維護紀錄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3A65CA-7430-DC7A-9E9E-01F35CB80D14}"/>
              </a:ext>
            </a:extLst>
          </p:cNvPr>
          <p:cNvSpPr txBox="1"/>
          <p:nvPr/>
        </p:nvSpPr>
        <p:spPr>
          <a:xfrm>
            <a:off x="3249183" y="1346714"/>
            <a:ext cx="649514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CREATE TABLE </a:t>
            </a:r>
            <a:r>
              <a:rPr lang="en-US" altLang="zh-TW" dirty="0" err="1"/>
              <a:t>MaintenanceRecord</a:t>
            </a:r>
            <a:r>
              <a:rPr lang="en-US" altLang="zh-TW" dirty="0"/>
              <a:t> (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mRecId</a:t>
            </a:r>
            <a:r>
              <a:rPr lang="en-US" altLang="zh-TW" dirty="0"/>
              <a:t>   INT          NOT NULL AUTO_INCREMENT,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eId</a:t>
            </a:r>
            <a:r>
              <a:rPr lang="en-US" altLang="zh-TW" dirty="0"/>
              <a:t>      INT          NOT NULL,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mId</a:t>
            </a:r>
            <a:r>
              <a:rPr lang="en-US" altLang="zh-TW" dirty="0"/>
              <a:t>      INT          NOT NULL,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mRecDate</a:t>
            </a:r>
            <a:r>
              <a:rPr lang="en-US" altLang="zh-TW" dirty="0"/>
              <a:t> DATE         NOT NULL,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mIssue</a:t>
            </a:r>
            <a:r>
              <a:rPr lang="en-US" altLang="zh-TW" dirty="0"/>
              <a:t>   VARCHAR(256) NOT NULL,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mResult</a:t>
            </a:r>
            <a:r>
              <a:rPr lang="en-US" altLang="zh-TW" dirty="0"/>
              <a:t>  VARCHAR(256) NULL,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mStaff</a:t>
            </a:r>
            <a:r>
              <a:rPr lang="en-US" altLang="zh-TW" dirty="0"/>
              <a:t>   VARCHAR(32)  NULL,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mStatus</a:t>
            </a:r>
            <a:r>
              <a:rPr lang="en-US" altLang="zh-TW" dirty="0"/>
              <a:t>  VARCHAR(6)   NOT NULL DEFAULT '</a:t>
            </a:r>
            <a:r>
              <a:rPr lang="zh-TW" altLang="en-US" dirty="0"/>
              <a:t>待處理</a:t>
            </a:r>
            <a:r>
              <a:rPr lang="en-US" altLang="zh-TW" dirty="0"/>
              <a:t>',</a:t>
            </a:r>
          </a:p>
          <a:p>
            <a:r>
              <a:rPr lang="en-US" altLang="zh-TW" dirty="0"/>
              <a:t>    PRIMARY KEY (</a:t>
            </a:r>
            <a:r>
              <a:rPr lang="en-US" altLang="zh-TW" dirty="0" err="1"/>
              <a:t>mRecId</a:t>
            </a:r>
            <a:r>
              <a:rPr lang="en-US" altLang="zh-TW" dirty="0"/>
              <a:t>),</a:t>
            </a:r>
          </a:p>
          <a:p>
            <a:r>
              <a:rPr lang="en-US" altLang="zh-TW" dirty="0"/>
              <a:t>    CONSTRAINT </a:t>
            </a:r>
            <a:r>
              <a:rPr lang="en-US" altLang="zh-TW" dirty="0" err="1"/>
              <a:t>fk_maintenance_equipment</a:t>
            </a:r>
            <a:endParaRPr lang="en-US" altLang="zh-TW" dirty="0"/>
          </a:p>
          <a:p>
            <a:r>
              <a:rPr lang="en-US" altLang="zh-TW" dirty="0"/>
              <a:t>        FOREIGN KEY (</a:t>
            </a:r>
            <a:r>
              <a:rPr lang="en-US" altLang="zh-TW" dirty="0" err="1"/>
              <a:t>eId</a:t>
            </a:r>
            <a:r>
              <a:rPr lang="en-US" altLang="zh-TW" dirty="0"/>
              <a:t>) REFERENCES Equipment(</a:t>
            </a:r>
            <a:r>
              <a:rPr lang="en-US" altLang="zh-TW" dirty="0" err="1"/>
              <a:t>eId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  ON UPDATE RESTRICT ON DELETE RESTRICT,</a:t>
            </a:r>
          </a:p>
          <a:p>
            <a:r>
              <a:rPr lang="en-US" altLang="zh-TW" dirty="0"/>
              <a:t>    CONSTRAINT </a:t>
            </a:r>
            <a:r>
              <a:rPr lang="en-US" altLang="zh-TW" dirty="0" err="1"/>
              <a:t>fk_maintenance_member</a:t>
            </a:r>
            <a:endParaRPr lang="en-US" altLang="zh-TW" dirty="0"/>
          </a:p>
          <a:p>
            <a:r>
              <a:rPr lang="en-US" altLang="zh-TW" dirty="0"/>
              <a:t>        FOREIGN KEY (</a:t>
            </a:r>
            <a:r>
              <a:rPr lang="en-US" altLang="zh-TW" dirty="0" err="1"/>
              <a:t>mId</a:t>
            </a:r>
            <a:r>
              <a:rPr lang="en-US" altLang="zh-TW" dirty="0"/>
              <a:t>) REFERENCES Member(</a:t>
            </a:r>
            <a:r>
              <a:rPr lang="en-US" altLang="zh-TW" dirty="0" err="1"/>
              <a:t>mId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  ON UPDATE RESTRICT ON DELETE RESTRICT,</a:t>
            </a:r>
          </a:p>
          <a:p>
            <a:r>
              <a:rPr lang="en-US" altLang="zh-TW" dirty="0"/>
              <a:t>    CONSTRAINT </a:t>
            </a:r>
            <a:r>
              <a:rPr lang="en-US" altLang="zh-TW" dirty="0" err="1"/>
              <a:t>chk_mStatus</a:t>
            </a:r>
            <a:endParaRPr lang="en-US" altLang="zh-TW" dirty="0"/>
          </a:p>
          <a:p>
            <a:r>
              <a:rPr lang="en-US" altLang="zh-TW" dirty="0"/>
              <a:t>        CHECK (</a:t>
            </a:r>
            <a:r>
              <a:rPr lang="en-US" altLang="zh-TW" dirty="0" err="1"/>
              <a:t>mStatus</a:t>
            </a:r>
            <a:r>
              <a:rPr lang="en-US" altLang="zh-TW" dirty="0"/>
              <a:t> IN ('</a:t>
            </a:r>
            <a:r>
              <a:rPr lang="zh-TW" altLang="en-US" dirty="0"/>
              <a:t>待處理</a:t>
            </a:r>
            <a:r>
              <a:rPr lang="en-US" altLang="zh-TW" dirty="0"/>
              <a:t>','</a:t>
            </a:r>
            <a:r>
              <a:rPr lang="zh-TW" altLang="en-US" dirty="0"/>
              <a:t>處理中</a:t>
            </a:r>
            <a:r>
              <a:rPr lang="en-US" altLang="zh-TW" dirty="0"/>
              <a:t>','</a:t>
            </a:r>
            <a:r>
              <a:rPr lang="zh-TW" altLang="en-US" dirty="0"/>
              <a:t>已完成</a:t>
            </a:r>
            <a:r>
              <a:rPr lang="en-US" altLang="zh-TW" dirty="0"/>
              <a:t>'))</a:t>
            </a:r>
          </a:p>
          <a:p>
            <a:r>
              <a:rPr lang="en-US" altLang="zh-TW" dirty="0"/>
              <a:t>) ENGINE=</a:t>
            </a:r>
            <a:r>
              <a:rPr lang="en-US" altLang="zh-TW" dirty="0" err="1"/>
              <a:t>InnoDB</a:t>
            </a:r>
            <a:r>
              <a:rPr lang="en-US" altLang="zh-TW" dirty="0"/>
              <a:t> DEFAULT CHARSET=utf8mb4;</a:t>
            </a:r>
          </a:p>
        </p:txBody>
      </p:sp>
    </p:spTree>
    <p:extLst>
      <p:ext uri="{BB962C8B-B14F-4D97-AF65-F5344CB8AC3E}">
        <p14:creationId xmlns:p14="http://schemas.microsoft.com/office/powerpoint/2010/main" val="7912138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FAB0F-4BE7-C716-F692-54F12F76F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1ED9BD16-B909-4559-206D-CF72D3828519}"/>
              </a:ext>
            </a:extLst>
          </p:cNvPr>
          <p:cNvGrpSpPr/>
          <p:nvPr/>
        </p:nvGrpSpPr>
        <p:grpSpPr>
          <a:xfrm>
            <a:off x="-1200150" y="80872"/>
            <a:ext cx="6018893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5CB9753-D20C-8CBA-170A-E85CD344F638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E92D7550-EAA0-53A6-F732-134BDA85D66F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E764C455-64AB-6F0D-255A-358D21001CE0}"/>
              </a:ext>
            </a:extLst>
          </p:cNvPr>
          <p:cNvSpPr txBox="1"/>
          <p:nvPr/>
        </p:nvSpPr>
        <p:spPr>
          <a:xfrm>
            <a:off x="246742" y="357870"/>
            <a:ext cx="6409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插入範例資料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0D2D6D9-0A31-3CFA-33AF-1CC930001EAC}"/>
              </a:ext>
            </a:extLst>
          </p:cNvPr>
          <p:cNvSpPr txBox="1"/>
          <p:nvPr/>
        </p:nvSpPr>
        <p:spPr>
          <a:xfrm>
            <a:off x="8438242" y="1521729"/>
            <a:ext cx="1919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  <a:buNone/>
            </a:pPr>
            <a:r>
              <a:rPr lang="zh-TW" altLang="en-US" sz="1800" b="1" dirty="0">
                <a:solidFill>
                  <a:srgbClr val="1F3A6B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標楷體" panose="03000509000000000000" pitchFamily="65" charset="-120"/>
              </a:rPr>
              <a:t>維護紀錄實例</a:t>
            </a:r>
            <a:endParaRPr lang="zh-TW" altLang="zh-TW" sz="1600" dirty="0">
              <a:effectLst/>
              <a:latin typeface="標楷體" panose="03000509000000000000" pitchFamily="65" charset="-120"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FF68155-4BC0-CC99-8D3D-04C3E3E1F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65478"/>
              </p:ext>
            </p:extLst>
          </p:nvPr>
        </p:nvGraphicFramePr>
        <p:xfrm>
          <a:off x="6677652" y="1971932"/>
          <a:ext cx="5420004" cy="36136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9776">
                  <a:extLst>
                    <a:ext uri="{9D8B030D-6E8A-4147-A177-3AD203B41FA5}">
                      <a16:colId xmlns:a16="http://schemas.microsoft.com/office/drawing/2014/main" val="3298147706"/>
                    </a:ext>
                  </a:extLst>
                </a:gridCol>
                <a:gridCol w="376727">
                  <a:extLst>
                    <a:ext uri="{9D8B030D-6E8A-4147-A177-3AD203B41FA5}">
                      <a16:colId xmlns:a16="http://schemas.microsoft.com/office/drawing/2014/main" val="691821107"/>
                    </a:ext>
                  </a:extLst>
                </a:gridCol>
                <a:gridCol w="376727">
                  <a:extLst>
                    <a:ext uri="{9D8B030D-6E8A-4147-A177-3AD203B41FA5}">
                      <a16:colId xmlns:a16="http://schemas.microsoft.com/office/drawing/2014/main" val="856481403"/>
                    </a:ext>
                  </a:extLst>
                </a:gridCol>
                <a:gridCol w="802063">
                  <a:extLst>
                    <a:ext uri="{9D8B030D-6E8A-4147-A177-3AD203B41FA5}">
                      <a16:colId xmlns:a16="http://schemas.microsoft.com/office/drawing/2014/main" val="2975043784"/>
                    </a:ext>
                  </a:extLst>
                </a:gridCol>
                <a:gridCol w="1008655">
                  <a:extLst>
                    <a:ext uri="{9D8B030D-6E8A-4147-A177-3AD203B41FA5}">
                      <a16:colId xmlns:a16="http://schemas.microsoft.com/office/drawing/2014/main" val="2478702540"/>
                    </a:ext>
                  </a:extLst>
                </a:gridCol>
                <a:gridCol w="923588">
                  <a:extLst>
                    <a:ext uri="{9D8B030D-6E8A-4147-A177-3AD203B41FA5}">
                      <a16:colId xmlns:a16="http://schemas.microsoft.com/office/drawing/2014/main" val="2408251157"/>
                    </a:ext>
                  </a:extLst>
                </a:gridCol>
                <a:gridCol w="656234">
                  <a:extLst>
                    <a:ext uri="{9D8B030D-6E8A-4147-A177-3AD203B41FA5}">
                      <a16:colId xmlns:a16="http://schemas.microsoft.com/office/drawing/2014/main" val="232892647"/>
                    </a:ext>
                  </a:extLst>
                </a:gridCol>
                <a:gridCol w="656234">
                  <a:extLst>
                    <a:ext uri="{9D8B030D-6E8A-4147-A177-3AD203B41FA5}">
                      <a16:colId xmlns:a16="http://schemas.microsoft.com/office/drawing/2014/main" val="4074413098"/>
                    </a:ext>
                  </a:extLst>
                </a:gridCol>
              </a:tblGrid>
              <a:tr h="77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mRecId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eId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mId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mRecDate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mIssue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mResult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mStaff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mStatus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745373832"/>
                  </a:ext>
                </a:extLst>
              </a:tr>
              <a:tr h="689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</a:rPr>
                        <a:t>2026/5/1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effectLst/>
                        </a:rPr>
                        <a:t>網路連線不穩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更換交換模組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陳技師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已完成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708874756"/>
                  </a:ext>
                </a:extLst>
              </a:tr>
              <a:tr h="4128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2026/5/3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螢幕無法顯示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effectLst/>
                        </a:rPr>
                        <a:t>待採購零件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王維修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處理中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795735251"/>
                  </a:ext>
                </a:extLst>
              </a:tr>
              <a:tr h="689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2026/5/5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筆電無法開機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重灌系統完成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effectLst/>
                        </a:rPr>
                        <a:t>李工程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已完成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022117929"/>
                  </a:ext>
                </a:extLst>
              </a:tr>
              <a:tr h="4128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2026/5/8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相機鏡頭異常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　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effectLst/>
                        </a:rPr>
                        <a:t>張技師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待處理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695637768"/>
                  </a:ext>
                </a:extLst>
              </a:tr>
              <a:tr h="4128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2026/5/10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設備過熱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　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陳技師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effectLst/>
                        </a:rPr>
                        <a:t>處理中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035838454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0E6F43D-C41F-EB62-4721-7EDC909B1EFB}"/>
              </a:ext>
            </a:extLst>
          </p:cNvPr>
          <p:cNvSpPr txBox="1"/>
          <p:nvPr/>
        </p:nvSpPr>
        <p:spPr>
          <a:xfrm>
            <a:off x="-239138" y="2390095"/>
            <a:ext cx="69167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INSERT INTO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MaintenanceRecord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mRecId,eId,mId,mRecDate,mIssue,mResult,mStaff,mStatus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VALUES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(1,3,2,'2026-05-01','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網路連線不穩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更換交換模組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陳技師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已完成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(2,5,4,'2026-05-03','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螢幕無法顯示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待採購零件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王維修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處理中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(3,1,3,'2026-05-05','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筆電無法開機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重灌系統完成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李工程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已完成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(4,4,2,'2026-05-08','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相機鏡頭異常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',NULL,        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張技師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待處理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(5,3,5,'2026-05-10','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設備過熱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    NULL,        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陳技師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處理中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');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11466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FD4FA-D246-B550-62D9-8A4B0950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0E7F881C-2B73-79BB-4C8C-C51E996903E8}"/>
              </a:ext>
            </a:extLst>
          </p:cNvPr>
          <p:cNvGrpSpPr/>
          <p:nvPr/>
        </p:nvGrpSpPr>
        <p:grpSpPr>
          <a:xfrm>
            <a:off x="-350248" y="58141"/>
            <a:ext cx="11018247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BE7A698-8CC7-1594-F972-0E01C2DD2E8C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7290B3E0-230D-90C5-EF71-EC5D8567633E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7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20CF3E35-C396-593A-DB3A-5DB365470AF6}"/>
              </a:ext>
            </a:extLst>
          </p:cNvPr>
          <p:cNvSpPr txBox="1"/>
          <p:nvPr/>
        </p:nvSpPr>
        <p:spPr>
          <a:xfrm>
            <a:off x="49716" y="341381"/>
            <a:ext cx="88726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36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RetirementRequest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報廢申請錄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FDE30AB-E94D-01C9-F823-4AD2644A173F}"/>
              </a:ext>
            </a:extLst>
          </p:cNvPr>
          <p:cNvSpPr txBox="1"/>
          <p:nvPr/>
        </p:nvSpPr>
        <p:spPr>
          <a:xfrm>
            <a:off x="2848429" y="1541710"/>
            <a:ext cx="649514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CREATE TABLE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RetirementRequest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(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retId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INT          NOT NULL AUTO_INCREMENT,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eId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INT          NOT NULL,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mId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INT          NOT NULL,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retDate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DATE         NOT NULL,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retReason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VARCHAR(256) NOT NULL,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retStatus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VARCHAR(6)   NOT NULL DEFAULT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待審核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PRIMARY KEY 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retId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fk_retire_equipment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FOREIGN KEY 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eId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REFERENCES Equipment(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eId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ON UPDATE RESTRICT ON DELETE RESTRICT,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fk_retire_member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FOREIGN KEY 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mId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REFERENCES Member(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mId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ON UPDATE RESTRICT ON DELETE RESTRICT,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CONSTRAINT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chk_retStatus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      CHECK 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retStatus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IN ('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待審核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核准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駁回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'))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 ENGINE=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InnoDB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DEFAULT CHARSET=utf8mb4;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53007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DD790-ABDE-2BE9-FFFF-E707EC5B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E5E4CC9A-633A-1DB4-A323-45D1B64AFEFF}"/>
              </a:ext>
            </a:extLst>
          </p:cNvPr>
          <p:cNvGrpSpPr/>
          <p:nvPr/>
        </p:nvGrpSpPr>
        <p:grpSpPr>
          <a:xfrm>
            <a:off x="-1200150" y="80872"/>
            <a:ext cx="6018893" cy="1200329"/>
            <a:chOff x="368300" y="1442660"/>
            <a:chExt cx="4722578" cy="1200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77855DF-B3F7-7AB3-0F00-4291A7C213AF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5E84763E-E9DC-A8E9-D0EF-5B6E564560B8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586B85DC-B168-F5E5-BC5B-47C63E590328}"/>
              </a:ext>
            </a:extLst>
          </p:cNvPr>
          <p:cNvSpPr txBox="1"/>
          <p:nvPr/>
        </p:nvSpPr>
        <p:spPr>
          <a:xfrm>
            <a:off x="246742" y="357870"/>
            <a:ext cx="6409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插入範例資料</a:t>
            </a:r>
            <a:r>
              <a:rPr lang="en-US" altLang="zh-TW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endParaRPr lang="zh-TW" altLang="en-US" sz="36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811ED15-EB24-EF43-FB49-324187231316}"/>
              </a:ext>
            </a:extLst>
          </p:cNvPr>
          <p:cNvSpPr txBox="1"/>
          <p:nvPr/>
        </p:nvSpPr>
        <p:spPr>
          <a:xfrm>
            <a:off x="8113939" y="1961883"/>
            <a:ext cx="1919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  <a:buNone/>
            </a:pPr>
            <a:r>
              <a:rPr lang="zh-TW" altLang="en-US" sz="1800" b="1" dirty="0">
                <a:solidFill>
                  <a:srgbClr val="1F3A6B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標楷體" panose="03000509000000000000" pitchFamily="65" charset="-120"/>
              </a:rPr>
              <a:t>報廢申請實例</a:t>
            </a:r>
            <a:endParaRPr lang="zh-TW" altLang="zh-TW" sz="1600" dirty="0">
              <a:effectLst/>
              <a:latin typeface="標楷體" panose="03000509000000000000" pitchFamily="65" charset="-120"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A99B4E4-CB2D-EFC7-CD67-DBF3F1E44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128971"/>
              </p:ext>
            </p:extLst>
          </p:nvPr>
        </p:nvGraphicFramePr>
        <p:xfrm>
          <a:off x="4943047" y="2524125"/>
          <a:ext cx="7137348" cy="26628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8679">
                  <a:extLst>
                    <a:ext uri="{9D8B030D-6E8A-4147-A177-3AD203B41FA5}">
                      <a16:colId xmlns:a16="http://schemas.microsoft.com/office/drawing/2014/main" val="3240995653"/>
                    </a:ext>
                  </a:extLst>
                </a:gridCol>
                <a:gridCol w="623543">
                  <a:extLst>
                    <a:ext uri="{9D8B030D-6E8A-4147-A177-3AD203B41FA5}">
                      <a16:colId xmlns:a16="http://schemas.microsoft.com/office/drawing/2014/main" val="1833523816"/>
                    </a:ext>
                  </a:extLst>
                </a:gridCol>
                <a:gridCol w="495525">
                  <a:extLst>
                    <a:ext uri="{9D8B030D-6E8A-4147-A177-3AD203B41FA5}">
                      <a16:colId xmlns:a16="http://schemas.microsoft.com/office/drawing/2014/main" val="1303677121"/>
                    </a:ext>
                  </a:extLst>
                </a:gridCol>
                <a:gridCol w="1118984">
                  <a:extLst>
                    <a:ext uri="{9D8B030D-6E8A-4147-A177-3AD203B41FA5}">
                      <a16:colId xmlns:a16="http://schemas.microsoft.com/office/drawing/2014/main" val="816125869"/>
                    </a:ext>
                  </a:extLst>
                </a:gridCol>
                <a:gridCol w="2933502">
                  <a:extLst>
                    <a:ext uri="{9D8B030D-6E8A-4147-A177-3AD203B41FA5}">
                      <a16:colId xmlns:a16="http://schemas.microsoft.com/office/drawing/2014/main" val="3215224196"/>
                    </a:ext>
                  </a:extLst>
                </a:gridCol>
                <a:gridCol w="1527115">
                  <a:extLst>
                    <a:ext uri="{9D8B030D-6E8A-4147-A177-3AD203B41FA5}">
                      <a16:colId xmlns:a16="http://schemas.microsoft.com/office/drawing/2014/main" val="1821743558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retId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eId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mId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retDate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retReason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effectLst/>
                        </a:rPr>
                        <a:t>retStatus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905619923"/>
                  </a:ext>
                </a:extLst>
              </a:tr>
              <a:tr h="3408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2026/5/2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設備老舊且維修成本過高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effectLst/>
                        </a:rPr>
                        <a:t>待審核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762880760"/>
                  </a:ext>
                </a:extLst>
              </a:tr>
              <a:tr h="3396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2026/5/4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故障頻繁影響使用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effectLst/>
                        </a:rPr>
                        <a:t>核准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950068897"/>
                  </a:ext>
                </a:extLst>
              </a:tr>
              <a:tr h="3396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2026/5/8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螢幕損壞無法修復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effectLst/>
                        </a:rPr>
                        <a:t>駁回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367020101"/>
                  </a:ext>
                </a:extLst>
              </a:tr>
              <a:tr h="4068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2026/5/12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設備效能不足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effectLst/>
                        </a:rPr>
                        <a:t>待審核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82447346"/>
                  </a:ext>
                </a:extLst>
              </a:tr>
              <a:tr h="3691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TW" sz="12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2026/5/15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effectLst/>
                        </a:rPr>
                        <a:t>零件停產無法維修</a:t>
                      </a:r>
                      <a:endParaRPr lang="zh-TW" sz="16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effectLst/>
                        </a:rPr>
                        <a:t>核准</a:t>
                      </a:r>
                      <a:endParaRPr lang="zh-TW" sz="16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75000173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D33DB77A-2A3D-8F4F-075B-7A333916C5F7}"/>
              </a:ext>
            </a:extLst>
          </p:cNvPr>
          <p:cNvSpPr txBox="1"/>
          <p:nvPr/>
        </p:nvSpPr>
        <p:spPr>
          <a:xfrm>
            <a:off x="-131979" y="2494301"/>
            <a:ext cx="51588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INSERT INTO 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RetirementRequest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  (</a:t>
            </a:r>
            <a:r>
              <a:rPr lang="en-US" altLang="zh-TW" sz="1800" dirty="0" err="1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retId,eId,mId,retDate,retReason,retStatus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)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VALUES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(1,5,2,'2026-05-02','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設備老舊且維修成本過高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’,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待審核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(2,3,1,'2026-05-04','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故障頻繁影響使用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核准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(3,5,4,'2026-05-08','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螢幕損壞無法修復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駁回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(4,1,2,'2026-05-12','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設備效能不足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待審核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'),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  <a:p>
            <a:pPr marL="228600">
              <a:buNone/>
            </a:pP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(5,3,5,'2026-05-15','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零件停產無法維修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', '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Courier New" panose="02070309020205020404" pitchFamily="49" charset="0"/>
              </a:rPr>
              <a:t>核准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標楷體" panose="03000509000000000000" pitchFamily="65" charset="-120"/>
              </a:rPr>
              <a:t>');</a:t>
            </a:r>
            <a:endParaRPr lang="zh-TW" altLang="zh-TW" sz="3200" dirty="0">
              <a:effectLst/>
              <a:ea typeface="標楷體" panose="03000509000000000000" pitchFamily="65" charset="-120"/>
              <a:cs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30638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58201F-6BF6-4823-AAB0-868CC4BDD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95622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[1] </a:t>
            </a:r>
            <a:r>
              <a:rPr lang="zh-TW" altLang="zh-TW" dirty="0"/>
              <a:t>陳方周</a:t>
            </a:r>
            <a:r>
              <a:rPr lang="en-US" altLang="zh-TW" dirty="0"/>
              <a:t>, "</a:t>
            </a:r>
            <a:r>
              <a:rPr lang="zh-TW" altLang="zh-TW" dirty="0"/>
              <a:t>系設備報修系統需求文件</a:t>
            </a:r>
            <a:r>
              <a:rPr lang="en-US" altLang="zh-TW" dirty="0"/>
              <a:t>," </a:t>
            </a:r>
            <a:r>
              <a:rPr lang="en-US" altLang="zh-TW" i="1" dirty="0"/>
              <a:t>fgchen.com</a:t>
            </a:r>
            <a:r>
              <a:rPr lang="en-US" altLang="zh-TW" dirty="0"/>
              <a:t>, 2024</a:t>
            </a:r>
            <a:r>
              <a:rPr lang="zh-TW" altLang="zh-TW" dirty="0"/>
              <a:t>年</a:t>
            </a:r>
            <a:r>
              <a:rPr lang="en-US" altLang="zh-TW" dirty="0"/>
              <a:t>7</a:t>
            </a:r>
            <a:r>
              <a:rPr lang="zh-TW" altLang="zh-TW" dirty="0"/>
              <a:t>月</a:t>
            </a:r>
            <a:r>
              <a:rPr lang="en-US" altLang="zh-TW" dirty="0"/>
              <a:t>. [Online]. Available: </a:t>
            </a:r>
            <a:r>
              <a:rPr lang="en-US" altLang="zh-TW" u="sng" dirty="0">
                <a:hlinkClick r:id="rId2"/>
              </a:rPr>
              <a:t>https://fgchen.com/wpedu/2024/07/%E7%B3%BB%E8%A8%AD%E5%82%99%E5%A0%B1%E4%BF%AE%E7%B3%BB%E7%B5%B1%E9%9C%80%E6%B1%82%E6%96%87%E4%BB%B6/</a:t>
            </a:r>
            <a:endParaRPr lang="zh-TW" altLang="zh-TW" dirty="0"/>
          </a:p>
          <a:p>
            <a:r>
              <a:rPr lang="en-US" altLang="zh-TW" dirty="0"/>
              <a:t>[2] "</a:t>
            </a:r>
            <a:r>
              <a:rPr lang="zh-TW" altLang="zh-TW" dirty="0"/>
              <a:t>報修系統需求分析與系統設計</a:t>
            </a:r>
            <a:r>
              <a:rPr lang="en-US" altLang="zh-TW" dirty="0"/>
              <a:t>," </a:t>
            </a:r>
            <a:r>
              <a:rPr lang="zh-TW" altLang="zh-TW" i="1" dirty="0"/>
              <a:t>方格子</a:t>
            </a:r>
            <a:r>
              <a:rPr lang="en-US" altLang="zh-TW" i="1" dirty="0"/>
              <a:t> </a:t>
            </a:r>
            <a:r>
              <a:rPr lang="en-US" altLang="zh-TW" i="1" dirty="0" err="1"/>
              <a:t>vocus</a:t>
            </a:r>
            <a:r>
              <a:rPr lang="en-US" altLang="zh-TW" dirty="0"/>
              <a:t>, 2024</a:t>
            </a:r>
            <a:r>
              <a:rPr lang="zh-TW" altLang="zh-TW" dirty="0"/>
              <a:t>年</a:t>
            </a:r>
            <a:r>
              <a:rPr lang="en-US" altLang="zh-TW" dirty="0"/>
              <a:t>11</a:t>
            </a:r>
            <a:r>
              <a:rPr lang="zh-TW" altLang="zh-TW" dirty="0"/>
              <a:t>月</a:t>
            </a:r>
            <a:r>
              <a:rPr lang="en-US" altLang="zh-TW" dirty="0"/>
              <a:t>. [Online]. Available: </a:t>
            </a:r>
            <a:r>
              <a:rPr lang="en-US" altLang="zh-TW" u="sng" dirty="0">
                <a:hlinkClick r:id="rId3"/>
              </a:rPr>
              <a:t>https://vocus.cc/article/672a1623fd897800010ba2d6</a:t>
            </a:r>
            <a:endParaRPr lang="zh-TW" altLang="zh-TW" dirty="0"/>
          </a:p>
          <a:p>
            <a:r>
              <a:rPr lang="en-US" altLang="zh-TW" dirty="0"/>
              <a:t> [3] </a:t>
            </a:r>
            <a:r>
              <a:rPr lang="en-US" altLang="zh-TW" dirty="0" err="1"/>
              <a:t>Kenming</a:t>
            </a:r>
            <a:r>
              <a:rPr lang="en-US" altLang="zh-TW" dirty="0"/>
              <a:t>, "</a:t>
            </a:r>
            <a:r>
              <a:rPr lang="zh-TW" altLang="zh-TW" dirty="0"/>
              <a:t>【案例研究】關於「客服運維」的業務流程分析</a:t>
            </a:r>
            <a:r>
              <a:rPr lang="en-US" altLang="zh-TW" dirty="0"/>
              <a:t> (Business Process Analysis)," </a:t>
            </a:r>
            <a:r>
              <a:rPr lang="en-US" altLang="zh-TW" i="1" dirty="0" err="1"/>
              <a:t>Kenming</a:t>
            </a:r>
            <a:r>
              <a:rPr lang="en-US" altLang="zh-TW" i="1" dirty="0"/>
              <a:t> </a:t>
            </a:r>
            <a:r>
              <a:rPr lang="zh-TW" altLang="zh-TW" i="1" dirty="0"/>
              <a:t>的軟體設計與思考</a:t>
            </a:r>
            <a:r>
              <a:rPr lang="en-US" altLang="zh-TW" dirty="0"/>
              <a:t>. [Online]. Available: </a:t>
            </a:r>
            <a:r>
              <a:rPr lang="en-US" altLang="zh-TW" u="sng" dirty="0">
                <a:hlinkClick r:id="rId4"/>
              </a:rPr>
              <a:t>https://kenming.idv.tw/case-study_about-customer-operation-maintain_business-process_analysis/</a:t>
            </a:r>
            <a:endParaRPr lang="zh-TW" altLang="zh-TW" dirty="0"/>
          </a:p>
          <a:p>
            <a:endParaRPr lang="zh-TW" altLang="zh-TW" dirty="0"/>
          </a:p>
          <a:p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E1E1D5B-BF70-659D-EAC8-254869655CF6}"/>
              </a:ext>
            </a:extLst>
          </p:cNvPr>
          <p:cNvSpPr txBox="1"/>
          <p:nvPr/>
        </p:nvSpPr>
        <p:spPr>
          <a:xfrm>
            <a:off x="1427037" y="30087"/>
            <a:ext cx="938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sz="7200" dirty="0">
              <a:solidFill>
                <a:schemeClr val="tx2">
                  <a:lumMod val="10000"/>
                  <a:lumOff val="90000"/>
                </a:schemeClr>
              </a:solidFill>
              <a:effectLst>
                <a:outerShdw blurRad="63500" dist="25400" sx="102000" sy="102000" algn="ctr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E44F2F14-EC6F-30F1-4D7E-2E062C1869F9}"/>
              </a:ext>
            </a:extLst>
          </p:cNvPr>
          <p:cNvGrpSpPr/>
          <p:nvPr/>
        </p:nvGrpSpPr>
        <p:grpSpPr>
          <a:xfrm>
            <a:off x="-3638551" y="460255"/>
            <a:ext cx="9226551" cy="1200329"/>
            <a:chOff x="368300" y="1442660"/>
            <a:chExt cx="4722578" cy="120032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1575678-98B8-68CF-96B0-8C141EB7C49B}"/>
                </a:ext>
              </a:extLst>
            </p:cNvPr>
            <p:cNvSpPr/>
            <p:nvPr/>
          </p:nvSpPr>
          <p:spPr>
            <a:xfrm>
              <a:off x="368300" y="1690688"/>
              <a:ext cx="4254500" cy="658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46CB8D6-3288-6DF6-EC61-74A54DD67C8A}"/>
                </a:ext>
              </a:extLst>
            </p:cNvPr>
            <p:cNvSpPr txBox="1"/>
            <p:nvPr/>
          </p:nvSpPr>
          <p:spPr>
            <a:xfrm>
              <a:off x="4354278" y="1442660"/>
              <a:ext cx="736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7200" dirty="0">
                  <a:solidFill>
                    <a:schemeClr val="tx2">
                      <a:lumMod val="10000"/>
                      <a:lumOff val="90000"/>
                    </a:schemeClr>
                  </a:solidFill>
                  <a:effectLst>
                    <a:outerShdw blurRad="63500" dist="25400" sx="102000" sy="102000" algn="ctr" rotWithShape="0">
                      <a:prstClr val="black">
                        <a:alpha val="70000"/>
                      </a:prstClr>
                    </a:outerShdw>
                  </a:effectLst>
                </a:rPr>
                <a:t>8</a:t>
              </a:r>
              <a:endParaRPr lang="zh-TW" altLang="en-US" sz="7200" dirty="0">
                <a:solidFill>
                  <a:schemeClr val="tx2">
                    <a:lumMod val="10000"/>
                    <a:lumOff val="90000"/>
                  </a:schemeClr>
                </a:solidFill>
                <a:effectLst>
                  <a:outerShdw blurRad="63500" dist="25400" sx="102000" sy="102000" algn="ctr" rotWithShape="0">
                    <a:prstClr val="black">
                      <a:alpha val="70000"/>
                    </a:prstClr>
                  </a:outerShdw>
                </a:effectLst>
              </a:endParaRPr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2D54041-880C-ABB7-0177-699AF88CEFE9}"/>
              </a:ext>
            </a:extLst>
          </p:cNvPr>
          <p:cNvSpPr txBox="1"/>
          <p:nvPr/>
        </p:nvSpPr>
        <p:spPr>
          <a:xfrm>
            <a:off x="1780634" y="708283"/>
            <a:ext cx="7062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參考資料</a:t>
            </a:r>
          </a:p>
        </p:txBody>
      </p:sp>
    </p:spTree>
    <p:extLst>
      <p:ext uri="{BB962C8B-B14F-4D97-AF65-F5344CB8AC3E}">
        <p14:creationId xmlns:p14="http://schemas.microsoft.com/office/powerpoint/2010/main" val="373073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F8150ECD0D2740B048A1F2DBADCEA7" ma:contentTypeVersion="4" ma:contentTypeDescription="Create a new document." ma:contentTypeScope="" ma:versionID="4267f1183aa3307aeb3366ce46141a57">
  <xsd:schema xmlns:xsd="http://www.w3.org/2001/XMLSchema" xmlns:xs="http://www.w3.org/2001/XMLSchema" xmlns:p="http://schemas.microsoft.com/office/2006/metadata/properties" xmlns:ns3="6bef4f0c-891e-4b83-9a0f-4e876e356cf2" targetNamespace="http://schemas.microsoft.com/office/2006/metadata/properties" ma:root="true" ma:fieldsID="89887e1dfcc54f6cbf24cb2ce9b8a79d" ns3:_="">
    <xsd:import namespace="6bef4f0c-891e-4b83-9a0f-4e876e356cf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ef4f0c-891e-4b83-9a0f-4e876e356cf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096FAE-66D5-44C4-ADC5-19524CB678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43D95E-002B-4580-A635-53BB0B4B4A64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  <ds:schemaRef ds:uri="6bef4f0c-891e-4b83-9a0f-4e876e356cf2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406BD3-950E-4F24-8609-0706872B7B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ef4f0c-891e-4b83-9a0f-4e876e356c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10443</TotalTime>
  <Words>4042</Words>
  <Application>Microsoft Office PowerPoint</Application>
  <PresentationFormat>寬螢幕</PresentationFormat>
  <Paragraphs>817</Paragraphs>
  <Slides>29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5" baseType="lpstr">
      <vt:lpstr>標楷體</vt:lpstr>
      <vt:lpstr>Aptos</vt:lpstr>
      <vt:lpstr>Arial</vt:lpstr>
      <vt:lpstr>Times New Roman</vt:lpstr>
      <vt:lpstr>Wingdings</vt:lpstr>
      <vt:lpstr>Office 佈景主題</vt:lpstr>
      <vt:lpstr>設備管理與維護系統</vt:lpstr>
      <vt:lpstr>系辦日常</vt:lpstr>
      <vt:lpstr>專題急需</vt:lpstr>
      <vt:lpstr>專題急需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宋沛玲</dc:creator>
  <cp:lastModifiedBy>宋沛玲</cp:lastModifiedBy>
  <cp:revision>12</cp:revision>
  <dcterms:created xsi:type="dcterms:W3CDTF">2026-04-24T12:49:32Z</dcterms:created>
  <dcterms:modified xsi:type="dcterms:W3CDTF">2026-06-02T15:05:38Z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0x0101009AF8150ECD0D2740B048A1F2DBADCEA7</vt:lpwstr>
  </property>
</Properties>
</file>